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handoutMasters/handoutMaster1.xml" ContentType="application/vnd.openxmlformats-officedocument.presentationml.handoutMaster+xml"/>
  <Override PartName="/ppt/media/image14.svg" ContentType="image/svg+xml"/>
  <Override PartName="/ppt/media/image17.svg" ContentType="image/svg+xml"/>
  <Override PartName="/ppt/media/image21.svg" ContentType="image/svg+xml"/>
  <Override PartName="/ppt/media/image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11" r:id="rId2"/>
    <p:sldMasterId id="2147483730" r:id="rId3"/>
  </p:sldMasterIdLst>
  <p:notesMasterIdLst>
    <p:notesMasterId r:id="rId13"/>
  </p:notesMasterIdLst>
  <p:handoutMasterIdLst>
    <p:handoutMasterId r:id="rId14"/>
  </p:handoutMasterIdLst>
  <p:sldIdLst>
    <p:sldId id="312" r:id="rId4"/>
    <p:sldId id="313" r:id="rId5"/>
    <p:sldId id="324" r:id="rId6"/>
    <p:sldId id="319" r:id="rId7"/>
    <p:sldId id="268" r:id="rId8"/>
    <p:sldId id="317" r:id="rId9"/>
    <p:sldId id="288" r:id="rId10"/>
    <p:sldId id="323" r:id="rId11"/>
    <p:sldId id="285" r:id="rId12"/>
  </p:sldIdLst>
  <p:sldSz cx="6858000" cy="9906000" type="A4"/>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60F66E9-61A6-44EE-A544-2BA749833F09}">
          <p14:sldIdLst>
            <p14:sldId id="312"/>
            <p14:sldId id="313"/>
            <p14:sldId id="324"/>
            <p14:sldId id="319"/>
            <p14:sldId id="268"/>
            <p14:sldId id="317"/>
            <p14:sldId id="288"/>
            <p14:sldId id="323"/>
            <p14:sldId id="28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S" userId="S::caio.lsouza@xpi.com.br::3c9a17a9-6dee-4d8b-b93c-2a0cbe4083ed" providerId="AD"/>
  <p188:author id="{96E38678-DC99-8AA7-CD9B-A7924E3A8969}" name="Júlia Aquino" initials="JA" userId="S::julia.aquino@xpi.com.br::df34683f-61bd-4800-a050-1fef18d72e46" providerId="AD"/>
  <p188:author id="{BFD1BBA3-F31E-C3B2-2ADB-FE2D44934438}" name="Luiz Antonio" initials="LA" userId="S::luiz.antonio@xpi.com.br::af6a7920-edf7-4e9b-b160-08330b4d101d" providerId="AD"/>
  <p188:author id="{E1E189EC-10D0-F876-0321-6E26D67990E2}" name="Felipe Veiga" initials="FV" userId="S::felipe.bveiga@xpi.com.br::29d82955-035a-46d2-8c02-fc4125ffa591" providerId="AD"/>
  <p188:author id="{3FF395FB-F7D1-5942-EBEC-B73C159F0C4F}" name="Guilherme Ramos" initials="GS" userId="S::guilherme.sramos@xpi.com.br::200c1542-152a-4227-82d8-f81507867da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A8A8A8"/>
    <a:srgbClr val="1F2F44"/>
    <a:srgbClr val="18191A"/>
    <a:srgbClr val="F9C113"/>
    <a:srgbClr val="707971"/>
    <a:srgbClr val="8EB3DF"/>
    <a:srgbClr val="494849"/>
    <a:srgbClr val="A6A6A6"/>
    <a:srgbClr val="FFCE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81" autoAdjust="0"/>
    <p:restoredTop sz="93690" autoAdjust="0"/>
  </p:normalViewPr>
  <p:slideViewPr>
    <p:cSldViewPr snapToGrid="0">
      <p:cViewPr>
        <p:scale>
          <a:sx n="88" d="100"/>
          <a:sy n="88" d="100"/>
        </p:scale>
        <p:origin x="1978" y="-888"/>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oleObject" Target="file:///\\xpdocs\Research\Equities\Estrategia\Reports\Pesquisa%20assessores\PA%20Principal.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3933962103464995"/>
          <c:y val="6.4976381527172875E-2"/>
          <c:w val="0.72920856471162998"/>
          <c:h val="0.59214320664256759"/>
        </c:manualLayout>
      </c:layout>
      <c:barChart>
        <c:barDir val="col"/>
        <c:grouping val="percentStacked"/>
        <c:varyColors val="0"/>
        <c:ser>
          <c:idx val="1"/>
          <c:order val="0"/>
          <c:tx>
            <c:strRef>
              <c:f>'Gráfico capa'!$D$2</c:f>
              <c:strCache>
                <c:ptCount val="1"/>
                <c:pt idx="0">
                  <c:v>Wish to increase them</c:v>
                </c:pt>
              </c:strCache>
            </c:strRef>
          </c:tx>
          <c:spPr>
            <a:solidFill>
              <a:srgbClr val="8EB3DF"/>
            </a:solidFill>
            <a:ln>
              <a:noFill/>
            </a:ln>
            <a:effectLst/>
          </c:spPr>
          <c:invertIfNegative val="0"/>
          <c:cat>
            <c:numRef>
              <c:f>'Gráfico capa'!$A$56:$A$80</c:f>
              <c:numCache>
                <c:formatCode>[$-416]mmm\-yy;@</c:formatCode>
                <c:ptCount val="25"/>
                <c:pt idx="0">
                  <c:v>45474</c:v>
                </c:pt>
                <c:pt idx="1">
                  <c:v>45505</c:v>
                </c:pt>
                <c:pt idx="2">
                  <c:v>45536</c:v>
                </c:pt>
                <c:pt idx="3">
                  <c:v>45566</c:v>
                </c:pt>
                <c:pt idx="4">
                  <c:v>45597</c:v>
                </c:pt>
                <c:pt idx="5">
                  <c:v>45627</c:v>
                </c:pt>
                <c:pt idx="6">
                  <c:v>45658</c:v>
                </c:pt>
                <c:pt idx="7">
                  <c:v>45689</c:v>
                </c:pt>
                <c:pt idx="8">
                  <c:v>45717</c:v>
                </c:pt>
                <c:pt idx="9">
                  <c:v>45748</c:v>
                </c:pt>
                <c:pt idx="10">
                  <c:v>45778</c:v>
                </c:pt>
                <c:pt idx="11">
                  <c:v>45809</c:v>
                </c:pt>
                <c:pt idx="12">
                  <c:v>45839</c:v>
                </c:pt>
                <c:pt idx="13">
                  <c:v>45870</c:v>
                </c:pt>
                <c:pt idx="14">
                  <c:v>45901</c:v>
                </c:pt>
                <c:pt idx="15">
                  <c:v>45931</c:v>
                </c:pt>
                <c:pt idx="16">
                  <c:v>45962</c:v>
                </c:pt>
                <c:pt idx="17">
                  <c:v>45992</c:v>
                </c:pt>
                <c:pt idx="18">
                  <c:v>46023</c:v>
                </c:pt>
                <c:pt idx="19">
                  <c:v>46054</c:v>
                </c:pt>
                <c:pt idx="20">
                  <c:v>46082</c:v>
                </c:pt>
                <c:pt idx="21">
                  <c:v>46113</c:v>
                </c:pt>
                <c:pt idx="22">
                  <c:v>46143</c:v>
                </c:pt>
                <c:pt idx="23">
                  <c:v>46174</c:v>
                </c:pt>
                <c:pt idx="24">
                  <c:v>46204</c:v>
                </c:pt>
              </c:numCache>
            </c:numRef>
          </c:cat>
          <c:val>
            <c:numRef>
              <c:f>'Gráfico capa'!$D$56:$D$80</c:f>
              <c:numCache>
                <c:formatCode>0%</c:formatCode>
                <c:ptCount val="25"/>
                <c:pt idx="0">
                  <c:v>0.26785714285714285</c:v>
                </c:pt>
                <c:pt idx="1">
                  <c:v>0.25</c:v>
                </c:pt>
                <c:pt idx="2">
                  <c:v>0.28930817610062892</c:v>
                </c:pt>
                <c:pt idx="3">
                  <c:v>0.18543046357615894</c:v>
                </c:pt>
                <c:pt idx="4">
                  <c:v>0.16455696202531644</c:v>
                </c:pt>
                <c:pt idx="5">
                  <c:v>0.11347517730496454</c:v>
                </c:pt>
                <c:pt idx="6">
                  <c:v>0.17507418397626112</c:v>
                </c:pt>
                <c:pt idx="7">
                  <c:v>0.19875776397515527</c:v>
                </c:pt>
                <c:pt idx="8">
                  <c:v>0.16111111111111112</c:v>
                </c:pt>
                <c:pt idx="9">
                  <c:v>0.18115942028985507</c:v>
                </c:pt>
                <c:pt idx="10">
                  <c:v>0.2711864406779661</c:v>
                </c:pt>
                <c:pt idx="11">
                  <c:v>0.30252100840336132</c:v>
                </c:pt>
                <c:pt idx="12">
                  <c:v>0.34108527131782945</c:v>
                </c:pt>
                <c:pt idx="13">
                  <c:v>0.20588235294117646</c:v>
                </c:pt>
                <c:pt idx="14">
                  <c:v>0.22935779816513763</c:v>
                </c:pt>
                <c:pt idx="15">
                  <c:v>0.31623931623931623</c:v>
                </c:pt>
                <c:pt idx="16">
                  <c:v>0.28971962616822428</c:v>
                </c:pt>
                <c:pt idx="17">
                  <c:v>0.40404040404040403</c:v>
                </c:pt>
                <c:pt idx="18">
                  <c:v>0.31</c:v>
                </c:pt>
                <c:pt idx="19">
                  <c:v>0.32710280373831774</c:v>
                </c:pt>
                <c:pt idx="20">
                  <c:v>0.32211538461538464</c:v>
                </c:pt>
                <c:pt idx="21">
                  <c:v>0.28688524590163933</c:v>
                </c:pt>
                <c:pt idx="22">
                  <c:v>0.19811320754716982</c:v>
                </c:pt>
                <c:pt idx="23">
                  <c:v>0.20183486238532111</c:v>
                </c:pt>
                <c:pt idx="24">
                  <c:v>0.21495327102803738</c:v>
                </c:pt>
              </c:numCache>
            </c:numRef>
          </c:val>
          <c:extLst>
            <c:ext xmlns:c16="http://schemas.microsoft.com/office/drawing/2014/chart" uri="{C3380CC4-5D6E-409C-BE32-E72D297353CC}">
              <c16:uniqueId val="{00000000-789E-4619-892A-6471F0ED166A}"/>
            </c:ext>
          </c:extLst>
        </c:ser>
        <c:ser>
          <c:idx val="2"/>
          <c:order val="1"/>
          <c:tx>
            <c:strRef>
              <c:f>'Gráfico capa'!$B$2</c:f>
              <c:strCache>
                <c:ptCount val="1"/>
                <c:pt idx="0">
                  <c:v>Do not wish to alter them</c:v>
                </c:pt>
              </c:strCache>
            </c:strRef>
          </c:tx>
          <c:spPr>
            <a:solidFill>
              <a:srgbClr val="E7E6E6"/>
            </a:solidFill>
            <a:ln>
              <a:noFill/>
            </a:ln>
            <a:effectLst/>
          </c:spPr>
          <c:invertIfNegative val="0"/>
          <c:cat>
            <c:numRef>
              <c:f>'Gráfico capa'!$A$56:$A$80</c:f>
              <c:numCache>
                <c:formatCode>[$-416]mmm\-yy;@</c:formatCode>
                <c:ptCount val="25"/>
                <c:pt idx="0">
                  <c:v>45474</c:v>
                </c:pt>
                <c:pt idx="1">
                  <c:v>45505</c:v>
                </c:pt>
                <c:pt idx="2">
                  <c:v>45536</c:v>
                </c:pt>
                <c:pt idx="3">
                  <c:v>45566</c:v>
                </c:pt>
                <c:pt idx="4">
                  <c:v>45597</c:v>
                </c:pt>
                <c:pt idx="5">
                  <c:v>45627</c:v>
                </c:pt>
                <c:pt idx="6">
                  <c:v>45658</c:v>
                </c:pt>
                <c:pt idx="7">
                  <c:v>45689</c:v>
                </c:pt>
                <c:pt idx="8">
                  <c:v>45717</c:v>
                </c:pt>
                <c:pt idx="9">
                  <c:v>45748</c:v>
                </c:pt>
                <c:pt idx="10">
                  <c:v>45778</c:v>
                </c:pt>
                <c:pt idx="11">
                  <c:v>45809</c:v>
                </c:pt>
                <c:pt idx="12">
                  <c:v>45839</c:v>
                </c:pt>
                <c:pt idx="13">
                  <c:v>45870</c:v>
                </c:pt>
                <c:pt idx="14">
                  <c:v>45901</c:v>
                </c:pt>
                <c:pt idx="15">
                  <c:v>45931</c:v>
                </c:pt>
                <c:pt idx="16">
                  <c:v>45962</c:v>
                </c:pt>
                <c:pt idx="17">
                  <c:v>45992</c:v>
                </c:pt>
                <c:pt idx="18">
                  <c:v>46023</c:v>
                </c:pt>
                <c:pt idx="19">
                  <c:v>46054</c:v>
                </c:pt>
                <c:pt idx="20">
                  <c:v>46082</c:v>
                </c:pt>
                <c:pt idx="21">
                  <c:v>46113</c:v>
                </c:pt>
                <c:pt idx="22">
                  <c:v>46143</c:v>
                </c:pt>
                <c:pt idx="23">
                  <c:v>46174</c:v>
                </c:pt>
                <c:pt idx="24">
                  <c:v>46204</c:v>
                </c:pt>
              </c:numCache>
            </c:numRef>
          </c:cat>
          <c:val>
            <c:numRef>
              <c:f>'Gráfico capa'!$B$56:$B$80</c:f>
              <c:numCache>
                <c:formatCode>0%</c:formatCode>
                <c:ptCount val="25"/>
                <c:pt idx="0">
                  <c:v>0.625</c:v>
                </c:pt>
                <c:pt idx="1">
                  <c:v>0.6470588235294118</c:v>
                </c:pt>
                <c:pt idx="2">
                  <c:v>0.63522012578616349</c:v>
                </c:pt>
                <c:pt idx="3">
                  <c:v>0.66887417218543044</c:v>
                </c:pt>
                <c:pt idx="4">
                  <c:v>0.65189873417721522</c:v>
                </c:pt>
                <c:pt idx="5">
                  <c:v>0.48226950354609927</c:v>
                </c:pt>
                <c:pt idx="6">
                  <c:v>0.52522255192878342</c:v>
                </c:pt>
                <c:pt idx="7">
                  <c:v>0.63354037267080743</c:v>
                </c:pt>
                <c:pt idx="8">
                  <c:v>0.68888888888888888</c:v>
                </c:pt>
                <c:pt idx="9">
                  <c:v>0.70289855072463769</c:v>
                </c:pt>
                <c:pt idx="10">
                  <c:v>0.67796610169491522</c:v>
                </c:pt>
                <c:pt idx="11">
                  <c:v>0.67226890756302526</c:v>
                </c:pt>
                <c:pt idx="12">
                  <c:v>0.58914728682170547</c:v>
                </c:pt>
                <c:pt idx="13">
                  <c:v>0.63725490196078427</c:v>
                </c:pt>
                <c:pt idx="14">
                  <c:v>0.68807339449541283</c:v>
                </c:pt>
                <c:pt idx="15">
                  <c:v>0.60683760683760679</c:v>
                </c:pt>
                <c:pt idx="16">
                  <c:v>0.61682242990654201</c:v>
                </c:pt>
                <c:pt idx="17">
                  <c:v>0.55555555555555558</c:v>
                </c:pt>
                <c:pt idx="18">
                  <c:v>0.66</c:v>
                </c:pt>
                <c:pt idx="19">
                  <c:v>0.57943925233644855</c:v>
                </c:pt>
                <c:pt idx="20">
                  <c:v>0.59134615384615385</c:v>
                </c:pt>
                <c:pt idx="21">
                  <c:v>0.63114754098360659</c:v>
                </c:pt>
                <c:pt idx="22">
                  <c:v>0.75471698113207553</c:v>
                </c:pt>
                <c:pt idx="23">
                  <c:v>0.68807339449541283</c:v>
                </c:pt>
                <c:pt idx="24">
                  <c:v>0.64485981308411211</c:v>
                </c:pt>
              </c:numCache>
            </c:numRef>
          </c:val>
          <c:extLst>
            <c:ext xmlns:c16="http://schemas.microsoft.com/office/drawing/2014/chart" uri="{C3380CC4-5D6E-409C-BE32-E72D297353CC}">
              <c16:uniqueId val="{00000001-789E-4619-892A-6471F0ED166A}"/>
            </c:ext>
          </c:extLst>
        </c:ser>
        <c:ser>
          <c:idx val="0"/>
          <c:order val="2"/>
          <c:tx>
            <c:strRef>
              <c:f>'Gráfico capa'!$C$2</c:f>
              <c:strCache>
                <c:ptCount val="1"/>
                <c:pt idx="0">
                  <c:v>Wish to decrease them</c:v>
                </c:pt>
              </c:strCache>
            </c:strRef>
          </c:tx>
          <c:spPr>
            <a:solidFill>
              <a:srgbClr val="74797C"/>
            </a:solidFill>
            <a:ln>
              <a:noFill/>
            </a:ln>
            <a:effectLst/>
          </c:spPr>
          <c:invertIfNegative val="0"/>
          <c:cat>
            <c:numRef>
              <c:f>'Gráfico capa'!$A$56:$A$80</c:f>
              <c:numCache>
                <c:formatCode>[$-416]mmm\-yy;@</c:formatCode>
                <c:ptCount val="25"/>
                <c:pt idx="0">
                  <c:v>45474</c:v>
                </c:pt>
                <c:pt idx="1">
                  <c:v>45505</c:v>
                </c:pt>
                <c:pt idx="2">
                  <c:v>45536</c:v>
                </c:pt>
                <c:pt idx="3">
                  <c:v>45566</c:v>
                </c:pt>
                <c:pt idx="4">
                  <c:v>45597</c:v>
                </c:pt>
                <c:pt idx="5">
                  <c:v>45627</c:v>
                </c:pt>
                <c:pt idx="6">
                  <c:v>45658</c:v>
                </c:pt>
                <c:pt idx="7">
                  <c:v>45689</c:v>
                </c:pt>
                <c:pt idx="8">
                  <c:v>45717</c:v>
                </c:pt>
                <c:pt idx="9">
                  <c:v>45748</c:v>
                </c:pt>
                <c:pt idx="10">
                  <c:v>45778</c:v>
                </c:pt>
                <c:pt idx="11">
                  <c:v>45809</c:v>
                </c:pt>
                <c:pt idx="12">
                  <c:v>45839</c:v>
                </c:pt>
                <c:pt idx="13">
                  <c:v>45870</c:v>
                </c:pt>
                <c:pt idx="14">
                  <c:v>45901</c:v>
                </c:pt>
                <c:pt idx="15">
                  <c:v>45931</c:v>
                </c:pt>
                <c:pt idx="16">
                  <c:v>45962</c:v>
                </c:pt>
                <c:pt idx="17">
                  <c:v>45992</c:v>
                </c:pt>
                <c:pt idx="18">
                  <c:v>46023</c:v>
                </c:pt>
                <c:pt idx="19">
                  <c:v>46054</c:v>
                </c:pt>
                <c:pt idx="20">
                  <c:v>46082</c:v>
                </c:pt>
                <c:pt idx="21">
                  <c:v>46113</c:v>
                </c:pt>
                <c:pt idx="22">
                  <c:v>46143</c:v>
                </c:pt>
                <c:pt idx="23">
                  <c:v>46174</c:v>
                </c:pt>
                <c:pt idx="24">
                  <c:v>46204</c:v>
                </c:pt>
              </c:numCache>
            </c:numRef>
          </c:cat>
          <c:val>
            <c:numRef>
              <c:f>'Gráfico capa'!$C$56:$C$80</c:f>
              <c:numCache>
                <c:formatCode>0%</c:formatCode>
                <c:ptCount val="25"/>
                <c:pt idx="0">
                  <c:v>0.10714285714285714</c:v>
                </c:pt>
                <c:pt idx="1">
                  <c:v>0.10294117647058823</c:v>
                </c:pt>
                <c:pt idx="2">
                  <c:v>7.5471698113207544E-2</c:v>
                </c:pt>
                <c:pt idx="3">
                  <c:v>0.14569536423841059</c:v>
                </c:pt>
                <c:pt idx="4">
                  <c:v>0.18354430379746836</c:v>
                </c:pt>
                <c:pt idx="5">
                  <c:v>0.40425531914893614</c:v>
                </c:pt>
                <c:pt idx="6">
                  <c:v>0.29970326409495551</c:v>
                </c:pt>
                <c:pt idx="7">
                  <c:v>0.16770186335403728</c:v>
                </c:pt>
                <c:pt idx="8">
                  <c:v>0.15</c:v>
                </c:pt>
                <c:pt idx="9">
                  <c:v>0.11594202898550725</c:v>
                </c:pt>
                <c:pt idx="10">
                  <c:v>5.0847457627118647E-2</c:v>
                </c:pt>
                <c:pt idx="11">
                  <c:v>2.5210084033613446E-2</c:v>
                </c:pt>
                <c:pt idx="12">
                  <c:v>6.9767441860465115E-2</c:v>
                </c:pt>
                <c:pt idx="13">
                  <c:v>0.15686274509803921</c:v>
                </c:pt>
                <c:pt idx="14">
                  <c:v>8.2568807339449546E-2</c:v>
                </c:pt>
                <c:pt idx="15">
                  <c:v>7.6923076923076927E-2</c:v>
                </c:pt>
                <c:pt idx="16">
                  <c:v>9.3457943925233641E-2</c:v>
                </c:pt>
                <c:pt idx="17">
                  <c:v>4.0404040404040407E-2</c:v>
                </c:pt>
                <c:pt idx="18">
                  <c:v>0.03</c:v>
                </c:pt>
                <c:pt idx="19">
                  <c:v>9.3457943925233641E-2</c:v>
                </c:pt>
                <c:pt idx="20">
                  <c:v>8.6538461538461536E-2</c:v>
                </c:pt>
                <c:pt idx="21">
                  <c:v>8.1967213114754092E-2</c:v>
                </c:pt>
                <c:pt idx="22">
                  <c:v>4.716981132075472E-2</c:v>
                </c:pt>
                <c:pt idx="23">
                  <c:v>0.11009174311926606</c:v>
                </c:pt>
                <c:pt idx="24">
                  <c:v>0.14018691588785046</c:v>
                </c:pt>
              </c:numCache>
            </c:numRef>
          </c:val>
          <c:extLst>
            <c:ext xmlns:c16="http://schemas.microsoft.com/office/drawing/2014/chart" uri="{C3380CC4-5D6E-409C-BE32-E72D297353CC}">
              <c16:uniqueId val="{00000002-789E-4619-892A-6471F0ED166A}"/>
            </c:ext>
          </c:extLst>
        </c:ser>
        <c:dLbls>
          <c:showLegendKey val="0"/>
          <c:showVal val="0"/>
          <c:showCatName val="0"/>
          <c:showSerName val="0"/>
          <c:showPercent val="0"/>
          <c:showBubbleSize val="0"/>
        </c:dLbls>
        <c:gapWidth val="20"/>
        <c:overlap val="100"/>
        <c:axId val="1392012447"/>
        <c:axId val="1392009119"/>
      </c:barChart>
      <c:lineChart>
        <c:grouping val="standard"/>
        <c:varyColors val="0"/>
        <c:ser>
          <c:idx val="3"/>
          <c:order val="3"/>
          <c:tx>
            <c:strRef>
              <c:f>'Gráfico capa'!$E$3</c:f>
              <c:strCache>
                <c:ptCount val="1"/>
                <c:pt idx="0">
                  <c:v>Ibovespa</c:v>
                </c:pt>
              </c:strCache>
            </c:strRef>
          </c:tx>
          <c:spPr>
            <a:ln w="28575" cap="rnd">
              <a:solidFill>
                <a:schemeClr val="tx1"/>
              </a:solidFill>
              <a:round/>
            </a:ln>
            <a:effectLst/>
          </c:spPr>
          <c:marker>
            <c:symbol val="none"/>
          </c:marker>
          <c:val>
            <c:numRef>
              <c:f>'Gráfico capa'!$E$56:$E$80</c:f>
              <c:numCache>
                <c:formatCode>General</c:formatCode>
                <c:ptCount val="25"/>
                <c:pt idx="0">
                  <c:v>129321</c:v>
                </c:pt>
                <c:pt idx="1">
                  <c:v>133317</c:v>
                </c:pt>
                <c:pt idx="2">
                  <c:v>134882</c:v>
                </c:pt>
                <c:pt idx="3">
                  <c:v>129992</c:v>
                </c:pt>
                <c:pt idx="4">
                  <c:v>127698</c:v>
                </c:pt>
                <c:pt idx="5">
                  <c:v>124612.22</c:v>
                </c:pt>
                <c:pt idx="6">
                  <c:v>119006.93</c:v>
                </c:pt>
                <c:pt idx="7">
                  <c:v>126224.74</c:v>
                </c:pt>
                <c:pt idx="8">
                  <c:v>131474.73000000001</c:v>
                </c:pt>
                <c:pt idx="9">
                  <c:v>130790.96</c:v>
                </c:pt>
                <c:pt idx="10">
                  <c:v>139187.39000000001</c:v>
                </c:pt>
                <c:pt idx="11">
                  <c:v>137055.28</c:v>
                </c:pt>
                <c:pt idx="12">
                  <c:v>136187.31</c:v>
                </c:pt>
                <c:pt idx="13">
                  <c:v>136340.76999999999</c:v>
                </c:pt>
                <c:pt idx="14">
                  <c:v>144061.74</c:v>
                </c:pt>
                <c:pt idx="15">
                  <c:v>142603.66</c:v>
                </c:pt>
                <c:pt idx="16">
                  <c:v>155380.66</c:v>
                </c:pt>
                <c:pt idx="17">
                  <c:v>158141.66</c:v>
                </c:pt>
                <c:pt idx="18">
                  <c:v>178859</c:v>
                </c:pt>
                <c:pt idx="19">
                  <c:v>188853</c:v>
                </c:pt>
                <c:pt idx="20">
                  <c:v>180977.83</c:v>
                </c:pt>
                <c:pt idx="21">
                  <c:v>190745</c:v>
                </c:pt>
                <c:pt idx="22">
                  <c:v>176000</c:v>
                </c:pt>
                <c:pt idx="23">
                  <c:v>176001</c:v>
                </c:pt>
                <c:pt idx="24" formatCode="0">
                  <c:v>174751.84</c:v>
                </c:pt>
              </c:numCache>
            </c:numRef>
          </c:val>
          <c:smooth val="0"/>
          <c:extLst>
            <c:ext xmlns:c16="http://schemas.microsoft.com/office/drawing/2014/chart" uri="{C3380CC4-5D6E-409C-BE32-E72D297353CC}">
              <c16:uniqueId val="{00000003-789E-4619-892A-6471F0ED166A}"/>
            </c:ext>
          </c:extLst>
        </c:ser>
        <c:dLbls>
          <c:showLegendKey val="0"/>
          <c:showVal val="0"/>
          <c:showCatName val="0"/>
          <c:showSerName val="0"/>
          <c:showPercent val="0"/>
          <c:showBubbleSize val="0"/>
        </c:dLbls>
        <c:marker val="1"/>
        <c:smooth val="0"/>
        <c:axId val="1826708800"/>
        <c:axId val="1822611840"/>
      </c:lineChart>
      <c:catAx>
        <c:axId val="1392012447"/>
        <c:scaling>
          <c:orientation val="minMax"/>
        </c:scaling>
        <c:delete val="0"/>
        <c:axPos val="b"/>
        <c:numFmt formatCode="[$-409]mmm\-yy;@" sourceLinked="0"/>
        <c:majorTickMark val="out"/>
        <c:minorTickMark val="none"/>
        <c:tickLblPos val="low"/>
        <c:spPr>
          <a:noFill/>
          <a:ln w="9525" cap="flat" cmpd="sng" algn="ctr">
            <a:solidFill>
              <a:schemeClr val="tx1"/>
            </a:solidFill>
            <a:round/>
          </a:ln>
          <a:effectLst/>
        </c:spPr>
        <c:txPr>
          <a:bodyPr rot="-5400000" spcFirstLastPara="1" vertOverflow="ellipsis"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392009119"/>
        <c:crosses val="autoZero"/>
        <c:auto val="0"/>
        <c:lblAlgn val="ctr"/>
        <c:lblOffset val="100"/>
        <c:tickLblSkip val="2"/>
        <c:noMultiLvlLbl val="0"/>
      </c:catAx>
      <c:valAx>
        <c:axId val="1392009119"/>
        <c:scaling>
          <c:orientation val="minMax"/>
          <c:max val="1"/>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392012447"/>
        <c:crosses val="autoZero"/>
        <c:crossBetween val="between"/>
        <c:majorUnit val="0.2"/>
      </c:valAx>
      <c:valAx>
        <c:axId val="1822611840"/>
        <c:scaling>
          <c:orientation val="minMax"/>
          <c:min val="95000"/>
        </c:scaling>
        <c:delete val="0"/>
        <c:axPos val="r"/>
        <c:numFmt formatCode="#&quot;k&quot;" sourceLinked="0"/>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826708800"/>
        <c:crosses val="max"/>
        <c:crossBetween val="between"/>
        <c:dispUnits>
          <c:builtInUnit val="thousands"/>
        </c:dispUnits>
      </c:valAx>
      <c:catAx>
        <c:axId val="1826708800"/>
        <c:scaling>
          <c:orientation val="minMax"/>
        </c:scaling>
        <c:delete val="1"/>
        <c:axPos val="b"/>
        <c:numFmt formatCode="General" sourceLinked="1"/>
        <c:majorTickMark val="out"/>
        <c:minorTickMark val="none"/>
        <c:tickLblPos val="nextTo"/>
        <c:crossAx val="1822611840"/>
        <c:crosses val="autoZero"/>
        <c:auto val="1"/>
        <c:lblAlgn val="ctr"/>
        <c:lblOffset val="100"/>
        <c:tickLblSkip val="1"/>
        <c:tickMarkSkip val="1"/>
        <c:noMultiLvlLbl val="0"/>
      </c:catAx>
      <c:spPr>
        <a:noFill/>
        <a:ln>
          <a:noFill/>
        </a:ln>
        <a:effectLst/>
      </c:spPr>
    </c:plotArea>
    <c:legend>
      <c:legendPos val="b"/>
      <c:layout>
        <c:manualLayout>
          <c:xMode val="edge"/>
          <c:yMode val="edge"/>
          <c:x val="1.1381826524719107E-3"/>
          <c:y val="0.80215412751184645"/>
          <c:w val="0.99325810498038425"/>
          <c:h val="0.17395344770168727"/>
        </c:manualLayout>
      </c:layout>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chart>
  <c:spPr>
    <a:solidFill>
      <a:schemeClr val="bg1"/>
    </a:solidFill>
    <a:ln w="9525" cap="flat" cmpd="sng" algn="ctr">
      <a:noFill/>
      <a:round/>
    </a:ln>
    <a:effectLst/>
  </c:spPr>
  <c:txPr>
    <a:bodyPr/>
    <a:lstStyle/>
    <a:p>
      <a:pPr>
        <a:defRPr sz="6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Charts!$B$1750:$B$1754</c:f>
              <c:strCache>
                <c:ptCount val="5"/>
                <c:pt idx="0">
                  <c:v>Other</c:v>
                </c:pt>
                <c:pt idx="1">
                  <c:v>I do not yet have sufficient conviction about the causes of the correction to change my recommendations.</c:v>
                </c:pt>
                <c:pt idx="2">
                  <c:v>I see it as a reflection of deteriorating fundamentals and have observed clients reducing their exposure to Brazilian equities.</c:v>
                </c:pt>
                <c:pt idx="3">
                  <c:v>I see it as a buying opportunity and have been discussing increasing exposure to Brazilian equities with clients.</c:v>
                </c:pt>
                <c:pt idx="4">
                  <c:v>I see it as a buying opportunity, but clients have preferred to wait for better entry points before increasing their exposure.</c:v>
                </c:pt>
              </c:strCache>
            </c:strRef>
          </c:cat>
          <c:val>
            <c:numRef>
              <c:f>Charts!$C$1750:$C$1754</c:f>
              <c:numCache>
                <c:formatCode>0%</c:formatCode>
                <c:ptCount val="5"/>
                <c:pt idx="0">
                  <c:v>2.80373831775701E-2</c:v>
                </c:pt>
                <c:pt idx="1">
                  <c:v>0.10280373831775701</c:v>
                </c:pt>
                <c:pt idx="2">
                  <c:v>0.16822429906542055</c:v>
                </c:pt>
                <c:pt idx="3">
                  <c:v>0.21495327102803738</c:v>
                </c:pt>
                <c:pt idx="4">
                  <c:v>0.48598130841121495</c:v>
                </c:pt>
              </c:numCache>
            </c:numRef>
          </c:val>
          <c:extLst>
            <c:ext xmlns:c16="http://schemas.microsoft.com/office/drawing/2014/chart" uri="{C3380CC4-5D6E-409C-BE32-E72D297353CC}">
              <c16:uniqueId val="{00000000-5D9C-4CC0-9A1E-B671C93BD5A6}"/>
            </c:ext>
          </c:extLst>
        </c:ser>
        <c:dLbls>
          <c:dLblPos val="outEnd"/>
          <c:showLegendKey val="0"/>
          <c:showVal val="1"/>
          <c:showCatName val="0"/>
          <c:showSerName val="0"/>
          <c:showPercent val="0"/>
          <c:showBubbleSize val="0"/>
        </c:dLbls>
        <c:gapWidth val="120"/>
        <c:axId val="1004608464"/>
        <c:axId val="1004597904"/>
      </c:barChart>
      <c:catAx>
        <c:axId val="10046084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04597904"/>
        <c:crosses val="autoZero"/>
        <c:auto val="1"/>
        <c:lblAlgn val="ctr"/>
        <c:lblOffset val="100"/>
        <c:noMultiLvlLbl val="0"/>
      </c:catAx>
      <c:valAx>
        <c:axId val="1004597904"/>
        <c:scaling>
          <c:orientation val="minMax"/>
        </c:scaling>
        <c:delete val="1"/>
        <c:axPos val="b"/>
        <c:numFmt formatCode="0%" sourceLinked="1"/>
        <c:majorTickMark val="none"/>
        <c:minorTickMark val="none"/>
        <c:tickLblPos val="nextTo"/>
        <c:crossAx val="10046084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C6FCBDEB-1CDF-4AF2-A40D-BD048176E95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62C7CD0-CF6D-4DF1-ABC4-15C341C097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419BD5-DEA9-4137-9E04-2B4D51221D96}" type="datetimeFigureOut">
              <a:rPr lang="pt-BR" smtClean="0"/>
              <a:t>27/07/2026</a:t>
            </a:fld>
            <a:endParaRPr lang="pt-BR"/>
          </a:p>
        </p:txBody>
      </p:sp>
      <p:sp>
        <p:nvSpPr>
          <p:cNvPr id="4" name="Espaço Reservado para Rodapé 3">
            <a:extLst>
              <a:ext uri="{FF2B5EF4-FFF2-40B4-BE49-F238E27FC236}">
                <a16:creationId xmlns:a16="http://schemas.microsoft.com/office/drawing/2014/main" id="{D3608197-19B9-4E07-AC3B-67D772C0E97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F12FCDBF-A24D-47FB-B0F7-5BD7221D46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3FDF9D-16C1-4DBA-8EB5-3BDEACE80BE8}" type="slidenum">
              <a:rPr lang="pt-BR" smtClean="0"/>
              <a:t>‹#›</a:t>
            </a:fld>
            <a:endParaRPr lang="pt-BR"/>
          </a:p>
        </p:txBody>
      </p:sp>
    </p:spTree>
    <p:extLst>
      <p:ext uri="{BB962C8B-B14F-4D97-AF65-F5344CB8AC3E}">
        <p14:creationId xmlns:p14="http://schemas.microsoft.com/office/powerpoint/2010/main" val="32527263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04919-855E-41AB-8A84-30C374ADE181}" type="datetimeFigureOut">
              <a:rPr lang="en-US" smtClean="0"/>
              <a:t>7/27/2026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84EC9-51C0-4BB7-A48B-D32011637DBD}" type="slidenum">
              <a:rPr lang="en-US" smtClean="0"/>
              <a:t>‹#›</a:t>
            </a:fld>
            <a:endParaRPr lang="en-US"/>
          </a:p>
        </p:txBody>
      </p:sp>
    </p:spTree>
    <p:extLst>
      <p:ext uri="{BB962C8B-B14F-4D97-AF65-F5344CB8AC3E}">
        <p14:creationId xmlns:p14="http://schemas.microsoft.com/office/powerpoint/2010/main" val="584803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984EC9-51C0-4BB7-A48B-D32011637DBD}" type="slidenum">
              <a:rPr lang="en-US" smtClean="0"/>
              <a:t>1</a:t>
            </a:fld>
            <a:endParaRPr lang="en-US"/>
          </a:p>
        </p:txBody>
      </p:sp>
    </p:spTree>
    <p:extLst>
      <p:ext uri="{BB962C8B-B14F-4D97-AF65-F5344CB8AC3E}">
        <p14:creationId xmlns:p14="http://schemas.microsoft.com/office/powerpoint/2010/main" val="2128580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B267-1591-14FD-33E0-5F62D1BD1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B4C28-12B5-767F-50AB-1D2D265E6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FB5CC-B6E3-F2AA-24EF-B465B034BCBE}"/>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C6340A5E-008A-CC30-D3DF-82E2ABD9C946}"/>
              </a:ext>
            </a:extLst>
          </p:cNvPr>
          <p:cNvSpPr>
            <a:spLocks noGrp="1"/>
          </p:cNvSpPr>
          <p:nvPr>
            <p:ph type="sldNum" sz="quarter" idx="5"/>
          </p:nvPr>
        </p:nvSpPr>
        <p:spPr/>
        <p:txBody>
          <a:bodyPr/>
          <a:lstStyle/>
          <a:p>
            <a:fld id="{31984EC9-51C0-4BB7-A48B-D32011637DBD}" type="slidenum">
              <a:rPr lang="en-US" smtClean="0"/>
              <a:t>3</a:t>
            </a:fld>
            <a:endParaRPr lang="en-US"/>
          </a:p>
        </p:txBody>
      </p:sp>
    </p:spTree>
    <p:extLst>
      <p:ext uri="{BB962C8B-B14F-4D97-AF65-F5344CB8AC3E}">
        <p14:creationId xmlns:p14="http://schemas.microsoft.com/office/powerpoint/2010/main" val="3497626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984EC9-51C0-4BB7-A48B-D32011637DBD}" type="slidenum">
              <a:rPr lang="en-US" smtClean="0"/>
              <a:t>5</a:t>
            </a:fld>
            <a:endParaRPr lang="en-US"/>
          </a:p>
        </p:txBody>
      </p:sp>
    </p:spTree>
    <p:extLst>
      <p:ext uri="{BB962C8B-B14F-4D97-AF65-F5344CB8AC3E}">
        <p14:creationId xmlns:p14="http://schemas.microsoft.com/office/powerpoint/2010/main" val="1207995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2.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2.xml"/><Relationship Id="rId3" Type="http://schemas.openxmlformats.org/officeDocument/2006/relationships/image" Target="../media/image11.pn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12.png"/><Relationship Id="rId7" Type="http://schemas.microsoft.com/office/2007/relationships/hdphoto" Target="../media/hdphoto2.wdp"/><Relationship Id="rId8" Type="http://schemas.openxmlformats.org/officeDocument/2006/relationships/image" Target="../media/image13.png"/><Relationship Id="rId9" Type="http://schemas.openxmlformats.org/officeDocument/2006/relationships/image" Target="../media/image14.sv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2.xml"/><Relationship Id="rId3"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2.xml"/><Relationship Id="rId3" Type="http://schemas.openxmlformats.org/officeDocument/2006/relationships/image" Target="../media/image15.png"/></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2.xml"/><Relationship Id="rId3"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2.xml"/><Relationship Id="rId3"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2.xml"/><Relationship Id="rId3"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2.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6.png"/><Relationship Id="rId6" Type="http://schemas.microsoft.com/office/2007/relationships/hdphoto" Target="../media/hdphoto3.wdp"/><Relationship Id="rId7" Type="http://schemas.openxmlformats.org/officeDocument/2006/relationships/image" Target="../media/image13.png"/><Relationship Id="rId8" Type="http://schemas.openxmlformats.org/officeDocument/2006/relationships/image" Target="../media/image14.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2.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17.svg"/><Relationship Id="rId7" Type="http://schemas.openxmlformats.org/officeDocument/2006/relationships/image" Target="../media/image18.png"/><Relationship Id="rId8" Type="http://schemas.microsoft.com/office/2007/relationships/hdphoto" Target="../media/hdphoto4.wdp"/></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2.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9.png"/><Relationship Id="rId6" Type="http://schemas.microsoft.com/office/2007/relationships/hdphoto" Target="../media/hdphoto5.wdp"/><Relationship Id="rId7" Type="http://schemas.openxmlformats.org/officeDocument/2006/relationships/image" Target="../media/image20.png"/><Relationship Id="rId8" Type="http://schemas.openxmlformats.org/officeDocument/2006/relationships/image" Target="../media/image13.png"/><Relationship Id="rId9" Type="http://schemas.openxmlformats.org/officeDocument/2006/relationships/image" Target="../media/image14.svg"/><Relationship Id="rId10" Type="http://schemas.openxmlformats.org/officeDocument/2006/relationships/image" Target="../media/image3.png"/><Relationship Id="rId11" Type="http://schemas.openxmlformats.org/officeDocument/2006/relationships/image" Target="../media/image21.svg"/><Relationship Id="rId12" Type="http://schemas.openxmlformats.org/officeDocument/2006/relationships/image" Target="../media/image22.png"/></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Master" Target="../slideMasters/slideMaster3.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microsoft.com/office/2007/relationships/hdphoto" Target="../media/hdphoto1.wdp"/></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37.xml"/><Relationship Id="rId2" Type="http://schemas.openxmlformats.org/officeDocument/2006/relationships/slideMaster" Target="../slideMasters/slideMaster3.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2.png"/><Relationship Id="rId6" Type="http://schemas.microsoft.com/office/2007/relationships/hdphoto" Target="../media/hdphoto2.wdp"/><Relationship Id="rId7" Type="http://schemas.openxmlformats.org/officeDocument/2006/relationships/image" Target="../media/image13.png"/><Relationship Id="rId8" Type="http://schemas.openxmlformats.org/officeDocument/2006/relationships/image" Target="../media/image14.svg"/></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slideMaster" Target="../slideMasters/slideMaster3.xml"/><Relationship Id="rId3" Type="http://schemas.openxmlformats.org/officeDocument/2006/relationships/image" Target="../media/image15.png"/></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39.xml"/><Relationship Id="rId2" Type="http://schemas.openxmlformats.org/officeDocument/2006/relationships/slideMaster" Target="../slideMasters/slideMaster3.xml"/><Relationship Id="rId3"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40.xml"/><Relationship Id="rId2" Type="http://schemas.openxmlformats.org/officeDocument/2006/relationships/slideMaster" Target="../slideMasters/slideMaster3.xml"/><Relationship Id="rId3" Type="http://schemas.openxmlformats.org/officeDocument/2006/relationships/image" Target="../media/image15.png"/></Relationships>
</file>

<file path=ppt/slideLayouts/_rels/slideLayout41.xml.rels><?xml version='1.0' encoding='UTF-8' standalone='yes'?>
<Relationships xmlns="http://schemas.openxmlformats.org/package/2006/relationships"><Relationship Id="rId1" Type="http://schemas.openxmlformats.org/officeDocument/2006/relationships/tags" Target="../tags/tag41.xml"/><Relationship Id="rId2" Type="http://schemas.openxmlformats.org/officeDocument/2006/relationships/slideMaster" Target="../slideMasters/slideMaster3.xml"/><Relationship Id="rId3" Type="http://schemas.openxmlformats.org/officeDocument/2006/relationships/image" Target="../media/image15.png"/></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42.xml"/><Relationship Id="rId2" Type="http://schemas.openxmlformats.org/officeDocument/2006/relationships/slideMaster" Target="../slideMasters/slideMaster3.xml"/><Relationship Id="rId3" Type="http://schemas.openxmlformats.org/officeDocument/2006/relationships/image" Target="../media/image15.png"/></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slideMaster" Target="../slideMasters/slideMaster3.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6.png"/><Relationship Id="rId6" Type="http://schemas.microsoft.com/office/2007/relationships/hdphoto" Target="../media/hdphoto3.wdp"/><Relationship Id="rId7" Type="http://schemas.openxmlformats.org/officeDocument/2006/relationships/image" Target="../media/image13.png"/><Relationship Id="rId8" Type="http://schemas.openxmlformats.org/officeDocument/2006/relationships/image" Target="../media/image14.svg"/></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44.xml"/><Relationship Id="rId2"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45.xml"/><Relationship Id="rId2"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47.xml"/><Relationship Id="rId2" Type="http://schemas.openxmlformats.org/officeDocument/2006/relationships/slideMaster" Target="../slideMasters/slideMaster3.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8.png"/><Relationship Id="rId8" Type="http://schemas.microsoft.com/office/2007/relationships/hdphoto" Target="../media/hdphoto4.wdp"/></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48.xml"/><Relationship Id="rId2"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tags" Target="../tags/tag49.xml"/><Relationship Id="rId2"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tags" Target="../tags/tag50.xml"/><Relationship Id="rId2"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51.xml"/><Relationship Id="rId2"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52.xml"/><Relationship Id="rId2" Type="http://schemas.openxmlformats.org/officeDocument/2006/relationships/slideMaster" Target="../slideMasters/slideMaster3.xml"/><Relationship Id="rId3" Type="http://schemas.openxmlformats.org/officeDocument/2006/relationships/hyperlink" Target="http://www.xpi.com.br/" TargetMode="External"/></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3.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9.svg"/><Relationship Id="rId7" Type="http://schemas.openxmlformats.org/officeDocument/2006/relationships/image" Target="../media/image18.png"/><Relationship Id="rId8" Type="http://schemas.microsoft.com/office/2007/relationships/hdphoto" Target="../media/hdphoto4.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3349806"/>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209024188"/>
      </p:ext>
    </p:extLst>
  </p:cSld>
  <p:clrMapOvr>
    <a:masterClrMapping/>
  </p:clrMapOvr>
  <p:extLst>
    <p:ext uri="{DCECCB84-F9BA-43D5-87BE-67443E8EF086}">
      <p15:sldGuideLst xmlns:p15="http://schemas.microsoft.com/office/powerpoint/2012/main">
        <p15:guide id="0" pos="2228" userDrawn="1">
          <p15:clr>
            <a:srgbClr val="FBAE40"/>
          </p15:clr>
        </p15:guide>
        <p15:guide id="1" pos="20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3030028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76475646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85697767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71603771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42776" b="15443"/>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91587939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sp>
        <p:nvSpPr>
          <p:cNvPr id="126" name="Freeform: Shape 125">
            <a:extLst>
              <a:ext uri="{FF2B5EF4-FFF2-40B4-BE49-F238E27FC236}">
                <a16:creationId xmlns:a16="http://schemas.microsoft.com/office/drawing/2014/main" id="{3FC77C66-38F9-4F02-B9BC-6AEE180B4F4B}"/>
              </a:ext>
            </a:extLst>
          </p:cNvPr>
          <p:cNvSpPr/>
          <p:nvPr userDrawn="1"/>
        </p:nvSpPr>
        <p:spPr>
          <a:xfrm>
            <a:off x="4738916" y="4"/>
            <a:ext cx="2119084" cy="9905999"/>
          </a:xfrm>
          <a:custGeom>
            <a:avLst/>
            <a:gdLst>
              <a:gd name="connsiteX0" fmla="*/ 0 w 2119084"/>
              <a:gd name="connsiteY0" fmla="*/ 0 h 9905999"/>
              <a:gd name="connsiteX1" fmla="*/ 2119084 w 2119084"/>
              <a:gd name="connsiteY1" fmla="*/ 0 h 9905999"/>
              <a:gd name="connsiteX2" fmla="*/ 2119084 w 2119084"/>
              <a:gd name="connsiteY2" fmla="*/ 9905999 h 9905999"/>
              <a:gd name="connsiteX3" fmla="*/ 0 w 2119084"/>
              <a:gd name="connsiteY3" fmla="*/ 9905999 h 9905999"/>
            </a:gdLst>
            <a:ahLst/>
            <a:cxnLst>
              <a:cxn ang="0">
                <a:pos x="connsiteX0" y="connsiteY0"/>
              </a:cxn>
              <a:cxn ang="0">
                <a:pos x="connsiteX1" y="connsiteY1"/>
              </a:cxn>
              <a:cxn ang="0">
                <a:pos x="connsiteX2" y="connsiteY2"/>
              </a:cxn>
              <a:cxn ang="0">
                <a:pos x="connsiteX3" y="connsiteY3"/>
              </a:cxn>
            </a:cxnLst>
            <a:rect l="l" t="t" r="r" b="b"/>
            <a:pathLst>
              <a:path w="2119084" h="9905999">
                <a:moveTo>
                  <a:pt x="0" y="0"/>
                </a:moveTo>
                <a:lnTo>
                  <a:pt x="2119084" y="0"/>
                </a:lnTo>
                <a:lnTo>
                  <a:pt x="2119084" y="9905999"/>
                </a:lnTo>
                <a:lnTo>
                  <a:pt x="0" y="9905999"/>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25" name="Picture 124" descr="A picture containing dark, night sky&#10;&#10;Description automatically generated">
            <a:extLst>
              <a:ext uri="{FF2B5EF4-FFF2-40B4-BE49-F238E27FC236}">
                <a16:creationId xmlns:a16="http://schemas.microsoft.com/office/drawing/2014/main" id="{C3A5B707-C3CA-48F1-A65F-A0F1B5E937CC}"/>
              </a:ext>
            </a:extLst>
          </p:cNvPr>
          <p:cNvPicPr>
            <a:picLocks noChangeAspect="1"/>
          </p:cNvPicPr>
          <p:nvPr userDrawn="1"/>
        </p:nvPicPr>
        <p:blipFill rotWithShape="1">
          <a:blip r:embed="rId3">
            <a:alphaModFix amt="60000"/>
          </a:blip>
          <a:srcRect l="1608" t="46598" b="23299"/>
          <a:stretch/>
        </p:blipFill>
        <p:spPr>
          <a:xfrm rot="5400000" flipH="1" flipV="1">
            <a:off x="845461" y="3893458"/>
            <a:ext cx="9905993" cy="2119084"/>
          </a:xfrm>
          <a:prstGeom prst="rect">
            <a:avLst/>
          </a:prstGeom>
          <a:noFill/>
        </p:spPr>
      </p:pic>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Table</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of</a:t>
            </a:r>
            <a:r>
              <a:rPr lang="pt-BR" sz="2800" dirty="0">
                <a:solidFill>
                  <a:srgbClr val="242424"/>
                </a:solidFill>
                <a:latin typeface="+mj-lt"/>
                <a:ea typeface="XP Light Lighthouse" pitchFamily="50" charset="0"/>
              </a:rPr>
              <a:t> </a:t>
            </a:r>
            <a:r>
              <a:rPr lang="pt-BR" sz="2800" dirty="0" err="1">
                <a:solidFill>
                  <a:srgbClr val="242424"/>
                </a:solidFill>
                <a:latin typeface="+mj-lt"/>
                <a:ea typeface="XP Light Lighthouse" pitchFamily="50" charset="0"/>
              </a:rPr>
              <a:t>Contents</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spTree>
    <p:extLst>
      <p:ext uri="{BB962C8B-B14F-4D97-AF65-F5344CB8AC3E}">
        <p14:creationId xmlns:p14="http://schemas.microsoft.com/office/powerpoint/2010/main" val="122746759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ória">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4004B1B-6C67-4C40-BA3A-400177C1EF88}"/>
              </a:ext>
            </a:extLst>
          </p:cNvPr>
          <p:cNvSpPr/>
          <p:nvPr userDrawn="1"/>
        </p:nvSpPr>
        <p:spPr>
          <a:xfrm>
            <a:off x="-1" y="0"/>
            <a:ext cx="6858001" cy="20034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F8C7BC6E-B42D-4416-8608-21682D8920A8}"/>
              </a:ext>
            </a:extLst>
          </p:cNvPr>
          <p:cNvGrpSpPr/>
          <p:nvPr userDrawn="1"/>
        </p:nvGrpSpPr>
        <p:grpSpPr>
          <a:xfrm>
            <a:off x="0" y="1188728"/>
            <a:ext cx="6858000" cy="8726315"/>
            <a:chOff x="0" y="-1859272"/>
            <a:chExt cx="6858000" cy="8726315"/>
          </a:xfrm>
        </p:grpSpPr>
        <p:sp>
          <p:nvSpPr>
            <p:cNvPr id="40" name="Rectangle 39">
              <a:extLst>
                <a:ext uri="{FF2B5EF4-FFF2-40B4-BE49-F238E27FC236}">
                  <a16:creationId xmlns:a16="http://schemas.microsoft.com/office/drawing/2014/main" id="{8213840C-2C06-4CAA-815E-6052211F6CA0}"/>
                </a:ext>
              </a:extLst>
            </p:cNvPr>
            <p:cNvSpPr/>
            <p:nvPr userDrawn="1"/>
          </p:nvSpPr>
          <p:spPr>
            <a:xfrm flipH="1" flipV="1">
              <a:off x="0" y="-1859272"/>
              <a:ext cx="6858000" cy="871727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pic>
          <p:nvPicPr>
            <p:cNvPr id="41" name="Picture 40" descr="A picture containing dark, night sky&#10;&#10;Description automatically generated">
              <a:extLst>
                <a:ext uri="{FF2B5EF4-FFF2-40B4-BE49-F238E27FC236}">
                  <a16:creationId xmlns:a16="http://schemas.microsoft.com/office/drawing/2014/main" id="{AACBCC8B-613D-4802-AE5F-7D7D5FE3F250}"/>
                </a:ext>
              </a:extLst>
            </p:cNvPr>
            <p:cNvPicPr>
              <a:picLocks noChangeAspect="1"/>
            </p:cNvPicPr>
            <p:nvPr userDrawn="1"/>
          </p:nvPicPr>
          <p:blipFill rotWithShape="1">
            <a:blip r:embed="rId3">
              <a:alphaModFix amt="49000"/>
            </a:blip>
            <a:srcRect l="11124"/>
            <a:stretch/>
          </p:blipFill>
          <p:spPr>
            <a:xfrm rot="16200000" flipV="1">
              <a:off x="-929638" y="-920592"/>
              <a:ext cx="8717273" cy="6857998"/>
            </a:xfrm>
            <a:prstGeom prst="rect">
              <a:avLst/>
            </a:prstGeom>
          </p:spPr>
        </p:pic>
      </p:gr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accent6"/>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87" name="Rectangle 86">
            <a:extLst>
              <a:ext uri="{FF2B5EF4-FFF2-40B4-BE49-F238E27FC236}">
                <a16:creationId xmlns:a16="http://schemas.microsoft.com/office/drawing/2014/main" id="{07C5F37B-60FC-4C36-9DD3-0AB5A17A75AB}"/>
              </a:ext>
            </a:extLst>
          </p:cNvPr>
          <p:cNvSpPr/>
          <p:nvPr userDrawn="1"/>
        </p:nvSpPr>
        <p:spPr>
          <a:xfrm>
            <a:off x="4086054" y="0"/>
            <a:ext cx="2771946" cy="1188728"/>
          </a:xfrm>
          <a:custGeom>
            <a:avLst/>
            <a:gdLst>
              <a:gd name="connsiteX0" fmla="*/ 0 w 2771946"/>
              <a:gd name="connsiteY0" fmla="*/ 0 h 1188728"/>
              <a:gd name="connsiteX1" fmla="*/ 2771946 w 2771946"/>
              <a:gd name="connsiteY1" fmla="*/ 0 h 1188728"/>
              <a:gd name="connsiteX2" fmla="*/ 2771946 w 2771946"/>
              <a:gd name="connsiteY2" fmla="*/ 1188728 h 1188728"/>
              <a:gd name="connsiteX3" fmla="*/ 0 w 2771946"/>
              <a:gd name="connsiteY3" fmla="*/ 11887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1104900 w 2771946"/>
              <a:gd name="connsiteY3" fmla="*/ 909328 h 1188728"/>
              <a:gd name="connsiteX4" fmla="*/ 0 w 2771946"/>
              <a:gd name="connsiteY4" fmla="*/ 0 h 1188728"/>
              <a:gd name="connsiteX0" fmla="*/ 0 w 2771946"/>
              <a:gd name="connsiteY0" fmla="*/ 0 h 1188728"/>
              <a:gd name="connsiteX1" fmla="*/ 2771946 w 2771946"/>
              <a:gd name="connsiteY1" fmla="*/ 0 h 1188728"/>
              <a:gd name="connsiteX2" fmla="*/ 2771946 w 2771946"/>
              <a:gd name="connsiteY2" fmla="*/ 1188728 h 1188728"/>
              <a:gd name="connsiteX3" fmla="*/ 971550 w 2771946"/>
              <a:gd name="connsiteY3" fmla="*/ 1188728 h 1188728"/>
              <a:gd name="connsiteX4" fmla="*/ 0 w 2771946"/>
              <a:gd name="connsiteY4" fmla="*/ 0 h 1188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1946" h="1188728">
                <a:moveTo>
                  <a:pt x="0" y="0"/>
                </a:moveTo>
                <a:lnTo>
                  <a:pt x="2771946" y="0"/>
                </a:lnTo>
                <a:lnTo>
                  <a:pt x="2771946" y="1188728"/>
                </a:lnTo>
                <a:lnTo>
                  <a:pt x="971550" y="1188728"/>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68" name="Group 67">
            <a:extLst>
              <a:ext uri="{FF2B5EF4-FFF2-40B4-BE49-F238E27FC236}">
                <a16:creationId xmlns:a16="http://schemas.microsoft.com/office/drawing/2014/main" id="{17DB0CED-EB9B-40B9-950A-5942CEE89D15}"/>
              </a:ext>
            </a:extLst>
          </p:cNvPr>
          <p:cNvGrpSpPr/>
          <p:nvPr userDrawn="1"/>
        </p:nvGrpSpPr>
        <p:grpSpPr>
          <a:xfrm>
            <a:off x="0" y="0"/>
            <a:ext cx="6858000" cy="3415894"/>
            <a:chOff x="-2701533" y="4114034"/>
            <a:chExt cx="8821930" cy="4701783"/>
          </a:xfrm>
        </p:grpSpPr>
        <p:cxnSp>
          <p:nvCxnSpPr>
            <p:cNvPr id="69" name="Conector reto 7">
              <a:extLst>
                <a:ext uri="{FF2B5EF4-FFF2-40B4-BE49-F238E27FC236}">
                  <a16:creationId xmlns:a16="http://schemas.microsoft.com/office/drawing/2014/main" id="{7C215890-47CA-4535-A28E-F0D8639CAF52}"/>
                </a:ext>
              </a:extLst>
            </p:cNvPr>
            <p:cNvCxnSpPr>
              <a:cxnSpLocks/>
            </p:cNvCxnSpPr>
            <p:nvPr userDrawn="1"/>
          </p:nvCxnSpPr>
          <p:spPr>
            <a:xfrm>
              <a:off x="-2701533" y="5741510"/>
              <a:ext cx="882193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1" name="Conector reto 2">
              <a:extLst>
                <a:ext uri="{FF2B5EF4-FFF2-40B4-BE49-F238E27FC236}">
                  <a16:creationId xmlns:a16="http://schemas.microsoft.com/office/drawing/2014/main" id="{C9C6FAA6-86BF-4151-9C12-9A001DB12D56}"/>
                </a:ext>
              </a:extLst>
            </p:cNvPr>
            <p:cNvCxnSpPr>
              <a:cxnSpLocks/>
            </p:cNvCxnSpPr>
            <p:nvPr userDrawn="1"/>
          </p:nvCxnSpPr>
          <p:spPr>
            <a:xfrm flipH="1" flipV="1">
              <a:off x="2562094" y="4114034"/>
              <a:ext cx="3558302" cy="4701783"/>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9" name="Text Placeholder 40">
            <a:extLst>
              <a:ext uri="{FF2B5EF4-FFF2-40B4-BE49-F238E27FC236}">
                <a16:creationId xmlns:a16="http://schemas.microsoft.com/office/drawing/2014/main" id="{91D72DC1-72BB-4D90-888F-230C2490908D}"/>
              </a:ext>
            </a:extLst>
          </p:cNvPr>
          <p:cNvSpPr>
            <a:spLocks noGrp="1"/>
          </p:cNvSpPr>
          <p:nvPr>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Tree>
    <p:extLst>
      <p:ext uri="{BB962C8B-B14F-4D97-AF65-F5344CB8AC3E}">
        <p14:creationId xmlns:p14="http://schemas.microsoft.com/office/powerpoint/2010/main" val="203538760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July 27, 2026</a:t>
            </a:fld>
            <a:endParaRPr lang="en-US" dirty="0"/>
          </a:p>
        </p:txBody>
      </p:sp>
    </p:spTree>
    <p:extLst>
      <p:ext uri="{BB962C8B-B14F-4D97-AF65-F5344CB8AC3E}">
        <p14:creationId xmlns:p14="http://schemas.microsoft.com/office/powerpoint/2010/main" val="330531609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July 27, 2026</a:t>
            </a:fld>
            <a:endParaRPr lang="en-US"/>
          </a:p>
        </p:txBody>
      </p:sp>
    </p:spTree>
    <p:extLst>
      <p:ext uri="{BB962C8B-B14F-4D97-AF65-F5344CB8AC3E}">
        <p14:creationId xmlns:p14="http://schemas.microsoft.com/office/powerpoint/2010/main" val="3969763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July 27, 2026</a:t>
            </a:fld>
            <a:endParaRPr lang="en-US"/>
          </a:p>
        </p:txBody>
      </p:sp>
    </p:spTree>
    <p:extLst>
      <p:ext uri="{BB962C8B-B14F-4D97-AF65-F5344CB8AC3E}">
        <p14:creationId xmlns:p14="http://schemas.microsoft.com/office/powerpoint/2010/main" val="3967573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July 27, 2026</a:t>
            </a:fld>
            <a:endParaRPr lang="en-US" dirty="0"/>
          </a:p>
        </p:txBody>
      </p:sp>
    </p:spTree>
    <p:extLst>
      <p:ext uri="{BB962C8B-B14F-4D97-AF65-F5344CB8AC3E}">
        <p14:creationId xmlns:p14="http://schemas.microsoft.com/office/powerpoint/2010/main" val="3717197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July 27, 2026</a:t>
            </a:fld>
            <a:endParaRPr lang="en-US" dirty="0"/>
          </a:p>
        </p:txBody>
      </p:sp>
    </p:spTree>
    <p:extLst>
      <p:ext uri="{BB962C8B-B14F-4D97-AF65-F5344CB8AC3E}">
        <p14:creationId xmlns:p14="http://schemas.microsoft.com/office/powerpoint/2010/main" val="173597992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27, 2026</a:t>
            </a:fld>
            <a:endParaRPr lang="en-US"/>
          </a:p>
        </p:txBody>
      </p:sp>
    </p:spTree>
    <p:extLst>
      <p:ext uri="{BB962C8B-B14F-4D97-AF65-F5344CB8AC3E}">
        <p14:creationId xmlns:p14="http://schemas.microsoft.com/office/powerpoint/2010/main" val="18672606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27,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884321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July 27,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7901907"/>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lgn="just"/>
            <a:r>
              <a:rPr lang="en-US" dirty="0"/>
              <a:t>11)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lvl="0" algn="just"/>
            <a:r>
              <a:rPr lang="en-US" dirty="0"/>
              <a:t>2) This report was prepared considering the product risk classification in order to generate allocation results for each investor profile.  		</a:t>
            </a:r>
          </a:p>
          <a:p>
            <a:pPr lvl="0" algn="just"/>
            <a:r>
              <a:rPr lang="en-US" dirty="0"/>
              <a:t>3) 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lvl="0" algn="just"/>
            <a:r>
              <a:rPr lang="en-US" dirty="0"/>
              <a:t>4)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lgn="just"/>
            <a:r>
              <a:rPr lang="en-US" dirty="0"/>
              <a:t>5)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lgn="just"/>
            <a:r>
              <a:rPr lang="en-US" dirty="0"/>
              <a:t>6) XP Investimentos’ analysts are obligated to comply with all the rules laid down in the APIMEC’s conduct code for the securities analyst and XP Investimentos’ analyst of securities conduct policy.  				</a:t>
            </a:r>
          </a:p>
          <a:p>
            <a:pPr lvl="0" algn="just"/>
            <a:r>
              <a:rPr lang="en-US" dirty="0"/>
              <a:t>7)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lgn="just"/>
            <a:r>
              <a:rPr lang="en-US" dirty="0"/>
              <a:t>8)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lgn="just"/>
            <a:r>
              <a:rPr lang="en-US" dirty="0"/>
              <a:t>9)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lgn="just"/>
            <a:r>
              <a:rPr lang="en-US" dirty="0"/>
              <a:t>10)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lgn="just"/>
            <a:r>
              <a:rPr lang="en-US" dirty="0"/>
              <a:t>11) 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lvl="0" algn="just"/>
            <a:r>
              <a:rPr lang="en-US" dirty="0"/>
              <a:t>12) The cost of the transactions billing policies are defined in the operational cost tables which are made available on XP Investimentos website: www.xpi.com.br.</a:t>
            </a:r>
          </a:p>
          <a:p>
            <a:pPr lvl="0" algn="just"/>
            <a:r>
              <a:rPr lang="en-US" dirty="0"/>
              <a:t>13) XP Investimentos is exempt from any liability for any damages, direct or indirect, that come from the use of this report or its contents.  	</a:t>
            </a:r>
          </a:p>
          <a:p>
            <a:pPr lvl="0" algn="just"/>
            <a:r>
              <a:rPr lang="en-US" dirty="0"/>
              <a:t>14)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lgn="just"/>
            <a:r>
              <a:rPr lang="en-US" dirty="0"/>
              <a:t>15) Investment in stocks is appropriate for moderate and aggressive profile investors, according to the suitability policy practiced by XP Investimentos. 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lvl="0" algn="just"/>
            <a:r>
              <a:rPr lang="en-US" dirty="0"/>
              <a:t>16) Investment in options is preferably indicated for aggressive profile investors, according to the suitability policy practiced by XP Investimentos. In options market,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lvl="0" algn="just"/>
            <a:r>
              <a:rPr lang="en-US" dirty="0"/>
              <a:t>17) Investment in terms is indicated for aggressive profile investors, according to the suitability policy practiced by XP Investimentos. They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lvl="0" algn="just"/>
            <a:r>
              <a:rPr lang="en-US" dirty="0"/>
              <a:t>18) Investments in futures markets are subject to significant loss of principal, and are therefore appropriate for aggressive profile investors, according to the suitability policies practiced by XP Investimentos.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lvl="0" algn="just"/>
            <a:r>
              <a:rPr lang="en-US" dirty="0"/>
              <a:t>19) This institution is adhering ANBIMA Code of Regulation and best practices for the distribution activity of retail investment products.	</a:t>
            </a:r>
          </a:p>
          <a:p>
            <a:pPr lvl="0" algn="just"/>
            <a:r>
              <a:rPr lang="en-US" dirty="0"/>
              <a:t>20) XP Investments US, LLC, a broker-dealer registered with the U.S. Securities and Exchange Commission, has assumed responsibility for this research for purposes of U.S. law.  All transactions arising from this research should be directed to XP Investments US, LLC, at +1 646-664-0525</a:t>
            </a:r>
          </a:p>
          <a:p>
            <a:pPr lvl="0" algn="just"/>
            <a:r>
              <a:rPr lang="en-US" dirty="0"/>
              <a:t>21) 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51886037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09CD1B14-21A0-4905-A3FF-6A46EBDF6BCD}"/>
              </a:ext>
            </a:extLst>
          </p:cNvPr>
          <p:cNvSpPr/>
          <p:nvPr userDrawn="1"/>
        </p:nvSpPr>
        <p:spPr>
          <a:xfrm>
            <a:off x="0" y="0"/>
            <a:ext cx="6858000" cy="9906000"/>
          </a:xfrm>
          <a:prstGeom prst="rect">
            <a:avLst/>
          </a:prstGeom>
          <a:solidFill>
            <a:srgbClr val="1819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6" name="Picture 25" descr="A picture containing dark, night sky&#10;&#10;Description automatically generated">
            <a:extLst>
              <a:ext uri="{FF2B5EF4-FFF2-40B4-BE49-F238E27FC236}">
                <a16:creationId xmlns:a16="http://schemas.microsoft.com/office/drawing/2014/main" id="{A879A646-97B6-4998-8A89-2BAA11919B9D}"/>
              </a:ext>
            </a:extLst>
          </p:cNvPr>
          <p:cNvPicPr>
            <a:picLocks noChangeAspect="1"/>
          </p:cNvPicPr>
          <p:nvPr userDrawn="1"/>
        </p:nvPicPr>
        <p:blipFill rotWithShape="1">
          <a:blip r:embed="rId3">
            <a:alphaModFix amt="81000"/>
          </a:blip>
          <a:srcRect l="1783" t="114" r="50667" b="1655"/>
          <a:stretch/>
        </p:blipFill>
        <p:spPr>
          <a:xfrm>
            <a:off x="0" y="0"/>
            <a:ext cx="6858000" cy="9906000"/>
          </a:xfrm>
          <a:prstGeom prst="rect">
            <a:avLst/>
          </a:prstGeom>
        </p:spPr>
      </p:pic>
      <p:grpSp>
        <p:nvGrpSpPr>
          <p:cNvPr id="37" name="Group 36">
            <a:extLst>
              <a:ext uri="{FF2B5EF4-FFF2-40B4-BE49-F238E27FC236}">
                <a16:creationId xmlns:a16="http://schemas.microsoft.com/office/drawing/2014/main" id="{B7CE084B-3CD6-493B-AA0A-FC3B928DD6B4}"/>
              </a:ext>
            </a:extLst>
          </p:cNvPr>
          <p:cNvGrpSpPr/>
          <p:nvPr userDrawn="1"/>
        </p:nvGrpSpPr>
        <p:grpSpPr>
          <a:xfrm>
            <a:off x="-438" y="6168571"/>
            <a:ext cx="6858438" cy="3737429"/>
            <a:chOff x="0" y="-3773484"/>
            <a:chExt cx="18085267" cy="9855364"/>
          </a:xfrm>
        </p:grpSpPr>
        <p:cxnSp>
          <p:nvCxnSpPr>
            <p:cNvPr id="38" name="Straight Connector 37">
              <a:extLst>
                <a:ext uri="{FF2B5EF4-FFF2-40B4-BE49-F238E27FC236}">
                  <a16:creationId xmlns:a16="http://schemas.microsoft.com/office/drawing/2014/main" id="{31AB2E40-F9FD-42C3-9517-2D4CAEFC6A49}"/>
                </a:ext>
              </a:extLst>
            </p:cNvPr>
            <p:cNvCxnSpPr>
              <a:cxnSpLocks/>
            </p:cNvCxnSpPr>
            <p:nvPr userDrawn="1"/>
          </p:nvCxnSpPr>
          <p:spPr>
            <a:xfrm flipV="1">
              <a:off x="0" y="2914763"/>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94F34E-5B13-40DE-A8F8-15955077D952}"/>
                </a:ext>
              </a:extLst>
            </p:cNvPr>
            <p:cNvCxnSpPr>
              <a:cxnSpLocks/>
            </p:cNvCxnSpPr>
            <p:nvPr userDrawn="1"/>
          </p:nvCxnSpPr>
          <p:spPr>
            <a:xfrm flipV="1">
              <a:off x="9327868" y="-3773484"/>
              <a:ext cx="8717924" cy="9855364"/>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0" name="Graphic 39">
            <a:extLst>
              <a:ext uri="{FF2B5EF4-FFF2-40B4-BE49-F238E27FC236}">
                <a16:creationId xmlns:a16="http://schemas.microsoft.com/office/drawing/2014/main" id="{DCB009AC-E0A4-48A2-8D2A-AE84DA4D0C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565203" y="9198690"/>
            <a:ext cx="924497" cy="213562"/>
          </a:xfrm>
          <a:prstGeom prst="rect">
            <a:avLst/>
          </a:prstGeom>
        </p:spPr>
      </p:pic>
      <p:grpSp>
        <p:nvGrpSpPr>
          <p:cNvPr id="50" name="Group 49">
            <a:extLst>
              <a:ext uri="{FF2B5EF4-FFF2-40B4-BE49-F238E27FC236}">
                <a16:creationId xmlns:a16="http://schemas.microsoft.com/office/drawing/2014/main" id="{AE2F80D2-D401-47D5-BDE2-DC6D12066D2C}"/>
              </a:ext>
            </a:extLst>
          </p:cNvPr>
          <p:cNvGrpSpPr/>
          <p:nvPr userDrawn="1"/>
        </p:nvGrpSpPr>
        <p:grpSpPr>
          <a:xfrm>
            <a:off x="2684238" y="4747691"/>
            <a:ext cx="1489524" cy="410618"/>
            <a:chOff x="2700591" y="2522601"/>
            <a:chExt cx="6428993" cy="1772284"/>
          </a:xfrm>
          <a:solidFill>
            <a:schemeClr val="bg1"/>
          </a:solidFill>
        </p:grpSpPr>
        <p:sp>
          <p:nvSpPr>
            <p:cNvPr id="51" name="Freeform: Shape 50">
              <a:extLst>
                <a:ext uri="{FF2B5EF4-FFF2-40B4-BE49-F238E27FC236}">
                  <a16:creationId xmlns:a16="http://schemas.microsoft.com/office/drawing/2014/main" id="{4B5EB41B-6E79-481E-A6C7-0CE249B9C220}"/>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2" name="Graphic 20">
              <a:extLst>
                <a:ext uri="{FF2B5EF4-FFF2-40B4-BE49-F238E27FC236}">
                  <a16:creationId xmlns:a16="http://schemas.microsoft.com/office/drawing/2014/main" id="{A6F5F2BF-1CBD-48DA-83E4-900C9F654F42}"/>
                </a:ext>
              </a:extLst>
            </p:cNvPr>
            <p:cNvGrpSpPr/>
            <p:nvPr/>
          </p:nvGrpSpPr>
          <p:grpSpPr>
            <a:xfrm>
              <a:off x="5034660" y="3339528"/>
              <a:ext cx="4094924" cy="747077"/>
              <a:chOff x="5034660" y="3339528"/>
              <a:chExt cx="4094924" cy="747077"/>
            </a:xfrm>
            <a:grpFill/>
          </p:grpSpPr>
          <p:sp>
            <p:nvSpPr>
              <p:cNvPr id="54" name="Freeform: Shape 53">
                <a:extLst>
                  <a:ext uri="{FF2B5EF4-FFF2-40B4-BE49-F238E27FC236}">
                    <a16:creationId xmlns:a16="http://schemas.microsoft.com/office/drawing/2014/main" id="{F920B4FD-CF67-4AC3-ACC8-8AE9EED3B08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9E5C3886-4D19-464F-B7AC-950F1E46F85F}"/>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BFBC377-5A48-41C6-B03C-9149828E8A7C}"/>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88D6791-E280-4A9B-B6F6-189BF7C4BF98}"/>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846E24C-F514-42EF-8579-AF8CE6A376A7}"/>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767EAC76-4221-4D48-A548-1D3F7EF8A4ED}"/>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8455B7D-9D95-4D0E-8503-2F81C76803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F480758-BB1D-4122-964B-6CD9563D3404}"/>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9952736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r:embed="rId6">
            <a:alphaModFix amt="66000"/>
            <a:extLst>
              <a:ext uri="{96DAC541-7B7A-43D3-8B79-37D633B846F1}">
                <asvg:svgBlip xmlns:asvg="http://schemas.microsoft.com/office/drawing/2016/SVG/main" r:embed="rId7"/>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8" cstate="screen">
            <a:alphaModFix amt="18000"/>
            <a:extLst>
              <a:ext uri="{BEBA8EAE-BF5A-486C-A8C5-ECC9F3942E4B}">
                <a14:imgProps xmlns:a14="http://schemas.microsoft.com/office/drawing/2010/main">
                  <a14:imgLayer r:embed="rId9">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July 27, 2026</a:t>
            </a:fld>
            <a:endParaRPr lang="en-US" dirty="0"/>
          </a:p>
        </p:txBody>
      </p:sp>
    </p:spTree>
    <p:extLst>
      <p:ext uri="{BB962C8B-B14F-4D97-AF65-F5344CB8AC3E}">
        <p14:creationId xmlns:p14="http://schemas.microsoft.com/office/powerpoint/2010/main" val="24975856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2" name="Picture 1" descr="A white text on a black background&#10;&#10;AI-generated content may be incorrect.">
            <a:extLst>
              <a:ext uri="{FF2B5EF4-FFF2-40B4-BE49-F238E27FC236}">
                <a16:creationId xmlns:a16="http://schemas.microsoft.com/office/drawing/2014/main" id="{5A83CCB0-1CE3-0BC3-AB34-0407A8AE4CF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2588" y="8710464"/>
            <a:ext cx="6119812" cy="743099"/>
          </a:xfrm>
          <a:prstGeom prst="rect">
            <a:avLst/>
          </a:prstGeom>
        </p:spPr>
      </p:pic>
      <p:grpSp>
        <p:nvGrpSpPr>
          <p:cNvPr id="5" name="Group 4">
            <a:extLst>
              <a:ext uri="{FF2B5EF4-FFF2-40B4-BE49-F238E27FC236}">
                <a16:creationId xmlns:a16="http://schemas.microsoft.com/office/drawing/2014/main" id="{E947FC7A-C3B3-EC7B-71A5-804DAD0FB37E}"/>
              </a:ext>
            </a:extLst>
          </p:cNvPr>
          <p:cNvGrpSpPr/>
          <p:nvPr userDrawn="1"/>
        </p:nvGrpSpPr>
        <p:grpSpPr>
          <a:xfrm>
            <a:off x="0" y="0"/>
            <a:ext cx="6858000" cy="2003470"/>
            <a:chOff x="0" y="104872"/>
            <a:chExt cx="10296496" cy="3007979"/>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9269" t="2351" r="1339" b="20035"/>
            <a:stretch/>
          </p:blipFill>
          <p:spPr>
            <a:xfrm flipV="1">
              <a:off x="0" y="104872"/>
              <a:ext cx="10296496" cy="3007979"/>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6" cstate="screen">
              <a:alphaModFix amt="18000"/>
              <a:extLst>
                <a:ext uri="{BEBA8EAE-BF5A-486C-A8C5-ECC9F3942E4B}">
                  <a14:imgProps xmlns:a14="http://schemas.microsoft.com/office/drawing/2010/main">
                    <a14:imgLayer r:embed="rId7">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74" y="122889"/>
              <a:ext cx="10274622" cy="2989962"/>
            </a:xfrm>
            <a:prstGeom prst="rect">
              <a:avLst/>
            </a:prstGeom>
          </p:spPr>
        </p:pic>
      </p:grpSp>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r:embed="rId8">
            <a:alphaModFix amt="66000"/>
            <a:extLst>
              <a:ext uri="{96DAC541-7B7A-43D3-8B79-37D633B846F1}">
                <asvg:svgBlip xmlns:asvg="http://schemas.microsoft.com/office/drawing/2016/SVG/main" r:embed="rId9"/>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2517889"/>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699221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699221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670359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670359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68906563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89975454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44060412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22336824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73267956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168897356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Summary</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26518014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July 27, 2026</a:t>
            </a:fld>
            <a:endParaRPr lang="en-US" dirty="0"/>
          </a:p>
        </p:txBody>
      </p:sp>
    </p:spTree>
    <p:extLst>
      <p:ext uri="{BB962C8B-B14F-4D97-AF65-F5344CB8AC3E}">
        <p14:creationId xmlns:p14="http://schemas.microsoft.com/office/powerpoint/2010/main" val="167702335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July 27, 2026</a:t>
            </a:fld>
            <a:endParaRPr lang="en-US"/>
          </a:p>
        </p:txBody>
      </p:sp>
    </p:spTree>
    <p:extLst>
      <p:ext uri="{BB962C8B-B14F-4D97-AF65-F5344CB8AC3E}">
        <p14:creationId xmlns:p14="http://schemas.microsoft.com/office/powerpoint/2010/main" val="427327585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July 27, 2026</a:t>
            </a:fld>
            <a:endParaRPr lang="en-US"/>
          </a:p>
        </p:txBody>
      </p:sp>
    </p:spTree>
    <p:extLst>
      <p:ext uri="{BB962C8B-B14F-4D97-AF65-F5344CB8AC3E}">
        <p14:creationId xmlns:p14="http://schemas.microsoft.com/office/powerpoint/2010/main" val="3255422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r:embed="rId5">
            <a:alphaModFix amt="66000"/>
            <a:extLst>
              <a:ext uri="{96DAC541-7B7A-43D3-8B79-37D633B846F1}">
                <asvg:svgBlip xmlns:asvg="http://schemas.microsoft.com/office/drawing/2016/SVG/main" r:embed="rId6"/>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7">
            <a:alphaModFix amt="18000"/>
            <a:extLst>
              <a:ext uri="{BEBA8EAE-BF5A-486C-A8C5-ECC9F3942E4B}">
                <a14:imgProps xmlns:a14="http://schemas.microsoft.com/office/drawing/2010/main">
                  <a14:imgLayer r:embed="rId8">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1558763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July 27, 2026</a:t>
            </a:fld>
            <a:endParaRPr lang="en-US" dirty="0"/>
          </a:p>
        </p:txBody>
      </p:sp>
    </p:spTree>
    <p:extLst>
      <p:ext uri="{BB962C8B-B14F-4D97-AF65-F5344CB8AC3E}">
        <p14:creationId xmlns:p14="http://schemas.microsoft.com/office/powerpoint/2010/main" val="189765047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July 27, 2026</a:t>
            </a:fld>
            <a:endParaRPr lang="en-US" dirty="0"/>
          </a:p>
        </p:txBody>
      </p:sp>
    </p:spTree>
    <p:extLst>
      <p:ext uri="{BB962C8B-B14F-4D97-AF65-F5344CB8AC3E}">
        <p14:creationId xmlns:p14="http://schemas.microsoft.com/office/powerpoint/2010/main" val="241865218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27, 2026</a:t>
            </a:fld>
            <a:endParaRPr lang="en-US"/>
          </a:p>
        </p:txBody>
      </p:sp>
    </p:spTree>
    <p:extLst>
      <p:ext uri="{BB962C8B-B14F-4D97-AF65-F5344CB8AC3E}">
        <p14:creationId xmlns:p14="http://schemas.microsoft.com/office/powerpoint/2010/main" val="178536951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27,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027488497"/>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July 27,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1) 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lvl="0"/>
            <a:r>
              <a:rPr lang="en-US" dirty="0"/>
              <a:t>2) This report was prepared considering the product risk classification in order to generate allocation results for each investor profile.  			</a:t>
            </a:r>
          </a:p>
          <a:p>
            <a:pPr lvl="0"/>
            <a:r>
              <a:rPr lang="en-US" dirty="0"/>
              <a:t>3) 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p>
          <a:p>
            <a:pPr lvl="0"/>
            <a:r>
              <a:rPr lang="en-US" dirty="0"/>
              <a:t>4) 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p>
          <a:p>
            <a:pPr lvl="0"/>
            <a:r>
              <a:rPr lang="en-US" dirty="0"/>
              <a:t>5) 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p>
          <a:p>
            <a:pPr lvl="0"/>
            <a:r>
              <a:rPr lang="en-US" dirty="0"/>
              <a:t>6) XP Investimentos’ analysts are obligated to comply with all the rules laid down in the APIMEC’s conduct code for the securities analyst and XP Investimentos’ analyst of securities conduct policy.  				</a:t>
            </a:r>
          </a:p>
          <a:p>
            <a:pPr lvl="0"/>
            <a:r>
              <a:rPr lang="en-US" dirty="0"/>
              <a:t>7) Customer service is carried out by XP Investimentos employees or by autonomous investment agents who perform their activities through XP, in accordance with CVM Resolution 16/2021,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lvl="0"/>
            <a:r>
              <a:rPr lang="en-US" dirty="0"/>
              <a:t>8) The products presented in this report may not be suitable for all types of customer. Before making any decisions, customers should ensure that the products presented are suitable for their investor profile. This material does not suggest any change of portfolio, but only guidance on products suitable to a certain investor profile.  		</a:t>
            </a:r>
          </a:p>
          <a:p>
            <a:pPr lvl="0"/>
            <a:r>
              <a:rPr lang="en-US" dirty="0"/>
              <a:t>9)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r>
              <a:rPr lang="en-US" dirty="0"/>
              <a:t>10) 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p>
          <a:p>
            <a:pPr lvl="0"/>
            <a:r>
              <a:rPr lang="en-US" dirty="0"/>
              <a:t>11) 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p>
          <a:p>
            <a:pPr lvl="0"/>
            <a:r>
              <a:rPr lang="en-US" dirty="0"/>
              <a:t>12) The cost of the transactions billing policies are defined in the operational cost tables which are made available on XP Investimentos website: www.xpi.com.br.</a:t>
            </a:r>
          </a:p>
          <a:p>
            <a:pPr lvl="0"/>
            <a:r>
              <a:rPr lang="en-US" dirty="0"/>
              <a:t>13) XP Investimentos is exempt from any liability for any damages, direct or indirect, that come from the use of this report or its contents.  			</a:t>
            </a:r>
          </a:p>
          <a:p>
            <a:pPr lvl="0"/>
            <a:r>
              <a:rPr lang="en-US" dirty="0"/>
              <a:t>14) 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p>
          <a:p>
            <a:pPr lvl="0"/>
            <a:r>
              <a:rPr lang="en-US" dirty="0"/>
              <a:t>15) Investment in stocks is appropriate for moderate and aggressive profile investors, according to the suitability policy practiced by XP Investimentos. 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p>
          <a:p>
            <a:pPr lvl="0"/>
            <a:r>
              <a:rPr lang="en-US" dirty="0"/>
              <a:t>16) Investment in options is preferably indicated for aggressive profile investors, according to the suitability policy practiced by XP Investimentos. In options market,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lvl="0"/>
            <a:r>
              <a:rPr lang="en-US" dirty="0"/>
              <a:t>17) Investment in terms is indicated for aggressive profile investors, according to the suitability policy practiced by XP Investimentos. They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p>
          <a:p>
            <a:pPr lvl="0"/>
            <a:r>
              <a:rPr lang="en-US" dirty="0"/>
              <a:t>18) Investments in futures markets are subject to significant loss of principal, and are therefore appropriate for aggressive profile investors, according to the suitability policies practiced by XP Investimentos.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lvl="0"/>
            <a:r>
              <a:rPr lang="en-US" dirty="0"/>
              <a:t>19) This institution is adhering ANBIMA Code of Regulation and best practices for the distribution activity of retail investment products.			</a:t>
            </a:r>
          </a:p>
          <a:p>
            <a:pPr lvl="0"/>
            <a:r>
              <a:rPr lang="en-US" dirty="0"/>
              <a:t>20) XP Investments US, LLC, a broker-dealer registered with the U.S. Securities and Exchange Commission, has assumed responsibility for this research for purposes of U.S. law.  All transactions arising from this research should be directed to XP Investments US, LLC, at +1 646-664-0525</a:t>
            </a:r>
          </a:p>
        </p:txBody>
      </p:sp>
    </p:spTree>
    <p:extLst>
      <p:ext uri="{BB962C8B-B14F-4D97-AF65-F5344CB8AC3E}">
        <p14:creationId xmlns:p14="http://schemas.microsoft.com/office/powerpoint/2010/main" val="21998169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D5BD79F-4454-2D65-87B4-C2D3C48209C8}"/>
              </a:ext>
            </a:extLst>
          </p:cNvPr>
          <p:cNvGrpSpPr/>
          <p:nvPr userDrawn="1"/>
        </p:nvGrpSpPr>
        <p:grpSpPr>
          <a:xfrm flipV="1">
            <a:off x="2" y="0"/>
            <a:ext cx="6857998" cy="9906000"/>
            <a:chOff x="-3280787" y="0"/>
            <a:chExt cx="4747846" cy="6858000"/>
          </a:xfrm>
        </p:grpSpPr>
        <p:pic>
          <p:nvPicPr>
            <p:cNvPr id="3" name="Graphic 2">
              <a:extLst>
                <a:ext uri="{FF2B5EF4-FFF2-40B4-BE49-F238E27FC236}">
                  <a16:creationId xmlns:a16="http://schemas.microsoft.com/office/drawing/2014/main" id="{D973D275-0385-3239-FB4B-03EF1135D7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3659" t="4143" r="65424" b="18244"/>
            <a:stretch/>
          </p:blipFill>
          <p:spPr>
            <a:xfrm flipV="1">
              <a:off x="-3280787" y="0"/>
              <a:ext cx="4747846" cy="6858000"/>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654FA633-917C-CB58-CF96-7914AEA9030C}"/>
                </a:ext>
              </a:extLst>
            </p:cNvPr>
            <p:cNvPicPr>
              <a:picLocks noChangeAspect="1"/>
            </p:cNvPicPr>
            <p:nvPr userDrawn="1"/>
          </p:nvPicPr>
          <p:blipFill>
            <a:blip r:embed="rId5">
              <a:alphaModFix amt="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0"/>
              <a:ext cx="4747846" cy="6858000"/>
            </a:xfrm>
            <a:prstGeom prst="rect">
              <a:avLst/>
            </a:prstGeom>
          </p:spPr>
        </p:pic>
      </p:grpSp>
      <p:pic>
        <p:nvPicPr>
          <p:cNvPr id="9" name="Picture 8">
            <a:extLst>
              <a:ext uri="{FF2B5EF4-FFF2-40B4-BE49-F238E27FC236}">
                <a16:creationId xmlns:a16="http://schemas.microsoft.com/office/drawing/2014/main" id="{58CAB606-5003-387B-52E9-F061596D1E32}"/>
              </a:ext>
            </a:extLst>
          </p:cNvPr>
          <p:cNvPicPr>
            <a:picLocks noChangeAspect="1"/>
          </p:cNvPicPr>
          <p:nvPr userDrawn="1"/>
        </p:nvPicPr>
        <p:blipFill>
          <a:blip r:embed="rId7" cstate="screen">
            <a:extLst>
              <a:ext uri="{28A0092B-C50C-407E-A947-70E740481C1C}">
                <a14:useLocalDpi xmlns:a14="http://schemas.microsoft.com/office/drawing/2010/main"/>
              </a:ext>
            </a:extLst>
          </a:blip>
          <a:srcRect l="13604" t="19885" r="13604" b="31275"/>
          <a:stretch/>
        </p:blipFill>
        <p:spPr>
          <a:xfrm>
            <a:off x="1275173" y="2857025"/>
            <a:ext cx="4318521" cy="1306940"/>
          </a:xfrm>
          <a:prstGeom prst="rect">
            <a:avLst/>
          </a:prstGeom>
          <a:effectLst>
            <a:outerShdw blurRad="292100" dist="190500" sx="102000" sy="102000" algn="ctr" rotWithShape="0">
              <a:prstClr val="black">
                <a:alpha val="84000"/>
              </a:prstClr>
            </a:outerShdw>
          </a:effectLst>
        </p:spPr>
      </p:pic>
      <p:sp>
        <p:nvSpPr>
          <p:cNvPr id="12" name="Oval 11">
            <a:extLst>
              <a:ext uri="{FF2B5EF4-FFF2-40B4-BE49-F238E27FC236}">
                <a16:creationId xmlns:a16="http://schemas.microsoft.com/office/drawing/2014/main" id="{576BEF12-E339-3B9B-71E5-4A34D3AFBE18}"/>
              </a:ext>
            </a:extLst>
          </p:cNvPr>
          <p:cNvSpPr/>
          <p:nvPr userDrawn="1"/>
        </p:nvSpPr>
        <p:spPr>
          <a:xfrm>
            <a:off x="1281737"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3" name="Oval 12">
            <a:extLst>
              <a:ext uri="{FF2B5EF4-FFF2-40B4-BE49-F238E27FC236}">
                <a16:creationId xmlns:a16="http://schemas.microsoft.com/office/drawing/2014/main" id="{2FD66861-BE23-F378-9110-5556E3D873A0}"/>
              </a:ext>
            </a:extLst>
          </p:cNvPr>
          <p:cNvSpPr/>
          <p:nvPr userDrawn="1"/>
        </p:nvSpPr>
        <p:spPr>
          <a:xfrm>
            <a:off x="2755632"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4" name="Oval 13">
            <a:extLst>
              <a:ext uri="{FF2B5EF4-FFF2-40B4-BE49-F238E27FC236}">
                <a16:creationId xmlns:a16="http://schemas.microsoft.com/office/drawing/2014/main" id="{31C96C6B-6288-1F5B-5F07-91810E4EDA0F}"/>
              </a:ext>
            </a:extLst>
          </p:cNvPr>
          <p:cNvSpPr/>
          <p:nvPr userDrawn="1"/>
        </p:nvSpPr>
        <p:spPr>
          <a:xfrm>
            <a:off x="4235185"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15" name="Oval 14">
            <a:extLst>
              <a:ext uri="{FF2B5EF4-FFF2-40B4-BE49-F238E27FC236}">
                <a16:creationId xmlns:a16="http://schemas.microsoft.com/office/drawing/2014/main" id="{264ADC5C-17D7-868C-35BA-A5A9F92F836B}"/>
              </a:ext>
            </a:extLst>
          </p:cNvPr>
          <p:cNvSpPr/>
          <p:nvPr userDrawn="1"/>
        </p:nvSpPr>
        <p:spPr>
          <a:xfrm>
            <a:off x="5530850" y="8619991"/>
            <a:ext cx="75009" cy="75009"/>
          </a:xfrm>
          <a:prstGeom prst="ellipse">
            <a:avLst/>
          </a:prstGeom>
          <a:solidFill>
            <a:srgbClr val="5ABDF0"/>
          </a:solidFill>
          <a:ln w="25400">
            <a:solidFill>
              <a:srgbClr val="2F476A"/>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dirty="0">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pic>
        <p:nvPicPr>
          <p:cNvPr id="10" name="Graphic 9">
            <a:extLst>
              <a:ext uri="{FF2B5EF4-FFF2-40B4-BE49-F238E27FC236}">
                <a16:creationId xmlns:a16="http://schemas.microsoft.com/office/drawing/2014/main" id="{65E8E195-D23A-5765-6D7C-6E71C6E7745B}"/>
              </a:ext>
            </a:extLst>
          </p:cNvPr>
          <p:cNvPicPr>
            <a:picLocks noChangeAspect="1"/>
          </p:cNvPicPr>
          <p:nvPr userDrawn="1"/>
        </p:nvPicPr>
        <p:blipFill>
          <a:blip r:embed="rId8">
            <a:alphaModFix amt="66000"/>
            <a:extLst>
              <a:ext uri="{96DAC541-7B7A-43D3-8B79-37D633B846F1}">
                <asvg:svgBlip xmlns:asvg="http://schemas.microsoft.com/office/drawing/2016/SVG/main" r:embed="rId9"/>
              </a:ext>
            </a:extLst>
          </a:blip>
          <a:srcRect l="20524" r="20524"/>
          <a:stretch/>
        </p:blipFill>
        <p:spPr>
          <a:xfrm>
            <a:off x="0" y="3226249"/>
            <a:ext cx="6858000" cy="5393742"/>
          </a:xfrm>
          <a:prstGeom prst="rect">
            <a:avLst/>
          </a:prstGeom>
        </p:spPr>
      </p:pic>
      <p:sp>
        <p:nvSpPr>
          <p:cNvPr id="16" name="TextBox 15">
            <a:extLst>
              <a:ext uri="{FF2B5EF4-FFF2-40B4-BE49-F238E27FC236}">
                <a16:creationId xmlns:a16="http://schemas.microsoft.com/office/drawing/2014/main" id="{07BB3C16-F6F1-8520-2570-747D8A446F85}"/>
              </a:ext>
            </a:extLst>
          </p:cNvPr>
          <p:cNvSpPr txBox="1"/>
          <p:nvPr userDrawn="1"/>
        </p:nvSpPr>
        <p:spPr>
          <a:xfrm>
            <a:off x="716016" y="8881908"/>
            <a:ext cx="1169934" cy="246221"/>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RESEARCH</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7" name="TextBox 16">
            <a:extLst>
              <a:ext uri="{FF2B5EF4-FFF2-40B4-BE49-F238E27FC236}">
                <a16:creationId xmlns:a16="http://schemas.microsoft.com/office/drawing/2014/main" id="{306C03D2-36C2-FBC5-7BA5-D38441168A4E}"/>
              </a:ext>
            </a:extLst>
          </p:cNvPr>
          <p:cNvSpPr txBox="1"/>
          <p:nvPr userDrawn="1"/>
        </p:nvSpPr>
        <p:spPr>
          <a:xfrm>
            <a:off x="3603966" y="8881908"/>
            <a:ext cx="1336256" cy="246221"/>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SALES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8" name="TextBox 17">
            <a:extLst>
              <a:ext uri="{FF2B5EF4-FFF2-40B4-BE49-F238E27FC236}">
                <a16:creationId xmlns:a16="http://schemas.microsoft.com/office/drawing/2014/main" id="{855EA9C3-42DF-DA1B-76A5-89E58C6DAFA7}"/>
              </a:ext>
            </a:extLst>
          </p:cNvPr>
          <p:cNvSpPr txBox="1"/>
          <p:nvPr userDrawn="1"/>
        </p:nvSpPr>
        <p:spPr>
          <a:xfrm>
            <a:off x="2130763" y="8881908"/>
            <a:ext cx="1336256"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CORPORATE ACCESS</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9" name="TextBox 18">
            <a:extLst>
              <a:ext uri="{FF2B5EF4-FFF2-40B4-BE49-F238E27FC236}">
                <a16:creationId xmlns:a16="http://schemas.microsoft.com/office/drawing/2014/main" id="{DCB2BF63-61BE-3C01-1A87-7D0AC730DC10}"/>
              </a:ext>
            </a:extLst>
          </p:cNvPr>
          <p:cNvSpPr txBox="1"/>
          <p:nvPr userDrawn="1"/>
        </p:nvSpPr>
        <p:spPr>
          <a:xfrm>
            <a:off x="4942133" y="8881908"/>
            <a:ext cx="1283012" cy="400110"/>
          </a:xfrm>
          <a:prstGeom prst="rect">
            <a:avLst/>
          </a:prstGeom>
          <a:noFill/>
        </p:spPr>
        <p:txBody>
          <a:bodyPr wrap="square" rtlCol="0">
            <a:spAutoFit/>
          </a:bodyPr>
          <a:lstStyle/>
          <a:p>
            <a:pPr algn="ctr"/>
            <a:r>
              <a:rPr lang="pt-BR" sz="1000" spc="300" dirty="0">
                <a:solidFill>
                  <a:schemeClr val="bg1"/>
                </a:solidFill>
                <a:latin typeface="XP Lighthouse" pitchFamily="50" charset="0"/>
                <a:ea typeface="XP Lighthouse" pitchFamily="50" charset="0"/>
                <a:cs typeface="Roboto" panose="02000000000000000000" pitchFamily="2" charset="0"/>
              </a:rPr>
              <a:t>TRADING &amp; EXECUTION</a:t>
            </a:r>
            <a:endParaRPr lang="en-US" sz="1000" spc="300" dirty="0">
              <a:solidFill>
                <a:schemeClr val="bg1"/>
              </a:solidFill>
              <a:latin typeface="XP Lighthouse" pitchFamily="50" charset="0"/>
              <a:ea typeface="XP Lighthouse" pitchFamily="50" charset="0"/>
              <a:cs typeface="Roboto" panose="02000000000000000000" pitchFamily="2" charset="0"/>
            </a:endParaRPr>
          </a:p>
        </p:txBody>
      </p:sp>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63009675-3558-40C9-D842-FA434A04CE4E}"/>
              </a:ext>
            </a:extLst>
          </p:cNvPr>
          <p:cNvSpPr txBox="1"/>
          <p:nvPr userDrawn="1"/>
        </p:nvSpPr>
        <p:spPr>
          <a:xfrm>
            <a:off x="1339890" y="4759906"/>
            <a:ext cx="4247892" cy="830997"/>
          </a:xfrm>
          <a:prstGeom prst="rect">
            <a:avLst/>
          </a:prstGeom>
          <a:noFill/>
          <a:effectLst/>
        </p:spPr>
        <p:txBody>
          <a:bodyPr wrap="square" lIns="0">
            <a:spAutoFit/>
          </a:bodyPr>
          <a:lstStyle/>
          <a:p>
            <a:pPr algn="ctr"/>
            <a:r>
              <a:rPr lang="en-US" sz="2400" b="0" dirty="0">
                <a:solidFill>
                  <a:schemeClr val="accent2"/>
                </a:solidFill>
                <a:latin typeface="XP Medium Lighthouse" pitchFamily="50" charset="0"/>
                <a:ea typeface="XP Medium Lighthouse" pitchFamily="50" charset="0"/>
              </a:rPr>
              <a:t>Vote</a:t>
            </a:r>
            <a:r>
              <a:rPr lang="en-US" sz="2400" dirty="0">
                <a:solidFill>
                  <a:schemeClr val="bg1"/>
                </a:solidFill>
                <a:latin typeface="XP Medium Lighthouse" pitchFamily="50" charset="0"/>
                <a:ea typeface="XP Medium Lighthouse" pitchFamily="50" charset="0"/>
              </a:rPr>
              <a:t> for all XP teams that helped shape your decisions</a:t>
            </a:r>
          </a:p>
        </p:txBody>
      </p:sp>
      <p:pic>
        <p:nvPicPr>
          <p:cNvPr id="22" name="Graphic 21">
            <a:extLst>
              <a:ext uri="{FF2B5EF4-FFF2-40B4-BE49-F238E27FC236}">
                <a16:creationId xmlns:a16="http://schemas.microsoft.com/office/drawing/2014/main" id="{08D32E14-9DDD-D477-6386-D1BFD8ACD883}"/>
              </a:ext>
            </a:extLst>
          </p:cNvPr>
          <p:cNvPicPr>
            <a:picLocks noChangeAspect="1"/>
          </p:cNvPicPr>
          <p:nvPr userDrawn="1"/>
        </p:nvPicPr>
        <p:blipFill>
          <a:blip r:embed="rId10">
            <a:extLst>
              <a:ext uri="{96DAC541-7B7A-43D3-8B79-37D633B846F1}">
                <asvg:svgBlip xmlns:asvg="http://schemas.microsoft.com/office/drawing/2016/SVG/main" r:embed="rId11"/>
              </a:ext>
            </a:extLst>
          </a:blip>
          <a:srcRect r="73524"/>
          <a:stretch/>
        </p:blipFill>
        <p:spPr>
          <a:xfrm>
            <a:off x="720223" y="739775"/>
            <a:ext cx="396583" cy="346021"/>
          </a:xfrm>
          <a:prstGeom prst="rect">
            <a:avLst/>
          </a:prstGeom>
        </p:spPr>
      </p:pic>
      <p:pic>
        <p:nvPicPr>
          <p:cNvPr id="23" name="Picture 22">
            <a:extLst>
              <a:ext uri="{FF2B5EF4-FFF2-40B4-BE49-F238E27FC236}">
                <a16:creationId xmlns:a16="http://schemas.microsoft.com/office/drawing/2014/main" id="{7A2E1EC0-4DD1-620D-A35B-7720B258D198}"/>
              </a:ext>
            </a:extLst>
          </p:cNvPr>
          <p:cNvPicPr>
            <a:picLocks noChangeAspect="1"/>
          </p:cNvPicPr>
          <p:nvPr userDrawn="1"/>
        </p:nvPicPr>
        <p:blipFill>
          <a:blip r:embed="rId12">
            <a:extLst>
              <a:ext uri="{28A0092B-C50C-407E-A947-70E740481C1C}">
                <a14:useLocalDpi xmlns:a14="http://schemas.microsoft.com/office/drawing/2010/main"/>
              </a:ext>
            </a:extLst>
          </a:blip>
          <a:stretch>
            <a:fillRect/>
          </a:stretch>
        </p:blipFill>
        <p:spPr>
          <a:xfrm>
            <a:off x="4904913" y="739775"/>
            <a:ext cx="1232864" cy="363104"/>
          </a:xfrm>
          <a:prstGeom prst="rect">
            <a:avLst/>
          </a:prstGeom>
        </p:spPr>
      </p:pic>
    </p:spTree>
    <p:extLst>
      <p:ext uri="{BB962C8B-B14F-4D97-AF65-F5344CB8AC3E}">
        <p14:creationId xmlns:p14="http://schemas.microsoft.com/office/powerpoint/2010/main" val="2677368245"/>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Agro, alimentos e bebidas">
    <p:bg>
      <p:bgPr>
        <a:solidFill>
          <a:schemeClr val="accent6"/>
        </a:solidFill>
        <a:effectLst/>
      </p:bgPr>
    </p:bg>
    <p:spTree>
      <p:nvGrpSpPr>
        <p:cNvPr id="1" name=""/>
        <p:cNvGrpSpPr/>
        <p:nvPr/>
      </p:nvGrpSpPr>
      <p:grpSpPr>
        <a:xfrm>
          <a:off x="0" y="0"/>
          <a:ext cx="0" cy="0"/>
          <a:chOff x="0" y="0"/>
          <a:chExt cx="0" cy="0"/>
        </a:xfrm>
      </p:grpSpPr>
      <p:sp>
        <p:nvSpPr>
          <p:cNvPr id="6" name="Rectangle 5" hidden="1">
            <a:extLst>
              <a:ext uri="{FF2B5EF4-FFF2-40B4-BE49-F238E27FC236}">
                <a16:creationId xmlns:a16="http://schemas.microsoft.com/office/drawing/2014/main" id="{7227264A-2A2E-B464-74B1-0F6F1C10C77E}"/>
              </a:ext>
            </a:extLst>
          </p:cNvPr>
          <p:cNvSpPr/>
          <p:nvPr userDrawn="1"/>
        </p:nvSpPr>
        <p:spPr>
          <a:xfrm>
            <a:off x="-1" y="8774019"/>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5" name="Rectangle 4">
            <a:extLst>
              <a:ext uri="{FF2B5EF4-FFF2-40B4-BE49-F238E27FC236}">
                <a16:creationId xmlns:a16="http://schemas.microsoft.com/office/drawing/2014/main" id="{3E3B1163-CCC9-1979-5D10-8ECD746F5FCC}"/>
              </a:ext>
            </a:extLst>
          </p:cNvPr>
          <p:cNvSpPr/>
          <p:nvPr userDrawn="1"/>
        </p:nvSpPr>
        <p:spPr>
          <a:xfrm>
            <a:off x="0" y="-3"/>
            <a:ext cx="6858000" cy="11293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pic>
        <p:nvPicPr>
          <p:cNvPr id="8" name="Imagem 7" descr="Frutas e vegetais&#10;&#10;Descrição gerada automaticamente">
            <a:extLst>
              <a:ext uri="{FF2B5EF4-FFF2-40B4-BE49-F238E27FC236}">
                <a16:creationId xmlns:a16="http://schemas.microsoft.com/office/drawing/2014/main" id="{19467A36-704B-386B-9F69-26B3AAC82C6C}"/>
              </a:ext>
            </a:extLst>
          </p:cNvPr>
          <p:cNvPicPr>
            <a:picLocks noChangeAspect="1"/>
          </p:cNvPicPr>
          <p:nvPr userDrawn="1"/>
        </p:nvPicPr>
        <p:blipFill>
          <a:blip r:embed="rId3" cstate="screen">
            <a:alphaModFix amt="25000"/>
            <a:extLst>
              <a:ext uri="{28A0092B-C50C-407E-A947-70E740481C1C}">
                <a14:useLocalDpi xmlns:a14="http://schemas.microsoft.com/office/drawing/2010/main"/>
              </a:ext>
            </a:extLst>
          </a:blip>
          <a:srcRect/>
          <a:stretch>
            <a:fillRect/>
          </a:stretch>
        </p:blipFill>
        <p:spPr>
          <a:xfrm>
            <a:off x="0" y="3"/>
            <a:ext cx="6858000" cy="9905997"/>
          </a:xfrm>
          <a:custGeom>
            <a:avLst/>
            <a:gdLst>
              <a:gd name="connsiteX0" fmla="*/ 0 w 6858000"/>
              <a:gd name="connsiteY0" fmla="*/ 0 h 9905997"/>
              <a:gd name="connsiteX1" fmla="*/ 6858000 w 6858000"/>
              <a:gd name="connsiteY1" fmla="*/ 0 h 9905997"/>
              <a:gd name="connsiteX2" fmla="*/ 6858000 w 6858000"/>
              <a:gd name="connsiteY2" fmla="*/ 9905997 h 9905997"/>
              <a:gd name="connsiteX3" fmla="*/ 0 w 6858000"/>
              <a:gd name="connsiteY3" fmla="*/ 9905997 h 9905997"/>
            </a:gdLst>
            <a:ahLst/>
            <a:cxnLst>
              <a:cxn ang="0">
                <a:pos x="connsiteX0" y="connsiteY0"/>
              </a:cxn>
              <a:cxn ang="0">
                <a:pos x="connsiteX1" y="connsiteY1"/>
              </a:cxn>
              <a:cxn ang="0">
                <a:pos x="connsiteX2" y="connsiteY2"/>
              </a:cxn>
              <a:cxn ang="0">
                <a:pos x="connsiteX3" y="connsiteY3"/>
              </a:cxn>
            </a:cxnLst>
            <a:rect l="l" t="t" r="r" b="b"/>
            <a:pathLst>
              <a:path w="6858000" h="9905997">
                <a:moveTo>
                  <a:pt x="0" y="0"/>
                </a:moveTo>
                <a:lnTo>
                  <a:pt x="6858000" y="0"/>
                </a:lnTo>
                <a:lnTo>
                  <a:pt x="6858000" y="9905997"/>
                </a:lnTo>
                <a:lnTo>
                  <a:pt x="0" y="9905997"/>
                </a:lnTo>
                <a:close/>
              </a:path>
            </a:pathLst>
          </a:custGeom>
        </p:spPr>
      </p:pic>
      <p:pic>
        <p:nvPicPr>
          <p:cNvPr id="10" name="Graphic 9">
            <a:extLst>
              <a:ext uri="{FF2B5EF4-FFF2-40B4-BE49-F238E27FC236}">
                <a16:creationId xmlns:a16="http://schemas.microsoft.com/office/drawing/2014/main" id="{F49ABFC1-C342-CD17-8E24-68B202FF4DD6}"/>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9269" t="2351" r="1339" b="20035"/>
          <a:stretch/>
        </p:blipFill>
        <p:spPr>
          <a:xfrm flipV="1">
            <a:off x="-1" y="0"/>
            <a:ext cx="6858001" cy="9906000"/>
          </a:xfrm>
          <a:prstGeom prst="rect">
            <a:avLst/>
          </a:prstGeom>
        </p:spPr>
      </p:pic>
      <p:grpSp>
        <p:nvGrpSpPr>
          <p:cNvPr id="2" name="Agrupar 1">
            <a:extLst>
              <a:ext uri="{FF2B5EF4-FFF2-40B4-BE49-F238E27FC236}">
                <a16:creationId xmlns:a16="http://schemas.microsoft.com/office/drawing/2014/main" id="{12DD471D-7E3A-5696-BFDC-BC93E1279A2D}"/>
              </a:ext>
            </a:extLst>
          </p:cNvPr>
          <p:cNvGrpSpPr/>
          <p:nvPr userDrawn="1"/>
        </p:nvGrpSpPr>
        <p:grpSpPr>
          <a:xfrm>
            <a:off x="0" y="-3"/>
            <a:ext cx="6858001" cy="9906000"/>
            <a:chOff x="3836069" y="701305"/>
            <a:chExt cx="6858001" cy="9906000"/>
          </a:xfrm>
        </p:grpSpPr>
        <p:sp>
          <p:nvSpPr>
            <p:cNvPr id="3" name="Rectangle 50">
              <a:extLst>
                <a:ext uri="{FF2B5EF4-FFF2-40B4-BE49-F238E27FC236}">
                  <a16:creationId xmlns:a16="http://schemas.microsoft.com/office/drawing/2014/main" id="{62502AB0-64AA-9E82-4E61-E8AC520077F2}"/>
                </a:ext>
              </a:extLst>
            </p:cNvPr>
            <p:cNvSpPr/>
            <p:nvPr/>
          </p:nvSpPr>
          <p:spPr>
            <a:xfrm rot="10800000">
              <a:off x="3836070"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4" name="Rectangle 1">
              <a:extLst>
                <a:ext uri="{FF2B5EF4-FFF2-40B4-BE49-F238E27FC236}">
                  <a16:creationId xmlns:a16="http://schemas.microsoft.com/office/drawing/2014/main" id="{65C3F032-3230-CC1F-B579-F0F95BD08170}"/>
                </a:ext>
              </a:extLst>
            </p:cNvPr>
            <p:cNvSpPr>
              <a:spLocks/>
            </p:cNvSpPr>
            <p:nvPr/>
          </p:nvSpPr>
          <p:spPr>
            <a:xfrm>
              <a:off x="3836069" y="701305"/>
              <a:ext cx="6858000" cy="9906000"/>
            </a:xfrm>
            <a:prstGeom prst="rect">
              <a:avLst/>
            </a:prstGeom>
            <a:gradFill>
              <a:gsLst>
                <a:gs pos="0">
                  <a:schemeClr val="accent6"/>
                </a:gs>
                <a:gs pos="36000">
                  <a:schemeClr val="accent6">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pic>
        <p:nvPicPr>
          <p:cNvPr id="13" name="Graphic 12">
            <a:extLst>
              <a:ext uri="{FF2B5EF4-FFF2-40B4-BE49-F238E27FC236}">
                <a16:creationId xmlns:a16="http://schemas.microsoft.com/office/drawing/2014/main" id="{2B3617B2-4386-53AD-39A7-6CFB852D60D5}"/>
              </a:ext>
            </a:extLst>
          </p:cNvPr>
          <p:cNvPicPr>
            <a:picLocks noChangeAspect="1"/>
          </p:cNvPicPr>
          <p:nvPr userDrawn="1"/>
        </p:nvPicPr>
        <p:blipFill>
          <a:blip r:embed="rId6">
            <a:alphaModFix amt="66000"/>
            <a:extLst>
              <a:ext uri="{96DAC541-7B7A-43D3-8B79-37D633B846F1}">
                <asvg:svgBlip xmlns:asvg="http://schemas.microsoft.com/office/drawing/2016/SVG/main" r:embed="rId7"/>
              </a:ext>
            </a:extLst>
          </a:blip>
          <a:srcRect l="27193" t="22453" r="47498" b="7994"/>
          <a:stretch/>
        </p:blipFill>
        <p:spPr>
          <a:xfrm>
            <a:off x="0" y="1133591"/>
            <a:ext cx="6858000" cy="8738553"/>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D572D620-A33D-FA48-00AE-F1018BB7DF23}"/>
              </a:ext>
            </a:extLst>
          </p:cNvPr>
          <p:cNvPicPr>
            <a:picLocks noChangeAspect="1"/>
          </p:cNvPicPr>
          <p:nvPr userDrawn="1"/>
        </p:nvPicPr>
        <p:blipFill>
          <a:blip r:embed="rId8" cstate="screen">
            <a:alphaModFix amt="18000"/>
            <a:extLst>
              <a:ext uri="{BEBA8EAE-BF5A-486C-A8C5-ECC9F3942E4B}">
                <a14:imgProps xmlns:a14="http://schemas.microsoft.com/office/drawing/2010/main">
                  <a14:imgLayer r:embed="rId9">
                    <a14:imgEffect>
                      <a14:colorTemperature colorTemp="4700"/>
                    </a14:imgEffect>
                    <a14:imgEffect>
                      <a14:saturation sat="33000"/>
                    </a14:imgEffect>
                  </a14:imgLayer>
                </a14:imgProps>
              </a:ext>
              <a:ext uri="{28A0092B-C50C-407E-A947-70E740481C1C}">
                <a14:useLocalDpi xmlns:a14="http://schemas.microsoft.com/office/drawing/2010/main"/>
              </a:ext>
            </a:extLst>
          </a:blip>
          <a:srcRect t="-673"/>
          <a:stretch/>
        </p:blipFill>
        <p:spPr>
          <a:xfrm>
            <a:off x="0" y="1062189"/>
            <a:ext cx="6858000" cy="8809959"/>
          </a:xfrm>
          <a:prstGeom prst="rect">
            <a:avLst/>
          </a:prstGeom>
        </p:spPr>
      </p:pic>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6" name="Group 15">
            <a:extLst>
              <a:ext uri="{FF2B5EF4-FFF2-40B4-BE49-F238E27FC236}">
                <a16:creationId xmlns:a16="http://schemas.microsoft.com/office/drawing/2014/main" id="{C4DF0931-276A-C4B3-E0A7-02B6EAA3C49B}"/>
              </a:ext>
            </a:extLst>
          </p:cNvPr>
          <p:cNvGrpSpPr/>
          <p:nvPr userDrawn="1"/>
        </p:nvGrpSpPr>
        <p:grpSpPr>
          <a:xfrm>
            <a:off x="390154" y="406178"/>
            <a:ext cx="1240285" cy="341910"/>
            <a:chOff x="2700591" y="2522601"/>
            <a:chExt cx="6428993" cy="1772284"/>
          </a:xfrm>
        </p:grpSpPr>
        <p:sp>
          <p:nvSpPr>
            <p:cNvPr id="17" name="Freeform: Shape 16">
              <a:extLst>
                <a:ext uri="{FF2B5EF4-FFF2-40B4-BE49-F238E27FC236}">
                  <a16:creationId xmlns:a16="http://schemas.microsoft.com/office/drawing/2014/main" id="{70B9B340-5E1C-9327-69F1-5AE446FF225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20" name="Graphic 20">
              <a:extLst>
                <a:ext uri="{FF2B5EF4-FFF2-40B4-BE49-F238E27FC236}">
                  <a16:creationId xmlns:a16="http://schemas.microsoft.com/office/drawing/2014/main" id="{1E0C2497-164B-3E45-6090-5F805C67AB02}"/>
                </a:ext>
              </a:extLst>
            </p:cNvPr>
            <p:cNvGrpSpPr/>
            <p:nvPr/>
          </p:nvGrpSpPr>
          <p:grpSpPr>
            <a:xfrm>
              <a:off x="5034660" y="3339528"/>
              <a:ext cx="4094924" cy="747077"/>
              <a:chOff x="5034660" y="3339528"/>
              <a:chExt cx="4094924" cy="747077"/>
            </a:xfrm>
            <a:solidFill>
              <a:srgbClr val="FFFFFF"/>
            </a:solidFill>
          </p:grpSpPr>
          <p:sp>
            <p:nvSpPr>
              <p:cNvPr id="21" name="Freeform: Shape 20">
                <a:extLst>
                  <a:ext uri="{FF2B5EF4-FFF2-40B4-BE49-F238E27FC236}">
                    <a16:creationId xmlns:a16="http://schemas.microsoft.com/office/drawing/2014/main" id="{3198B4CB-7FA3-A37E-E540-E2FBA81CCDCB}"/>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A8605D5-3EDB-F7D1-AC3B-DF5CEE516147}"/>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18B3AC0-A0B3-67F5-F442-48F0E029DF55}"/>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48AD7D35-F105-3B1F-6CF2-EDD48ACC71B9}"/>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9371C5E-12BC-7944-E1F6-FF98963DBD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C67F76F1-36B6-C9E1-0D69-7196D96834A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D0C5B1F5-1F12-DAC8-A282-CAB55191AC3B}"/>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4F4377A-A2E8-D20E-9FC2-722626414101}"/>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grpSp>
        <p:nvGrpSpPr>
          <p:cNvPr id="69" name="Group 68">
            <a:extLst>
              <a:ext uri="{FF2B5EF4-FFF2-40B4-BE49-F238E27FC236}">
                <a16:creationId xmlns:a16="http://schemas.microsoft.com/office/drawing/2014/main" id="{8F5893B4-B956-CA4C-4E89-2275C6A23F7F}"/>
              </a:ext>
            </a:extLst>
          </p:cNvPr>
          <p:cNvGrpSpPr/>
          <p:nvPr userDrawn="1"/>
        </p:nvGrpSpPr>
        <p:grpSpPr>
          <a:xfrm flipH="1">
            <a:off x="-113256" y="3"/>
            <a:ext cx="6971256" cy="6334517"/>
            <a:chOff x="-31505" y="3"/>
            <a:chExt cx="7944898" cy="6841768"/>
          </a:xfrm>
        </p:grpSpPr>
        <p:sp>
          <p:nvSpPr>
            <p:cNvPr id="65" name="Isosceles Triangle 64">
              <a:extLst>
                <a:ext uri="{FF2B5EF4-FFF2-40B4-BE49-F238E27FC236}">
                  <a16:creationId xmlns:a16="http://schemas.microsoft.com/office/drawing/2014/main" id="{7E756C03-7B9D-CF88-83F4-C1619FDA2C7C}"/>
                </a:ext>
              </a:extLst>
            </p:cNvPr>
            <p:cNvSpPr/>
            <p:nvPr userDrawn="1"/>
          </p:nvSpPr>
          <p:spPr>
            <a:xfrm rot="16200000">
              <a:off x="2660727" y="1589105"/>
              <a:ext cx="5619144" cy="4886188"/>
            </a:xfrm>
            <a:prstGeom prst="triangle">
              <a:avLst>
                <a:gd name="adj" fmla="val 100000"/>
              </a:avLst>
            </a:prstGeom>
            <a:gradFill>
              <a:gsLst>
                <a:gs pos="93000">
                  <a:srgbClr val="8EB3DF">
                    <a:alpha val="0"/>
                  </a:srgbClr>
                </a:gs>
                <a:gs pos="0">
                  <a:schemeClr val="accent3"/>
                </a:gs>
                <a:gs pos="70000">
                  <a:schemeClr val="accent3">
                    <a:alpha val="1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66" name="Group 65">
              <a:extLst>
                <a:ext uri="{FF2B5EF4-FFF2-40B4-BE49-F238E27FC236}">
                  <a16:creationId xmlns:a16="http://schemas.microsoft.com/office/drawing/2014/main" id="{F23A80A8-5B7B-720A-0498-48FB270B56F2}"/>
                </a:ext>
              </a:extLst>
            </p:cNvPr>
            <p:cNvGrpSpPr/>
            <p:nvPr userDrawn="1"/>
          </p:nvGrpSpPr>
          <p:grpSpPr>
            <a:xfrm flipV="1">
              <a:off x="-31505" y="3"/>
              <a:ext cx="3073148" cy="1233884"/>
              <a:chOff x="-33216277" y="3696971"/>
              <a:chExt cx="17875623" cy="1180237"/>
            </a:xfrm>
          </p:grpSpPr>
          <p:cxnSp>
            <p:nvCxnSpPr>
              <p:cNvPr id="67" name="Straight Connector 66">
                <a:extLst>
                  <a:ext uri="{FF2B5EF4-FFF2-40B4-BE49-F238E27FC236}">
                    <a16:creationId xmlns:a16="http://schemas.microsoft.com/office/drawing/2014/main" id="{F1A1FDB4-0FB7-BEEB-2B9D-D1E8FE3853CA}"/>
                  </a:ext>
                </a:extLst>
              </p:cNvPr>
              <p:cNvCxnSpPr>
                <a:cxnSpLocks/>
              </p:cNvCxnSpPr>
              <p:nvPr userDrawn="1"/>
            </p:nvCxnSpPr>
            <p:spPr>
              <a:xfrm flipV="1">
                <a:off x="-33216277" y="3710462"/>
                <a:ext cx="1787562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45C79A-47B8-8CD3-9D6C-3CA04B7EC39E}"/>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72" name="Group 71">
            <a:extLst>
              <a:ext uri="{FF2B5EF4-FFF2-40B4-BE49-F238E27FC236}">
                <a16:creationId xmlns:a16="http://schemas.microsoft.com/office/drawing/2014/main" id="{7D85C331-0D97-F14F-BCEE-E4CACC063DDB}"/>
              </a:ext>
            </a:extLst>
          </p:cNvPr>
          <p:cNvGrpSpPr/>
          <p:nvPr userDrawn="1"/>
        </p:nvGrpSpPr>
        <p:grpSpPr>
          <a:xfrm>
            <a:off x="340252" y="1670475"/>
            <a:ext cx="2267822" cy="1002192"/>
            <a:chOff x="423863" y="1657596"/>
            <a:chExt cx="2267822" cy="1002192"/>
          </a:xfrm>
        </p:grpSpPr>
        <p:sp>
          <p:nvSpPr>
            <p:cNvPr id="31" name="TextBox 30">
              <a:extLst>
                <a:ext uri="{FF2B5EF4-FFF2-40B4-BE49-F238E27FC236}">
                  <a16:creationId xmlns:a16="http://schemas.microsoft.com/office/drawing/2014/main" id="{8EC449FF-42C7-1A50-8B68-6D905C6EC17A}"/>
                </a:ext>
              </a:extLst>
            </p:cNvPr>
            <p:cNvSpPr txBox="1"/>
            <p:nvPr userDrawn="1"/>
          </p:nvSpPr>
          <p:spPr>
            <a:xfrm>
              <a:off x="423863" y="1657596"/>
              <a:ext cx="2267822" cy="615553"/>
            </a:xfrm>
            <a:prstGeom prst="rect">
              <a:avLst/>
            </a:prstGeom>
            <a:noFill/>
          </p:spPr>
          <p:txBody>
            <a:bodyPr wrap="square" lIns="0" tIns="0" rIns="0" bIns="0" rtlCol="0">
              <a:spAutoFit/>
            </a:bodyPr>
            <a:lstStyle/>
            <a:p>
              <a:pPr algn="r"/>
              <a:r>
                <a:rPr lang="pt-BR" sz="4000" b="1" i="1" dirty="0">
                  <a:solidFill>
                    <a:schemeClr val="bg1"/>
                  </a:solidFill>
                  <a:latin typeface="XP" pitchFamily="50" charset="0"/>
                  <a:ea typeface="XP" pitchFamily="50" charset="0"/>
                  <a:cs typeface="Roboto" panose="02000000000000000000" pitchFamily="2" charset="0"/>
                </a:rPr>
                <a:t>Thematic</a:t>
              </a:r>
            </a:p>
          </p:txBody>
        </p:sp>
        <p:sp>
          <p:nvSpPr>
            <p:cNvPr id="71" name="TextBox 70">
              <a:extLst>
                <a:ext uri="{FF2B5EF4-FFF2-40B4-BE49-F238E27FC236}">
                  <a16:creationId xmlns:a16="http://schemas.microsoft.com/office/drawing/2014/main" id="{F39388AA-C6A0-BACD-48D5-2675535A9633}"/>
                </a:ext>
              </a:extLst>
            </p:cNvPr>
            <p:cNvSpPr txBox="1"/>
            <p:nvPr userDrawn="1"/>
          </p:nvSpPr>
          <p:spPr>
            <a:xfrm>
              <a:off x="637566" y="2105790"/>
              <a:ext cx="2054119" cy="553998"/>
            </a:xfrm>
            <a:prstGeom prst="rect">
              <a:avLst/>
            </a:prstGeom>
            <a:noFill/>
          </p:spPr>
          <p:txBody>
            <a:bodyPr wrap="square" lIns="0" tIns="0" rIns="0" bIns="0" rtlCol="0">
              <a:spAutoFit/>
            </a:bodyPr>
            <a:lstStyle/>
            <a:p>
              <a:pPr algn="r"/>
              <a:r>
                <a:rPr lang="pt-BR" sz="3600" b="0" i="0" dirty="0">
                  <a:solidFill>
                    <a:schemeClr val="bg1"/>
                  </a:solidFill>
                  <a:latin typeface="XP Light Lighthouse" pitchFamily="50" charset="0"/>
                  <a:ea typeface="XP Light Lighthouse" pitchFamily="50" charset="0"/>
                  <a:cs typeface="Roboto" panose="02000000000000000000" pitchFamily="2" charset="0"/>
                </a:rPr>
                <a:t>Research</a:t>
              </a:r>
            </a:p>
          </p:txBody>
        </p:sp>
      </p:grpSp>
      <p:sp>
        <p:nvSpPr>
          <p:cNvPr id="75" name="Espaço Reservado para Texto 6">
            <a:extLst>
              <a:ext uri="{FF2B5EF4-FFF2-40B4-BE49-F238E27FC236}">
                <a16:creationId xmlns:a16="http://schemas.microsoft.com/office/drawing/2014/main" id="{354E5287-B1CE-DBCC-A334-7B6607B9F041}"/>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en-US" noProof="0"/>
              <a:t>Sector / Segment</a:t>
            </a:r>
          </a:p>
        </p:txBody>
      </p:sp>
      <p:sp>
        <p:nvSpPr>
          <p:cNvPr id="7" name="Date Placeholder 10">
            <a:extLst>
              <a:ext uri="{FF2B5EF4-FFF2-40B4-BE49-F238E27FC236}">
                <a16:creationId xmlns:a16="http://schemas.microsoft.com/office/drawing/2014/main" id="{624580AB-8B11-2158-FF8A-2264EA11D9E6}"/>
              </a:ext>
            </a:extLst>
          </p:cNvPr>
          <p:cNvSpPr>
            <a:spLocks noGrp="1"/>
          </p:cNvSpPr>
          <p:nvPr>
            <p:ph type="dt" sz="half" idx="2"/>
          </p:nvPr>
        </p:nvSpPr>
        <p:spPr>
          <a:xfrm>
            <a:off x="3371691" y="438763"/>
            <a:ext cx="3132139" cy="184666"/>
          </a:xfrm>
        </p:spPr>
        <p:txBody>
          <a:bodyPr/>
          <a:lstStyle>
            <a:lvl1pPr>
              <a:defRPr>
                <a:solidFill>
                  <a:srgbClr val="F9C113"/>
                </a:solidFill>
              </a:defRPr>
            </a:lvl1pPr>
          </a:lstStyle>
          <a:p>
            <a:fld id="{7C15C50E-5CAF-4D73-A24B-0338FF2E9F05}" type="datetime4">
              <a:rPr lang="en-US" smtClean="0"/>
              <a:pPr/>
              <a:t>July 27, 2026</a:t>
            </a:fld>
            <a:endParaRPr lang="en-US" dirty="0"/>
          </a:p>
        </p:txBody>
      </p:sp>
    </p:spTree>
    <p:extLst>
      <p:ext uri="{BB962C8B-B14F-4D97-AF65-F5344CB8AC3E}">
        <p14:creationId xmlns:p14="http://schemas.microsoft.com/office/powerpoint/2010/main" val="342932491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E947FC7A-C3B3-EC7B-71A5-804DAD0FB37E}"/>
              </a:ext>
            </a:extLst>
          </p:cNvPr>
          <p:cNvGrpSpPr/>
          <p:nvPr userDrawn="1"/>
        </p:nvGrpSpPr>
        <p:grpSpPr>
          <a:xfrm>
            <a:off x="0" y="0"/>
            <a:ext cx="6858000" cy="2003470"/>
            <a:chOff x="0" y="104872"/>
            <a:chExt cx="10296496" cy="3007979"/>
          </a:xfrm>
        </p:grpSpPr>
        <p:pic>
          <p:nvPicPr>
            <p:cNvPr id="6" name="Graphic 5">
              <a:extLst>
                <a:ext uri="{FF2B5EF4-FFF2-40B4-BE49-F238E27FC236}">
                  <a16:creationId xmlns:a16="http://schemas.microsoft.com/office/drawing/2014/main" id="{1688A787-9182-A426-2B75-FA6C6DDF288A}"/>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104872"/>
              <a:ext cx="10296496" cy="3007979"/>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A4E2FB3C-1561-CDE0-F2B0-0E2716BC040B}"/>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74" y="122889"/>
              <a:ext cx="10274622" cy="2989962"/>
            </a:xfrm>
            <a:prstGeom prst="rect">
              <a:avLst/>
            </a:prstGeom>
          </p:spPr>
        </p:pic>
      </p:grpSp>
      <p:pic>
        <p:nvPicPr>
          <p:cNvPr id="9" name="Graphic 8">
            <a:extLst>
              <a:ext uri="{FF2B5EF4-FFF2-40B4-BE49-F238E27FC236}">
                <a16:creationId xmlns:a16="http://schemas.microsoft.com/office/drawing/2014/main" id="{2E2DBF91-C31C-E0F0-254B-B03F97806A89}"/>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16774" y="-1537758"/>
            <a:ext cx="2003470" cy="5078985"/>
          </a:xfrm>
          <a:prstGeom prst="rect">
            <a:avLst/>
          </a:pr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2"/>
            <a:ext cx="4490940" cy="1772766"/>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3" y="4060055"/>
            <a:ext cx="6112353" cy="2517889"/>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72" name="Espaço Reservado para Conteúdo 14">
            <a:extLst>
              <a:ext uri="{FF2B5EF4-FFF2-40B4-BE49-F238E27FC236}">
                <a16:creationId xmlns:a16="http://schemas.microsoft.com/office/drawing/2014/main" id="{7F6E3DBC-5BBD-4436-85AB-82E653F9C656}"/>
              </a:ext>
            </a:extLst>
          </p:cNvPr>
          <p:cNvSpPr>
            <a:spLocks noGrp="1"/>
          </p:cNvSpPr>
          <p:nvPr>
            <p:ph sz="quarter" idx="21" hasCustomPrompt="1"/>
          </p:nvPr>
        </p:nvSpPr>
        <p:spPr>
          <a:xfrm>
            <a:off x="382829" y="6992214"/>
            <a:ext cx="2938221" cy="246134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3" name="Espaço Reservado para Conteúdo 14">
            <a:extLst>
              <a:ext uri="{FF2B5EF4-FFF2-40B4-BE49-F238E27FC236}">
                <a16:creationId xmlns:a16="http://schemas.microsoft.com/office/drawing/2014/main" id="{3405AF30-6481-4177-8C12-0BD1B0028E72}"/>
              </a:ext>
            </a:extLst>
          </p:cNvPr>
          <p:cNvSpPr>
            <a:spLocks noGrp="1"/>
          </p:cNvSpPr>
          <p:nvPr>
            <p:ph sz="quarter" idx="22" hasCustomPrompt="1"/>
          </p:nvPr>
        </p:nvSpPr>
        <p:spPr>
          <a:xfrm>
            <a:off x="3536951" y="6992214"/>
            <a:ext cx="2965558" cy="246134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74" name="Espaço Reservado para Conteúdo 14">
            <a:extLst>
              <a:ext uri="{FF2B5EF4-FFF2-40B4-BE49-F238E27FC236}">
                <a16:creationId xmlns:a16="http://schemas.microsoft.com/office/drawing/2014/main" id="{14ECC719-6B01-4AF5-92A8-682707D600B0}"/>
              </a:ext>
            </a:extLst>
          </p:cNvPr>
          <p:cNvSpPr>
            <a:spLocks noGrp="1"/>
          </p:cNvSpPr>
          <p:nvPr>
            <p:ph sz="quarter" idx="24" hasCustomPrompt="1"/>
          </p:nvPr>
        </p:nvSpPr>
        <p:spPr>
          <a:xfrm>
            <a:off x="382829" y="670359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75" name="Espaço Reservado para Conteúdo 14">
            <a:extLst>
              <a:ext uri="{FF2B5EF4-FFF2-40B4-BE49-F238E27FC236}">
                <a16:creationId xmlns:a16="http://schemas.microsoft.com/office/drawing/2014/main" id="{519BA8D8-2D27-44DB-8406-D6D20B529EED}"/>
              </a:ext>
            </a:extLst>
          </p:cNvPr>
          <p:cNvSpPr>
            <a:spLocks noGrp="1"/>
          </p:cNvSpPr>
          <p:nvPr>
            <p:ph sz="quarter" idx="25" hasCustomPrompt="1"/>
          </p:nvPr>
        </p:nvSpPr>
        <p:spPr>
          <a:xfrm>
            <a:off x="3552750" y="670359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C15C50E-5CAF-4D73-A24B-0338FF2E9F05}"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5022853" y="2150953"/>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5022853" y="2312750"/>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5022853" y="2439622"/>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5022853" y="281500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5022853" y="297680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5022853" y="310367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5022853" y="3467328"/>
            <a:ext cx="1466848"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5022853" y="3629125"/>
            <a:ext cx="1466848"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5022853" y="3755997"/>
            <a:ext cx="1466848"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p:nvPr userDrawn="1"/>
        </p:nvCxnSpPr>
        <p:spPr>
          <a:xfrm>
            <a:off x="4951973" y="2150952"/>
            <a:ext cx="0" cy="1772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Texto 6">
            <a:extLst>
              <a:ext uri="{FF2B5EF4-FFF2-40B4-BE49-F238E27FC236}">
                <a16:creationId xmlns:a16="http://schemas.microsoft.com/office/drawing/2014/main" id="{984F9560-6699-43C8-BEE0-490CDFCBCF21}"/>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80EC9BA-5BCE-49E4-BC4C-E52C56FC5C26}"/>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97637900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Espaço Reservado para Conteúdo 14">
            <a:extLst>
              <a:ext uri="{FF2B5EF4-FFF2-40B4-BE49-F238E27FC236}">
                <a16:creationId xmlns:a16="http://schemas.microsoft.com/office/drawing/2014/main" id="{FC793E5F-9C0C-468E-8CC6-E5FF5C28A615}"/>
              </a:ext>
            </a:extLst>
          </p:cNvPr>
          <p:cNvSpPr>
            <a:spLocks noGrp="1"/>
          </p:cNvSpPr>
          <p:nvPr>
            <p:ph sz="quarter" idx="25" hasCustomPrompt="1"/>
          </p:nvPr>
        </p:nvSpPr>
        <p:spPr>
          <a:xfrm>
            <a:off x="4330594" y="5349815"/>
            <a:ext cx="2159107" cy="96674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445B0B9-ADF4-4441-B72F-3BFD45AB8EE6}"/>
              </a:ext>
            </a:extLst>
          </p:cNvPr>
          <p:cNvSpPr>
            <a:spLocks noGrp="1"/>
          </p:cNvSpPr>
          <p:nvPr>
            <p:ph sz="quarter" idx="36" hasCustomPrompt="1"/>
          </p:nvPr>
        </p:nvSpPr>
        <p:spPr>
          <a:xfrm>
            <a:off x="4330594" y="5061196"/>
            <a:ext cx="215910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5B35F13F-8F40-465F-949A-882361D6B7D8}"/>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8" name="Espaço Reservado para Texto 6">
            <a:extLst>
              <a:ext uri="{FF2B5EF4-FFF2-40B4-BE49-F238E27FC236}">
                <a16:creationId xmlns:a16="http://schemas.microsoft.com/office/drawing/2014/main" id="{891AEF2F-E5F3-40A5-A6BD-124D7FF714E4}"/>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77102975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Texto 6">
            <a:extLst>
              <a:ext uri="{FF2B5EF4-FFF2-40B4-BE49-F238E27FC236}">
                <a16:creationId xmlns:a16="http://schemas.microsoft.com/office/drawing/2014/main" id="{B935674C-A1AD-4842-93A9-83EA6491755B}"/>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7" name="Espaço Reservado para Texto 6">
            <a:extLst>
              <a:ext uri="{FF2B5EF4-FFF2-40B4-BE49-F238E27FC236}">
                <a16:creationId xmlns:a16="http://schemas.microsoft.com/office/drawing/2014/main" id="{5E39DE0F-32BC-41A9-847E-3FD62BFA409F}"/>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91763870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67527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64641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6" name="Espaço Reservado para Conteúdo 14">
            <a:extLst>
              <a:ext uri="{FF2B5EF4-FFF2-40B4-BE49-F238E27FC236}">
                <a16:creationId xmlns:a16="http://schemas.microsoft.com/office/drawing/2014/main" id="{91EAA875-CDD1-40CF-93C6-C46C988D6819}"/>
              </a:ext>
            </a:extLst>
          </p:cNvPr>
          <p:cNvSpPr>
            <a:spLocks noGrp="1"/>
          </p:cNvSpPr>
          <p:nvPr>
            <p:ph sz="quarter" idx="21" hasCustomPrompt="1"/>
          </p:nvPr>
        </p:nvSpPr>
        <p:spPr>
          <a:xfrm>
            <a:off x="382829" y="8150455"/>
            <a:ext cx="293822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5F8828C5-9B1E-49A4-9578-F6E2F3FA1C7A}"/>
              </a:ext>
            </a:extLst>
          </p:cNvPr>
          <p:cNvSpPr>
            <a:spLocks noGrp="1"/>
          </p:cNvSpPr>
          <p:nvPr>
            <p:ph sz="quarter" idx="36" hasCustomPrompt="1"/>
          </p:nvPr>
        </p:nvSpPr>
        <p:spPr>
          <a:xfrm>
            <a:off x="3536951" y="8150455"/>
            <a:ext cx="2965558"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6" name="Espaço Reservado para Conteúdo 14">
            <a:extLst>
              <a:ext uri="{FF2B5EF4-FFF2-40B4-BE49-F238E27FC236}">
                <a16:creationId xmlns:a16="http://schemas.microsoft.com/office/drawing/2014/main" id="{C8043A8B-C6A0-451F-BCE0-CF376EA84CE7}"/>
              </a:ext>
            </a:extLst>
          </p:cNvPr>
          <p:cNvSpPr>
            <a:spLocks noGrp="1"/>
          </p:cNvSpPr>
          <p:nvPr>
            <p:ph sz="quarter" idx="37" hasCustomPrompt="1"/>
          </p:nvPr>
        </p:nvSpPr>
        <p:spPr>
          <a:xfrm>
            <a:off x="382829" y="7861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8" name="Espaço Reservado para Conteúdo 14">
            <a:extLst>
              <a:ext uri="{FF2B5EF4-FFF2-40B4-BE49-F238E27FC236}">
                <a16:creationId xmlns:a16="http://schemas.microsoft.com/office/drawing/2014/main" id="{313F160D-109A-48C3-A366-CA46AF2EF492}"/>
              </a:ext>
            </a:extLst>
          </p:cNvPr>
          <p:cNvSpPr>
            <a:spLocks noGrp="1"/>
          </p:cNvSpPr>
          <p:nvPr>
            <p:ph sz="quarter" idx="25" hasCustomPrompt="1"/>
          </p:nvPr>
        </p:nvSpPr>
        <p:spPr>
          <a:xfrm>
            <a:off x="3552750" y="7861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Texto 6">
            <a:extLst>
              <a:ext uri="{FF2B5EF4-FFF2-40B4-BE49-F238E27FC236}">
                <a16:creationId xmlns:a16="http://schemas.microsoft.com/office/drawing/2014/main" id="{46934314-6D62-4693-8E75-BA871E290EE7}"/>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54" name="Espaço Reservado para Texto 6">
            <a:extLst>
              <a:ext uri="{FF2B5EF4-FFF2-40B4-BE49-F238E27FC236}">
                <a16:creationId xmlns:a16="http://schemas.microsoft.com/office/drawing/2014/main" id="{84AAEFD1-E87A-45B0-AAA9-B3FEC57B9D27}"/>
              </a:ext>
            </a:extLst>
          </p:cNvPr>
          <p:cNvSpPr>
            <a:spLocks noGrp="1"/>
          </p:cNvSpPr>
          <p:nvPr>
            <p:ph type="body" sz="quarter" idx="39"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506683418"/>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7"/>
            <a:ext cx="3734170" cy="5848235"/>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Fonte:  XXX, XXX, XXX | Notas: (1) XXX; (2) XXX; (3) XXX</a:t>
            </a:r>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584823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Espaço Reservado para Conteúdo 14">
            <a:extLst>
              <a:ext uri="{FF2B5EF4-FFF2-40B4-BE49-F238E27FC236}">
                <a16:creationId xmlns:a16="http://schemas.microsoft.com/office/drawing/2014/main" id="{1CFB79D6-6CD7-480C-8CD0-27D7ABC00A16}"/>
              </a:ext>
            </a:extLst>
          </p:cNvPr>
          <p:cNvSpPr>
            <a:spLocks noGrp="1"/>
          </p:cNvSpPr>
          <p:nvPr>
            <p:ph sz="quarter" idx="22" hasCustomPrompt="1"/>
          </p:nvPr>
        </p:nvSpPr>
        <p:spPr>
          <a:xfrm>
            <a:off x="4330594" y="8429130"/>
            <a:ext cx="2159107" cy="10266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5" name="Espaço Reservado para Conteúdo 14">
            <a:extLst>
              <a:ext uri="{FF2B5EF4-FFF2-40B4-BE49-F238E27FC236}">
                <a16:creationId xmlns:a16="http://schemas.microsoft.com/office/drawing/2014/main" id="{15DB8772-274F-41BA-9159-B7489A8599A7}"/>
              </a:ext>
            </a:extLst>
          </p:cNvPr>
          <p:cNvSpPr>
            <a:spLocks noGrp="1"/>
          </p:cNvSpPr>
          <p:nvPr>
            <p:ph sz="quarter" idx="24" hasCustomPrompt="1"/>
          </p:nvPr>
        </p:nvSpPr>
        <p:spPr>
          <a:xfrm>
            <a:off x="4330594" y="8140511"/>
            <a:ext cx="214760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3C2377C1-5302-4095-B1EF-BCFAB3F7EA2C}"/>
              </a:ext>
            </a:extLst>
          </p:cNvPr>
          <p:cNvSpPr>
            <a:spLocks noGrp="1"/>
          </p:cNvSpPr>
          <p:nvPr>
            <p:ph type="body" sz="quarter" idx="36"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EE3879DA-CAD4-4DDD-A957-A5A9C7A21942}"/>
              </a:ext>
            </a:extLst>
          </p:cNvPr>
          <p:cNvSpPr>
            <a:spLocks noGrp="1"/>
          </p:cNvSpPr>
          <p:nvPr>
            <p:ph type="body" sz="quarter" idx="37"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357707190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pic>
        <p:nvPicPr>
          <p:cNvPr id="39" name="Picture 38" descr="A picture containing nature&#10;&#10;Description automatically generated">
            <a:extLst>
              <a:ext uri="{FF2B5EF4-FFF2-40B4-BE49-F238E27FC236}">
                <a16:creationId xmlns:a16="http://schemas.microsoft.com/office/drawing/2014/main" id="{DFB28E78-ECA7-44DC-8F70-3C9E817544CB}"/>
              </a:ext>
            </a:extLst>
          </p:cNvPr>
          <p:cNvPicPr>
            <a:picLocks noChangeAspect="1"/>
          </p:cNvPicPr>
          <p:nvPr userDrawn="1"/>
        </p:nvPicPr>
        <p:blipFill rotWithShape="1">
          <a:blip r:embed="rId3">
            <a:extLst>
              <a:ext uri="{28A0092B-C50C-407E-A947-70E740481C1C}">
                <a14:useLocalDpi xmlns:a14="http://schemas.microsoft.com/office/drawing/2010/main"/>
              </a:ext>
            </a:extLst>
          </a:blip>
          <a:srcRect/>
          <a:stretch/>
        </p:blipFill>
        <p:spPr>
          <a:xfrm>
            <a:off x="0" y="0"/>
            <a:ext cx="6858000" cy="2003469"/>
          </a:xfrm>
          <a:custGeom>
            <a:avLst/>
            <a:gdLst>
              <a:gd name="connsiteX0" fmla="*/ 0 w 6858000"/>
              <a:gd name="connsiteY0" fmla="*/ 0 h 2003469"/>
              <a:gd name="connsiteX1" fmla="*/ 6858000 w 6858000"/>
              <a:gd name="connsiteY1" fmla="*/ 0 h 2003469"/>
              <a:gd name="connsiteX2" fmla="*/ 6858000 w 6858000"/>
              <a:gd name="connsiteY2" fmla="*/ 2003469 h 2003469"/>
              <a:gd name="connsiteX3" fmla="*/ 0 w 6858000"/>
              <a:gd name="connsiteY3" fmla="*/ 2003469 h 2003469"/>
            </a:gdLst>
            <a:ahLst/>
            <a:cxnLst>
              <a:cxn ang="0">
                <a:pos x="connsiteX0" y="connsiteY0"/>
              </a:cxn>
              <a:cxn ang="0">
                <a:pos x="connsiteX1" y="connsiteY1"/>
              </a:cxn>
              <a:cxn ang="0">
                <a:pos x="connsiteX2" y="connsiteY2"/>
              </a:cxn>
              <a:cxn ang="0">
                <a:pos x="connsiteX3" y="connsiteY3"/>
              </a:cxn>
            </a:cxnLst>
            <a:rect l="l" t="t" r="r" b="b"/>
            <a:pathLst>
              <a:path w="6858000" h="2003469">
                <a:moveTo>
                  <a:pt x="0" y="0"/>
                </a:moveTo>
                <a:lnTo>
                  <a:pt x="6858000" y="0"/>
                </a:lnTo>
                <a:lnTo>
                  <a:pt x="6858000" y="2003469"/>
                </a:lnTo>
                <a:lnTo>
                  <a:pt x="0" y="2003469"/>
                </a:lnTo>
                <a:close/>
              </a:path>
            </a:pathLst>
          </a:custGeom>
        </p:spPr>
      </p:pic>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90154" y="988484"/>
            <a:ext cx="6112354" cy="346968"/>
          </a:xfrm>
          <a:prstGeom prst="rect">
            <a:avLst/>
          </a:prstGeom>
        </p:spPr>
        <p:txBody>
          <a:bodyPr lIns="0" tIns="0" rIns="0" bIns="0" anchor="t" anchorCtr="0"/>
          <a:lstStyle>
            <a:lvl1pPr>
              <a:defRPr lang="pt-BR" sz="2400" b="1" spc="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0" name="Group 39">
            <a:extLst>
              <a:ext uri="{FF2B5EF4-FFF2-40B4-BE49-F238E27FC236}">
                <a16:creationId xmlns:a16="http://schemas.microsoft.com/office/drawing/2014/main" id="{005C9FD0-555A-4B13-8005-3B2C16664DA3}"/>
              </a:ext>
            </a:extLst>
          </p:cNvPr>
          <p:cNvGrpSpPr/>
          <p:nvPr userDrawn="1"/>
        </p:nvGrpSpPr>
        <p:grpSpPr>
          <a:xfrm>
            <a:off x="390154" y="406178"/>
            <a:ext cx="1240285" cy="341910"/>
            <a:chOff x="2700591" y="2522601"/>
            <a:chExt cx="6428993" cy="1772284"/>
          </a:xfrm>
        </p:grpSpPr>
        <p:sp>
          <p:nvSpPr>
            <p:cNvPr id="41" name="Freeform: Shape 40">
              <a:extLst>
                <a:ext uri="{FF2B5EF4-FFF2-40B4-BE49-F238E27FC236}">
                  <a16:creationId xmlns:a16="http://schemas.microsoft.com/office/drawing/2014/main" id="{9CAD89BC-209F-4A84-B643-8391FE84FD6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42" name="Graphic 20">
              <a:extLst>
                <a:ext uri="{FF2B5EF4-FFF2-40B4-BE49-F238E27FC236}">
                  <a16:creationId xmlns:a16="http://schemas.microsoft.com/office/drawing/2014/main" id="{C9CF97DA-A740-40D8-A46C-54F58F5E73E6}"/>
                </a:ext>
              </a:extLst>
            </p:cNvPr>
            <p:cNvGrpSpPr/>
            <p:nvPr/>
          </p:nvGrpSpPr>
          <p:grpSpPr>
            <a:xfrm>
              <a:off x="5034660" y="3339528"/>
              <a:ext cx="4094924" cy="747077"/>
              <a:chOff x="5034660" y="3339528"/>
              <a:chExt cx="4094924" cy="747077"/>
            </a:xfrm>
            <a:solidFill>
              <a:srgbClr val="FFFFFF"/>
            </a:solidFill>
          </p:grpSpPr>
          <p:sp>
            <p:nvSpPr>
              <p:cNvPr id="43" name="Freeform: Shape 42">
                <a:extLst>
                  <a:ext uri="{FF2B5EF4-FFF2-40B4-BE49-F238E27FC236}">
                    <a16:creationId xmlns:a16="http://schemas.microsoft.com/office/drawing/2014/main" id="{93C151B8-67D0-4C62-A1CD-C3E1CFD9F305}"/>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D2D96A5-B60E-4CC9-9982-03590D4573EC}"/>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4CD03F36-CFD5-42F6-B8F2-CAE7CBCF7AB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B8ED37E-DDC1-44DA-BF04-893FB6EADB0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724B11E2-4EE2-41C4-9CB0-BFA8238F41E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D6B95911-5559-432C-84D5-0FA4C442F497}"/>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DADFDA8-A4C9-4A90-BEAE-B1639DAC11D9}"/>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7A52CEE5-D539-4F76-92DD-650239B0467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2" name="Espaço Reservado para Texto 6">
            <a:extLst>
              <a:ext uri="{FF2B5EF4-FFF2-40B4-BE49-F238E27FC236}">
                <a16:creationId xmlns:a16="http://schemas.microsoft.com/office/drawing/2014/main" id="{B4234437-C19A-4839-88DC-46D48AF5A2C4}"/>
              </a:ext>
            </a:extLst>
          </p:cNvPr>
          <p:cNvSpPr>
            <a:spLocks noGrp="1"/>
          </p:cNvSpPr>
          <p:nvPr>
            <p:ph type="body" sz="quarter" idx="19" hasCustomPrompt="1"/>
          </p:nvPr>
        </p:nvSpPr>
        <p:spPr>
          <a:xfrm>
            <a:off x="3371691" y="608130"/>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90154" y="2150951"/>
            <a:ext cx="6099546" cy="137741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57" name="Text Placeholder 4">
            <a:extLst>
              <a:ext uri="{FF2B5EF4-FFF2-40B4-BE49-F238E27FC236}">
                <a16:creationId xmlns:a16="http://schemas.microsoft.com/office/drawing/2014/main" id="{482CDF78-5160-4CE0-9AED-EF5B81E7C38F}"/>
              </a:ext>
            </a:extLst>
          </p:cNvPr>
          <p:cNvSpPr>
            <a:spLocks noGrp="1"/>
          </p:cNvSpPr>
          <p:nvPr>
            <p:ph type="body" sz="quarter" idx="23"/>
          </p:nvPr>
        </p:nvSpPr>
        <p:spPr>
          <a:xfrm>
            <a:off x="390155" y="3605328"/>
            <a:ext cx="3734170" cy="4174580"/>
          </a:xfrm>
          <a:prstGeom prst="rect">
            <a:avLst/>
          </a:prstGeom>
          <a:noFill/>
        </p:spPr>
        <p:txBody>
          <a:bodyPr wrap="square" lIns="0" tIns="0" rIns="0" bIns="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Texto 6">
            <a:extLst>
              <a:ext uri="{FF2B5EF4-FFF2-40B4-BE49-F238E27FC236}">
                <a16:creationId xmlns:a16="http://schemas.microsoft.com/office/drawing/2014/main" id="{E412BFAB-6ADE-4985-9F8D-1E0D2CE27EE2}"/>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6" name="Date Placeholder 1">
            <a:extLst>
              <a:ext uri="{FF2B5EF4-FFF2-40B4-BE49-F238E27FC236}">
                <a16:creationId xmlns:a16="http://schemas.microsoft.com/office/drawing/2014/main" id="{3B4501E0-2CFF-4239-9520-A5B3FF88FAB7}"/>
              </a:ext>
            </a:extLst>
          </p:cNvPr>
          <p:cNvSpPr>
            <a:spLocks noGrp="1"/>
          </p:cNvSpPr>
          <p:nvPr>
            <p:ph type="dt" sz="half" idx="2"/>
          </p:nvPr>
        </p:nvSpPr>
        <p:spPr>
          <a:xfrm>
            <a:off x="3371691" y="438763"/>
            <a:ext cx="3132139" cy="184666"/>
          </a:xfrm>
          <a:prstGeom prst="rect">
            <a:avLst/>
          </a:prstGeom>
        </p:spPr>
        <p:txBody>
          <a:bodyPr vert="horz" wrap="square" lIns="0" tIns="0" rIns="0" bIns="0" rtlCol="0" anchor="ctr">
            <a:spAutoFit/>
          </a:bodyP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0B93077-DAAC-461F-9674-FC47DD2C4BA2}" type="datetime4">
              <a:rPr lang="en-US" smtClean="0"/>
              <a:t>July 27, 2026</a:t>
            </a:fld>
            <a:endParaRPr lang="en-US" dirty="0"/>
          </a:p>
        </p:txBody>
      </p:sp>
      <p:sp>
        <p:nvSpPr>
          <p:cNvPr id="61" name="Text Placeholder 4">
            <a:extLst>
              <a:ext uri="{FF2B5EF4-FFF2-40B4-BE49-F238E27FC236}">
                <a16:creationId xmlns:a16="http://schemas.microsoft.com/office/drawing/2014/main" id="{318E1824-F862-4308-8D14-9073C9CBAABB}"/>
              </a:ext>
            </a:extLst>
          </p:cNvPr>
          <p:cNvSpPr>
            <a:spLocks noGrp="1"/>
          </p:cNvSpPr>
          <p:nvPr>
            <p:ph type="body" sz="quarter" idx="27" hasCustomPrompt="1"/>
          </p:nvPr>
        </p:nvSpPr>
        <p:spPr>
          <a:xfrm>
            <a:off x="4330593" y="3610784"/>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2" name="Text Placeholder 4">
            <a:extLst>
              <a:ext uri="{FF2B5EF4-FFF2-40B4-BE49-F238E27FC236}">
                <a16:creationId xmlns:a16="http://schemas.microsoft.com/office/drawing/2014/main" id="{70E85E6B-BFAA-4953-A2FD-0F731BA0D3A5}"/>
              </a:ext>
            </a:extLst>
          </p:cNvPr>
          <p:cNvSpPr>
            <a:spLocks noGrp="1"/>
          </p:cNvSpPr>
          <p:nvPr>
            <p:ph type="body" sz="quarter" idx="28" hasCustomPrompt="1"/>
          </p:nvPr>
        </p:nvSpPr>
        <p:spPr>
          <a:xfrm>
            <a:off x="4330593" y="3772581"/>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3" name="Text Placeholder 4">
            <a:extLst>
              <a:ext uri="{FF2B5EF4-FFF2-40B4-BE49-F238E27FC236}">
                <a16:creationId xmlns:a16="http://schemas.microsoft.com/office/drawing/2014/main" id="{872B6150-F2F3-4EB3-81FD-E06DC0F79813}"/>
              </a:ext>
            </a:extLst>
          </p:cNvPr>
          <p:cNvSpPr>
            <a:spLocks noGrp="1"/>
          </p:cNvSpPr>
          <p:nvPr>
            <p:ph type="body" sz="quarter" idx="29" hasCustomPrompt="1"/>
          </p:nvPr>
        </p:nvSpPr>
        <p:spPr>
          <a:xfrm>
            <a:off x="4330593" y="3899453"/>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4" name="Text Placeholder 4">
            <a:extLst>
              <a:ext uri="{FF2B5EF4-FFF2-40B4-BE49-F238E27FC236}">
                <a16:creationId xmlns:a16="http://schemas.microsoft.com/office/drawing/2014/main" id="{B84D6C0E-85B0-4A8A-BB12-F62449DE0DFB}"/>
              </a:ext>
            </a:extLst>
          </p:cNvPr>
          <p:cNvSpPr>
            <a:spLocks noGrp="1"/>
          </p:cNvSpPr>
          <p:nvPr>
            <p:ph type="body" sz="quarter" idx="30" hasCustomPrompt="1"/>
          </p:nvPr>
        </p:nvSpPr>
        <p:spPr>
          <a:xfrm>
            <a:off x="4330593" y="409703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5" name="Text Placeholder 4">
            <a:extLst>
              <a:ext uri="{FF2B5EF4-FFF2-40B4-BE49-F238E27FC236}">
                <a16:creationId xmlns:a16="http://schemas.microsoft.com/office/drawing/2014/main" id="{16C8AB5D-9A5B-4FEA-97F4-734F90CA23F1}"/>
              </a:ext>
            </a:extLst>
          </p:cNvPr>
          <p:cNvSpPr>
            <a:spLocks noGrp="1"/>
          </p:cNvSpPr>
          <p:nvPr>
            <p:ph type="body" sz="quarter" idx="31" hasCustomPrompt="1"/>
          </p:nvPr>
        </p:nvSpPr>
        <p:spPr>
          <a:xfrm>
            <a:off x="4330593" y="425883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6" name="Text Placeholder 4">
            <a:extLst>
              <a:ext uri="{FF2B5EF4-FFF2-40B4-BE49-F238E27FC236}">
                <a16:creationId xmlns:a16="http://schemas.microsoft.com/office/drawing/2014/main" id="{6CAE7113-BC72-4895-ACDF-B01232851A9D}"/>
              </a:ext>
            </a:extLst>
          </p:cNvPr>
          <p:cNvSpPr>
            <a:spLocks noGrp="1"/>
          </p:cNvSpPr>
          <p:nvPr>
            <p:ph type="body" sz="quarter" idx="32" hasCustomPrompt="1"/>
          </p:nvPr>
        </p:nvSpPr>
        <p:spPr>
          <a:xfrm>
            <a:off x="4330593" y="438570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sp>
        <p:nvSpPr>
          <p:cNvPr id="67" name="Text Placeholder 4">
            <a:extLst>
              <a:ext uri="{FF2B5EF4-FFF2-40B4-BE49-F238E27FC236}">
                <a16:creationId xmlns:a16="http://schemas.microsoft.com/office/drawing/2014/main" id="{1D859181-1847-4696-BA25-3FB32D816724}"/>
              </a:ext>
            </a:extLst>
          </p:cNvPr>
          <p:cNvSpPr>
            <a:spLocks noGrp="1"/>
          </p:cNvSpPr>
          <p:nvPr>
            <p:ph type="body" sz="quarter" idx="33" hasCustomPrompt="1"/>
          </p:nvPr>
        </p:nvSpPr>
        <p:spPr>
          <a:xfrm>
            <a:off x="4330593" y="4590609"/>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Name</a:t>
            </a:r>
          </a:p>
        </p:txBody>
      </p:sp>
      <p:sp>
        <p:nvSpPr>
          <p:cNvPr id="68" name="Text Placeholder 4">
            <a:extLst>
              <a:ext uri="{FF2B5EF4-FFF2-40B4-BE49-F238E27FC236}">
                <a16:creationId xmlns:a16="http://schemas.microsoft.com/office/drawing/2014/main" id="{FC9ED1A2-35DE-4D1D-9CE5-8E2AD672F2D0}"/>
              </a:ext>
            </a:extLst>
          </p:cNvPr>
          <p:cNvSpPr>
            <a:spLocks noGrp="1"/>
          </p:cNvSpPr>
          <p:nvPr>
            <p:ph type="body" sz="quarter" idx="34" hasCustomPrompt="1"/>
          </p:nvPr>
        </p:nvSpPr>
        <p:spPr>
          <a:xfrm>
            <a:off x="4330593" y="4752406"/>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Cargo</a:t>
            </a:r>
          </a:p>
        </p:txBody>
      </p:sp>
      <p:sp>
        <p:nvSpPr>
          <p:cNvPr id="69" name="Text Placeholder 4">
            <a:extLst>
              <a:ext uri="{FF2B5EF4-FFF2-40B4-BE49-F238E27FC236}">
                <a16:creationId xmlns:a16="http://schemas.microsoft.com/office/drawing/2014/main" id="{69327E6A-F08C-45E9-819D-C34C53A10A06}"/>
              </a:ext>
            </a:extLst>
          </p:cNvPr>
          <p:cNvSpPr>
            <a:spLocks noGrp="1"/>
          </p:cNvSpPr>
          <p:nvPr>
            <p:ph type="body" sz="quarter" idx="35" hasCustomPrompt="1"/>
          </p:nvPr>
        </p:nvSpPr>
        <p:spPr>
          <a:xfrm>
            <a:off x="4330593" y="4879278"/>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Contact</a:t>
            </a:r>
          </a:p>
        </p:txBody>
      </p:sp>
      <p:cxnSp>
        <p:nvCxnSpPr>
          <p:cNvPr id="3" name="Straight Connector 2">
            <a:extLst>
              <a:ext uri="{FF2B5EF4-FFF2-40B4-BE49-F238E27FC236}">
                <a16:creationId xmlns:a16="http://schemas.microsoft.com/office/drawing/2014/main" id="{8A3B4E86-9E31-44B1-AD38-564BDC91B35E}"/>
              </a:ext>
            </a:extLst>
          </p:cNvPr>
          <p:cNvCxnSpPr>
            <a:cxnSpLocks/>
          </p:cNvCxnSpPr>
          <p:nvPr userDrawn="1"/>
        </p:nvCxnSpPr>
        <p:spPr>
          <a:xfrm>
            <a:off x="4227459" y="3605328"/>
            <a:ext cx="0" cy="417458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Espaço Reservado para Conteúdo 14">
            <a:extLst>
              <a:ext uri="{FF2B5EF4-FFF2-40B4-BE49-F238E27FC236}">
                <a16:creationId xmlns:a16="http://schemas.microsoft.com/office/drawing/2014/main" id="{8272B113-2F70-441F-8502-29E6B907995B}"/>
              </a:ext>
            </a:extLst>
          </p:cNvPr>
          <p:cNvSpPr>
            <a:spLocks noGrp="1"/>
          </p:cNvSpPr>
          <p:nvPr>
            <p:ph sz="quarter" idx="21" hasCustomPrompt="1"/>
          </p:nvPr>
        </p:nvSpPr>
        <p:spPr>
          <a:xfrm>
            <a:off x="382829" y="8150455"/>
            <a:ext cx="6106871" cy="1303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4" name="Espaço Reservado para Conteúdo 14">
            <a:extLst>
              <a:ext uri="{FF2B5EF4-FFF2-40B4-BE49-F238E27FC236}">
                <a16:creationId xmlns:a16="http://schemas.microsoft.com/office/drawing/2014/main" id="{0EE29701-9D3A-4B5C-955F-04E8A0E77DFA}"/>
              </a:ext>
            </a:extLst>
          </p:cNvPr>
          <p:cNvSpPr>
            <a:spLocks noGrp="1"/>
          </p:cNvSpPr>
          <p:nvPr>
            <p:ph sz="quarter" idx="37" hasCustomPrompt="1"/>
          </p:nvPr>
        </p:nvSpPr>
        <p:spPr>
          <a:xfrm>
            <a:off x="382829" y="7861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Texto 6">
            <a:extLst>
              <a:ext uri="{FF2B5EF4-FFF2-40B4-BE49-F238E27FC236}">
                <a16:creationId xmlns:a16="http://schemas.microsoft.com/office/drawing/2014/main" id="{ACB57286-315D-4256-A485-D81372E0374A}"/>
              </a:ext>
            </a:extLst>
          </p:cNvPr>
          <p:cNvSpPr>
            <a:spLocks noGrp="1"/>
          </p:cNvSpPr>
          <p:nvPr>
            <p:ph type="body" sz="quarter" idx="38" hasCustomPrompt="1"/>
          </p:nvPr>
        </p:nvSpPr>
        <p:spPr>
          <a:xfrm>
            <a:off x="390154" y="1664358"/>
            <a:ext cx="6112352" cy="187302"/>
          </a:xfrm>
          <a:prstGeom prst="rect">
            <a:avLst/>
          </a:prstGeom>
        </p:spPr>
        <p:txBody>
          <a:bodyPr vert="horz" lIns="0" tIns="0" rIns="0" bIns="0" rtlCol="0" anchor="t">
            <a:noAutofit/>
          </a:bodyPr>
          <a:lstStyle>
            <a:lvl1pP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35" name="Espaço Reservado para Texto 6">
            <a:extLst>
              <a:ext uri="{FF2B5EF4-FFF2-40B4-BE49-F238E27FC236}">
                <a16:creationId xmlns:a16="http://schemas.microsoft.com/office/drawing/2014/main" id="{25C0A81E-C51A-4118-9E4E-C1BE395DDC0C}"/>
              </a:ext>
            </a:extLst>
          </p:cNvPr>
          <p:cNvSpPr>
            <a:spLocks noGrp="1"/>
          </p:cNvSpPr>
          <p:nvPr>
            <p:ph type="body" sz="quarter" idx="36" hasCustomPrompt="1"/>
          </p:nvPr>
        </p:nvSpPr>
        <p:spPr>
          <a:xfrm>
            <a:off x="390154" y="1406254"/>
            <a:ext cx="6112352" cy="187302"/>
          </a:xfrm>
          <a:prstGeom prst="rect">
            <a:avLst/>
          </a:prstGeom>
        </p:spPr>
        <p:txBody>
          <a:bodyPr vert="horz" lIns="0" tIns="0" rIns="0" bIns="0" rtlCol="0" anchor="t">
            <a:noAutofit/>
          </a:bodyPr>
          <a:lstStyle>
            <a:lvl1pPr>
              <a:defRPr lang="pt-B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Tree>
    <p:extLst>
      <p:ext uri="{BB962C8B-B14F-4D97-AF65-F5344CB8AC3E}">
        <p14:creationId xmlns:p14="http://schemas.microsoft.com/office/powerpoint/2010/main" val="213334214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umário">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EE9ED39-57B7-5C8F-E9B2-57A1AC073839}"/>
              </a:ext>
            </a:extLst>
          </p:cNvPr>
          <p:cNvGrpSpPr/>
          <p:nvPr userDrawn="1"/>
        </p:nvGrpSpPr>
        <p:grpSpPr>
          <a:xfrm flipV="1">
            <a:off x="4738912" y="0"/>
            <a:ext cx="2119086" cy="9906000"/>
            <a:chOff x="-1" y="0"/>
            <a:chExt cx="1467060" cy="6858000"/>
          </a:xfrm>
        </p:grpSpPr>
        <p:pic>
          <p:nvPicPr>
            <p:cNvPr id="4" name="Graphic 3">
              <a:extLst>
                <a:ext uri="{FF2B5EF4-FFF2-40B4-BE49-F238E27FC236}">
                  <a16:creationId xmlns:a16="http://schemas.microsoft.com/office/drawing/2014/main" id="{D76B8EF7-CCD7-9A94-CD80-B82D9220F661}"/>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71178" b="20035"/>
            <a:stretch/>
          </p:blipFill>
          <p:spPr>
            <a:xfrm flipV="1">
              <a:off x="0" y="0"/>
              <a:ext cx="1467059" cy="6858000"/>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E28CC665-FF99-579A-7610-C998972AF3D6}"/>
                </a:ext>
              </a:extLst>
            </p:cNvPr>
            <p:cNvPicPr>
              <a:picLocks noChangeAspect="1"/>
            </p:cNvPicPr>
            <p:nvPr userDrawn="1"/>
          </p:nvPicPr>
          <p:blipFill>
            <a:blip r:embed="rId5">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sp>
        <p:nvSpPr>
          <p:cNvPr id="6" name="Rectangle 5">
            <a:extLst>
              <a:ext uri="{FF2B5EF4-FFF2-40B4-BE49-F238E27FC236}">
                <a16:creationId xmlns:a16="http://schemas.microsoft.com/office/drawing/2014/main" id="{1D58E3DF-22F8-4C37-9B26-E76DF3BA1D45}"/>
              </a:ext>
            </a:extLst>
          </p:cNvPr>
          <p:cNvSpPr/>
          <p:nvPr userDrawn="1"/>
        </p:nvSpPr>
        <p:spPr>
          <a:xfrm>
            <a:off x="0" y="0"/>
            <a:ext cx="4738914" cy="990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0" name="CaixaDeTexto 4">
            <a:extLst>
              <a:ext uri="{FF2B5EF4-FFF2-40B4-BE49-F238E27FC236}">
                <a16:creationId xmlns:a16="http://schemas.microsoft.com/office/drawing/2014/main" id="{B62B5412-17EF-418D-8B6E-BF6ED9EC7C15}"/>
              </a:ext>
            </a:extLst>
          </p:cNvPr>
          <p:cNvSpPr txBox="1"/>
          <p:nvPr userDrawn="1"/>
        </p:nvSpPr>
        <p:spPr>
          <a:xfrm>
            <a:off x="375638" y="368602"/>
            <a:ext cx="3733609" cy="430887"/>
          </a:xfrm>
          <a:prstGeom prst="rect">
            <a:avLst/>
          </a:prstGeom>
        </p:spPr>
        <p:txBody>
          <a:bodyPr wrap="square" lIns="0" tIns="0" rIns="0" bIns="0" rtlCol="0">
            <a:spAutoFit/>
          </a:bodyPr>
          <a:lstStyle/>
          <a:p>
            <a:r>
              <a:rPr lang="pt-BR" sz="2800" dirty="0" err="1">
                <a:solidFill>
                  <a:srgbClr val="242424"/>
                </a:solidFill>
                <a:latin typeface="+mj-lt"/>
                <a:ea typeface="XP Light Lighthouse" pitchFamily="50" charset="0"/>
              </a:rPr>
              <a:t>Summary</a:t>
            </a:r>
            <a:endParaRPr lang="pt-BR" sz="2800" dirty="0">
              <a:solidFill>
                <a:srgbClr val="242424"/>
              </a:solidFill>
              <a:latin typeface="+mj-lt"/>
              <a:ea typeface="XP Light Lighthouse" pitchFamily="50" charset="0"/>
            </a:endParaRPr>
          </a:p>
        </p:txBody>
      </p:sp>
      <p:sp>
        <p:nvSpPr>
          <p:cNvPr id="71" name="Espaço Reservado para Texto 6">
            <a:extLst>
              <a:ext uri="{FF2B5EF4-FFF2-40B4-BE49-F238E27FC236}">
                <a16:creationId xmlns:a16="http://schemas.microsoft.com/office/drawing/2014/main" id="{03A9C79B-A9AE-450D-ABDB-D007A473C085}"/>
              </a:ext>
            </a:extLst>
          </p:cNvPr>
          <p:cNvSpPr>
            <a:spLocks noGrp="1"/>
          </p:cNvSpPr>
          <p:nvPr>
            <p:ph type="body" sz="quarter" idx="17" hasCustomPrompt="1"/>
          </p:nvPr>
        </p:nvSpPr>
        <p:spPr>
          <a:xfrm>
            <a:off x="375638" y="115561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2" name="Espaço Reservado para Texto 6">
            <a:extLst>
              <a:ext uri="{FF2B5EF4-FFF2-40B4-BE49-F238E27FC236}">
                <a16:creationId xmlns:a16="http://schemas.microsoft.com/office/drawing/2014/main" id="{BDA9F1F2-ABC2-4D8D-8E95-0E8A4C2D295D}"/>
              </a:ext>
            </a:extLst>
          </p:cNvPr>
          <p:cNvSpPr>
            <a:spLocks noGrp="1"/>
          </p:cNvSpPr>
          <p:nvPr>
            <p:ph type="body" sz="quarter" idx="18" hasCustomPrompt="1"/>
          </p:nvPr>
        </p:nvSpPr>
        <p:spPr>
          <a:xfrm>
            <a:off x="375638" y="148583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3" name="Espaço Reservado para Texto 6">
            <a:extLst>
              <a:ext uri="{FF2B5EF4-FFF2-40B4-BE49-F238E27FC236}">
                <a16:creationId xmlns:a16="http://schemas.microsoft.com/office/drawing/2014/main" id="{0A91C08B-11B6-4949-955F-D55D9CBDCDD4}"/>
              </a:ext>
            </a:extLst>
          </p:cNvPr>
          <p:cNvSpPr>
            <a:spLocks noGrp="1"/>
          </p:cNvSpPr>
          <p:nvPr>
            <p:ph type="body" sz="quarter" idx="19" hasCustomPrompt="1"/>
          </p:nvPr>
        </p:nvSpPr>
        <p:spPr>
          <a:xfrm>
            <a:off x="375638" y="2139998"/>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4" name="Espaço Reservado para Texto 6">
            <a:extLst>
              <a:ext uri="{FF2B5EF4-FFF2-40B4-BE49-F238E27FC236}">
                <a16:creationId xmlns:a16="http://schemas.microsoft.com/office/drawing/2014/main" id="{61B220E4-8E3F-4CA0-815C-0FC23ECB015D}"/>
              </a:ext>
            </a:extLst>
          </p:cNvPr>
          <p:cNvSpPr>
            <a:spLocks noGrp="1"/>
          </p:cNvSpPr>
          <p:nvPr>
            <p:ph type="body" sz="quarter" idx="20" hasCustomPrompt="1"/>
          </p:nvPr>
        </p:nvSpPr>
        <p:spPr>
          <a:xfrm>
            <a:off x="375638" y="2470216"/>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5" name="Espaço Reservado para Texto 6">
            <a:extLst>
              <a:ext uri="{FF2B5EF4-FFF2-40B4-BE49-F238E27FC236}">
                <a16:creationId xmlns:a16="http://schemas.microsoft.com/office/drawing/2014/main" id="{55260DBC-11EE-4FC0-8B7C-0A2E6E95D846}"/>
              </a:ext>
            </a:extLst>
          </p:cNvPr>
          <p:cNvSpPr>
            <a:spLocks noGrp="1"/>
          </p:cNvSpPr>
          <p:nvPr>
            <p:ph type="body" sz="quarter" idx="21" hasCustomPrompt="1"/>
          </p:nvPr>
        </p:nvSpPr>
        <p:spPr>
          <a:xfrm>
            <a:off x="375638" y="31347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6" name="Espaço Reservado para Texto 6">
            <a:extLst>
              <a:ext uri="{FF2B5EF4-FFF2-40B4-BE49-F238E27FC236}">
                <a16:creationId xmlns:a16="http://schemas.microsoft.com/office/drawing/2014/main" id="{6E08F1B6-19EB-446F-A384-6FA55F237690}"/>
              </a:ext>
            </a:extLst>
          </p:cNvPr>
          <p:cNvSpPr>
            <a:spLocks noGrp="1"/>
          </p:cNvSpPr>
          <p:nvPr>
            <p:ph type="body" sz="quarter" idx="22" hasCustomPrompt="1"/>
          </p:nvPr>
        </p:nvSpPr>
        <p:spPr>
          <a:xfrm>
            <a:off x="375638" y="34650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7" name="Espaço Reservado para Texto 6">
            <a:extLst>
              <a:ext uri="{FF2B5EF4-FFF2-40B4-BE49-F238E27FC236}">
                <a16:creationId xmlns:a16="http://schemas.microsoft.com/office/drawing/2014/main" id="{91B87D7C-F3BF-4C21-A351-A0BDE3AC1780}"/>
              </a:ext>
            </a:extLst>
          </p:cNvPr>
          <p:cNvSpPr>
            <a:spLocks noGrp="1"/>
          </p:cNvSpPr>
          <p:nvPr>
            <p:ph type="body" sz="quarter" idx="23" hasCustomPrompt="1"/>
          </p:nvPr>
        </p:nvSpPr>
        <p:spPr>
          <a:xfrm>
            <a:off x="375638" y="411834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78" name="Espaço Reservado para Texto 6">
            <a:extLst>
              <a:ext uri="{FF2B5EF4-FFF2-40B4-BE49-F238E27FC236}">
                <a16:creationId xmlns:a16="http://schemas.microsoft.com/office/drawing/2014/main" id="{0AADF45C-FD67-4EA0-A19C-DFC61C6FDD41}"/>
              </a:ext>
            </a:extLst>
          </p:cNvPr>
          <p:cNvSpPr>
            <a:spLocks noGrp="1"/>
          </p:cNvSpPr>
          <p:nvPr>
            <p:ph type="body" sz="quarter" idx="24" hasCustomPrompt="1"/>
          </p:nvPr>
        </p:nvSpPr>
        <p:spPr>
          <a:xfrm>
            <a:off x="375638" y="444856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79" name="Espaço Reservado para Texto 6">
            <a:extLst>
              <a:ext uri="{FF2B5EF4-FFF2-40B4-BE49-F238E27FC236}">
                <a16:creationId xmlns:a16="http://schemas.microsoft.com/office/drawing/2014/main" id="{DBE90486-65C0-4DE3-B772-E75BDCB11A71}"/>
              </a:ext>
            </a:extLst>
          </p:cNvPr>
          <p:cNvSpPr>
            <a:spLocks noGrp="1"/>
          </p:cNvSpPr>
          <p:nvPr>
            <p:ph type="body" sz="quarter" idx="25" hasCustomPrompt="1"/>
          </p:nvPr>
        </p:nvSpPr>
        <p:spPr>
          <a:xfrm>
            <a:off x="375638" y="510189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0" name="Espaço Reservado para Texto 6">
            <a:extLst>
              <a:ext uri="{FF2B5EF4-FFF2-40B4-BE49-F238E27FC236}">
                <a16:creationId xmlns:a16="http://schemas.microsoft.com/office/drawing/2014/main" id="{1A800117-3D6E-41C0-87EE-163118B8A2E2}"/>
              </a:ext>
            </a:extLst>
          </p:cNvPr>
          <p:cNvSpPr>
            <a:spLocks noGrp="1"/>
          </p:cNvSpPr>
          <p:nvPr>
            <p:ph type="body" sz="quarter" idx="26" hasCustomPrompt="1"/>
          </p:nvPr>
        </p:nvSpPr>
        <p:spPr>
          <a:xfrm>
            <a:off x="375638" y="543211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2" name="Espaço Reservado para Texto 6">
            <a:extLst>
              <a:ext uri="{FF2B5EF4-FFF2-40B4-BE49-F238E27FC236}">
                <a16:creationId xmlns:a16="http://schemas.microsoft.com/office/drawing/2014/main" id="{55F89238-ABFA-4DE5-BEEE-C9A02D0C172F}"/>
              </a:ext>
            </a:extLst>
          </p:cNvPr>
          <p:cNvSpPr>
            <a:spLocks noGrp="1"/>
          </p:cNvSpPr>
          <p:nvPr>
            <p:ph type="body" sz="quarter" idx="27" hasCustomPrompt="1"/>
          </p:nvPr>
        </p:nvSpPr>
        <p:spPr>
          <a:xfrm>
            <a:off x="375638" y="610088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3" name="Espaço Reservado para Texto 6">
            <a:extLst>
              <a:ext uri="{FF2B5EF4-FFF2-40B4-BE49-F238E27FC236}">
                <a16:creationId xmlns:a16="http://schemas.microsoft.com/office/drawing/2014/main" id="{B576006F-5C63-4F83-A6A7-3A1D6518574B}"/>
              </a:ext>
            </a:extLst>
          </p:cNvPr>
          <p:cNvSpPr>
            <a:spLocks noGrp="1"/>
          </p:cNvSpPr>
          <p:nvPr>
            <p:ph type="body" sz="quarter" idx="28" hasCustomPrompt="1"/>
          </p:nvPr>
        </p:nvSpPr>
        <p:spPr>
          <a:xfrm>
            <a:off x="375638" y="643110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4" name="Espaço Reservado para Texto 6">
            <a:extLst>
              <a:ext uri="{FF2B5EF4-FFF2-40B4-BE49-F238E27FC236}">
                <a16:creationId xmlns:a16="http://schemas.microsoft.com/office/drawing/2014/main" id="{5BF4C252-6B86-4B48-9F78-8860636B44CF}"/>
              </a:ext>
            </a:extLst>
          </p:cNvPr>
          <p:cNvSpPr>
            <a:spLocks noGrp="1"/>
          </p:cNvSpPr>
          <p:nvPr>
            <p:ph type="body" sz="quarter" idx="29" hasCustomPrompt="1"/>
          </p:nvPr>
        </p:nvSpPr>
        <p:spPr>
          <a:xfrm>
            <a:off x="375638" y="7084432"/>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85" name="Espaço Reservado para Texto 6">
            <a:extLst>
              <a:ext uri="{FF2B5EF4-FFF2-40B4-BE49-F238E27FC236}">
                <a16:creationId xmlns:a16="http://schemas.microsoft.com/office/drawing/2014/main" id="{25455617-CBBE-4E5A-84C2-E57D5C8B9CAE}"/>
              </a:ext>
            </a:extLst>
          </p:cNvPr>
          <p:cNvSpPr>
            <a:spLocks noGrp="1"/>
          </p:cNvSpPr>
          <p:nvPr>
            <p:ph type="body" sz="quarter" idx="30" hasCustomPrompt="1"/>
          </p:nvPr>
        </p:nvSpPr>
        <p:spPr>
          <a:xfrm>
            <a:off x="375638" y="7414650"/>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86" name="CaixaDeTexto 9">
            <a:extLst>
              <a:ext uri="{FF2B5EF4-FFF2-40B4-BE49-F238E27FC236}">
                <a16:creationId xmlns:a16="http://schemas.microsoft.com/office/drawing/2014/main" id="{50BF8A2C-093E-471E-8719-A576D404CF14}"/>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99" name="Espaço Reservado para Texto 6">
            <a:extLst>
              <a:ext uri="{FF2B5EF4-FFF2-40B4-BE49-F238E27FC236}">
                <a16:creationId xmlns:a16="http://schemas.microsoft.com/office/drawing/2014/main" id="{7B172628-B577-4AEB-B6C9-D0D032DB3544}"/>
              </a:ext>
            </a:extLst>
          </p:cNvPr>
          <p:cNvSpPr>
            <a:spLocks noGrp="1"/>
          </p:cNvSpPr>
          <p:nvPr>
            <p:ph type="body" sz="quarter" idx="31" hasCustomPrompt="1"/>
          </p:nvPr>
        </p:nvSpPr>
        <p:spPr>
          <a:xfrm>
            <a:off x="375638" y="8063396"/>
            <a:ext cx="3938623"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00" name="Espaço Reservado para Texto 6">
            <a:extLst>
              <a:ext uri="{FF2B5EF4-FFF2-40B4-BE49-F238E27FC236}">
                <a16:creationId xmlns:a16="http://schemas.microsoft.com/office/drawing/2014/main" id="{B20D4700-3F28-45FE-AD12-4DD7C836112A}"/>
              </a:ext>
            </a:extLst>
          </p:cNvPr>
          <p:cNvSpPr>
            <a:spLocks noGrp="1"/>
          </p:cNvSpPr>
          <p:nvPr>
            <p:ph type="body" sz="quarter" idx="32" hasCustomPrompt="1"/>
          </p:nvPr>
        </p:nvSpPr>
        <p:spPr>
          <a:xfrm>
            <a:off x="375638" y="8393614"/>
            <a:ext cx="3938623" cy="338554"/>
          </a:xfrm>
          <a:prstGeom prst="rect">
            <a:avLst/>
          </a:prstGeom>
        </p:spPr>
        <p:txBody>
          <a:bodyPr vert="horz" wrap="square" lIns="0" tIns="45720" rIns="91440" bIns="45720" rtlCol="0" anchor="t">
            <a:spAutoFit/>
          </a:bodyPr>
          <a:lstStyle>
            <a:lvl1pPr algn="l">
              <a:defRPr lang="pt-BR" sz="16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38" name="Freeform: Shape 37">
            <a:extLst>
              <a:ext uri="{FF2B5EF4-FFF2-40B4-BE49-F238E27FC236}">
                <a16:creationId xmlns:a16="http://schemas.microsoft.com/office/drawing/2014/main" id="{B095B632-657C-4580-8D60-6742FAE9328E}"/>
              </a:ext>
            </a:extLst>
          </p:cNvPr>
          <p:cNvSpPr/>
          <p:nvPr userDrawn="1"/>
        </p:nvSpPr>
        <p:spPr>
          <a:xfrm>
            <a:off x="381000" y="952626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p>
        </p:txBody>
      </p:sp>
      <p:pic>
        <p:nvPicPr>
          <p:cNvPr id="7" name="Graphic 6">
            <a:extLst>
              <a:ext uri="{FF2B5EF4-FFF2-40B4-BE49-F238E27FC236}">
                <a16:creationId xmlns:a16="http://schemas.microsoft.com/office/drawing/2014/main" id="{77BEDD1F-2524-1721-0294-2410EF7793F2}"/>
              </a:ext>
            </a:extLst>
          </p:cNvPr>
          <p:cNvPicPr>
            <a:picLocks noChangeAspect="1"/>
          </p:cNvPicPr>
          <p:nvPr userDrawn="1"/>
        </p:nvPicPr>
        <p:blipFill>
          <a:blip r:embed="rId7">
            <a:alphaModFix amt="66000"/>
            <a:extLst>
              <a:ext uri="{96DAC541-7B7A-43D3-8B79-37D633B846F1}">
                <asvg:svgBlip xmlns:asvg="http://schemas.microsoft.com/office/drawing/2016/SVG/main" r:embed="rId8"/>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259731099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 Gráfico">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8335"/>
            <a:ext cx="6105737" cy="766890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971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Espaço Reservado para Texto 6">
            <a:extLst>
              <a:ext uri="{FF2B5EF4-FFF2-40B4-BE49-F238E27FC236}">
                <a16:creationId xmlns:a16="http://schemas.microsoft.com/office/drawing/2014/main" id="{63243072-4DA0-4C3A-B73A-671A2BEE8737}"/>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3" name="Espaço Reservado para Texto 6">
            <a:extLst>
              <a:ext uri="{FF2B5EF4-FFF2-40B4-BE49-F238E27FC236}">
                <a16:creationId xmlns:a16="http://schemas.microsoft.com/office/drawing/2014/main" id="{6194D149-E2F1-4BF9-A8EC-BA08D0C1D8BC}"/>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57639" y="438763"/>
            <a:ext cx="2532062"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98D2F29-33FD-47A7-AB10-B1FA6BDB1599}" type="datetime4">
              <a:rPr lang="en-US" smtClean="0"/>
              <a:pPr/>
              <a:t>July 27, 2026</a:t>
            </a:fld>
            <a:endParaRPr lang="en-US" dirty="0"/>
          </a:p>
        </p:txBody>
      </p:sp>
    </p:spTree>
    <p:extLst>
      <p:ext uri="{BB962C8B-B14F-4D97-AF65-F5344CB8AC3E}">
        <p14:creationId xmlns:p14="http://schemas.microsoft.com/office/powerpoint/2010/main" val="3896903442"/>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8" y="1497015"/>
            <a:ext cx="6106871" cy="3948034"/>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610687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610687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36D3C0D4-4772-47D7-8E52-EDEF11C64EA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6" name="Espaço Reservado para Texto 6">
            <a:extLst>
              <a:ext uri="{FF2B5EF4-FFF2-40B4-BE49-F238E27FC236}">
                <a16:creationId xmlns:a16="http://schemas.microsoft.com/office/drawing/2014/main" id="{F0727637-B56E-4C1E-9D50-4D5CB2A21C4F}"/>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37" name="Espaço Reservado para Texto 6">
            <a:extLst>
              <a:ext uri="{FF2B5EF4-FFF2-40B4-BE49-F238E27FC236}">
                <a16:creationId xmlns:a16="http://schemas.microsoft.com/office/drawing/2014/main" id="{6A52A1EC-A892-4253-A152-66B87248D94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4" name="Espaço Reservado para Texto 6">
            <a:extLst>
              <a:ext uri="{FF2B5EF4-FFF2-40B4-BE49-F238E27FC236}">
                <a16:creationId xmlns:a16="http://schemas.microsoft.com/office/drawing/2014/main" id="{7905309A-7F3E-4A7B-816E-100D4419AC95}"/>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F553351A-90B3-4CE5-942E-AE4248858838}"/>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AD01827-9A36-4138-95B8-B0189D2D0C96}" type="datetime4">
              <a:rPr lang="en-US" smtClean="0"/>
              <a:pPr/>
              <a:t>July 27, 2026</a:t>
            </a:fld>
            <a:endParaRPr lang="en-US"/>
          </a:p>
        </p:txBody>
      </p:sp>
    </p:spTree>
    <p:extLst>
      <p:ext uri="{BB962C8B-B14F-4D97-AF65-F5344CB8AC3E}">
        <p14:creationId xmlns:p14="http://schemas.microsoft.com/office/powerpoint/2010/main" val="263552656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7013"/>
            <a:ext cx="2923563" cy="261667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4581387"/>
            <a:ext cx="6119679" cy="208201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1836751"/>
            <a:ext cx="2965558" cy="227693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4292769"/>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1548134"/>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Text Placeholder 4">
            <a:extLst>
              <a:ext uri="{FF2B5EF4-FFF2-40B4-BE49-F238E27FC236}">
                <a16:creationId xmlns:a16="http://schemas.microsoft.com/office/drawing/2014/main" id="{92D80794-D9BD-4233-9669-1606A39695D6}"/>
              </a:ext>
            </a:extLst>
          </p:cNvPr>
          <p:cNvSpPr>
            <a:spLocks noGrp="1"/>
          </p:cNvSpPr>
          <p:nvPr>
            <p:ph type="body" sz="quarter" idx="29"/>
          </p:nvPr>
        </p:nvSpPr>
        <p:spPr>
          <a:xfrm>
            <a:off x="390154" y="6866857"/>
            <a:ext cx="2923563" cy="2584765"/>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A6CB413F-84EF-44DF-BD40-B9F876AF8DE8}"/>
              </a:ext>
            </a:extLst>
          </p:cNvPr>
          <p:cNvSpPr>
            <a:spLocks noGrp="1"/>
          </p:cNvSpPr>
          <p:nvPr>
            <p:ph sz="quarter" idx="30" hasCustomPrompt="1"/>
          </p:nvPr>
        </p:nvSpPr>
        <p:spPr>
          <a:xfrm>
            <a:off x="3544276" y="7190300"/>
            <a:ext cx="2965558" cy="226326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81B1184E-C2A9-4D89-B81A-04C67DFDFC84}"/>
              </a:ext>
            </a:extLst>
          </p:cNvPr>
          <p:cNvSpPr>
            <a:spLocks noGrp="1"/>
          </p:cNvSpPr>
          <p:nvPr>
            <p:ph sz="quarter" idx="31" hasCustomPrompt="1"/>
          </p:nvPr>
        </p:nvSpPr>
        <p:spPr>
          <a:xfrm>
            <a:off x="3560075" y="690168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3" name="Straight Connector 22">
            <a:extLst>
              <a:ext uri="{FF2B5EF4-FFF2-40B4-BE49-F238E27FC236}">
                <a16:creationId xmlns:a16="http://schemas.microsoft.com/office/drawing/2014/main" id="{15C7A86C-C2D3-4F3B-B362-92EDFEE558D4}"/>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Espaço Reservado para Texto 6">
            <a:extLst>
              <a:ext uri="{FF2B5EF4-FFF2-40B4-BE49-F238E27FC236}">
                <a16:creationId xmlns:a16="http://schemas.microsoft.com/office/drawing/2014/main" id="{667A78A2-6B0A-4B79-B91F-864FAEBDF306}"/>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8" name="Espaço Reservado para Texto 6">
            <a:extLst>
              <a:ext uri="{FF2B5EF4-FFF2-40B4-BE49-F238E27FC236}">
                <a16:creationId xmlns:a16="http://schemas.microsoft.com/office/drawing/2014/main" id="{C057AED6-8480-40FD-AA17-1DD8BA77D1B9}"/>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9" name="Espaço Reservado para Texto 6">
            <a:extLst>
              <a:ext uri="{FF2B5EF4-FFF2-40B4-BE49-F238E27FC236}">
                <a16:creationId xmlns:a16="http://schemas.microsoft.com/office/drawing/2014/main" id="{D8173AC5-D6F2-4007-9E85-9CC5D5ECAF90}"/>
              </a:ext>
            </a:extLst>
          </p:cNvPr>
          <p:cNvSpPr>
            <a:spLocks noGrp="1"/>
          </p:cNvSpPr>
          <p:nvPr>
            <p:ph type="body" sz="quarter" idx="32"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907C5A98-0307-4E77-A8F5-55605CF6F9F6}"/>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EBDDC5B-631B-4336-9543-98257A1F05F5}" type="datetime4">
              <a:rPr lang="en-US" smtClean="0"/>
              <a:pPr/>
              <a:t>July 27, 2026</a:t>
            </a:fld>
            <a:endParaRPr lang="en-US"/>
          </a:p>
        </p:txBody>
      </p:sp>
    </p:spTree>
    <p:extLst>
      <p:ext uri="{BB962C8B-B14F-4D97-AF65-F5344CB8AC3E}">
        <p14:creationId xmlns:p14="http://schemas.microsoft.com/office/powerpoint/2010/main" val="1126815241"/>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Divisória">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r:embed="rId5">
            <a:alphaModFix amt="66000"/>
            <a:extLst>
              <a:ext uri="{96DAC541-7B7A-43D3-8B79-37D633B846F1}">
                <asvg:svgBlip xmlns:asvg="http://schemas.microsoft.com/office/drawing/2016/SVG/main" r:embed="rId6"/>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88" name="CaixaDeTexto 9">
            <a:extLst>
              <a:ext uri="{FF2B5EF4-FFF2-40B4-BE49-F238E27FC236}">
                <a16:creationId xmlns:a16="http://schemas.microsoft.com/office/drawing/2014/main" id="{2FF21D72-7D65-4AA3-AE03-41BAE5375E8C}"/>
              </a:ext>
            </a:extLst>
          </p:cNvPr>
          <p:cNvSpPr txBox="1"/>
          <p:nvPr userDrawn="1"/>
        </p:nvSpPr>
        <p:spPr>
          <a:xfrm>
            <a:off x="6328029" y="9566630"/>
            <a:ext cx="148017" cy="145499"/>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7">
            <a:alphaModFix amt="18000"/>
            <a:extLst>
              <a:ext uri="{BEBA8EAE-BF5A-486C-A8C5-ECC9F3942E4B}">
                <a14:imgProps xmlns:a14="http://schemas.microsoft.com/office/drawing/2010/main">
                  <a14:imgLayer r:embed="rId8">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sp>
        <p:nvSpPr>
          <p:cNvPr id="89" name="Text Placeholder 40">
            <a:extLst>
              <a:ext uri="{FF2B5EF4-FFF2-40B4-BE49-F238E27FC236}">
                <a16:creationId xmlns:a16="http://schemas.microsoft.com/office/drawing/2014/main" id="{91D72DC1-72BB-4D90-888F-230C2490908D}"/>
              </a:ext>
            </a:extLst>
          </p:cNvPr>
          <p:cNvSpPr>
            <a:spLocks noGrp="1"/>
          </p:cNvSpPr>
          <p:nvPr userDrawn="1">
            <p:ph type="body" sz="quarter" idx="11" hasCustomPrompt="1"/>
          </p:nvPr>
        </p:nvSpPr>
        <p:spPr>
          <a:xfrm>
            <a:off x="368299" y="1928155"/>
            <a:ext cx="5337375" cy="458908"/>
          </a:xfrm>
          <a:prstGeom prst="rect">
            <a:avLst/>
          </a:prstGeom>
          <a:noFill/>
          <a:effectLst/>
        </p:spPr>
        <p:txBody>
          <a:bodyPr wrap="square" lIns="0" tIns="0" rIns="0" bIns="0" rtlCol="0" anchor="t" anchorCtr="0">
            <a:noAutofit/>
          </a:bodyPr>
          <a:lstStyle>
            <a:lvl1pPr algn="l">
              <a:defRPr lang="en-US" sz="32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90" name="Text Placeholder 40">
            <a:extLst>
              <a:ext uri="{FF2B5EF4-FFF2-40B4-BE49-F238E27FC236}">
                <a16:creationId xmlns:a16="http://schemas.microsoft.com/office/drawing/2014/main" id="{B7833D10-130C-44AA-A9F0-0C48CBA6D02C}"/>
              </a:ext>
            </a:extLst>
          </p:cNvPr>
          <p:cNvSpPr>
            <a:spLocks noGrp="1"/>
          </p:cNvSpPr>
          <p:nvPr userDrawn="1">
            <p:ph type="body" sz="quarter" idx="12" hasCustomPrompt="1"/>
          </p:nvPr>
        </p:nvSpPr>
        <p:spPr>
          <a:xfrm>
            <a:off x="368300" y="1509004"/>
            <a:ext cx="3006272" cy="336050"/>
          </a:xfrm>
          <a:prstGeom prst="rect">
            <a:avLst/>
          </a:prstGeom>
          <a:noFill/>
          <a:effectLst/>
        </p:spPr>
        <p:txBody>
          <a:bodyPr wrap="none" lIns="0" tIns="0" rIns="0" bIns="0" rtlCol="0" anchor="ctr">
            <a:noAutofit/>
          </a:bodyPr>
          <a:lstStyle>
            <a:lvl1pPr algn="l">
              <a:defRPr lang="en-US" sz="1800" b="0" i="0" dirty="0">
                <a:solidFill>
                  <a:schemeClr val="accent2"/>
                </a:solidFill>
                <a:latin typeface="+mj-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grpSp>
        <p:nvGrpSpPr>
          <p:cNvPr id="52" name="Group 51">
            <a:extLst>
              <a:ext uri="{FF2B5EF4-FFF2-40B4-BE49-F238E27FC236}">
                <a16:creationId xmlns:a16="http://schemas.microsoft.com/office/drawing/2014/main" id="{EC4BCA75-7F1B-481D-83B9-D8049585F325}"/>
              </a:ext>
            </a:extLst>
          </p:cNvPr>
          <p:cNvGrpSpPr/>
          <p:nvPr userDrawn="1"/>
        </p:nvGrpSpPr>
        <p:grpSpPr>
          <a:xfrm>
            <a:off x="390154" y="406178"/>
            <a:ext cx="1240285" cy="341910"/>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134408669"/>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Text Placeholder 4">
            <a:extLst>
              <a:ext uri="{FF2B5EF4-FFF2-40B4-BE49-F238E27FC236}">
                <a16:creationId xmlns:a16="http://schemas.microsoft.com/office/drawing/2014/main" id="{49A1E59E-08DB-45E6-A0D5-7C78A54C869F}"/>
              </a:ext>
            </a:extLst>
          </p:cNvPr>
          <p:cNvSpPr>
            <a:spLocks noGrp="1"/>
          </p:cNvSpPr>
          <p:nvPr>
            <p:ph type="body" sz="quarter" idx="20"/>
          </p:nvPr>
        </p:nvSpPr>
        <p:spPr>
          <a:xfrm>
            <a:off x="382829" y="1497013"/>
            <a:ext cx="2923563" cy="4079539"/>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1" name="Espaço Reservado para Conteúdo 14">
            <a:extLst>
              <a:ext uri="{FF2B5EF4-FFF2-40B4-BE49-F238E27FC236}">
                <a16:creationId xmlns:a16="http://schemas.microsoft.com/office/drawing/2014/main" id="{85B528AB-0607-4A82-934E-C1C7106546B5}"/>
              </a:ext>
            </a:extLst>
          </p:cNvPr>
          <p:cNvSpPr>
            <a:spLocks noGrp="1"/>
          </p:cNvSpPr>
          <p:nvPr>
            <p:ph sz="quarter" idx="26" hasCustomPrompt="1"/>
          </p:nvPr>
        </p:nvSpPr>
        <p:spPr>
          <a:xfrm>
            <a:off x="3536951" y="1831799"/>
            <a:ext cx="2965558" cy="374475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5294E6AB-735D-48F4-9AC8-EF3781FB2746}"/>
              </a:ext>
            </a:extLst>
          </p:cNvPr>
          <p:cNvSpPr>
            <a:spLocks noGrp="1"/>
          </p:cNvSpPr>
          <p:nvPr>
            <p:ph sz="quarter" idx="28" hasCustomPrompt="1"/>
          </p:nvPr>
        </p:nvSpPr>
        <p:spPr>
          <a:xfrm>
            <a:off x="3552750" y="1543180"/>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Espaço Reservado para Conteúdo 14">
            <a:extLst>
              <a:ext uri="{FF2B5EF4-FFF2-40B4-BE49-F238E27FC236}">
                <a16:creationId xmlns:a16="http://schemas.microsoft.com/office/drawing/2014/main" id="{6B9EB78B-FD20-4719-A056-235ADA20204A}"/>
              </a:ext>
            </a:extLst>
          </p:cNvPr>
          <p:cNvSpPr>
            <a:spLocks noGrp="1"/>
          </p:cNvSpPr>
          <p:nvPr>
            <p:ph sz="quarter" idx="25" hasCustomPrompt="1"/>
          </p:nvPr>
        </p:nvSpPr>
        <p:spPr>
          <a:xfrm>
            <a:off x="382829" y="6010940"/>
            <a:ext cx="6119679" cy="1466185"/>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378CEBA8-7472-47EB-BC4A-EA019A667AE5}"/>
              </a:ext>
            </a:extLst>
          </p:cNvPr>
          <p:cNvSpPr>
            <a:spLocks noGrp="1"/>
          </p:cNvSpPr>
          <p:nvPr>
            <p:ph sz="quarter" idx="27" hasCustomPrompt="1"/>
          </p:nvPr>
        </p:nvSpPr>
        <p:spPr>
          <a:xfrm>
            <a:off x="382829" y="5722322"/>
            <a:ext cx="611967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8102008-164E-4847-B70E-2DA2859EB5FA}"/>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1DAFB6F6-C902-48DE-A854-209EE1401B64}"/>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8" name="Espaço Reservado para Conteúdo 14">
            <a:extLst>
              <a:ext uri="{FF2B5EF4-FFF2-40B4-BE49-F238E27FC236}">
                <a16:creationId xmlns:a16="http://schemas.microsoft.com/office/drawing/2014/main" id="{B4F7A4B0-6A5B-48E7-93D0-A6438A15CF5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9" name="Espaço Reservado para Conteúdo 14">
            <a:extLst>
              <a:ext uri="{FF2B5EF4-FFF2-40B4-BE49-F238E27FC236}">
                <a16:creationId xmlns:a16="http://schemas.microsoft.com/office/drawing/2014/main" id="{C64B94EB-9494-4B55-92F4-166DEF48DB3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42" name="Straight Connector 41">
            <a:extLst>
              <a:ext uri="{FF2B5EF4-FFF2-40B4-BE49-F238E27FC236}">
                <a16:creationId xmlns:a16="http://schemas.microsoft.com/office/drawing/2014/main" id="{02558420-2316-4877-A0B8-02C6D7796F9F}"/>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Espaço Reservado para Texto 6">
            <a:extLst>
              <a:ext uri="{FF2B5EF4-FFF2-40B4-BE49-F238E27FC236}">
                <a16:creationId xmlns:a16="http://schemas.microsoft.com/office/drawing/2014/main" id="{E9006F28-0FC5-4C17-84E9-DDB1DE717662}"/>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19" name="Espaço Reservado para Texto 6">
            <a:extLst>
              <a:ext uri="{FF2B5EF4-FFF2-40B4-BE49-F238E27FC236}">
                <a16:creationId xmlns:a16="http://schemas.microsoft.com/office/drawing/2014/main" id="{840CD343-D27F-44CB-9F5D-7257A48DB76E}"/>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17" name="Espaço Reservado para Texto 6">
            <a:extLst>
              <a:ext uri="{FF2B5EF4-FFF2-40B4-BE49-F238E27FC236}">
                <a16:creationId xmlns:a16="http://schemas.microsoft.com/office/drawing/2014/main" id="{522774F4-0A02-4D7F-A169-A0935028BEB7}"/>
              </a:ext>
            </a:extLst>
          </p:cNvPr>
          <p:cNvSpPr>
            <a:spLocks noGrp="1"/>
          </p:cNvSpPr>
          <p:nvPr>
            <p:ph type="body" sz="quarter" idx="29"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41D27BDA-0B7B-4B7B-98DE-F04BF5B3804F}"/>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A406CDC-6C73-4F07-BA2F-100422012497}" type="datetime4">
              <a:rPr lang="en-US" smtClean="0"/>
              <a:pPr/>
              <a:t>July 27, 2026</a:t>
            </a:fld>
            <a:endParaRPr lang="en-US" dirty="0"/>
          </a:p>
        </p:txBody>
      </p:sp>
    </p:spTree>
    <p:extLst>
      <p:ext uri="{BB962C8B-B14F-4D97-AF65-F5344CB8AC3E}">
        <p14:creationId xmlns:p14="http://schemas.microsoft.com/office/powerpoint/2010/main" val="2275159984"/>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 Gráfico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500036"/>
            <a:ext cx="6063034" cy="2027390"/>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cxnSp>
        <p:nvCxnSpPr>
          <p:cNvPr id="3" name="Straight Connector 2">
            <a:extLst>
              <a:ext uri="{FF2B5EF4-FFF2-40B4-BE49-F238E27FC236}">
                <a16:creationId xmlns:a16="http://schemas.microsoft.com/office/drawing/2014/main" id="{2EDD6930-C0EE-4FA2-8633-016983CCBB57}"/>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82829" y="3937440"/>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6951" y="3937440"/>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82829" y="3648822"/>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52750" y="3648822"/>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5927315"/>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563869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0" name="Espaço Reservado para Texto 6">
            <a:extLst>
              <a:ext uri="{FF2B5EF4-FFF2-40B4-BE49-F238E27FC236}">
                <a16:creationId xmlns:a16="http://schemas.microsoft.com/office/drawing/2014/main" id="{91D8F271-5DD6-476D-87DF-62D9F494BA28}"/>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AF9F85D2-CE44-4122-A483-C9E0FDD6786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2" name="Espaço Reservado para Texto 6">
            <a:extLst>
              <a:ext uri="{FF2B5EF4-FFF2-40B4-BE49-F238E27FC236}">
                <a16:creationId xmlns:a16="http://schemas.microsoft.com/office/drawing/2014/main" id="{74EB01E9-4823-42ED-A528-F9EFE6F730DC}"/>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3" name="Date Placeholder 1">
            <a:extLst>
              <a:ext uri="{FF2B5EF4-FFF2-40B4-BE49-F238E27FC236}">
                <a16:creationId xmlns:a16="http://schemas.microsoft.com/office/drawing/2014/main" id="{8D52D738-8B55-415F-BAF5-54C848910AF7}"/>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944B1522-D64F-491F-B357-196ED417A415}" type="datetime4">
              <a:rPr lang="en-US" smtClean="0"/>
              <a:pPr/>
              <a:t>July 27, 2026</a:t>
            </a:fld>
            <a:endParaRPr lang="en-US" dirty="0"/>
          </a:p>
        </p:txBody>
      </p:sp>
    </p:spTree>
    <p:extLst>
      <p:ext uri="{BB962C8B-B14F-4D97-AF65-F5344CB8AC3E}">
        <p14:creationId xmlns:p14="http://schemas.microsoft.com/office/powerpoint/2010/main" val="41079445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 Gráficos v2">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Text Placeholder 4">
            <a:extLst>
              <a:ext uri="{FF2B5EF4-FFF2-40B4-BE49-F238E27FC236}">
                <a16:creationId xmlns:a16="http://schemas.microsoft.com/office/drawing/2014/main" id="{03A51246-6836-408F-ABF0-EEEEE8E00F14}"/>
              </a:ext>
            </a:extLst>
          </p:cNvPr>
          <p:cNvSpPr>
            <a:spLocks noGrp="1"/>
          </p:cNvSpPr>
          <p:nvPr>
            <p:ph type="body" sz="quarter" idx="20"/>
          </p:nvPr>
        </p:nvSpPr>
        <p:spPr>
          <a:xfrm>
            <a:off x="382829" y="1498177"/>
            <a:ext cx="6063034" cy="2029248"/>
          </a:xfrm>
          <a:prstGeom prst="rect">
            <a:avLst/>
          </a:prstGeom>
          <a:solidFill>
            <a:schemeClr val="bg1">
              <a:lumMod val="95000"/>
            </a:schemeClr>
          </a:solid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a:defRPr lang="en-US" sz="1800" smtClean="0">
                <a:solidFill>
                  <a:schemeClr val="tx1"/>
                </a:solidFill>
              </a:defRPr>
            </a:lvl2pPr>
            <a:lvl3pPr>
              <a:defRPr lang="en-US" sz="1800" smtClean="0">
                <a:solidFill>
                  <a:schemeClr val="tx1"/>
                </a:solidFill>
              </a:defRPr>
            </a:lvl3pPr>
            <a:lvl4pPr>
              <a:defRPr lang="en-US" sz="1800" smtClean="0">
                <a:solidFill>
                  <a:schemeClr val="tx1"/>
                </a:solidFill>
              </a:defRPr>
            </a:lvl4pPr>
            <a:lvl5pPr>
              <a:defRPr lang="en-US" sz="1800">
                <a:solidFill>
                  <a:schemeClr val="tx1"/>
                </a:solidFill>
              </a:defRPr>
            </a:lvl5pPr>
          </a:lstStyle>
          <a:p>
            <a:pPr lvl="0" defTabSz="914400"/>
            <a:r>
              <a:rPr lang="en-US" dirty="0"/>
              <a:t>Click to edit Master text styles</a:t>
            </a:r>
          </a:p>
        </p:txBody>
      </p:sp>
      <p:sp>
        <p:nvSpPr>
          <p:cNvPr id="27" name="Espaço Reservado para Conteúdo 14">
            <a:extLst>
              <a:ext uri="{FF2B5EF4-FFF2-40B4-BE49-F238E27FC236}">
                <a16:creationId xmlns:a16="http://schemas.microsoft.com/office/drawing/2014/main" id="{7459543B-5D1A-4593-B70A-B3031D0AB289}"/>
              </a:ext>
            </a:extLst>
          </p:cNvPr>
          <p:cNvSpPr>
            <a:spLocks noGrp="1"/>
          </p:cNvSpPr>
          <p:nvPr>
            <p:ph sz="quarter" idx="21" hasCustomPrompt="1"/>
          </p:nvPr>
        </p:nvSpPr>
        <p:spPr>
          <a:xfrm>
            <a:off x="382829" y="7896455"/>
            <a:ext cx="2938221"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0F6C72D-8B37-43A2-8FA6-85DFDDE86A1B}"/>
              </a:ext>
            </a:extLst>
          </p:cNvPr>
          <p:cNvSpPr>
            <a:spLocks noGrp="1"/>
          </p:cNvSpPr>
          <p:nvPr>
            <p:ph sz="quarter" idx="22" hasCustomPrompt="1"/>
          </p:nvPr>
        </p:nvSpPr>
        <p:spPr>
          <a:xfrm>
            <a:off x="3536951" y="7896455"/>
            <a:ext cx="2965558" cy="1557108"/>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9" name="Espaço Reservado para Conteúdo 14">
            <a:extLst>
              <a:ext uri="{FF2B5EF4-FFF2-40B4-BE49-F238E27FC236}">
                <a16:creationId xmlns:a16="http://schemas.microsoft.com/office/drawing/2014/main" id="{F5CC7ACC-9FC6-43CE-AF39-B94FD98BF6E6}"/>
              </a:ext>
            </a:extLst>
          </p:cNvPr>
          <p:cNvSpPr>
            <a:spLocks noGrp="1"/>
          </p:cNvSpPr>
          <p:nvPr>
            <p:ph sz="quarter" idx="23" hasCustomPrompt="1"/>
          </p:nvPr>
        </p:nvSpPr>
        <p:spPr>
          <a:xfrm>
            <a:off x="382829" y="7607837"/>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0" name="Espaço Reservado para Conteúdo 14">
            <a:extLst>
              <a:ext uri="{FF2B5EF4-FFF2-40B4-BE49-F238E27FC236}">
                <a16:creationId xmlns:a16="http://schemas.microsoft.com/office/drawing/2014/main" id="{24118CA0-014C-422D-9DAA-777D7AB184F5}"/>
              </a:ext>
            </a:extLst>
          </p:cNvPr>
          <p:cNvSpPr>
            <a:spLocks noGrp="1"/>
          </p:cNvSpPr>
          <p:nvPr>
            <p:ph sz="quarter" idx="24" hasCustomPrompt="1"/>
          </p:nvPr>
        </p:nvSpPr>
        <p:spPr>
          <a:xfrm>
            <a:off x="3552750" y="7607837"/>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1" name="Espaço Reservado para Conteúdo 14">
            <a:extLst>
              <a:ext uri="{FF2B5EF4-FFF2-40B4-BE49-F238E27FC236}">
                <a16:creationId xmlns:a16="http://schemas.microsoft.com/office/drawing/2014/main" id="{B4A8E0CC-AF6D-4249-B907-8B90F14E6EEE}"/>
              </a:ext>
            </a:extLst>
          </p:cNvPr>
          <p:cNvSpPr>
            <a:spLocks noGrp="1"/>
          </p:cNvSpPr>
          <p:nvPr>
            <p:ph sz="quarter" idx="25" hasCustomPrompt="1"/>
          </p:nvPr>
        </p:nvSpPr>
        <p:spPr>
          <a:xfrm>
            <a:off x="377825" y="5908439"/>
            <a:ext cx="2938221"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2" name="Espaço Reservado para Conteúdo 14">
            <a:extLst>
              <a:ext uri="{FF2B5EF4-FFF2-40B4-BE49-F238E27FC236}">
                <a16:creationId xmlns:a16="http://schemas.microsoft.com/office/drawing/2014/main" id="{D196756B-2AE4-4A67-89B3-B66A7F1396F6}"/>
              </a:ext>
            </a:extLst>
          </p:cNvPr>
          <p:cNvSpPr>
            <a:spLocks noGrp="1"/>
          </p:cNvSpPr>
          <p:nvPr>
            <p:ph sz="quarter" idx="26" hasCustomPrompt="1"/>
          </p:nvPr>
        </p:nvSpPr>
        <p:spPr>
          <a:xfrm>
            <a:off x="3531947" y="5908439"/>
            <a:ext cx="2965558"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3" name="Espaço Reservado para Conteúdo 14">
            <a:extLst>
              <a:ext uri="{FF2B5EF4-FFF2-40B4-BE49-F238E27FC236}">
                <a16:creationId xmlns:a16="http://schemas.microsoft.com/office/drawing/2014/main" id="{B149349D-4017-411D-A6E4-6FA59E261E07}"/>
              </a:ext>
            </a:extLst>
          </p:cNvPr>
          <p:cNvSpPr>
            <a:spLocks noGrp="1"/>
          </p:cNvSpPr>
          <p:nvPr>
            <p:ph sz="quarter" idx="27" hasCustomPrompt="1"/>
          </p:nvPr>
        </p:nvSpPr>
        <p:spPr>
          <a:xfrm>
            <a:off x="377825" y="5619821"/>
            <a:ext cx="293822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4" name="Espaço Reservado para Conteúdo 14">
            <a:extLst>
              <a:ext uri="{FF2B5EF4-FFF2-40B4-BE49-F238E27FC236}">
                <a16:creationId xmlns:a16="http://schemas.microsoft.com/office/drawing/2014/main" id="{849E52CD-1DB8-4809-A80A-ECC086DFD60E}"/>
              </a:ext>
            </a:extLst>
          </p:cNvPr>
          <p:cNvSpPr>
            <a:spLocks noGrp="1"/>
          </p:cNvSpPr>
          <p:nvPr>
            <p:ph sz="quarter" idx="28" hasCustomPrompt="1"/>
          </p:nvPr>
        </p:nvSpPr>
        <p:spPr>
          <a:xfrm>
            <a:off x="3547746" y="5619821"/>
            <a:ext cx="2949758"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3929789"/>
            <a:ext cx="6105737" cy="15788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3641171"/>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27, 2026</a:t>
            </a:fld>
            <a:endParaRPr lang="en-US"/>
          </a:p>
        </p:txBody>
      </p:sp>
    </p:spTree>
    <p:extLst>
      <p:ext uri="{BB962C8B-B14F-4D97-AF65-F5344CB8AC3E}">
        <p14:creationId xmlns:p14="http://schemas.microsoft.com/office/powerpoint/2010/main" val="1954696936"/>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5" name="Espaço Reservado para Conteúdo 14">
            <a:extLst>
              <a:ext uri="{FF2B5EF4-FFF2-40B4-BE49-F238E27FC236}">
                <a16:creationId xmlns:a16="http://schemas.microsoft.com/office/drawing/2014/main" id="{D8D9FAC2-6A16-4A54-B55B-FEED7719F70A}"/>
              </a:ext>
            </a:extLst>
          </p:cNvPr>
          <p:cNvSpPr>
            <a:spLocks noGrp="1"/>
          </p:cNvSpPr>
          <p:nvPr>
            <p:ph sz="quarter" idx="29" hasCustomPrompt="1"/>
          </p:nvPr>
        </p:nvSpPr>
        <p:spPr>
          <a:xfrm>
            <a:off x="382829"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6" name="Espaço Reservado para Conteúdo 14">
            <a:extLst>
              <a:ext uri="{FF2B5EF4-FFF2-40B4-BE49-F238E27FC236}">
                <a16:creationId xmlns:a16="http://schemas.microsoft.com/office/drawing/2014/main" id="{F03016C5-25C3-487A-A063-9D5AE9126411}"/>
              </a:ext>
            </a:extLst>
          </p:cNvPr>
          <p:cNvSpPr>
            <a:spLocks noGrp="1"/>
          </p:cNvSpPr>
          <p:nvPr>
            <p:ph sz="quarter" idx="30" hasCustomPrompt="1"/>
          </p:nvPr>
        </p:nvSpPr>
        <p:spPr>
          <a:xfrm>
            <a:off x="382829" y="1503277"/>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cxnSp>
        <p:nvCxnSpPr>
          <p:cNvPr id="22" name="Straight Connector 21">
            <a:extLst>
              <a:ext uri="{FF2B5EF4-FFF2-40B4-BE49-F238E27FC236}">
                <a16:creationId xmlns:a16="http://schemas.microsoft.com/office/drawing/2014/main" id="{014FD5D7-4E44-4DED-87A2-F5483B7E4A72}"/>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spaço Reservado para Texto 6">
            <a:extLst>
              <a:ext uri="{FF2B5EF4-FFF2-40B4-BE49-F238E27FC236}">
                <a16:creationId xmlns:a16="http://schemas.microsoft.com/office/drawing/2014/main" id="{C5901B80-52C0-495B-B245-C86EC38FA663}"/>
              </a:ext>
            </a:extLst>
          </p:cNvPr>
          <p:cNvSpPr>
            <a:spLocks noGrp="1"/>
          </p:cNvSpPr>
          <p:nvPr>
            <p:ph type="body" sz="quarter" idx="16" hasCustomPrompt="1"/>
          </p:nvPr>
        </p:nvSpPr>
        <p:spPr>
          <a:xfrm>
            <a:off x="390153" y="814312"/>
            <a:ext cx="6099547" cy="262500"/>
          </a:xfrm>
          <a:prstGeom prst="rect">
            <a:avLst/>
          </a:prstGeom>
        </p:spPr>
        <p:txBody>
          <a:bodyPr lIns="0" tIns="0" rIns="0" bIns="0" anchor="t" anchorCtr="0"/>
          <a:lstStyle>
            <a:lvl1pPr>
              <a:defRPr lang="pt-BR" sz="1900" b="1" spc="0" dirty="0">
                <a:solidFill>
                  <a:schemeClr val="tx2"/>
                </a:solidFill>
                <a:latin typeface="Roboto" panose="02000000000000000000" pitchFamily="2" charset="0"/>
                <a:ea typeface="Roboto" panose="02000000000000000000" pitchFamily="2" charset="0"/>
                <a:cs typeface="Roboto" panose="02000000000000000000" pitchFamily="2" charset="0"/>
              </a:defRPr>
            </a:lvl1pPr>
          </a:lstStyle>
          <a:p>
            <a:pPr lvl="0"/>
            <a:r>
              <a:rPr lang="pt-BR" dirty="0"/>
              <a:t>EDITAR</a:t>
            </a:r>
          </a:p>
        </p:txBody>
      </p:sp>
      <p:sp>
        <p:nvSpPr>
          <p:cNvPr id="21" name="Espaço Reservado para Texto 6">
            <a:extLst>
              <a:ext uri="{FF2B5EF4-FFF2-40B4-BE49-F238E27FC236}">
                <a16:creationId xmlns:a16="http://schemas.microsoft.com/office/drawing/2014/main" id="{12A1DB4F-E711-4954-BA2E-C3355075992F}"/>
              </a:ext>
            </a:extLst>
          </p:cNvPr>
          <p:cNvSpPr>
            <a:spLocks noGrp="1"/>
          </p:cNvSpPr>
          <p:nvPr>
            <p:ph type="body" sz="quarter" idx="17" hasCustomPrompt="1"/>
          </p:nvPr>
        </p:nvSpPr>
        <p:spPr>
          <a:xfrm>
            <a:off x="390154" y="1119209"/>
            <a:ext cx="6099545" cy="304570"/>
          </a:xfrm>
          <a:prstGeom prst="rect">
            <a:avLst/>
          </a:prstGeom>
        </p:spPr>
        <p:txBody>
          <a:bodyPr vert="horz" lIns="0" tIns="0" rIns="0" bIns="0" rtlCol="0" anchor="t">
            <a:noAutofit/>
          </a:bodyPr>
          <a:lstStyle>
            <a:lvl1pPr>
              <a:defRPr lang="pt-BR" sz="16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Clique para editar o texto mestre</a:t>
            </a:r>
          </a:p>
        </p:txBody>
      </p:sp>
      <p:sp>
        <p:nvSpPr>
          <p:cNvPr id="23" name="Espaço Reservado para Texto 6">
            <a:extLst>
              <a:ext uri="{FF2B5EF4-FFF2-40B4-BE49-F238E27FC236}">
                <a16:creationId xmlns:a16="http://schemas.microsoft.com/office/drawing/2014/main" id="{8578E20C-E30C-41E8-BD4E-471F9D9B43F9}"/>
              </a:ext>
            </a:extLst>
          </p:cNvPr>
          <p:cNvSpPr>
            <a:spLocks noGrp="1"/>
          </p:cNvSpPr>
          <p:nvPr>
            <p:ph type="body" sz="quarter" idx="31"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24" name="Date Placeholder 1">
            <a:extLst>
              <a:ext uri="{FF2B5EF4-FFF2-40B4-BE49-F238E27FC236}">
                <a16:creationId xmlns:a16="http://schemas.microsoft.com/office/drawing/2014/main" id="{BEDC87FD-5664-4739-BE21-72F2918833A4}"/>
              </a:ext>
            </a:extLst>
          </p:cNvPr>
          <p:cNvSpPr>
            <a:spLocks noGrp="1"/>
          </p:cNvSpPr>
          <p:nvPr>
            <p:ph type="dt" sz="half" idx="2"/>
          </p:nvPr>
        </p:nvSpPr>
        <p:spPr>
          <a:xfrm>
            <a:off x="3971925" y="438763"/>
            <a:ext cx="2517776"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8BA8F4B9-B6C6-4F2E-BC07-C261BB51569F}" type="datetime4">
              <a:rPr lang="en-US" smtClean="0"/>
              <a:pPr/>
              <a:t>July 27, 2026</a:t>
            </a:fld>
            <a:endParaRPr lang="en-US"/>
          </a:p>
        </p:txBody>
      </p:sp>
      <p:sp>
        <p:nvSpPr>
          <p:cNvPr id="19" name="Espaço Reservado para Conteúdo 14">
            <a:extLst>
              <a:ext uri="{FF2B5EF4-FFF2-40B4-BE49-F238E27FC236}">
                <a16:creationId xmlns:a16="http://schemas.microsoft.com/office/drawing/2014/main" id="{D23B7F16-8ADE-42C2-B1EE-5684155EC67C}"/>
              </a:ext>
            </a:extLst>
          </p:cNvPr>
          <p:cNvSpPr>
            <a:spLocks noGrp="1"/>
          </p:cNvSpPr>
          <p:nvPr>
            <p:ph sz="quarter" idx="32" hasCustomPrompt="1"/>
          </p:nvPr>
        </p:nvSpPr>
        <p:spPr>
          <a:xfrm>
            <a:off x="390153"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Conteúdo 14">
            <a:extLst>
              <a:ext uri="{FF2B5EF4-FFF2-40B4-BE49-F238E27FC236}">
                <a16:creationId xmlns:a16="http://schemas.microsoft.com/office/drawing/2014/main" id="{8D21CE70-9138-4D56-899D-1BFC170ACCAA}"/>
              </a:ext>
            </a:extLst>
          </p:cNvPr>
          <p:cNvSpPr>
            <a:spLocks noGrp="1"/>
          </p:cNvSpPr>
          <p:nvPr>
            <p:ph sz="quarter" idx="33" hasCustomPrompt="1"/>
          </p:nvPr>
        </p:nvSpPr>
        <p:spPr>
          <a:xfrm>
            <a:off x="390153" y="3549543"/>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DA0FF651-C1F8-494C-8441-58B8D108DFB0}"/>
              </a:ext>
            </a:extLst>
          </p:cNvPr>
          <p:cNvSpPr>
            <a:spLocks noGrp="1"/>
          </p:cNvSpPr>
          <p:nvPr>
            <p:ph sz="quarter" idx="34" hasCustomPrompt="1"/>
          </p:nvPr>
        </p:nvSpPr>
        <p:spPr>
          <a:xfrm>
            <a:off x="390153"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7" name="Espaço Reservado para Conteúdo 14">
            <a:extLst>
              <a:ext uri="{FF2B5EF4-FFF2-40B4-BE49-F238E27FC236}">
                <a16:creationId xmlns:a16="http://schemas.microsoft.com/office/drawing/2014/main" id="{EA6A1D37-C00C-4212-9602-D8F29782C38B}"/>
              </a:ext>
            </a:extLst>
          </p:cNvPr>
          <p:cNvSpPr>
            <a:spLocks noGrp="1"/>
          </p:cNvSpPr>
          <p:nvPr>
            <p:ph sz="quarter" idx="35" hasCustomPrompt="1"/>
          </p:nvPr>
        </p:nvSpPr>
        <p:spPr>
          <a:xfrm>
            <a:off x="390153" y="5553412"/>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38" name="Espaço Reservado para Conteúdo 14">
            <a:extLst>
              <a:ext uri="{FF2B5EF4-FFF2-40B4-BE49-F238E27FC236}">
                <a16:creationId xmlns:a16="http://schemas.microsoft.com/office/drawing/2014/main" id="{9BD0D569-187E-435F-84F7-4A907AB05F06}"/>
              </a:ext>
            </a:extLst>
          </p:cNvPr>
          <p:cNvSpPr>
            <a:spLocks noGrp="1"/>
          </p:cNvSpPr>
          <p:nvPr>
            <p:ph sz="quarter" idx="36" hasCustomPrompt="1"/>
          </p:nvPr>
        </p:nvSpPr>
        <p:spPr>
          <a:xfrm>
            <a:off x="397477"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39" name="Espaço Reservado para Conteúdo 14">
            <a:extLst>
              <a:ext uri="{FF2B5EF4-FFF2-40B4-BE49-F238E27FC236}">
                <a16:creationId xmlns:a16="http://schemas.microsoft.com/office/drawing/2014/main" id="{BD578F19-77CA-4807-93D6-DF0C8142271F}"/>
              </a:ext>
            </a:extLst>
          </p:cNvPr>
          <p:cNvSpPr>
            <a:spLocks noGrp="1"/>
          </p:cNvSpPr>
          <p:nvPr>
            <p:ph sz="quarter" idx="37" hasCustomPrompt="1"/>
          </p:nvPr>
        </p:nvSpPr>
        <p:spPr>
          <a:xfrm>
            <a:off x="397477" y="7599678"/>
            <a:ext cx="609954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Espaço Reservado para Conteúdo 14">
            <a:extLst>
              <a:ext uri="{FF2B5EF4-FFF2-40B4-BE49-F238E27FC236}">
                <a16:creationId xmlns:a16="http://schemas.microsoft.com/office/drawing/2014/main" id="{008E7608-0ADC-4C74-A591-69DB8C22030C}"/>
              </a:ext>
            </a:extLst>
          </p:cNvPr>
          <p:cNvSpPr>
            <a:spLocks noGrp="1"/>
          </p:cNvSpPr>
          <p:nvPr>
            <p:ph sz="quarter" idx="38" hasCustomPrompt="1"/>
          </p:nvPr>
        </p:nvSpPr>
        <p:spPr>
          <a:xfrm>
            <a:off x="3536952" y="1791895"/>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1" name="Espaço Reservado para Conteúdo 14">
            <a:extLst>
              <a:ext uri="{FF2B5EF4-FFF2-40B4-BE49-F238E27FC236}">
                <a16:creationId xmlns:a16="http://schemas.microsoft.com/office/drawing/2014/main" id="{34DA8105-E242-4DA6-910E-D486433DF87A}"/>
              </a:ext>
            </a:extLst>
          </p:cNvPr>
          <p:cNvSpPr>
            <a:spLocks noGrp="1"/>
          </p:cNvSpPr>
          <p:nvPr>
            <p:ph sz="quarter" idx="39" hasCustomPrompt="1"/>
          </p:nvPr>
        </p:nvSpPr>
        <p:spPr>
          <a:xfrm>
            <a:off x="3544276" y="3838161"/>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581288D2-722F-44A9-937B-2A51CBC81940}"/>
              </a:ext>
            </a:extLst>
          </p:cNvPr>
          <p:cNvSpPr>
            <a:spLocks noGrp="1"/>
          </p:cNvSpPr>
          <p:nvPr>
            <p:ph sz="quarter" idx="40" hasCustomPrompt="1"/>
          </p:nvPr>
        </p:nvSpPr>
        <p:spPr>
          <a:xfrm>
            <a:off x="3544276" y="5842030"/>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3" name="Espaço Reservado para Conteúdo 14">
            <a:extLst>
              <a:ext uri="{FF2B5EF4-FFF2-40B4-BE49-F238E27FC236}">
                <a16:creationId xmlns:a16="http://schemas.microsoft.com/office/drawing/2014/main" id="{0A7E3758-611C-4779-8E92-7476EE614506}"/>
              </a:ext>
            </a:extLst>
          </p:cNvPr>
          <p:cNvSpPr>
            <a:spLocks noGrp="1"/>
          </p:cNvSpPr>
          <p:nvPr>
            <p:ph sz="quarter" idx="41" hasCustomPrompt="1"/>
          </p:nvPr>
        </p:nvSpPr>
        <p:spPr>
          <a:xfrm>
            <a:off x="3551600" y="7888296"/>
            <a:ext cx="2923573" cy="156526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105342933"/>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3B476172-FCCC-4217-B659-E252FC48877E}"/>
              </a:ext>
            </a:extLst>
          </p:cNvPr>
          <p:cNvSpPr txBox="1"/>
          <p:nvPr userDrawn="1"/>
        </p:nvSpPr>
        <p:spPr>
          <a:xfrm>
            <a:off x="390153" y="814312"/>
            <a:ext cx="6099546" cy="263149"/>
          </a:xfrm>
          <a:prstGeom prst="rect">
            <a:avLst/>
          </a:prstGeom>
        </p:spPr>
        <p:txBody>
          <a:bodyPr lIns="0" tIns="0" rIns="0" bIns="0" anchor="t" anchorCtr="0">
            <a:spAutoFit/>
          </a:bodyPr>
          <a:lstStyle>
            <a:lvl1pPr lvl="0" indent="0" defTabSz="385767">
              <a:lnSpc>
                <a:spcPct val="90000"/>
              </a:lnSpc>
              <a:spcBef>
                <a:spcPts val="422"/>
              </a:spcBef>
              <a:buFont typeface="Arial" panose="020B0604020202020204" pitchFamily="34" charset="0"/>
              <a:buNone/>
              <a:defRPr sz="1900" b="1" spc="0">
                <a:solidFill>
                  <a:schemeClr val="tx2"/>
                </a:solidFill>
                <a:latin typeface="Roboto" panose="02000000000000000000" pitchFamily="2" charset="0"/>
                <a:ea typeface="Roboto" panose="02000000000000000000" pitchFamily="2" charset="0"/>
                <a:cs typeface="Roboto" panose="02000000000000000000" pitchFamily="2" charset="0"/>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lvl="0"/>
            <a:r>
              <a:rPr lang="en-US" dirty="0"/>
              <a:t>Disclaimer</a:t>
            </a:r>
          </a:p>
        </p:txBody>
      </p:sp>
      <p:sp>
        <p:nvSpPr>
          <p:cNvPr id="11" name="Do not remove" hidden="1">
            <a:extLst>
              <a:ext uri="{FF2B5EF4-FFF2-40B4-BE49-F238E27FC236}">
                <a16:creationId xmlns:a16="http://schemas.microsoft.com/office/drawing/2014/main" id="{A0E1623B-010B-478D-BFD7-8A4047822D40}"/>
              </a:ext>
            </a:extLst>
          </p:cNvPr>
          <p:cNvSpPr/>
          <p:nvPr>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Straight Connector 21">
            <a:extLst>
              <a:ext uri="{FF2B5EF4-FFF2-40B4-BE49-F238E27FC236}">
                <a16:creationId xmlns:a16="http://schemas.microsoft.com/office/drawing/2014/main" id="{66D21A7D-7928-4237-874A-A5ECB2674181}"/>
              </a:ext>
            </a:extLst>
          </p:cNvPr>
          <p:cNvCxnSpPr/>
          <p:nvPr userDrawn="1"/>
        </p:nvCxnSpPr>
        <p:spPr>
          <a:xfrm>
            <a:off x="390154" y="734469"/>
            <a:ext cx="6099546"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Espaço Reservado para Texto 6">
            <a:extLst>
              <a:ext uri="{FF2B5EF4-FFF2-40B4-BE49-F238E27FC236}">
                <a16:creationId xmlns:a16="http://schemas.microsoft.com/office/drawing/2014/main" id="{2B30E5FD-9051-4E1E-8485-CF615FEFF1FB}"/>
              </a:ext>
            </a:extLst>
          </p:cNvPr>
          <p:cNvSpPr>
            <a:spLocks noGrp="1"/>
          </p:cNvSpPr>
          <p:nvPr>
            <p:ph type="body" sz="quarter" idx="26" hasCustomPrompt="1"/>
          </p:nvPr>
        </p:nvSpPr>
        <p:spPr>
          <a:xfrm>
            <a:off x="1021910" y="9548813"/>
            <a:ext cx="5251889" cy="197643"/>
          </a:xfrm>
          <a:prstGeom prst="rect">
            <a:avLst/>
          </a:prstGeom>
        </p:spPr>
        <p:txBody>
          <a:bodyPr vert="horz" lIns="0" tIns="0" rIns="0" bIns="0" rtlCol="0" anchor="ctr" anchorCtr="0">
            <a:noAutofit/>
          </a:bodyPr>
          <a:lstStyle>
            <a:lvl1pPr algn="l">
              <a:defRPr lang="pt-BR" sz="700" b="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a:t>Fonte:  XXX, XXX, XXX | Notas: (1) XXX; (2) XXX; (3) XXX</a:t>
            </a:r>
            <a:endParaRPr lang="pt-BR" dirty="0" err="1"/>
          </a:p>
        </p:txBody>
      </p:sp>
      <p:sp>
        <p:nvSpPr>
          <p:cNvPr id="15" name="Date Placeholder 1">
            <a:extLst>
              <a:ext uri="{FF2B5EF4-FFF2-40B4-BE49-F238E27FC236}">
                <a16:creationId xmlns:a16="http://schemas.microsoft.com/office/drawing/2014/main" id="{CEDF22C0-1511-410D-B4C2-53B4E4FE64CB}"/>
              </a:ext>
            </a:extLst>
          </p:cNvPr>
          <p:cNvSpPr>
            <a:spLocks noGrp="1"/>
          </p:cNvSpPr>
          <p:nvPr>
            <p:ph type="dt" sz="half" idx="2"/>
          </p:nvPr>
        </p:nvSpPr>
        <p:spPr>
          <a:xfrm>
            <a:off x="3971925" y="438763"/>
            <a:ext cx="2517775" cy="184666"/>
          </a:xfrm>
          <a:prstGeom prst="rect">
            <a:avLst/>
          </a:prstGeom>
        </p:spPr>
        <p:txBody>
          <a:bodyPr vert="horz" wrap="square"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4D03E599-AFA5-4A08-AC9F-588B0C61A5AB}" type="datetime4">
              <a:rPr lang="en-US" smtClean="0"/>
              <a:pPr/>
              <a:t>July 27, 2026</a:t>
            </a:fld>
            <a:endParaRPr lang="en-US" dirty="0"/>
          </a:p>
        </p:txBody>
      </p:sp>
      <p:sp>
        <p:nvSpPr>
          <p:cNvPr id="2" name="TextBox 1">
            <a:extLst>
              <a:ext uri="{FF2B5EF4-FFF2-40B4-BE49-F238E27FC236}">
                <a16:creationId xmlns:a16="http://schemas.microsoft.com/office/drawing/2014/main" id="{52F95B42-1FBA-401A-8214-0A1239E090A4}"/>
              </a:ext>
            </a:extLst>
          </p:cNvPr>
          <p:cNvSpPr txBox="1"/>
          <p:nvPr userDrawn="1"/>
        </p:nvSpPr>
        <p:spPr>
          <a:xfrm>
            <a:off x="390153" y="1099025"/>
            <a:ext cx="6099546" cy="8347413"/>
          </a:xfrm>
          <a:prstGeom prst="rect">
            <a:avLst/>
          </a:prstGeom>
        </p:spPr>
        <p:txBody>
          <a:bodyPr lIns="0" tIns="0" rIns="0" bIns="0">
            <a:spAutoFit/>
          </a:bodyPr>
          <a:lstStyle>
            <a:lvl1pPr indent="0" defTabSz="385767">
              <a:lnSpc>
                <a:spcPct val="90000"/>
              </a:lnSpc>
              <a:spcBef>
                <a:spcPts val="422"/>
              </a:spcBef>
              <a:buFont typeface="Arial" panose="020B0604020202020204" pitchFamily="34" charset="0"/>
              <a:buNone/>
              <a:defRPr sz="730">
                <a:solidFill>
                  <a:schemeClr val="tx2"/>
                </a:solidFill>
              </a:defRPr>
            </a:lvl1pPr>
            <a:lvl2pPr marL="227710" indent="-77020" defTabSz="385767">
              <a:lnSpc>
                <a:spcPct val="90000"/>
              </a:lnSpc>
              <a:spcBef>
                <a:spcPts val="211"/>
              </a:spcBef>
              <a:buFont typeface="Arial" panose="020B0604020202020204" pitchFamily="34" charset="0"/>
              <a:buChar char="•"/>
              <a:defRPr sz="591">
                <a:solidFill>
                  <a:schemeClr val="tx2"/>
                </a:solidFill>
              </a:defRPr>
            </a:lvl2pPr>
            <a:lvl3pPr marL="379070" indent="-77689" defTabSz="385767">
              <a:lnSpc>
                <a:spcPct val="90000"/>
              </a:lnSpc>
              <a:spcBef>
                <a:spcPts val="211"/>
              </a:spcBef>
              <a:buFont typeface="Arial" panose="020B0604020202020204" pitchFamily="34" charset="0"/>
              <a:buChar char="•"/>
              <a:defRPr sz="506">
                <a:solidFill>
                  <a:schemeClr val="tx2"/>
                </a:solidFill>
              </a:defRPr>
            </a:lvl3pPr>
            <a:lvl4pPr marL="529761" indent="-77689" defTabSz="385767">
              <a:lnSpc>
                <a:spcPct val="90000"/>
              </a:lnSpc>
              <a:spcBef>
                <a:spcPts val="211"/>
              </a:spcBef>
              <a:buFont typeface="Arial" panose="020B0604020202020204" pitchFamily="34" charset="0"/>
              <a:buChar char="•"/>
              <a:defRPr sz="464">
                <a:solidFill>
                  <a:schemeClr val="tx2"/>
                </a:solidFill>
              </a:defRPr>
            </a:lvl4pPr>
            <a:lvl5pPr marL="680451" indent="-73671" defTabSz="385767">
              <a:lnSpc>
                <a:spcPct val="90000"/>
              </a:lnSpc>
              <a:spcBef>
                <a:spcPts val="211"/>
              </a:spcBef>
              <a:buFont typeface="Arial" panose="020B0604020202020204" pitchFamily="34" charset="0"/>
              <a:buChar char="•"/>
              <a:defRPr sz="464">
                <a:solidFill>
                  <a:schemeClr val="tx2"/>
                </a:solidFill>
              </a:defRPr>
            </a:lvl5pPr>
            <a:lvl6pPr marL="1060860" indent="-96442" defTabSz="385767">
              <a:lnSpc>
                <a:spcPct val="90000"/>
              </a:lnSpc>
              <a:spcBef>
                <a:spcPts val="211"/>
              </a:spcBef>
              <a:buFont typeface="Arial" panose="020B0604020202020204" pitchFamily="34" charset="0"/>
              <a:buChar char="•"/>
              <a:defRPr sz="760"/>
            </a:lvl6pPr>
            <a:lvl7pPr marL="1253744" indent="-96442" defTabSz="385767">
              <a:lnSpc>
                <a:spcPct val="90000"/>
              </a:lnSpc>
              <a:spcBef>
                <a:spcPts val="211"/>
              </a:spcBef>
              <a:buFont typeface="Arial" panose="020B0604020202020204" pitchFamily="34" charset="0"/>
              <a:buChar char="•"/>
              <a:defRPr sz="760"/>
            </a:lvl7pPr>
            <a:lvl8pPr marL="1446628" indent="-96442" defTabSz="385767">
              <a:lnSpc>
                <a:spcPct val="90000"/>
              </a:lnSpc>
              <a:spcBef>
                <a:spcPts val="211"/>
              </a:spcBef>
              <a:buFont typeface="Arial" panose="020B0604020202020204" pitchFamily="34" charset="0"/>
              <a:buChar char="•"/>
              <a:defRPr sz="760"/>
            </a:lvl8pPr>
            <a:lvl9pPr marL="1639511" indent="-96442" defTabSz="385767">
              <a:lnSpc>
                <a:spcPct val="90000"/>
              </a:lnSpc>
              <a:spcBef>
                <a:spcPts val="211"/>
              </a:spcBef>
              <a:buFont typeface="Arial" panose="020B0604020202020204" pitchFamily="34" charset="0"/>
              <a:buChar char="•"/>
              <a:defRPr sz="760"/>
            </a:lvl9pPr>
          </a:lstStyle>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report was prepared by XP Investimentos CCTVM S.A. ("XP Investimentos or XP") according to the requirements provided in CVM Resolution 20/2021 and aims to provide information that can help the investors make their own investment decisions, 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report was prepared considering the product risk classification in order to generate allocation results for each investor profile.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All of the views expressed in this research report accurately reflect the research analyst’s personal views regarding any and all of the subject securities or issuers.  No part of analyst(s) compensation was, is or will be, directly or indirectly related to the specific recommendations or views expressed in this research report.</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signatory of this report declare that the recommendations reflect solely and exclusively their personal analyses and opinions, which have been produced independently, including in relation to XP Investimentos and which are subject to modifications without notice due to changes in market conditions, and that their remuneration are indirectly affected by revenue from business and financial transactions carried out by XP Investimentos.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analyst responsible for the content of this report and the compliance with CVM Resolution 20/2021 is indicated above, and, in the event of an indication of another analyst in the report, the person responsible will be the first accredited analyst to be mentioned in Report.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analysts are obligated to comply with all the rules laid down in the APIMEC’s conduct code for the securities analyst and XP Investimentos’ analyst of securities conduct policy.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Customer service is carried out by XP Investimentos employees or by autonomous investment agents who perform their activities through XP, in accordance with CVM Resolution 178/2023, which are registered in the national association of brokers and distributors of securities (“ANCORD”). The autonomous agent of investment may not provide consulting, administration or management of customer net worth, and must act as an intermediary and request prior authorization from the client for the realization of any operation in the capital market. </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For the purpose of verifying the adequacy of the investor's profile to the investment services and products offered by XP Investimentos, we use the methodology of adequacy of products by portfolio, in accordance with the ANBIMA Rules and Procedures of Suitability No. 01 and the ANBIMA Code of Regulation and Best Practices for Distribution of Investment Products. This methodology consists of assigning a maximum risk score for each investor profile (conservative, moderate and aggressive), as well as a risk score for each of the products offered by XP Investimentos, so that all customers can have access to all products, provided that within the amounts and limits of the risk score defined for their profile. Before applying to the products and/or contracting the services subject to this material, it is important that you verify that your current risk score includes the application in the products and/or the contracting of the services in question, as well as whether there are limitations of volume, 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application/contract, or if there are limitations in relation to the amount and/or financial volume for said application/contracting, this means that, based on the current composition of your portfolio, this application/contract is not appropriate to your profile. If you have questions about the process of suiting the products offered by XP Investimentos to your investor profile, please refer to the FAQ. Market conditions, climate change and the macroeconomic scenario can affect investment performance.</a:t>
            </a: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report is intended exclusively for to the XP Investimentos’ network, including independent XP agents and XP customers, and may also be released on XP’s website. It is prohibited to reproduce or redistribute this report to any person, in whole or in part, whatever the purpose, without the prior express consent of XP Investimentos.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a:t>
            </a:r>
            <a:r>
              <a:rPr kumimoji="0" lang="en-US" sz="700" b="0" i="0" u="none" strike="noStrike" kern="100" cap="none" spc="0" normalizeH="0" baseline="0" noProof="0" dirty="0" err="1">
                <a:ln>
                  <a:noFill/>
                </a:ln>
                <a:solidFill>
                  <a:srgbClr val="18191A"/>
                </a:solidFill>
                <a:effectLst/>
                <a:uLnTx/>
                <a:uFillTx/>
                <a:latin typeface="XP" pitchFamily="2" charset="77"/>
                <a:ea typeface="XP" pitchFamily="2" charset="77"/>
                <a:cs typeface="Times New Roman" panose="02020603050405020304" pitchFamily="18" charset="0"/>
              </a:rPr>
              <a:t>ttps</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t>
            </a:r>
            <a:r>
              <a:rPr kumimoji="0" lang="en-US" sz="700" b="0" i="0" u="none" strike="noStrike" kern="100" cap="none" spc="0" normalizeH="0" baseline="0" noProof="0" dirty="0" err="1">
                <a:ln>
                  <a:noFill/>
                </a:ln>
                <a:solidFill>
                  <a:srgbClr val="18191A"/>
                </a:solidFill>
                <a:effectLst/>
                <a:uLnTx/>
                <a:uFillTx/>
                <a:latin typeface="XP" pitchFamily="2" charset="77"/>
                <a:ea typeface="XP" pitchFamily="2" charset="77"/>
                <a:cs typeface="Times New Roman" panose="02020603050405020304" pitchFamily="18" charset="0"/>
              </a:rPr>
              <a:t>institucional.xpi.com.br</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t>
            </a:r>
            <a:r>
              <a:rPr kumimoji="0" lang="en-US" sz="700" b="0" i="0" u="none" strike="noStrike" kern="100" cap="none" spc="0" normalizeH="0" baseline="0" noProof="0" dirty="0" err="1">
                <a:ln>
                  <a:noFill/>
                </a:ln>
                <a:solidFill>
                  <a:srgbClr val="18191A"/>
                </a:solidFill>
                <a:effectLst/>
                <a:uLnTx/>
                <a:uFillTx/>
                <a:latin typeface="XP" pitchFamily="2" charset="77"/>
                <a:ea typeface="XP" pitchFamily="2" charset="77"/>
                <a:cs typeface="Times New Roman" panose="02020603050405020304" pitchFamily="18" charset="0"/>
              </a:rPr>
              <a:t>ouvidoria.aspx</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The cost of the transactions billing policies are defined in the operational cost tables which are made available on XP Investimentos website: </a:t>
            </a:r>
            <a:r>
              <a:rPr kumimoji="0" lang="en-US" sz="700" b="0" i="0" u="sng"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hlinkClick r:id="rId3">
                  <a:extLst>
                    <a:ext uri="{A12FA001-AC4F-418D-AE19-62706E023703}">
                      <ahyp:hlinkClr xmlns:ahyp="http://schemas.microsoft.com/office/drawing/2018/hyperlinkcolor" val="tx"/>
                    </a:ext>
                  </a:extLst>
                </a:hlinkClick>
              </a:rPr>
              <a:t>www.xpi.com.br</a:t>
            </a: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is exempt from any liability for any damages, direct or indirect, that come from the use of this report or its contents.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Technical analysis and fundamental analysis follow different methodologies. Technical analysis is performed following concepts such as trends, support, resistance, candles, volume, and moving averages, amongst others. Fundamental analysis uses as information the results disseminated by the issuing companies and their projections. In this way, the opinions of fundamental analysts, who seek the best returns given the market conditions, the macroeconomic scenario and the specific events of the company and the sector, may differ from the opinions of technical analysts, which aim to Identify the most likely movements on asset prices, using "stops" limit possible losses.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or warranty, expressed or implied, is made in this material in relation to future performance. Market conditions, macroeconomic scenario, company and sector specific events can affect investment performance and may even result in significant asset losses. The recommended duration for equity investments is medium-long term. There is no guarantee of investment return for customers’ investments in stock.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Investment in options is the purchase or sale rights of a good shall be negotiated at a price fixed at a future date, 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Investment in terms are contracts for the purchase or sale of a certain number of shares at a fixed price for settlement within a specified period. The term of the contract is freely chosen by the investors, complying with the minimum period of 16 days and a maximum of 999 days. The price will be the value of the added share of a portion corresponding to the interest-which are set freely on the market, depending on the term of the contract. Every transaction in the term requires a guarantee deposit. These guarantees are provided in two forms: coverage or margin.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Investments in futures markets are subject to significant loss of principal. a commodity is an object or price determinant of a future contract or other derivative instrument, which may substantiate an index, a fee, a movable value or a physical product.  Commodities are considered high risk investments, 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This institution is adhering ANBIMA Code of Regulation and best practices for the distribution activity of retail investment products.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Investments US, LLC, a broker-dealer registered with the U.S. Securities and Exchange Commission, has assumed responsibility for this research for purposes of U.S. law.  All transactions arising from this research should be directed to XP Investments US, LLC, at +1 646-664-0525.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800"/>
              </a:spcAft>
              <a:buClrTx/>
              <a:buSzTx/>
              <a:buFont typeface="+mj-lt"/>
              <a:buAutoNum type="arabicPeriod"/>
              <a:tabLst/>
              <a:defRPr/>
            </a:pPr>
            <a:r>
              <a:rPr kumimoji="0" lang="en-US"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rPr>
              <a:t>XP Investimentos (a) managed or co-managed a public offering of securities for the subject company in the past 12 months, or (b) received compensation for investment banking services from the subject company in the past 12 months; or (c) expects to receive or intends to seek compensation for investment banking services from the subject company in the next 3 months. </a:t>
            </a:r>
            <a:endParaRPr kumimoji="0" lang="en-BR" sz="700" b="0" i="0" u="none" strike="noStrike" kern="100" cap="none" spc="0" normalizeH="0" baseline="0" noProof="0" dirty="0">
              <a:ln>
                <a:noFill/>
              </a:ln>
              <a:solidFill>
                <a:srgbClr val="18191A"/>
              </a:solidFill>
              <a:effectLst/>
              <a:uLnTx/>
              <a:uFillTx/>
              <a:latin typeface="XP" pitchFamily="2" charset="77"/>
              <a:ea typeface="XP" pitchFamily="2" charset="77"/>
              <a:cs typeface="Times New Roman" panose="02020603050405020304" pitchFamily="18" charset="0"/>
            </a:endParaRPr>
          </a:p>
        </p:txBody>
      </p:sp>
    </p:spTree>
    <p:extLst>
      <p:ext uri="{BB962C8B-B14F-4D97-AF65-F5344CB8AC3E}">
        <p14:creationId xmlns:p14="http://schemas.microsoft.com/office/powerpoint/2010/main" val="109665022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9_Fechamento">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EEF889BE-5F29-4032-AB30-7BDF50F86CBF}"/>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1" y="0"/>
            <a:ext cx="6858001" cy="9906000"/>
          </a:xfrm>
          <a:prstGeom prst="rect">
            <a:avLst/>
          </a:prstGeom>
        </p:spPr>
      </p:pic>
      <p:pic>
        <p:nvPicPr>
          <p:cNvPr id="3" name="Graphic 2">
            <a:extLst>
              <a:ext uri="{FF2B5EF4-FFF2-40B4-BE49-F238E27FC236}">
                <a16:creationId xmlns:a16="http://schemas.microsoft.com/office/drawing/2014/main" id="{05867FA6-DA0F-5E05-3BDF-51C709B70449}"/>
              </a:ext>
            </a:extLst>
          </p:cNvPr>
          <p:cNvPicPr>
            <a:picLocks noChangeAspect="1"/>
          </p:cNvPicPr>
          <p:nvPr userDrawn="1"/>
        </p:nvPicPr>
        <p:blipFill>
          <a:blip r:embed="rId5">
            <a:alphaModFix amt="66000"/>
            <a:extLst>
              <a:ext uri="{96DAC541-7B7A-43D3-8B79-37D633B846F1}">
                <asvg:svgBlip xmlns:asvg="http://schemas.microsoft.com/office/drawing/2016/SVG/main" r:embed="rId6"/>
              </a:ext>
            </a:extLst>
          </a:blip>
          <a:srcRect l="26318" r="36169"/>
          <a:stretch/>
        </p:blipFill>
        <p:spPr>
          <a:xfrm>
            <a:off x="0" y="977414"/>
            <a:ext cx="6858001" cy="8476149"/>
          </a:xfrm>
          <a:prstGeom prst="rect">
            <a:avLst/>
          </a:prstGeom>
        </p:spPr>
      </p:pic>
      <p:sp>
        <p:nvSpPr>
          <p:cNvPr id="11" name="Do not remove">
            <a:extLst>
              <a:ext uri="{FF2B5EF4-FFF2-40B4-BE49-F238E27FC236}">
                <a16:creationId xmlns:a16="http://schemas.microsoft.com/office/drawing/2014/main" id="{A0E1623B-010B-478D-BFD7-8A4047822D40}"/>
              </a:ext>
            </a:extLst>
          </p:cNvPr>
          <p:cNvSpPr/>
          <p:nvPr userDrawn="1">
            <p:custDataLst>
              <p:tags r:id="rId1"/>
            </p:custDataLst>
          </p:nvPr>
        </p:nvSpPr>
        <p:spPr>
          <a:xfrm>
            <a:off x="0"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 name="Picture 1" descr="A blue and white dot pattern&#10;&#10;AI-generated content may be incorrect.">
            <a:extLst>
              <a:ext uri="{FF2B5EF4-FFF2-40B4-BE49-F238E27FC236}">
                <a16:creationId xmlns:a16="http://schemas.microsoft.com/office/drawing/2014/main" id="{A1A21C4B-47C1-C0E8-14F5-2F2BFF0411D7}"/>
              </a:ext>
            </a:extLst>
          </p:cNvPr>
          <p:cNvPicPr>
            <a:picLocks noChangeAspect="1"/>
          </p:cNvPicPr>
          <p:nvPr userDrawn="1"/>
        </p:nvPicPr>
        <p:blipFill>
          <a:blip r:embed="rId7">
            <a:alphaModFix amt="18000"/>
            <a:extLst>
              <a:ext uri="{BEBA8EAE-BF5A-486C-A8C5-ECC9F3942E4B}">
                <a14:imgProps xmlns:a14="http://schemas.microsoft.com/office/drawing/2010/main">
                  <a14:imgLayer r:embed="rId8">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0"/>
            <a:ext cx="6858001" cy="9906000"/>
          </a:xfrm>
          <a:prstGeom prst="rect">
            <a:avLst/>
          </a:prstGeom>
        </p:spPr>
      </p:pic>
      <p:grpSp>
        <p:nvGrpSpPr>
          <p:cNvPr id="52" name="Group 51">
            <a:extLst>
              <a:ext uri="{FF2B5EF4-FFF2-40B4-BE49-F238E27FC236}">
                <a16:creationId xmlns:a16="http://schemas.microsoft.com/office/drawing/2014/main" id="{EC4BCA75-7F1B-481D-83B9-D8049585F325}"/>
              </a:ext>
            </a:extLst>
          </p:cNvPr>
          <p:cNvGrpSpPr/>
          <p:nvPr userDrawn="1"/>
        </p:nvGrpSpPr>
        <p:grpSpPr>
          <a:xfrm>
            <a:off x="2258539" y="4630339"/>
            <a:ext cx="2340922" cy="645323"/>
            <a:chOff x="2700591" y="2522601"/>
            <a:chExt cx="6428993" cy="1772284"/>
          </a:xfrm>
          <a:solidFill>
            <a:schemeClr val="bg1"/>
          </a:solidFill>
        </p:grpSpPr>
        <p:sp>
          <p:nvSpPr>
            <p:cNvPr id="53" name="Freeform: Shape 52">
              <a:extLst>
                <a:ext uri="{FF2B5EF4-FFF2-40B4-BE49-F238E27FC236}">
                  <a16:creationId xmlns:a16="http://schemas.microsoft.com/office/drawing/2014/main" id="{C0D7674D-49E8-4FD1-8EE6-775A8BFD963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pPr algn="ctr"/>
              <a:endParaRPr lang="en-US"/>
            </a:p>
          </p:txBody>
        </p:sp>
        <p:grpSp>
          <p:nvGrpSpPr>
            <p:cNvPr id="54" name="Graphic 20">
              <a:extLst>
                <a:ext uri="{FF2B5EF4-FFF2-40B4-BE49-F238E27FC236}">
                  <a16:creationId xmlns:a16="http://schemas.microsoft.com/office/drawing/2014/main" id="{6A9C8637-4BB5-4C3D-BB13-864B0F50ADAC}"/>
                </a:ext>
              </a:extLst>
            </p:cNvPr>
            <p:cNvGrpSpPr/>
            <p:nvPr/>
          </p:nvGrpSpPr>
          <p:grpSpPr>
            <a:xfrm>
              <a:off x="5034660" y="3339528"/>
              <a:ext cx="4094924" cy="747077"/>
              <a:chOff x="5034660" y="3339528"/>
              <a:chExt cx="4094924" cy="747077"/>
            </a:xfrm>
            <a:grpFill/>
          </p:grpSpPr>
          <p:sp>
            <p:nvSpPr>
              <p:cNvPr id="55" name="Freeform: Shape 54">
                <a:extLst>
                  <a:ext uri="{FF2B5EF4-FFF2-40B4-BE49-F238E27FC236}">
                    <a16:creationId xmlns:a16="http://schemas.microsoft.com/office/drawing/2014/main" id="{273D17AC-608D-476F-91F6-CBDB227934BC}"/>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57" name="Freeform: Shape 56">
                <a:extLst>
                  <a:ext uri="{FF2B5EF4-FFF2-40B4-BE49-F238E27FC236}">
                    <a16:creationId xmlns:a16="http://schemas.microsoft.com/office/drawing/2014/main" id="{89D56B08-E8EB-4273-9F75-1A42800FD14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pPr algn="ctr"/>
                <a:endParaRPr lang="en-US"/>
              </a:p>
            </p:txBody>
          </p:sp>
          <p:sp>
            <p:nvSpPr>
              <p:cNvPr id="61" name="Freeform: Shape 60">
                <a:extLst>
                  <a:ext uri="{FF2B5EF4-FFF2-40B4-BE49-F238E27FC236}">
                    <a16:creationId xmlns:a16="http://schemas.microsoft.com/office/drawing/2014/main" id="{20671906-27FC-42C4-A9E6-35A63345C057}"/>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pPr algn="ctr"/>
                <a:endParaRPr lang="en-US"/>
              </a:p>
            </p:txBody>
          </p:sp>
          <p:sp>
            <p:nvSpPr>
              <p:cNvPr id="62" name="Freeform: Shape 61">
                <a:extLst>
                  <a:ext uri="{FF2B5EF4-FFF2-40B4-BE49-F238E27FC236}">
                    <a16:creationId xmlns:a16="http://schemas.microsoft.com/office/drawing/2014/main" id="{69454B6E-7FD0-4912-A22A-33AE78094B3B}"/>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pPr algn="ctr"/>
                <a:endParaRPr lang="en-US"/>
              </a:p>
            </p:txBody>
          </p:sp>
          <p:sp>
            <p:nvSpPr>
              <p:cNvPr id="63" name="Freeform: Shape 62">
                <a:extLst>
                  <a:ext uri="{FF2B5EF4-FFF2-40B4-BE49-F238E27FC236}">
                    <a16:creationId xmlns:a16="http://schemas.microsoft.com/office/drawing/2014/main" id="{E0AD0E05-3DF2-467D-BDF2-ED8EC44AA42A}"/>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pPr algn="ctr"/>
                <a:endParaRPr lang="en-US"/>
              </a:p>
            </p:txBody>
          </p:sp>
          <p:sp>
            <p:nvSpPr>
              <p:cNvPr id="64" name="Freeform: Shape 63">
                <a:extLst>
                  <a:ext uri="{FF2B5EF4-FFF2-40B4-BE49-F238E27FC236}">
                    <a16:creationId xmlns:a16="http://schemas.microsoft.com/office/drawing/2014/main" id="{6766A6D9-B62B-4E0B-8E9A-9861449C93B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pPr algn="ctr"/>
                <a:endParaRPr lang="en-US"/>
              </a:p>
            </p:txBody>
          </p:sp>
          <p:sp>
            <p:nvSpPr>
              <p:cNvPr id="65" name="Freeform: Shape 64">
                <a:extLst>
                  <a:ext uri="{FF2B5EF4-FFF2-40B4-BE49-F238E27FC236}">
                    <a16:creationId xmlns:a16="http://schemas.microsoft.com/office/drawing/2014/main" id="{2449AA0B-9870-42BD-AFAC-DE917DC4535C}"/>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pPr algn="ctr"/>
                <a:endParaRPr lang="en-US"/>
              </a:p>
            </p:txBody>
          </p:sp>
          <p:sp>
            <p:nvSpPr>
              <p:cNvPr id="66" name="Freeform: Shape 65">
                <a:extLst>
                  <a:ext uri="{FF2B5EF4-FFF2-40B4-BE49-F238E27FC236}">
                    <a16:creationId xmlns:a16="http://schemas.microsoft.com/office/drawing/2014/main" id="{5219A594-2CF0-4BDD-8434-C0E75A7F1753}"/>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72760730"/>
      </p:ext>
    </p:extLst>
  </p:cSld>
  <p:clrMapOvr>
    <a:masterClrMapping/>
  </p:clrMapOvr>
  <p:extLst>
    <p:ext uri="{DCECCB84-F9BA-43D5-87BE-67443E8EF086}">
      <p15:sldGuideLst xmlns:p15="http://schemas.microsoft.com/office/powerpoint/2012/main">
        <p15:guide id="0" pos="2228">
          <p15:clr>
            <a:srgbClr val="FBAE40"/>
          </p15:clr>
        </p15:guide>
        <p15:guide id="1" pos="2092">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slideLayout" Target="../slideLayouts/slideLayout29.xml"/><Relationship Id="rId13" Type="http://schemas.openxmlformats.org/officeDocument/2006/relationships/slideLayout" Target="../slideLayouts/slideLayout30.xml"/><Relationship Id="rId14" Type="http://schemas.openxmlformats.org/officeDocument/2006/relationships/slideLayout" Target="../slideLayouts/slideLayout31.xml"/><Relationship Id="rId15" Type="http://schemas.openxmlformats.org/officeDocument/2006/relationships/slideLayout" Target="../slideLayouts/slideLayout32.xml"/><Relationship Id="rId16" Type="http://schemas.openxmlformats.org/officeDocument/2006/relationships/slideLayout" Target="../slideLayouts/slideLayout33.xml"/><Relationship Id="rId17" Type="http://schemas.openxmlformats.org/officeDocument/2006/relationships/slideLayout" Target="../slideLayouts/slideLayout34.xml"/><Relationship Id="rId18" Type="http://schemas.openxmlformats.org/officeDocument/2006/relationships/slideLayout" Target="../slideLayouts/slideLayout35.xml"/><Relationship Id="rId1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 Id="rId14" Type="http://schemas.openxmlformats.org/officeDocument/2006/relationships/slideLayout" Target="../slideLayouts/slideLayout49.xml"/><Relationship Id="rId15" Type="http://schemas.openxmlformats.org/officeDocument/2006/relationships/slideLayout" Target="../slideLayouts/slideLayout50.xml"/><Relationship Id="rId16" Type="http://schemas.openxmlformats.org/officeDocument/2006/relationships/slideLayout" Target="../slideLayouts/slideLayout51.xml"/><Relationship Id="rId17" Type="http://schemas.openxmlformats.org/officeDocument/2006/relationships/slideLayout" Target="../slideLayouts/slideLayout52.xml"/><Relationship Id="rId18" Type="http://schemas.openxmlformats.org/officeDocument/2006/relationships/slideLayout" Target="../slideLayouts/slideLayout53.xml"/><Relationship Id="rId1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July 27,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Brazil Equity Strategy</a:t>
            </a:r>
          </a:p>
        </p:txBody>
      </p:sp>
    </p:spTree>
    <p:extLst>
      <p:ext uri="{BB962C8B-B14F-4D97-AF65-F5344CB8AC3E}">
        <p14:creationId xmlns:p14="http://schemas.microsoft.com/office/powerpoint/2010/main" val="3552666448"/>
      </p:ext>
    </p:extLst>
  </p:cSld>
  <p:clrMap bg1="lt1" tx1="dk1" bg2="lt2" tx2="dk2" accent1="accent1" accent2="accent2" accent3="accent3" accent4="accent4" accent5="accent5" accent6="accent6" hlink="hlink" folHlink="folHlink"/>
  <p:sldLayoutIdLst>
    <p:sldLayoutId id="2147483676" r:id="rId1"/>
    <p:sldLayoutId id="2147483700" r:id="rId2"/>
    <p:sldLayoutId id="2147483706" r:id="rId3"/>
    <p:sldLayoutId id="2147483707" r:id="rId4"/>
    <p:sldLayoutId id="2147483708" r:id="rId5"/>
    <p:sldLayoutId id="2147483709" r:id="rId6"/>
    <p:sldLayoutId id="2147483705" r:id="rId7"/>
    <p:sldLayoutId id="2147483704" r:id="rId8"/>
    <p:sldLayoutId id="2147483699" r:id="rId9"/>
    <p:sldLayoutId id="2147483697" r:id="rId10"/>
    <p:sldLayoutId id="2147483695" r:id="rId11"/>
    <p:sldLayoutId id="2147483696" r:id="rId12"/>
    <p:sldLayoutId id="2147483694" r:id="rId13"/>
    <p:sldLayoutId id="2147483698" r:id="rId14"/>
    <p:sldLayoutId id="2147483710" r:id="rId15"/>
    <p:sldLayoutId id="2147483702" r:id="rId16"/>
    <p:sldLayoutId id="2147483701" r:id="rId17"/>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32" userDrawn="1">
          <p15:clr>
            <a:srgbClr val="F26B43"/>
          </p15:clr>
        </p15:guide>
        <p15:guide id="3" pos="4088" userDrawn="1">
          <p15:clr>
            <a:srgbClr val="F26B43"/>
          </p15:clr>
        </p15:guide>
        <p15:guide id="4" orient="horz" pos="262" userDrawn="1">
          <p15:clr>
            <a:srgbClr val="F26B43"/>
          </p15:clr>
        </p15:guide>
        <p15:guide id="5" orient="horz" pos="5955" userDrawn="1">
          <p15:clr>
            <a:srgbClr val="F26B43"/>
          </p15:clr>
        </p15:guide>
        <p15:guide id="6" pos="2160" userDrawn="1">
          <p15:clr>
            <a:srgbClr val="F26B43"/>
          </p15:clr>
        </p15:guide>
        <p15:guide id="7" orient="horz" pos="466" userDrawn="1">
          <p15:clr>
            <a:srgbClr val="F26B43"/>
          </p15:clr>
        </p15:guide>
        <p15:guide id="8" orient="horz" pos="94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July 27,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Brazil Equity Strategy</a:t>
            </a:r>
          </a:p>
        </p:txBody>
      </p:sp>
      <p:sp>
        <p:nvSpPr>
          <p:cNvPr id="5" name="TextBox 4">
            <a:extLst>
              <a:ext uri="{FF2B5EF4-FFF2-40B4-BE49-F238E27FC236}">
                <a16:creationId xmlns:a16="http://schemas.microsoft.com/office/drawing/2014/main" id="{7AA5DDC9-DF92-8C83-5EFD-9C51EB7CDBCB}"/>
              </a:ext>
            </a:extLst>
          </p:cNvPr>
          <p:cNvSpPr txBox="1"/>
          <p:nvPr userDrawn="1">
            <p:extLst>
              <p:ext uri="{1162E1C5-73C7-4A58-AE30-91384D911F3F}">
                <p184:classification xmlns:p184="http://schemas.microsoft.com/office/powerpoint/2018/4/main" val="ftr"/>
              </p:ext>
            </p:extLst>
          </p:nvPr>
        </p:nvSpPr>
        <p:spPr>
          <a:xfrm>
            <a:off x="5351463" y="9690100"/>
            <a:ext cx="1471612"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ea typeface="Calibri" panose="020F0502020204030204" pitchFamily="34" charset="0"/>
                <a:cs typeface="Calibri" panose="020F0502020204030204" pitchFamily="34" charset="0"/>
              </a:rPr>
              <a:t>[ CLASSIFICAÇÃO: PÚBLICA ]</a:t>
            </a:r>
          </a:p>
        </p:txBody>
      </p:sp>
    </p:spTree>
    <p:extLst>
      <p:ext uri="{BB962C8B-B14F-4D97-AF65-F5344CB8AC3E}">
        <p14:creationId xmlns:p14="http://schemas.microsoft.com/office/powerpoint/2010/main" val="1581288420"/>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CaixaDeTexto 9">
            <a:extLst>
              <a:ext uri="{FF2B5EF4-FFF2-40B4-BE49-F238E27FC236}">
                <a16:creationId xmlns:a16="http://schemas.microsoft.com/office/drawing/2014/main" id="{18A5BD12-2FE7-4134-9F20-C06CEFC520B9}"/>
              </a:ext>
            </a:extLst>
          </p:cNvPr>
          <p:cNvSpPr txBox="1"/>
          <p:nvPr userDrawn="1"/>
        </p:nvSpPr>
        <p:spPr>
          <a:xfrm>
            <a:off x="6328029" y="9584374"/>
            <a:ext cx="148017" cy="127755"/>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29" name="Conector Reto 170">
            <a:extLst>
              <a:ext uri="{FF2B5EF4-FFF2-40B4-BE49-F238E27FC236}">
                <a16:creationId xmlns:a16="http://schemas.microsoft.com/office/drawing/2014/main" id="{13EB86D2-DA6B-4C90-A239-E798C20F79BB}"/>
              </a:ext>
            </a:extLst>
          </p:cNvPr>
          <p:cNvCxnSpPr>
            <a:cxnSpLocks/>
          </p:cNvCxnSpPr>
          <p:nvPr userDrawn="1"/>
        </p:nvCxnSpPr>
        <p:spPr>
          <a:xfrm flipV="1">
            <a:off x="969232" y="9547232"/>
            <a:ext cx="0" cy="20203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BCC28C3B-7362-43B7-A421-CE293A4A6219}"/>
              </a:ext>
            </a:extLst>
          </p:cNvPr>
          <p:cNvGrpSpPr/>
          <p:nvPr userDrawn="1"/>
        </p:nvGrpSpPr>
        <p:grpSpPr>
          <a:xfrm>
            <a:off x="368299" y="9572683"/>
            <a:ext cx="548254" cy="151137"/>
            <a:chOff x="2700591" y="2522601"/>
            <a:chExt cx="6428993" cy="1772284"/>
          </a:xfrm>
          <a:solidFill>
            <a:schemeClr val="accent6"/>
          </a:solidFill>
        </p:grpSpPr>
        <p:sp>
          <p:nvSpPr>
            <p:cNvPr id="31" name="Freeform: Shape 30">
              <a:extLst>
                <a:ext uri="{FF2B5EF4-FFF2-40B4-BE49-F238E27FC236}">
                  <a16:creationId xmlns:a16="http://schemas.microsoft.com/office/drawing/2014/main" id="{389CC8BC-1F00-4BDC-A289-8142D2D94754}"/>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2" name="Graphic 20">
              <a:extLst>
                <a:ext uri="{FF2B5EF4-FFF2-40B4-BE49-F238E27FC236}">
                  <a16:creationId xmlns:a16="http://schemas.microsoft.com/office/drawing/2014/main" id="{508F0147-3843-468C-B598-6A74C455F73B}"/>
                </a:ext>
              </a:extLst>
            </p:cNvPr>
            <p:cNvGrpSpPr/>
            <p:nvPr/>
          </p:nvGrpSpPr>
          <p:grpSpPr>
            <a:xfrm>
              <a:off x="5034660" y="3339528"/>
              <a:ext cx="4094924" cy="747077"/>
              <a:chOff x="5034660" y="3339528"/>
              <a:chExt cx="4094924" cy="747077"/>
            </a:xfrm>
            <a:grpFill/>
          </p:grpSpPr>
          <p:sp>
            <p:nvSpPr>
              <p:cNvPr id="33" name="Freeform: Shape 32">
                <a:extLst>
                  <a:ext uri="{FF2B5EF4-FFF2-40B4-BE49-F238E27FC236}">
                    <a16:creationId xmlns:a16="http://schemas.microsoft.com/office/drawing/2014/main" id="{D59EF09C-1E4A-4CE4-8368-67623148D05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604BEF-52FB-4611-B5BC-2E4C7A1B4DC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348F6015-ACDE-4252-9209-5B93E242751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7BE555BE-D9A2-44BD-A617-B521D61BBAB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14F2E831-B08D-4D1E-A156-528654CD99C1}"/>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F483E7C-8FFD-4291-ACD5-5C68DEB74825}"/>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993F408-ED5F-4840-B119-130BB9018551}"/>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5511F965-E58A-4FB1-902B-6A64436A7F3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 name="Date Placeholder 1">
            <a:extLst>
              <a:ext uri="{FF2B5EF4-FFF2-40B4-BE49-F238E27FC236}">
                <a16:creationId xmlns:a16="http://schemas.microsoft.com/office/drawing/2014/main" id="{7161E563-1BF6-4EB7-B7A2-FD52458467FC}"/>
              </a:ext>
            </a:extLst>
          </p:cNvPr>
          <p:cNvSpPr>
            <a:spLocks noGrp="1"/>
          </p:cNvSpPr>
          <p:nvPr>
            <p:ph type="dt" sz="half" idx="2"/>
          </p:nvPr>
        </p:nvSpPr>
        <p:spPr>
          <a:xfrm>
            <a:off x="4946650" y="438763"/>
            <a:ext cx="1543050" cy="184666"/>
          </a:xfrm>
          <a:prstGeom prst="rect">
            <a:avLst/>
          </a:prstGeom>
        </p:spPr>
        <p:txBody>
          <a:bodyPr vert="horz" lIns="0" tIns="0" rIns="0" bIns="0" rtlCol="0" anchor="ctr">
            <a:spAutoFit/>
          </a:bodyP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2C2D92C-61B9-4561-AF19-21901E8F5445}" type="datetime4">
              <a:rPr lang="en-US" smtClean="0"/>
              <a:pPr/>
              <a:t>July 27, 2026</a:t>
            </a:fld>
            <a:endParaRPr lang="en-US" dirty="0"/>
          </a:p>
        </p:txBody>
      </p:sp>
      <p:grpSp>
        <p:nvGrpSpPr>
          <p:cNvPr id="3" name="Group 2">
            <a:extLst>
              <a:ext uri="{FF2B5EF4-FFF2-40B4-BE49-F238E27FC236}">
                <a16:creationId xmlns:a16="http://schemas.microsoft.com/office/drawing/2014/main" id="{B20580D1-0CE3-4279-A937-2D00BB298C37}"/>
              </a:ext>
            </a:extLst>
          </p:cNvPr>
          <p:cNvGrpSpPr/>
          <p:nvPr userDrawn="1"/>
        </p:nvGrpSpPr>
        <p:grpSpPr>
          <a:xfrm>
            <a:off x="-954966" y="0"/>
            <a:ext cx="850185" cy="1861222"/>
            <a:chOff x="-954966" y="304355"/>
            <a:chExt cx="850185" cy="1861222"/>
          </a:xfrm>
        </p:grpSpPr>
        <p:sp>
          <p:nvSpPr>
            <p:cNvPr id="16" name="Retângulo 13">
              <a:extLst>
                <a:ext uri="{FF2B5EF4-FFF2-40B4-BE49-F238E27FC236}">
                  <a16:creationId xmlns:a16="http://schemas.microsoft.com/office/drawing/2014/main" id="{C692A16D-2AAD-47A9-B615-EDBFCACA6C08}"/>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 </a:t>
              </a:r>
            </a:p>
          </p:txBody>
        </p:sp>
        <p:sp>
          <p:nvSpPr>
            <p:cNvPr id="17" name="Retângulo 14">
              <a:extLst>
                <a:ext uri="{FF2B5EF4-FFF2-40B4-BE49-F238E27FC236}">
                  <a16:creationId xmlns:a16="http://schemas.microsoft.com/office/drawing/2014/main" id="{49E9D0E6-FB77-489C-A3FC-111D665AA2C8}"/>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142 179 223</a:t>
              </a:r>
            </a:p>
          </p:txBody>
        </p:sp>
        <p:sp>
          <p:nvSpPr>
            <p:cNvPr id="18" name="Retângulo 16">
              <a:extLst>
                <a:ext uri="{FF2B5EF4-FFF2-40B4-BE49-F238E27FC236}">
                  <a16:creationId xmlns:a16="http://schemas.microsoft.com/office/drawing/2014/main" id="{B7EB5F79-8CC5-4BFC-85F8-8563F8529CEA}"/>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7F299EE3-683B-4854-B420-0E3181CD77C3}"/>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1CB3CBF4-519F-4A89-A6BC-0F096BF55948}"/>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249 193 19</a:t>
              </a:r>
            </a:p>
          </p:txBody>
        </p:sp>
        <p:sp>
          <p:nvSpPr>
            <p:cNvPr id="21" name="Retângulo 25">
              <a:extLst>
                <a:ext uri="{FF2B5EF4-FFF2-40B4-BE49-F238E27FC236}">
                  <a16:creationId xmlns:a16="http://schemas.microsoft.com/office/drawing/2014/main" id="{AE442D1B-B28F-4A51-B152-6F302C37914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dirty="0">
                  <a:latin typeface="Roboto" panose="02000000000000000000" pitchFamily="2" charset="0"/>
                  <a:ea typeface="Roboto" panose="02000000000000000000" pitchFamily="2" charset="0"/>
                  <a:cs typeface="Roboto" panose="02000000000000000000" pitchFamily="2" charset="0"/>
                </a:rPr>
                <a:t>73 72 73</a:t>
              </a:r>
            </a:p>
          </p:txBody>
        </p:sp>
      </p:grpSp>
      <p:sp>
        <p:nvSpPr>
          <p:cNvPr id="23" name="Espaço Reservado para Texto 6">
            <a:extLst>
              <a:ext uri="{FF2B5EF4-FFF2-40B4-BE49-F238E27FC236}">
                <a16:creationId xmlns:a16="http://schemas.microsoft.com/office/drawing/2014/main" id="{6CF3791F-62F2-4029-A8F8-4CB526805BC9}"/>
              </a:ext>
            </a:extLst>
          </p:cNvPr>
          <p:cNvSpPr txBox="1">
            <a:spLocks/>
          </p:cNvSpPr>
          <p:nvPr userDrawn="1"/>
        </p:nvSpPr>
        <p:spPr>
          <a:xfrm>
            <a:off x="390154" y="438763"/>
            <a:ext cx="3146796" cy="215860"/>
          </a:xfrm>
          <a:prstGeom prst="rect">
            <a:avLst/>
          </a:prstGeom>
        </p:spPr>
        <p:txBody>
          <a:bodyPr vert="horz" lIns="0" tIns="0" rIns="0" bIns="0" rtlCol="0" anchor="t">
            <a:noAutofit/>
          </a:bodyPr>
          <a:lstStyle>
            <a:lvl1pPr marL="0" indent="0" algn="l" defTabSz="385767" rtl="0" eaLnBrk="1" latinLnBrk="0" hangingPunct="1">
              <a:lnSpc>
                <a:spcPct val="90000"/>
              </a:lnSpc>
              <a:spcBef>
                <a:spcPts val="422"/>
              </a:spcBef>
              <a:buFont typeface="Arial" panose="020B0604020202020204" pitchFamily="34" charset="0"/>
              <a:buNone/>
              <a:defRPr lang="pt-BR" sz="1200" b="0" kern="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Brazil Equity Strategy</a:t>
            </a:r>
          </a:p>
        </p:txBody>
      </p:sp>
      <p:sp>
        <p:nvSpPr>
          <p:cNvPr id="5" name="TextBox 4">
            <a:extLst>
              <a:ext uri="{FF2B5EF4-FFF2-40B4-BE49-F238E27FC236}">
                <a16:creationId xmlns:a16="http://schemas.microsoft.com/office/drawing/2014/main" id="{7AA5DDC9-DF92-8C83-5EFD-9C51EB7CDBCB}"/>
              </a:ext>
            </a:extLst>
          </p:cNvPr>
          <p:cNvSpPr txBox="1"/>
          <p:nvPr userDrawn="1">
            <p:extLst>
              <p:ext uri="{1162E1C5-73C7-4A58-AE30-91384D911F3F}">
                <p184:classification xmlns:p184="http://schemas.microsoft.com/office/powerpoint/2018/4/main" val="ftr"/>
              </p:ext>
            </p:extLst>
          </p:nvPr>
        </p:nvSpPr>
        <p:spPr>
          <a:xfrm>
            <a:off x="5351463" y="9690100"/>
            <a:ext cx="1471612"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ea typeface="Calibri" panose="020F0502020204030204" pitchFamily="34" charset="0"/>
                <a:cs typeface="Calibri" panose="020F0502020204030204" pitchFamily="34" charset="0"/>
              </a:rPr>
              <a:t>[ CLASSIFICAÇÃO: PÚBLICA ]</a:t>
            </a:r>
          </a:p>
        </p:txBody>
      </p:sp>
    </p:spTree>
    <p:extLst>
      <p:ext uri="{BB962C8B-B14F-4D97-AF65-F5344CB8AC3E}">
        <p14:creationId xmlns:p14="http://schemas.microsoft.com/office/powerpoint/2010/main" val="1101897646"/>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 id="2147483748" r:id="rId18"/>
  </p:sldLayoutIdLst>
  <p:hf sldNum="0" hdr="0" ftr="0"/>
  <p:txStyles>
    <p:titleStyle>
      <a:lvl1pPr algn="l" defTabSz="385767" rtl="0" eaLnBrk="1" latinLnBrk="0" hangingPunct="1">
        <a:lnSpc>
          <a:spcPct val="90000"/>
        </a:lnSpc>
        <a:spcBef>
          <a:spcPct val="0"/>
        </a:spcBef>
        <a:buNone/>
        <a:defRPr sz="1266" b="0" kern="1200">
          <a:solidFill>
            <a:schemeClr val="tx1"/>
          </a:solidFill>
          <a:latin typeface="+mj-lt"/>
          <a:ea typeface="+mj-ea"/>
          <a:cs typeface="+mj-cs"/>
        </a:defRPr>
      </a:lvl1pPr>
    </p:titleStyle>
    <p:bodyStyle>
      <a:lvl1pPr marL="0" indent="0" algn="l" defTabSz="385767" rtl="0" eaLnBrk="1" latinLnBrk="0" hangingPunct="1">
        <a:lnSpc>
          <a:spcPct val="90000"/>
        </a:lnSpc>
        <a:spcBef>
          <a:spcPts val="422"/>
        </a:spcBef>
        <a:buFont typeface="Arial" panose="020B0604020202020204" pitchFamily="34" charset="0"/>
        <a:buNone/>
        <a:defRPr sz="675" kern="1200">
          <a:solidFill>
            <a:schemeClr val="tx2"/>
          </a:solidFill>
          <a:latin typeface="+mn-lt"/>
          <a:ea typeface="+mn-ea"/>
          <a:cs typeface="+mn-cs"/>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p:bodyStyle>
    <p:otherStyle>
      <a:defPPr>
        <a:defRPr lang="pt-BR"/>
      </a:defPPr>
      <a:lvl1pPr marL="0" algn="l" defTabSz="385767" rtl="0" eaLnBrk="1" latinLnBrk="0" hangingPunct="1">
        <a:defRPr sz="760" kern="1200">
          <a:solidFill>
            <a:schemeClr val="tx1"/>
          </a:solidFill>
          <a:latin typeface="+mn-lt"/>
          <a:ea typeface="+mn-ea"/>
          <a:cs typeface="+mn-cs"/>
        </a:defRPr>
      </a:lvl1pPr>
      <a:lvl2pPr marL="192884" algn="l" defTabSz="385767" rtl="0" eaLnBrk="1" latinLnBrk="0" hangingPunct="1">
        <a:defRPr sz="760" kern="1200">
          <a:solidFill>
            <a:schemeClr val="tx1"/>
          </a:solidFill>
          <a:latin typeface="+mn-lt"/>
          <a:ea typeface="+mn-ea"/>
          <a:cs typeface="+mn-cs"/>
        </a:defRPr>
      </a:lvl2pPr>
      <a:lvl3pPr marL="385767" algn="l" defTabSz="385767" rtl="0" eaLnBrk="1" latinLnBrk="0" hangingPunct="1">
        <a:defRPr sz="760" kern="1200">
          <a:solidFill>
            <a:schemeClr val="tx1"/>
          </a:solidFill>
          <a:latin typeface="+mn-lt"/>
          <a:ea typeface="+mn-ea"/>
          <a:cs typeface="+mn-cs"/>
        </a:defRPr>
      </a:lvl3pPr>
      <a:lvl4pPr marL="578651" algn="l" defTabSz="385767" rtl="0" eaLnBrk="1" latinLnBrk="0" hangingPunct="1">
        <a:defRPr sz="760" kern="1200">
          <a:solidFill>
            <a:schemeClr val="tx1"/>
          </a:solidFill>
          <a:latin typeface="+mn-lt"/>
          <a:ea typeface="+mn-ea"/>
          <a:cs typeface="+mn-cs"/>
        </a:defRPr>
      </a:lvl4pPr>
      <a:lvl5pPr marL="771535" algn="l" defTabSz="385767" rtl="0" eaLnBrk="1" latinLnBrk="0" hangingPunct="1">
        <a:defRPr sz="760" kern="1200">
          <a:solidFill>
            <a:schemeClr val="tx1"/>
          </a:solidFill>
          <a:latin typeface="+mn-lt"/>
          <a:ea typeface="+mn-ea"/>
          <a:cs typeface="+mn-cs"/>
        </a:defRPr>
      </a:lvl5pPr>
      <a:lvl6pPr marL="964419" algn="l" defTabSz="385767" rtl="0" eaLnBrk="1" latinLnBrk="0" hangingPunct="1">
        <a:defRPr sz="760" kern="1200">
          <a:solidFill>
            <a:schemeClr val="tx1"/>
          </a:solidFill>
          <a:latin typeface="+mn-lt"/>
          <a:ea typeface="+mn-ea"/>
          <a:cs typeface="+mn-cs"/>
        </a:defRPr>
      </a:lvl6pPr>
      <a:lvl7pPr marL="1157302" algn="l" defTabSz="385767" rtl="0" eaLnBrk="1" latinLnBrk="0" hangingPunct="1">
        <a:defRPr sz="760" kern="1200">
          <a:solidFill>
            <a:schemeClr val="tx1"/>
          </a:solidFill>
          <a:latin typeface="+mn-lt"/>
          <a:ea typeface="+mn-ea"/>
          <a:cs typeface="+mn-cs"/>
        </a:defRPr>
      </a:lvl7pPr>
      <a:lvl8pPr marL="1350186" algn="l" defTabSz="385767" rtl="0" eaLnBrk="1" latinLnBrk="0" hangingPunct="1">
        <a:defRPr sz="760" kern="1200">
          <a:solidFill>
            <a:schemeClr val="tx1"/>
          </a:solidFill>
          <a:latin typeface="+mn-lt"/>
          <a:ea typeface="+mn-ea"/>
          <a:cs typeface="+mn-cs"/>
        </a:defRPr>
      </a:lvl8pPr>
      <a:lvl9pPr marL="1543070" algn="l" defTabSz="385767" rtl="0" eaLnBrk="1" latinLnBrk="0" hangingPunct="1">
        <a:defRPr sz="76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p15:clr>
            <a:srgbClr val="F26B43"/>
          </p15:clr>
        </p15:guide>
        <p15:guide id="2" pos="232">
          <p15:clr>
            <a:srgbClr val="F26B43"/>
          </p15:clr>
        </p15:guide>
        <p15:guide id="3" pos="4088">
          <p15:clr>
            <a:srgbClr val="F26B43"/>
          </p15:clr>
        </p15:guide>
        <p15:guide id="4" orient="horz" pos="262">
          <p15:clr>
            <a:srgbClr val="F26B43"/>
          </p15:clr>
        </p15:guide>
        <p15:guide id="5" orient="horz" pos="5955">
          <p15:clr>
            <a:srgbClr val="F26B43"/>
          </p15:clr>
        </p15:guide>
        <p15:guide id="6" pos="2160">
          <p15:clr>
            <a:srgbClr val="F26B43"/>
          </p15:clr>
        </p15:guide>
        <p15:guide id="7" orient="horz" pos="466">
          <p15:clr>
            <a:srgbClr val="F26B43"/>
          </p15:clr>
        </p15:guide>
        <p15:guide id="8" orient="horz" pos="94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12.png"/><Relationship Id="rId6" Type="http://schemas.microsoft.com/office/2007/relationships/hdphoto" Target="../media/hdphoto2.wdp"/><Relationship Id="rId7" Type="http://schemas.openxmlformats.org/officeDocument/2006/relationships/image" Target="../media/image13.png"/><Relationship Id="rId8" Type="http://schemas.openxmlformats.org/officeDocument/2006/relationships/image" Target="../media/image14.svg"/><Relationship Id="rId9" Type="http://schemas.openxmlformats.org/officeDocument/2006/relationships/chart" Target="../charts/char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4.xml"/><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16.png"/><Relationship Id="rId10" Type="http://schemas.microsoft.com/office/2007/relationships/hdphoto" Target="../media/hdphoto3.wdp"/><Relationship Id="rId11" Type="http://schemas.openxmlformats.org/officeDocument/2006/relationships/image" Target="../media/image13.png"/><Relationship Id="rId12" Type="http://schemas.openxmlformats.org/officeDocument/2006/relationships/image" Target="../media/image1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oleObject" Target="file:///\\xpdocs\Research\Equities\Estrategia\Reports\Pesquisa%20assessores\PA%20Principal.xlsx!Charts!%5bPA%20Principal.xlsx%5dCharts%20Gr&#225;fico%201-2" TargetMode="External"/><Relationship Id="rId4" Type="http://schemas.openxmlformats.org/officeDocument/2006/relationships/image" Target="../media/image23.emf"/><Relationship Id="rId5" Type="http://schemas.openxmlformats.org/officeDocument/2006/relationships/oleObject" Target="file:///\\xpdocs\Research\Equities\Estrategia\Reports\Pesquisa%20assessores\PA%20Principal.xlsx!Charts!%5bPA%20Principal.xlsx%5dCharts%20Gr&#225;fico%205" TargetMode="External"/><Relationship Id="rId6" Type="http://schemas.openxmlformats.org/officeDocument/2006/relationships/image" Target="../media/image24.emf"/><Relationship Id="rId7" Type="http://schemas.openxmlformats.org/officeDocument/2006/relationships/oleObject" Target="file:///\\xpdocs\Research\Equities\Estrategia\Reports\Pesquisa%20assessores\PA%20Principal.xlsx!Charts!%5bPA%20Principal.xlsx%5dCharts%20Gr&#225;fico%205-2" TargetMode="External"/><Relationship Id="rId8" Type="http://schemas.openxmlformats.org/officeDocument/2006/relationships/image" Target="../media/image25.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oleObject" Target="file:///\\xpdocs\Research\Equities\Estrategia\Reports\Pesquisa%20assessores\PA%20Principal.xlsx!Charts!%5bPA%20Principal.xlsx%5dCharts%20Gr&#225;fico%2024" TargetMode="External"/><Relationship Id="rId3" Type="http://schemas.openxmlformats.org/officeDocument/2006/relationships/image" Target="../media/image26.emf"/><Relationship Id="rId4" Type="http://schemas.openxmlformats.org/officeDocument/2006/relationships/oleObject" Target="file:///\\xpdocs\Research\Equities\Estrategia\Reports\Pesquisa%20assessores\PA%20Principal.xlsx!Charts!%5bPA%20Principal.xlsx%5dCharts%20Chart%2045" TargetMode="External"/><Relationship Id="rId5" Type="http://schemas.openxmlformats.org/officeDocument/2006/relationships/image" Target="../media/image27.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oleObject" Target="file:///\\xpdocs\Research\Equities\Estrategia\Reports\Pesquisa%20assessores\PA%20Principal.xlsx!Charts!%5bPA%20Principal.xlsx%5dCharts%20Espa&#231;o%20Reservado%20para%20Conte&#250;do%2020" TargetMode="External"/><Relationship Id="rId4" Type="http://schemas.openxmlformats.org/officeDocument/2006/relationships/image" Target="../media/image28.emf"/><Relationship Id="rId5" Type="http://schemas.openxmlformats.org/officeDocument/2006/relationships/oleObject" Target="file:///\\xpdocs\Research\Equities\Estrategia\Reports\Pesquisa%20assessores\PA%20Principal.xlsx!Charts!%5bPA%20Principal.xlsx%5dCharts%20Chart%2032" TargetMode="External"/><Relationship Id="rId6" Type="http://schemas.openxmlformats.org/officeDocument/2006/relationships/image" Target="../media/image29.emf"/><Relationship Id="rId7" Type="http://schemas.openxmlformats.org/officeDocument/2006/relationships/oleObject" Target="file:///\\xpdocs\Research\Equities\Estrategia\Reports\Pesquisa%20assessores\PA%20Principal.xlsx!Charts!%5bPA%20Principal.xlsx%5dCharts%20Gr&#225;fico%202" TargetMode="External"/><Relationship Id="rId8" Type="http://schemas.openxmlformats.org/officeDocument/2006/relationships/image" Target="../media/image3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oleObject" Target="file:///\\xpdocs\Research\Equities\Estrategia\Reports\Pesquisa%20assessores\PA%20Principal.xlsx!Charts!%5bPA%20Principal.xlsx%5dCharts%20Gr&#225;fico%202-1" TargetMode="External"/><Relationship Id="rId3" Type="http://schemas.openxmlformats.org/officeDocument/2006/relationships/image" Target="../media/image31.emf"/><Relationship Id="rId4" Type="http://schemas.openxmlformats.org/officeDocument/2006/relationships/oleObject" Target="file:///\\xpdocs\Research\Equities\Estrategia\Reports\Pesquisa%20assessores\PA%20Principal.xlsx!Charts!%5bPA%20Principal.xlsx%5dCharts%20Chart%205-1" TargetMode="External"/><Relationship Id="rId5" Type="http://schemas.openxmlformats.org/officeDocument/2006/relationships/image" Target="../media/image32.emf"/><Relationship Id="rId6" Type="http://schemas.openxmlformats.org/officeDocument/2006/relationships/oleObject" Target="file:///\\xpdocs\Research\Equities\Estrategia\Reports\Pesquisa%20assessores\PA%20Principal.xlsx!Charts!%5bPA%20Principal.xlsx%5dCharts%20Chart%204-2" TargetMode="External"/><Relationship Id="rId7" Type="http://schemas.openxmlformats.org/officeDocument/2006/relationships/image" Target="../media/image3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271ABADE-C778-E852-3E9A-F19254A9F50C}"/>
              </a:ext>
            </a:extLst>
          </p:cNvPr>
          <p:cNvGrpSpPr/>
          <p:nvPr/>
        </p:nvGrpSpPr>
        <p:grpSpPr>
          <a:xfrm>
            <a:off x="0" y="0"/>
            <a:ext cx="6858000" cy="2003470"/>
            <a:chOff x="0" y="104872"/>
            <a:chExt cx="10296496" cy="3007979"/>
          </a:xfrm>
        </p:grpSpPr>
        <p:pic>
          <p:nvPicPr>
            <p:cNvPr id="26" name="Graphic 25">
              <a:extLst>
                <a:ext uri="{FF2B5EF4-FFF2-40B4-BE49-F238E27FC236}">
                  <a16:creationId xmlns:a16="http://schemas.microsoft.com/office/drawing/2014/main" id="{9724ADE1-2448-F753-4E1D-8C48165ED12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19269" t="2351" r="1339" b="20035"/>
            <a:stretch/>
          </p:blipFill>
          <p:spPr>
            <a:xfrm flipV="1">
              <a:off x="0" y="104872"/>
              <a:ext cx="10296496" cy="3007979"/>
            </a:xfrm>
            <a:prstGeom prst="rect">
              <a:avLst/>
            </a:prstGeom>
          </p:spPr>
        </p:pic>
        <p:pic>
          <p:nvPicPr>
            <p:cNvPr id="27" name="Picture 26" descr="A blue and white dot pattern&#10;&#10;AI-generated content may be incorrect.">
              <a:extLst>
                <a:ext uri="{FF2B5EF4-FFF2-40B4-BE49-F238E27FC236}">
                  <a16:creationId xmlns:a16="http://schemas.microsoft.com/office/drawing/2014/main" id="{3723454C-2FE8-9E3A-8BEC-2787A30B866C}"/>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74" y="122889"/>
              <a:ext cx="10274622" cy="2989962"/>
            </a:xfrm>
            <a:prstGeom prst="rect">
              <a:avLst/>
            </a:prstGeom>
          </p:spPr>
        </p:pic>
      </p:grpSp>
      <p:sp>
        <p:nvSpPr>
          <p:cNvPr id="2" name="Text Placeholder 1">
            <a:extLst>
              <a:ext uri="{FF2B5EF4-FFF2-40B4-BE49-F238E27FC236}">
                <a16:creationId xmlns:a16="http://schemas.microsoft.com/office/drawing/2014/main" id="{A39947E8-17B4-4C8F-B8AC-A151804530BC}"/>
              </a:ext>
            </a:extLst>
          </p:cNvPr>
          <p:cNvSpPr>
            <a:spLocks noGrp="1"/>
          </p:cNvSpPr>
          <p:nvPr>
            <p:ph type="body" sz="quarter" idx="16"/>
          </p:nvPr>
        </p:nvSpPr>
        <p:spPr/>
        <p:txBody>
          <a:bodyPr/>
          <a:lstStyle/>
          <a:p>
            <a:r>
              <a:rPr lang="en-US" dirty="0"/>
              <a:t>XP IFAs Sentiment Survey</a:t>
            </a:r>
          </a:p>
        </p:txBody>
      </p:sp>
      <p:sp>
        <p:nvSpPr>
          <p:cNvPr id="3" name="Text Placeholder 2">
            <a:extLst>
              <a:ext uri="{FF2B5EF4-FFF2-40B4-BE49-F238E27FC236}">
                <a16:creationId xmlns:a16="http://schemas.microsoft.com/office/drawing/2014/main" id="{5B9CD54A-269F-4328-9F39-8FD9F32F5067}"/>
              </a:ext>
            </a:extLst>
          </p:cNvPr>
          <p:cNvSpPr>
            <a:spLocks noGrp="1"/>
          </p:cNvSpPr>
          <p:nvPr>
            <p:ph type="body" sz="quarter" idx="19"/>
          </p:nvPr>
        </p:nvSpPr>
        <p:spPr/>
        <p:txBody>
          <a:bodyPr/>
          <a:lstStyle/>
          <a:p>
            <a:r>
              <a:rPr lang="pt-BR" dirty="0" err="1"/>
              <a:t>Brazil</a:t>
            </a:r>
            <a:r>
              <a:rPr lang="pt-BR" dirty="0"/>
              <a:t> </a:t>
            </a:r>
            <a:r>
              <a:rPr lang="pt-BR" dirty="0" err="1"/>
              <a:t>Equity</a:t>
            </a:r>
            <a:r>
              <a:rPr lang="pt-BR" dirty="0"/>
              <a:t> </a:t>
            </a:r>
            <a:r>
              <a:rPr lang="pt-BR" dirty="0" err="1"/>
              <a:t>Strategy</a:t>
            </a:r>
            <a:endParaRPr lang="en-US" dirty="0"/>
          </a:p>
        </p:txBody>
      </p:sp>
      <p:sp>
        <p:nvSpPr>
          <p:cNvPr id="4" name="Text Placeholder 3">
            <a:extLst>
              <a:ext uri="{FF2B5EF4-FFF2-40B4-BE49-F238E27FC236}">
                <a16:creationId xmlns:a16="http://schemas.microsoft.com/office/drawing/2014/main" id="{6DD5C59C-17E1-429D-BB9A-86D24C20C834}"/>
              </a:ext>
            </a:extLst>
          </p:cNvPr>
          <p:cNvSpPr>
            <a:spLocks noGrp="1"/>
          </p:cNvSpPr>
          <p:nvPr>
            <p:ph type="body" sz="quarter" idx="20"/>
          </p:nvPr>
        </p:nvSpPr>
        <p:spPr>
          <a:xfrm>
            <a:off x="390154" y="2133366"/>
            <a:ext cx="6099546" cy="1404000"/>
          </a:xfrm>
          <a:solidFill>
            <a:schemeClr val="bg1">
              <a:lumMod val="95000"/>
            </a:schemeClr>
          </a:solidFill>
        </p:spPr>
        <p:txBody>
          <a:bodyPr wrap="square" lIns="72000" tIns="72000" rIns="72000" bIns="72000" rtlCol="0" anchor="ctr">
            <a:noAutofit/>
          </a:bodyPr>
          <a:lstStyle/>
          <a:p>
            <a:pPr>
              <a:lnSpc>
                <a:spcPct val="122000"/>
              </a:lnSpc>
            </a:pPr>
            <a:r>
              <a:rPr lang="en-US" sz="900" dirty="0"/>
              <a:t>In this edition of our survey with advisors and IFAs affiliated with XP, we observed a slight increase in the intention to reduce equity exposure. The key takeaways are: </a:t>
            </a:r>
            <a:r>
              <a:rPr lang="en-US" sz="900" b="1" dirty="0"/>
              <a:t>(i)</a:t>
            </a:r>
            <a:r>
              <a:rPr lang="en-US" sz="900" dirty="0"/>
              <a:t> The share of respondents planning to reduce their equity allocation rose to 14% (+3 p.p. MoM), those intending to keep it unchanged fell to 65% (-5 p.p. MoM), and those planning to increase it edged up to 21% (+1 p.p. MoM); </a:t>
            </a:r>
            <a:r>
              <a:rPr lang="en-US" sz="900" b="1" dirty="0"/>
              <a:t>(ii)</a:t>
            </a:r>
            <a:r>
              <a:rPr lang="en-US" sz="900" dirty="0"/>
              <a:t> IFAs’ sentiment toward equities improved slightly to 6.6, up from 6.4 in the previous survey; </a:t>
            </a:r>
            <a:r>
              <a:rPr lang="en-US" sz="900" b="1" dirty="0"/>
              <a:t>(iii)</a:t>
            </a:r>
            <a:r>
              <a:rPr lang="en-US" sz="900" dirty="0"/>
              <a:t> Fixed Income remains clients’ preferred asset class, despite a significant drop in interest in this month’s survey; </a:t>
            </a:r>
            <a:r>
              <a:rPr lang="en-US" sz="900" b="1" dirty="0"/>
              <a:t>(iv)</a:t>
            </a:r>
            <a:r>
              <a:rPr lang="en-US" sz="900" dirty="0"/>
              <a:t> Fiscal risks in Brazil remain the top concern, followed by political instability/elections and higher-than-expected local rates; </a:t>
            </a:r>
            <a:r>
              <a:rPr lang="en-US" sz="900" b="1" dirty="0"/>
              <a:t>(v)</a:t>
            </a:r>
            <a:r>
              <a:rPr lang="en-US" sz="900" dirty="0"/>
              <a:t> Following the recent correction in Brazilian equities, 49% of IFAs reported that their clients see an opportunity in the market but prefer to wait for more attractive levels before increasing exposure.</a:t>
            </a:r>
          </a:p>
        </p:txBody>
      </p:sp>
      <p:sp>
        <p:nvSpPr>
          <p:cNvPr id="5" name="Text Placeholder 4">
            <a:extLst>
              <a:ext uri="{FF2B5EF4-FFF2-40B4-BE49-F238E27FC236}">
                <a16:creationId xmlns:a16="http://schemas.microsoft.com/office/drawing/2014/main" id="{84333F6F-1884-41BE-A828-EB7BCA0C6429}"/>
              </a:ext>
            </a:extLst>
          </p:cNvPr>
          <p:cNvSpPr>
            <a:spLocks noGrp="1"/>
          </p:cNvSpPr>
          <p:nvPr>
            <p:ph type="body" sz="quarter" idx="23"/>
          </p:nvPr>
        </p:nvSpPr>
        <p:spPr>
          <a:xfrm>
            <a:off x="368299" y="3597707"/>
            <a:ext cx="3657861" cy="5869530"/>
          </a:xfrm>
          <a:noFill/>
        </p:spPr>
        <p:txBody>
          <a:bodyPr wrap="square" lIns="0" tIns="0" rIns="0" bIns="0" rtlCol="0">
            <a:noAutofit/>
          </a:bodyPr>
          <a:lstStyle/>
          <a:p>
            <a:pPr>
              <a:lnSpc>
                <a:spcPct val="120000"/>
              </a:lnSpc>
            </a:pPr>
            <a:r>
              <a:rPr lang="en-US" sz="900" b="1" dirty="0"/>
              <a:t>Equity allocation increased in July, </a:t>
            </a:r>
            <a:r>
              <a:rPr lang="en-US" sz="900" dirty="0"/>
              <a:t>with a shift from lower to higher allocation brackets. The share of respondents in the 0-10% range fell to 51% (-4 p.p. MoM) and the 10-25% range declined to 32% (-1 p.p. MoM). At the same time, the 25-50% bracket rose to 13% (+1 p.p. MoM) and the 50-75% bracket advanced to 4%, indicating a slight increase in clients’ equity exposure.</a:t>
            </a:r>
          </a:p>
          <a:p>
            <a:pPr>
              <a:lnSpc>
                <a:spcPct val="120000"/>
              </a:lnSpc>
            </a:pPr>
            <a:r>
              <a:rPr lang="en-US" sz="900" b="1" dirty="0"/>
              <a:t>On the other hand, the intention to reduce exposure to equities increased.</a:t>
            </a:r>
            <a:r>
              <a:rPr lang="en-US" sz="900" dirty="0"/>
              <a:t> The share of respondents planning to decrease their equity allocation rose to 14% (+3 p.p. MoM), while the share of those intending to keep their current allocation unchanged declined to 65% (-5 p.p. MoM). Meanwhile, the share planning to increase their equity exposure edged up to 21% (+1 p.p. MoM).</a:t>
            </a:r>
            <a:endParaRPr lang="en-US" sz="900" b="1" dirty="0"/>
          </a:p>
          <a:p>
            <a:pPr>
              <a:lnSpc>
                <a:spcPct val="120000"/>
              </a:lnSpc>
            </a:pPr>
            <a:r>
              <a:rPr lang="en-US" sz="900" b="1" dirty="0"/>
              <a:t>At the same time, IFAs’ sentiment towards equities improved slightly</a:t>
            </a:r>
            <a:r>
              <a:rPr lang="en-US" sz="900" dirty="0"/>
              <a:t>, with 59% (+2 p.p. MoM) rating it 7 or higher and the average sentiment score rising from 6.4 in June to 6.6 currently. Regarding the Ibovespa projections, the average YE2026 estimate increased to 184k points, from 182k previously, implying ~5% of upside potential versus the current index level of around 175k points.</a:t>
            </a:r>
          </a:p>
          <a:p>
            <a:pPr>
              <a:lnSpc>
                <a:spcPct val="120000"/>
              </a:lnSpc>
            </a:pPr>
            <a:r>
              <a:rPr lang="en-US" sz="900" b="1" dirty="0"/>
              <a:t>Fixed income remained the #1 asset class, </a:t>
            </a:r>
            <a:r>
              <a:rPr lang="en-US" sz="900" dirty="0"/>
              <a:t>despite the sharp drop in interest seen in this survey, to 58% (-18 p.p. MoM). Fixed income funds declined to 36% (-21 p.p. MoM), while equity interest also fell to 25% (-8 p.p. MoM). In addition, interest in equity funds also declined, to 1% (-7 p.p. MoM).</a:t>
            </a:r>
          </a:p>
          <a:p>
            <a:pPr>
              <a:lnSpc>
                <a:spcPct val="120000"/>
              </a:lnSpc>
            </a:pPr>
            <a:r>
              <a:rPr lang="en-US" sz="900" b="1" dirty="0"/>
              <a:t>Fiscal Risks in Brazil is the top concern. </a:t>
            </a:r>
            <a:r>
              <a:rPr lang="en-US" sz="900" dirty="0"/>
              <a:t>70% of IFAs point to fiscal issues as the key risk for Brazilian equities, while 62% highlight political instability/elections and 42% cite higher than expected local rates. On sector preferences, positioning remains defensive, with Utilities leading (64%, +8 p.p. MoM), followed by Financials (62%, 0 p.p. MoM).</a:t>
            </a:r>
          </a:p>
          <a:p>
            <a:pPr>
              <a:lnSpc>
                <a:spcPct val="120000"/>
              </a:lnSpc>
            </a:pPr>
            <a:r>
              <a:rPr lang="en-US" sz="900" b="1" dirty="0"/>
              <a:t>Finally, when asked about the recent correction in Brazilian equities, </a:t>
            </a:r>
            <a:r>
              <a:rPr lang="en-US" sz="900" dirty="0"/>
              <a:t>the most common response among IFAs (49%) was that the decline represents a buying opportunity, but that clients still prefer to wait for more attractive levels before increasing their exposure to Brazilian equities.</a:t>
            </a:r>
          </a:p>
        </p:txBody>
      </p:sp>
      <p:sp>
        <p:nvSpPr>
          <p:cNvPr id="7" name="Date Placeholder 6">
            <a:extLst>
              <a:ext uri="{FF2B5EF4-FFF2-40B4-BE49-F238E27FC236}">
                <a16:creationId xmlns:a16="http://schemas.microsoft.com/office/drawing/2014/main" id="{F8CA4AC8-B2BA-43E6-90DE-924F6651D5FE}"/>
              </a:ext>
            </a:extLst>
          </p:cNvPr>
          <p:cNvSpPr>
            <a:spLocks noGrp="1"/>
          </p:cNvSpPr>
          <p:nvPr>
            <p:ph type="dt" sz="half" idx="2"/>
          </p:nvPr>
        </p:nvSpPr>
        <p:spPr/>
        <p:txBody>
          <a:bodyPr/>
          <a:lstStyle/>
          <a:p>
            <a:fld id="{70B93077-DAAC-461F-9674-FC47DD2C4BA2}" type="datetime4">
              <a:rPr lang="en-US" smtClean="0"/>
              <a:t>July 27, 2026</a:t>
            </a:fld>
            <a:endParaRPr lang="en-US" dirty="0"/>
          </a:p>
        </p:txBody>
      </p:sp>
      <p:sp>
        <p:nvSpPr>
          <p:cNvPr id="8" name="Text Placeholder 7">
            <a:extLst>
              <a:ext uri="{FF2B5EF4-FFF2-40B4-BE49-F238E27FC236}">
                <a16:creationId xmlns:a16="http://schemas.microsoft.com/office/drawing/2014/main" id="{967D502D-5B1A-45BF-8DB7-FE8020F3400C}"/>
              </a:ext>
            </a:extLst>
          </p:cNvPr>
          <p:cNvSpPr>
            <a:spLocks noGrp="1"/>
          </p:cNvSpPr>
          <p:nvPr>
            <p:ph type="body" sz="quarter" idx="27"/>
          </p:nvPr>
        </p:nvSpPr>
        <p:spPr/>
        <p:txBody>
          <a:bodyPr/>
          <a:lstStyle/>
          <a:p>
            <a:r>
              <a:rPr lang="pt-BR" dirty="0"/>
              <a:t>Fernando Ferreira, CFA</a:t>
            </a:r>
            <a:endParaRPr lang="en-US" dirty="0"/>
          </a:p>
        </p:txBody>
      </p:sp>
      <p:sp>
        <p:nvSpPr>
          <p:cNvPr id="9" name="Text Placeholder 8">
            <a:extLst>
              <a:ext uri="{FF2B5EF4-FFF2-40B4-BE49-F238E27FC236}">
                <a16:creationId xmlns:a16="http://schemas.microsoft.com/office/drawing/2014/main" id="{E91A712C-2D03-4E62-BCF0-A3F50721071C}"/>
              </a:ext>
            </a:extLst>
          </p:cNvPr>
          <p:cNvSpPr>
            <a:spLocks noGrp="1"/>
          </p:cNvSpPr>
          <p:nvPr>
            <p:ph type="body" sz="quarter" idx="28"/>
          </p:nvPr>
        </p:nvSpPr>
        <p:spPr/>
        <p:txBody>
          <a:bodyPr/>
          <a:lstStyle/>
          <a:p>
            <a:r>
              <a:rPr lang="pt-BR" dirty="0" err="1"/>
              <a:t>Chief</a:t>
            </a:r>
            <a:r>
              <a:rPr lang="pt-BR" dirty="0"/>
              <a:t> </a:t>
            </a:r>
            <a:r>
              <a:rPr lang="pt-BR" dirty="0" err="1"/>
              <a:t>Strategist</a:t>
            </a:r>
            <a:r>
              <a:rPr lang="pt-BR" dirty="0"/>
              <a:t> </a:t>
            </a:r>
            <a:r>
              <a:rPr lang="pt-BR" dirty="0" err="1"/>
              <a:t>and</a:t>
            </a:r>
            <a:r>
              <a:rPr lang="pt-BR" dirty="0"/>
              <a:t> Head </a:t>
            </a:r>
            <a:r>
              <a:rPr lang="pt-BR" dirty="0" err="1"/>
              <a:t>of</a:t>
            </a:r>
            <a:r>
              <a:rPr lang="pt-BR" dirty="0"/>
              <a:t> Research</a:t>
            </a:r>
            <a:endParaRPr lang="en-US" dirty="0"/>
          </a:p>
        </p:txBody>
      </p:sp>
      <p:sp>
        <p:nvSpPr>
          <p:cNvPr id="10" name="Text Placeholder 9">
            <a:extLst>
              <a:ext uri="{FF2B5EF4-FFF2-40B4-BE49-F238E27FC236}">
                <a16:creationId xmlns:a16="http://schemas.microsoft.com/office/drawing/2014/main" id="{E14F3043-8C62-4176-9297-ABF2E3BBE0B1}"/>
              </a:ext>
            </a:extLst>
          </p:cNvPr>
          <p:cNvSpPr>
            <a:spLocks noGrp="1"/>
          </p:cNvSpPr>
          <p:nvPr>
            <p:ph type="body" sz="quarter" idx="29"/>
          </p:nvPr>
        </p:nvSpPr>
        <p:spPr/>
        <p:txBody>
          <a:bodyPr/>
          <a:lstStyle/>
          <a:p>
            <a:r>
              <a:rPr lang="pt-BR" dirty="0"/>
              <a:t>fernando.f.ferreira@xpi.com.br</a:t>
            </a:r>
            <a:endParaRPr lang="en-US" dirty="0"/>
          </a:p>
        </p:txBody>
      </p:sp>
      <p:sp>
        <p:nvSpPr>
          <p:cNvPr id="11" name="Text Placeholder 10">
            <a:extLst>
              <a:ext uri="{FF2B5EF4-FFF2-40B4-BE49-F238E27FC236}">
                <a16:creationId xmlns:a16="http://schemas.microsoft.com/office/drawing/2014/main" id="{042E9606-956A-414D-ADA1-DD05E3BC7019}"/>
              </a:ext>
            </a:extLst>
          </p:cNvPr>
          <p:cNvSpPr>
            <a:spLocks noGrp="1"/>
          </p:cNvSpPr>
          <p:nvPr>
            <p:ph type="body" sz="quarter" idx="30"/>
          </p:nvPr>
        </p:nvSpPr>
        <p:spPr/>
        <p:txBody>
          <a:bodyPr/>
          <a:lstStyle/>
          <a:p>
            <a:r>
              <a:rPr lang="pt-BR" dirty="0"/>
              <a:t>Raphael Figueredo</a:t>
            </a:r>
          </a:p>
        </p:txBody>
      </p:sp>
      <p:sp>
        <p:nvSpPr>
          <p:cNvPr id="12" name="Text Placeholder 11">
            <a:extLst>
              <a:ext uri="{FF2B5EF4-FFF2-40B4-BE49-F238E27FC236}">
                <a16:creationId xmlns:a16="http://schemas.microsoft.com/office/drawing/2014/main" id="{BA299F36-7941-4897-AACF-1C2F901333ED}"/>
              </a:ext>
            </a:extLst>
          </p:cNvPr>
          <p:cNvSpPr>
            <a:spLocks noGrp="1"/>
          </p:cNvSpPr>
          <p:nvPr>
            <p:ph type="body" sz="quarter" idx="31"/>
          </p:nvPr>
        </p:nvSpPr>
        <p:spPr/>
        <p:txBody>
          <a:bodyPr/>
          <a:lstStyle/>
          <a:p>
            <a:r>
              <a:rPr lang="pt-BR" dirty="0" err="1"/>
              <a:t>Equity</a:t>
            </a:r>
            <a:r>
              <a:rPr lang="pt-BR" dirty="0"/>
              <a:t> </a:t>
            </a:r>
            <a:r>
              <a:rPr lang="pt-BR" dirty="0" err="1"/>
              <a:t>Strategist</a:t>
            </a:r>
            <a:endParaRPr lang="en-US" dirty="0"/>
          </a:p>
        </p:txBody>
      </p:sp>
      <p:sp>
        <p:nvSpPr>
          <p:cNvPr id="13" name="Text Placeholder 12">
            <a:extLst>
              <a:ext uri="{FF2B5EF4-FFF2-40B4-BE49-F238E27FC236}">
                <a16:creationId xmlns:a16="http://schemas.microsoft.com/office/drawing/2014/main" id="{9F297BC7-151D-492B-99D0-8BE0E3AC501E}"/>
              </a:ext>
            </a:extLst>
          </p:cNvPr>
          <p:cNvSpPr>
            <a:spLocks noGrp="1"/>
          </p:cNvSpPr>
          <p:nvPr>
            <p:ph type="body" sz="quarter" idx="32"/>
          </p:nvPr>
        </p:nvSpPr>
        <p:spPr/>
        <p:txBody>
          <a:bodyPr/>
          <a:lstStyle/>
          <a:p>
            <a:r>
              <a:rPr lang="pt-BR" dirty="0"/>
              <a:t>raphael.sfigueredo@xpi.com.br</a:t>
            </a:r>
          </a:p>
        </p:txBody>
      </p:sp>
      <p:sp>
        <p:nvSpPr>
          <p:cNvPr id="21" name="Rectangle 20">
            <a:extLst>
              <a:ext uri="{FF2B5EF4-FFF2-40B4-BE49-F238E27FC236}">
                <a16:creationId xmlns:a16="http://schemas.microsoft.com/office/drawing/2014/main" id="{67018EA7-C213-4EB0-B4AA-013B435990C5}"/>
              </a:ext>
            </a:extLst>
          </p:cNvPr>
          <p:cNvSpPr/>
          <p:nvPr/>
        </p:nvSpPr>
        <p:spPr>
          <a:xfrm>
            <a:off x="4230163" y="6171750"/>
            <a:ext cx="2259537" cy="369332"/>
          </a:xfrm>
          <a:prstGeom prst="rect">
            <a:avLst/>
          </a:prstGeom>
        </p:spPr>
        <p:txBody>
          <a:bodyPr wrap="square">
            <a:spAutoFit/>
          </a:bodyPr>
          <a:lstStyle/>
          <a:p>
            <a:r>
              <a:rPr lang="en-US" sz="900" dirty="0">
                <a:latin typeface="+mj-lt"/>
              </a:rPr>
              <a:t>*The survey was conducted between July 10th and 24th, collecting 107 responses.</a:t>
            </a:r>
          </a:p>
        </p:txBody>
      </p:sp>
      <p:sp>
        <p:nvSpPr>
          <p:cNvPr id="22" name="Text Placeholder 5">
            <a:extLst>
              <a:ext uri="{FF2B5EF4-FFF2-40B4-BE49-F238E27FC236}">
                <a16:creationId xmlns:a16="http://schemas.microsoft.com/office/drawing/2014/main" id="{521C088F-3990-4D89-861A-A2C2C25DD950}"/>
              </a:ext>
            </a:extLst>
          </p:cNvPr>
          <p:cNvSpPr>
            <a:spLocks noGrp="1"/>
          </p:cNvSpPr>
          <p:nvPr>
            <p:ph type="body" sz="quarter" idx="26"/>
          </p:nvPr>
        </p:nvSpPr>
        <p:spPr>
          <a:xfrm>
            <a:off x="1021910" y="9548813"/>
            <a:ext cx="5251889" cy="197643"/>
          </a:xfrm>
        </p:spPr>
        <p:txBody>
          <a:bodyPr/>
          <a:lstStyle/>
          <a:p>
            <a:r>
              <a:rPr lang="en-US" dirty="0"/>
              <a:t>Source: XP Research. </a:t>
            </a:r>
          </a:p>
        </p:txBody>
      </p:sp>
      <p:sp>
        <p:nvSpPr>
          <p:cNvPr id="24" name="Espaço Reservado para Conteúdo 14">
            <a:extLst>
              <a:ext uri="{FF2B5EF4-FFF2-40B4-BE49-F238E27FC236}">
                <a16:creationId xmlns:a16="http://schemas.microsoft.com/office/drawing/2014/main" id="{9407BF36-FFC3-427D-BA21-09224BE36751}"/>
              </a:ext>
            </a:extLst>
          </p:cNvPr>
          <p:cNvSpPr>
            <a:spLocks noGrp="1"/>
          </p:cNvSpPr>
          <p:nvPr>
            <p:ph sz="quarter" idx="24" hasCustomPrompt="1"/>
          </p:nvPr>
        </p:nvSpPr>
        <p:spPr>
          <a:xfrm>
            <a:off x="4330594" y="6725513"/>
            <a:ext cx="2159104" cy="400110"/>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en-US" dirty="0"/>
              <a:t>Regarding their investments in equities, your clients:</a:t>
            </a:r>
            <a:endParaRPr lang="pt-BR" dirty="0"/>
          </a:p>
        </p:txBody>
      </p:sp>
      <p:sp>
        <p:nvSpPr>
          <p:cNvPr id="51" name="XP.…">
            <a:extLst>
              <a:ext uri="{FF2B5EF4-FFF2-40B4-BE49-F238E27FC236}">
                <a16:creationId xmlns:a16="http://schemas.microsoft.com/office/drawing/2014/main" id="{E56287A0-3101-50DD-0E59-1D1AC6EB3EDA}"/>
              </a:ext>
            </a:extLst>
          </p:cNvPr>
          <p:cNvSpPr txBox="1"/>
          <p:nvPr/>
        </p:nvSpPr>
        <p:spPr>
          <a:xfrm>
            <a:off x="582084" y="9191761"/>
            <a:ext cx="969472" cy="138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0" tIns="0" rIns="0" bIns="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a:lstStyle>
          <a:p>
            <a:pPr algn="l" defTabSz="4334824">
              <a:defRPr sz="4200">
                <a:solidFill>
                  <a:srgbClr val="FFFFFF"/>
                </a:solidFill>
                <a:latin typeface="XP Variable Bold Lighthouse"/>
                <a:ea typeface="XP Variable Bold Lighthouse"/>
                <a:cs typeface="XP Variable Bold Lighthouse"/>
                <a:sym typeface="XP Variable Bold Lighthouse"/>
              </a:defRPr>
            </a:pPr>
            <a:endParaRPr sz="900" b="1" dirty="0">
              <a:latin typeface="XP" pitchFamily="50" charset="0"/>
              <a:ea typeface="XP" pitchFamily="50" charset="0"/>
            </a:endParaRPr>
          </a:p>
        </p:txBody>
      </p:sp>
      <p:pic>
        <p:nvPicPr>
          <p:cNvPr id="28" name="Graphic 27">
            <a:extLst>
              <a:ext uri="{FF2B5EF4-FFF2-40B4-BE49-F238E27FC236}">
                <a16:creationId xmlns:a16="http://schemas.microsoft.com/office/drawing/2014/main" id="{DC8FEAA7-602D-9638-4A44-A97CA81E7F32}"/>
              </a:ext>
            </a:extLst>
          </p:cNvPr>
          <p:cNvPicPr>
            <a:picLocks noChangeAspect="1"/>
          </p:cNvPicPr>
          <p:nvPr/>
        </p:nvPicPr>
        <p:blipFill>
          <a:blip r:embed="rId7">
            <a:alphaModFix amt="66000"/>
            <a:extLst>
              <a:ext uri="{96DAC541-7B7A-43D3-8B79-37D633B846F1}">
                <asvg:svgBlip xmlns:asvg="http://schemas.microsoft.com/office/drawing/2016/SVG/main" r:embed="rId8"/>
              </a:ext>
            </a:extLst>
          </a:blip>
          <a:srcRect l="51901" t="57744" r="40349" b="-120"/>
          <a:stretch/>
        </p:blipFill>
        <p:spPr>
          <a:xfrm rot="5400000" flipH="1">
            <a:off x="3328858" y="-1551009"/>
            <a:ext cx="2003470" cy="5078985"/>
          </a:xfrm>
          <a:prstGeom prst="rect">
            <a:avLst/>
          </a:prstGeom>
        </p:spPr>
      </p:pic>
      <p:sp>
        <p:nvSpPr>
          <p:cNvPr id="17" name="Text Placeholder 16">
            <a:extLst>
              <a:ext uri="{FF2B5EF4-FFF2-40B4-BE49-F238E27FC236}">
                <a16:creationId xmlns:a16="http://schemas.microsoft.com/office/drawing/2014/main" id="{BD1C2063-5175-FD49-08F5-7B3D9AD4BCB0}"/>
              </a:ext>
            </a:extLst>
          </p:cNvPr>
          <p:cNvSpPr>
            <a:spLocks noGrp="1"/>
          </p:cNvSpPr>
          <p:nvPr>
            <p:ph type="body" sz="quarter" idx="37"/>
          </p:nvPr>
        </p:nvSpPr>
        <p:spPr>
          <a:xfrm>
            <a:off x="368299" y="1406254"/>
            <a:ext cx="6408000" cy="187302"/>
          </a:xfrm>
        </p:spPr>
        <p:txBody>
          <a:bodyPr/>
          <a:lstStyle/>
          <a:p>
            <a:r>
              <a:rPr lang="en-US" sz="1500" dirty="0"/>
              <a:t>Risk appetite shows a slight deterioration</a:t>
            </a:r>
          </a:p>
        </p:txBody>
      </p:sp>
      <p:sp>
        <p:nvSpPr>
          <p:cNvPr id="19" name="Text Placeholder 18">
            <a:extLst>
              <a:ext uri="{FF2B5EF4-FFF2-40B4-BE49-F238E27FC236}">
                <a16:creationId xmlns:a16="http://schemas.microsoft.com/office/drawing/2014/main" id="{5FC3A2AA-2F47-1E4E-3E0A-11C824F0D208}"/>
              </a:ext>
            </a:extLst>
          </p:cNvPr>
          <p:cNvSpPr>
            <a:spLocks noGrp="1"/>
          </p:cNvSpPr>
          <p:nvPr>
            <p:ph type="body" sz="quarter" idx="36"/>
          </p:nvPr>
        </p:nvSpPr>
        <p:spPr/>
        <p:txBody>
          <a:bodyPr/>
          <a:lstStyle/>
          <a:p>
            <a:r>
              <a:rPr lang="en-US" dirty="0"/>
              <a:t>Clients wait for a better entry point to increase equity exposure</a:t>
            </a:r>
          </a:p>
        </p:txBody>
      </p:sp>
      <p:sp>
        <p:nvSpPr>
          <p:cNvPr id="14" name="Text Placeholder 10">
            <a:extLst>
              <a:ext uri="{FF2B5EF4-FFF2-40B4-BE49-F238E27FC236}">
                <a16:creationId xmlns:a16="http://schemas.microsoft.com/office/drawing/2014/main" id="{C632DDE8-9166-8785-D5B6-0E9DB9B40F03}"/>
              </a:ext>
            </a:extLst>
          </p:cNvPr>
          <p:cNvSpPr txBox="1">
            <a:spLocks/>
          </p:cNvSpPr>
          <p:nvPr/>
        </p:nvSpPr>
        <p:spPr>
          <a:xfrm>
            <a:off x="4330593" y="4579350"/>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Caio Souza</a:t>
            </a:r>
          </a:p>
        </p:txBody>
      </p:sp>
      <p:sp>
        <p:nvSpPr>
          <p:cNvPr id="15" name="Text Placeholder 11">
            <a:extLst>
              <a:ext uri="{FF2B5EF4-FFF2-40B4-BE49-F238E27FC236}">
                <a16:creationId xmlns:a16="http://schemas.microsoft.com/office/drawing/2014/main" id="{05E720BB-7A5F-DD2B-2FCE-05B0EC400AEC}"/>
              </a:ext>
            </a:extLst>
          </p:cNvPr>
          <p:cNvSpPr txBox="1">
            <a:spLocks/>
          </p:cNvSpPr>
          <p:nvPr/>
        </p:nvSpPr>
        <p:spPr>
          <a:xfrm>
            <a:off x="4330593" y="4741147"/>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a:t>Equity Strategist</a:t>
            </a:r>
            <a:endParaRPr lang="pt-BR" dirty="0"/>
          </a:p>
        </p:txBody>
      </p:sp>
      <p:sp>
        <p:nvSpPr>
          <p:cNvPr id="16" name="Text Placeholder 12">
            <a:extLst>
              <a:ext uri="{FF2B5EF4-FFF2-40B4-BE49-F238E27FC236}">
                <a16:creationId xmlns:a16="http://schemas.microsoft.com/office/drawing/2014/main" id="{92EC0130-73AD-7AA8-0738-ED2180CDAF79}"/>
              </a:ext>
            </a:extLst>
          </p:cNvPr>
          <p:cNvSpPr txBox="1">
            <a:spLocks/>
          </p:cNvSpPr>
          <p:nvPr/>
        </p:nvSpPr>
        <p:spPr>
          <a:xfrm>
            <a:off x="4330593" y="4868019"/>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caio.lsouza@xpi.com.br</a:t>
            </a:r>
          </a:p>
        </p:txBody>
      </p:sp>
      <p:sp>
        <p:nvSpPr>
          <p:cNvPr id="18" name="Text Placeholder 10">
            <a:extLst>
              <a:ext uri="{FF2B5EF4-FFF2-40B4-BE49-F238E27FC236}">
                <a16:creationId xmlns:a16="http://schemas.microsoft.com/office/drawing/2014/main" id="{EB31174A-175F-94C7-F834-928205CC5BC9}"/>
              </a:ext>
            </a:extLst>
          </p:cNvPr>
          <p:cNvSpPr txBox="1">
            <a:spLocks/>
          </p:cNvSpPr>
          <p:nvPr/>
        </p:nvSpPr>
        <p:spPr>
          <a:xfrm>
            <a:off x="4330593" y="5064661"/>
            <a:ext cx="2159105" cy="133094"/>
          </a:xfrm>
          <a:prstGeom prst="rect">
            <a:avLst/>
          </a:prstGeom>
          <a:noFill/>
        </p:spPr>
        <p:txBody>
          <a:bodyPr wrap="square" lIns="0" tIns="0" rIns="0" bIns="0" rtlCol="0">
            <a:no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1050" b="1"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Antonio Mello</a:t>
            </a:r>
          </a:p>
        </p:txBody>
      </p:sp>
      <p:sp>
        <p:nvSpPr>
          <p:cNvPr id="20" name="Text Placeholder 11">
            <a:extLst>
              <a:ext uri="{FF2B5EF4-FFF2-40B4-BE49-F238E27FC236}">
                <a16:creationId xmlns:a16="http://schemas.microsoft.com/office/drawing/2014/main" id="{06D506D1-ED52-B286-EF81-B989B77809CC}"/>
              </a:ext>
            </a:extLst>
          </p:cNvPr>
          <p:cNvSpPr txBox="1">
            <a:spLocks/>
          </p:cNvSpPr>
          <p:nvPr/>
        </p:nvSpPr>
        <p:spPr>
          <a:xfrm>
            <a:off x="4330593" y="5226458"/>
            <a:ext cx="2159105" cy="9695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700" kern="1200" smtClean="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err="1"/>
              <a:t>Quantitative</a:t>
            </a:r>
            <a:r>
              <a:rPr lang="pt-BR" dirty="0"/>
              <a:t> </a:t>
            </a:r>
            <a:r>
              <a:rPr lang="pt-BR" dirty="0" err="1"/>
              <a:t>Equity</a:t>
            </a:r>
            <a:r>
              <a:rPr lang="pt-BR" dirty="0"/>
              <a:t> </a:t>
            </a:r>
            <a:r>
              <a:rPr lang="pt-BR" dirty="0" err="1"/>
              <a:t>Strategist</a:t>
            </a:r>
            <a:endParaRPr lang="pt-BR" dirty="0"/>
          </a:p>
        </p:txBody>
      </p:sp>
      <p:sp>
        <p:nvSpPr>
          <p:cNvPr id="23" name="Text Placeholder 12">
            <a:extLst>
              <a:ext uri="{FF2B5EF4-FFF2-40B4-BE49-F238E27FC236}">
                <a16:creationId xmlns:a16="http://schemas.microsoft.com/office/drawing/2014/main" id="{2755505D-3FA8-98B9-1E84-FA538EABDF71}"/>
              </a:ext>
            </a:extLst>
          </p:cNvPr>
          <p:cNvSpPr txBox="1">
            <a:spLocks/>
          </p:cNvSpPr>
          <p:nvPr/>
        </p:nvSpPr>
        <p:spPr>
          <a:xfrm>
            <a:off x="4330593" y="5353330"/>
            <a:ext cx="2159105" cy="110800"/>
          </a:xfrm>
          <a:prstGeom prst="rect">
            <a:avLst/>
          </a:prstGeom>
          <a:noFill/>
        </p:spPr>
        <p:txBody>
          <a:bodyPr wrap="square" lIns="0" tIns="0" rIns="0" bIns="0" rtlCol="0">
            <a:spAutoFit/>
          </a:bodyPr>
          <a:lstStyle>
            <a:lvl1pPr marL="0" marR="0" indent="0" algn="just" defTabSz="914400" rtl="0" eaLnBrk="1" fontAlgn="auto" latinLnBrk="0" hangingPunct="1">
              <a:lnSpc>
                <a:spcPct val="90000"/>
              </a:lnSpc>
              <a:spcBef>
                <a:spcPts val="422"/>
              </a:spcBef>
              <a:spcAft>
                <a:spcPts val="0"/>
              </a:spcAft>
              <a:buClrTx/>
              <a:buSzTx/>
              <a:buFont typeface="Arial" panose="020B0604020202020204" pitchFamily="34" charset="0"/>
              <a:buNone/>
              <a:tabLst/>
              <a:defRPr lang="en-US" sz="8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antonio.mello@xpi.com.br</a:t>
            </a:r>
          </a:p>
        </p:txBody>
      </p:sp>
      <p:graphicFrame>
        <p:nvGraphicFramePr>
          <p:cNvPr id="6" name="Chart 5">
            <a:extLst>
              <a:ext uri="{FF2B5EF4-FFF2-40B4-BE49-F238E27FC236}">
                <a16:creationId xmlns:a16="http://schemas.microsoft.com/office/drawing/2014/main" id="{9A48E920-9C45-48CD-BF1F-ED2CAD3789B2}"/>
              </a:ext>
            </a:extLst>
          </p:cNvPr>
          <p:cNvGraphicFramePr>
            <a:graphicFrameLocks/>
          </p:cNvGraphicFramePr>
          <p:nvPr>
            <p:extLst>
              <p:ext uri="{D42A27DB-BD31-4B8C-83A1-F6EECF244321}">
                <p14:modId xmlns:p14="http://schemas.microsoft.com/office/powerpoint/2010/main" val="1263601759"/>
              </p:ext>
            </p:extLst>
          </p:nvPr>
        </p:nvGraphicFramePr>
        <p:xfrm>
          <a:off x="4330594" y="7168789"/>
          <a:ext cx="2159104" cy="2161471"/>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3762878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02E447-928B-491A-BB70-5CD030ED9D43}"/>
              </a:ext>
            </a:extLst>
          </p:cNvPr>
          <p:cNvSpPr>
            <a:spLocks noGrp="1"/>
          </p:cNvSpPr>
          <p:nvPr>
            <p:ph type="body" sz="quarter" idx="17"/>
          </p:nvPr>
        </p:nvSpPr>
        <p:spPr>
          <a:xfrm>
            <a:off x="375633" y="1057104"/>
            <a:ext cx="3938623" cy="352596"/>
          </a:xfrm>
        </p:spPr>
        <p:txBody>
          <a:bodyPr/>
          <a:lstStyle/>
          <a:p>
            <a:r>
              <a:rPr lang="en-US" dirty="0"/>
              <a:t>XP Sentiment Survey</a:t>
            </a:r>
          </a:p>
        </p:txBody>
      </p:sp>
      <p:sp>
        <p:nvSpPr>
          <p:cNvPr id="3" name="Text Placeholder 2">
            <a:extLst>
              <a:ext uri="{FF2B5EF4-FFF2-40B4-BE49-F238E27FC236}">
                <a16:creationId xmlns:a16="http://schemas.microsoft.com/office/drawing/2014/main" id="{3890F57A-5FE5-49B9-A421-7AA2F2EC870A}"/>
              </a:ext>
            </a:extLst>
          </p:cNvPr>
          <p:cNvSpPr>
            <a:spLocks noGrp="1"/>
          </p:cNvSpPr>
          <p:nvPr>
            <p:ph type="body" sz="quarter" idx="18"/>
          </p:nvPr>
        </p:nvSpPr>
        <p:spPr>
          <a:xfrm>
            <a:off x="375632" y="1616466"/>
            <a:ext cx="4363278" cy="313932"/>
          </a:xfrm>
        </p:spPr>
        <p:txBody>
          <a:bodyPr vert="horz" wrap="square" lIns="0" tIns="45720" rIns="91440" bIns="45720" rtlCol="0" anchor="t">
            <a:spAutoFit/>
          </a:bodyPr>
          <a:lstStyle/>
          <a:p>
            <a:r>
              <a:rPr lang="en-US" dirty="0">
                <a:solidFill>
                  <a:srgbClr val="3F3F3F"/>
                </a:solidFill>
                <a:hlinkClick r:id="rId2" action="ppaction://hlinksldjump"/>
              </a:rPr>
              <a:t>3. Intention to reduce equity allocation increases</a:t>
            </a:r>
            <a:endParaRPr lang="en-US" dirty="0">
              <a:solidFill>
                <a:srgbClr val="3F3F3F"/>
              </a:solidFill>
            </a:endParaRPr>
          </a:p>
        </p:txBody>
      </p:sp>
      <p:sp>
        <p:nvSpPr>
          <p:cNvPr id="5" name="Text Placeholder 4">
            <a:extLst>
              <a:ext uri="{FF2B5EF4-FFF2-40B4-BE49-F238E27FC236}">
                <a16:creationId xmlns:a16="http://schemas.microsoft.com/office/drawing/2014/main" id="{614B92CB-1CCE-47C9-B391-0DA8563E7396}"/>
              </a:ext>
            </a:extLst>
          </p:cNvPr>
          <p:cNvSpPr>
            <a:spLocks noGrp="1"/>
          </p:cNvSpPr>
          <p:nvPr>
            <p:ph type="body" sz="quarter" idx="20"/>
          </p:nvPr>
        </p:nvSpPr>
        <p:spPr>
          <a:xfrm>
            <a:off x="375631" y="2906168"/>
            <a:ext cx="4431895" cy="313932"/>
          </a:xfrm>
        </p:spPr>
        <p:txBody>
          <a:bodyPr/>
          <a:lstStyle/>
          <a:p>
            <a:r>
              <a:rPr lang="en-US" dirty="0">
                <a:solidFill>
                  <a:schemeClr val="tx1"/>
                </a:solidFill>
                <a:hlinkClick r:id="rId3" action="ppaction://hlinksldjump"/>
              </a:rPr>
              <a:t>5. Fixed income remains the #1 asset class, despite a sharp drop in interest</a:t>
            </a:r>
            <a:endParaRPr lang="en-US" dirty="0">
              <a:solidFill>
                <a:schemeClr val="tx1"/>
              </a:solidFill>
            </a:endParaRPr>
          </a:p>
        </p:txBody>
      </p:sp>
      <p:sp>
        <p:nvSpPr>
          <p:cNvPr id="4" name="Text Placeholder 4">
            <a:extLst>
              <a:ext uri="{FF2B5EF4-FFF2-40B4-BE49-F238E27FC236}">
                <a16:creationId xmlns:a16="http://schemas.microsoft.com/office/drawing/2014/main" id="{AA2BECCE-A26F-63D6-266C-B5CA30C21694}"/>
              </a:ext>
            </a:extLst>
          </p:cNvPr>
          <p:cNvSpPr txBox="1">
            <a:spLocks/>
          </p:cNvSpPr>
          <p:nvPr/>
        </p:nvSpPr>
        <p:spPr>
          <a:xfrm>
            <a:off x="375632" y="3551019"/>
            <a:ext cx="4339491" cy="535531"/>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solidFill>
                  <a:schemeClr val="tx1"/>
                </a:solidFill>
                <a:hlinkClick r:id="rId4" action="ppaction://hlinksldjump">
                  <a:extLst>
                    <a:ext uri="{A12FA001-AC4F-418D-AE19-62706E023703}">
                      <ahyp:hlinkClr xmlns:ahyp="http://schemas.microsoft.com/office/drawing/2018/hyperlinkcolor" val="tx"/>
                    </a:ext>
                  </a:extLst>
                </a:hlinkClick>
              </a:rPr>
              <a:t>6. Fiscal risks in Brazil remain as the key concern</a:t>
            </a:r>
            <a:endParaRPr lang="en-US" u="sng" dirty="0">
              <a:solidFill>
                <a:schemeClr val="tx1"/>
              </a:solidFill>
            </a:endParaRPr>
          </a:p>
        </p:txBody>
      </p:sp>
      <p:sp>
        <p:nvSpPr>
          <p:cNvPr id="12" name="Espaço Reservado para Texto 11">
            <a:extLst>
              <a:ext uri="{FF2B5EF4-FFF2-40B4-BE49-F238E27FC236}">
                <a16:creationId xmlns:a16="http://schemas.microsoft.com/office/drawing/2014/main" id="{D78077E1-D1A3-A8D4-CE0D-7B5E5ED8CD85}"/>
              </a:ext>
            </a:extLst>
          </p:cNvPr>
          <p:cNvSpPr>
            <a:spLocks noGrp="1"/>
          </p:cNvSpPr>
          <p:nvPr>
            <p:ph type="body" sz="quarter" idx="24"/>
          </p:nvPr>
        </p:nvSpPr>
        <p:spPr>
          <a:xfrm>
            <a:off x="375632" y="4417469"/>
            <a:ext cx="4431895" cy="535531"/>
          </a:xfrm>
        </p:spPr>
        <p:txBody>
          <a:bodyPr/>
          <a:lstStyle/>
          <a:p>
            <a:r>
              <a:rPr lang="en-US" dirty="0">
                <a:solidFill>
                  <a:schemeClr val="tx1"/>
                </a:solidFill>
                <a:hlinkClick r:id="rId5" action="ppaction://hlinksldjump">
                  <a:extLst>
                    <a:ext uri="{A12FA001-AC4F-418D-AE19-62706E023703}">
                      <ahyp:hlinkClr xmlns:ahyp="http://schemas.microsoft.com/office/drawing/2018/hyperlinkcolor" val="tx"/>
                    </a:ext>
                  </a:extLst>
                </a:hlinkClick>
              </a:rPr>
              <a:t>7. Most clients are still waiting for a better entry point to increase Brazilian equity exposure</a:t>
            </a:r>
            <a:endParaRPr lang="en-US" dirty="0">
              <a:solidFill>
                <a:schemeClr val="tx1"/>
              </a:solidFill>
            </a:endParaRPr>
          </a:p>
        </p:txBody>
      </p:sp>
      <p:sp>
        <p:nvSpPr>
          <p:cNvPr id="7" name="Text Placeholder 4">
            <a:extLst>
              <a:ext uri="{FF2B5EF4-FFF2-40B4-BE49-F238E27FC236}">
                <a16:creationId xmlns:a16="http://schemas.microsoft.com/office/drawing/2014/main" id="{A115E673-169C-AE87-C4B4-CBA1998E020F}"/>
              </a:ext>
            </a:extLst>
          </p:cNvPr>
          <p:cNvSpPr txBox="1">
            <a:spLocks/>
          </p:cNvSpPr>
          <p:nvPr/>
        </p:nvSpPr>
        <p:spPr>
          <a:xfrm>
            <a:off x="375631" y="2261317"/>
            <a:ext cx="4363277" cy="313932"/>
          </a:xfrm>
          <a:prstGeom prst="rect">
            <a:avLst/>
          </a:prstGeom>
        </p:spPr>
        <p:txBody>
          <a:bodyPr vert="horz" wrap="square" lIns="0" tIns="45720" rIns="91440" bIns="45720" rtlCol="0" anchor="t">
            <a:spAutoFit/>
          </a:bodyPr>
          <a:lstStyle>
            <a:lvl1pPr marL="0" indent="0" algn="l" defTabSz="385767" rtl="0" eaLnBrk="1" latinLnBrk="0" hangingPunct="1">
              <a:lnSpc>
                <a:spcPct val="90000"/>
              </a:lnSpc>
              <a:spcBef>
                <a:spcPts val="422"/>
              </a:spcBef>
              <a:buFont typeface="Arial" panose="020B0604020202020204" pitchFamily="34" charset="0"/>
              <a:buNone/>
              <a:defRPr lang="pt-BR" sz="1600" b="0" kern="120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solidFill>
                  <a:srgbClr val="3F3F3F"/>
                </a:solidFill>
                <a:hlinkClick r:id="rId6" action="ppaction://hlinksldjump">
                  <a:extLst>
                    <a:ext uri="{A12FA001-AC4F-418D-AE19-62706E023703}">
                      <ahyp:hlinkClr xmlns:ahyp="http://schemas.microsoft.com/office/drawing/2018/hyperlinkcolor" val="tx"/>
                    </a:ext>
                  </a:extLst>
                </a:hlinkClick>
              </a:rPr>
              <a:t>4. IFAs’ sentiment improves marginally</a:t>
            </a:r>
            <a:endParaRPr lang="en-US" dirty="0">
              <a:solidFill>
                <a:schemeClr val="tx1"/>
              </a:solidFill>
            </a:endParaRPr>
          </a:p>
        </p:txBody>
      </p:sp>
      <p:grpSp>
        <p:nvGrpSpPr>
          <p:cNvPr id="6" name="Group 5">
            <a:extLst>
              <a:ext uri="{FF2B5EF4-FFF2-40B4-BE49-F238E27FC236}">
                <a16:creationId xmlns:a16="http://schemas.microsoft.com/office/drawing/2014/main" id="{540D1DBC-25BD-8D23-6D65-5F371359888D}"/>
              </a:ext>
            </a:extLst>
          </p:cNvPr>
          <p:cNvGrpSpPr/>
          <p:nvPr/>
        </p:nvGrpSpPr>
        <p:grpSpPr>
          <a:xfrm flipV="1">
            <a:off x="4738912" y="0"/>
            <a:ext cx="2119086" cy="9906000"/>
            <a:chOff x="-1" y="0"/>
            <a:chExt cx="1467060" cy="6858000"/>
          </a:xfrm>
        </p:grpSpPr>
        <p:pic>
          <p:nvPicPr>
            <p:cNvPr id="8" name="Graphic 7">
              <a:extLst>
                <a:ext uri="{FF2B5EF4-FFF2-40B4-BE49-F238E27FC236}">
                  <a16:creationId xmlns:a16="http://schemas.microsoft.com/office/drawing/2014/main" id="{696B713F-37F8-65BD-830F-4F4FFD392163}"/>
                </a:ext>
              </a:extLst>
            </p:cNvPr>
            <p:cNvPicPr>
              <a:picLocks noChangeAspect="1"/>
            </p:cNvPicPr>
            <p:nvPr userDrawn="1"/>
          </p:nvPicPr>
          <p:blipFill rotWithShape="1">
            <a:blip r:embed="rId7">
              <a:extLst>
                <a:ext uri="{96DAC541-7B7A-43D3-8B79-37D633B846F1}">
                  <asvg:svgBlip xmlns:asvg="http://schemas.microsoft.com/office/drawing/2016/SVG/main" r:embed="rId8"/>
                </a:ext>
              </a:extLst>
            </a:blip>
            <a:srcRect l="19269" t="2351" r="71178" b="20035"/>
            <a:stretch/>
          </p:blipFill>
          <p:spPr>
            <a:xfrm flipV="1">
              <a:off x="0" y="0"/>
              <a:ext cx="1467059" cy="6858000"/>
            </a:xfrm>
            <a:prstGeom prst="rect">
              <a:avLst/>
            </a:prstGeom>
          </p:spPr>
        </p:pic>
        <p:pic>
          <p:nvPicPr>
            <p:cNvPr id="9" name="Picture 8" descr="A blue and white dot pattern&#10;&#10;AI-generated content may be incorrect.">
              <a:extLst>
                <a:ext uri="{FF2B5EF4-FFF2-40B4-BE49-F238E27FC236}">
                  <a16:creationId xmlns:a16="http://schemas.microsoft.com/office/drawing/2014/main" id="{F805F2A6-D559-29F2-8D19-BDBAFAC2EED8}"/>
                </a:ext>
              </a:extLst>
            </p:cNvPr>
            <p:cNvPicPr>
              <a:picLocks noChangeAspect="1"/>
            </p:cNvPicPr>
            <p:nvPr userDrawn="1"/>
          </p:nvPicPr>
          <p:blipFill>
            <a:blip r:embed="rId9">
              <a:alphaModFix amt="18000"/>
              <a:extLst>
                <a:ext uri="{BEBA8EAE-BF5A-486C-A8C5-ECC9F3942E4B}">
                  <a14:imgProps xmlns:a14="http://schemas.microsoft.com/office/drawing/2010/main">
                    <a14:imgLayer r:embed="rId10">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1" y="0"/>
              <a:ext cx="1467060" cy="6858000"/>
            </a:xfrm>
            <a:prstGeom prst="rect">
              <a:avLst/>
            </a:prstGeom>
          </p:spPr>
        </p:pic>
      </p:grpSp>
      <p:pic>
        <p:nvPicPr>
          <p:cNvPr id="10" name="Graphic 9">
            <a:extLst>
              <a:ext uri="{FF2B5EF4-FFF2-40B4-BE49-F238E27FC236}">
                <a16:creationId xmlns:a16="http://schemas.microsoft.com/office/drawing/2014/main" id="{A769ADEA-8238-013B-02A9-DC956990E23E}"/>
              </a:ext>
            </a:extLst>
          </p:cNvPr>
          <p:cNvPicPr>
            <a:picLocks noChangeAspect="1"/>
          </p:cNvPicPr>
          <p:nvPr/>
        </p:nvPicPr>
        <p:blipFill>
          <a:blip r:embed="rId11">
            <a:alphaModFix amt="66000"/>
            <a:extLst>
              <a:ext uri="{96DAC541-7B7A-43D3-8B79-37D633B846F1}">
                <asvg:svgBlip xmlns:asvg="http://schemas.microsoft.com/office/drawing/2016/SVG/main" r:embed="rId12"/>
              </a:ext>
            </a:extLst>
          </a:blip>
          <a:srcRect l="53016" t="24344" r="39234" b="-323"/>
          <a:stretch/>
        </p:blipFill>
        <p:spPr>
          <a:xfrm flipH="1">
            <a:off x="4738912" y="193872"/>
            <a:ext cx="2119088" cy="9712130"/>
          </a:xfrm>
          <a:prstGeom prst="rect">
            <a:avLst/>
          </a:prstGeom>
        </p:spPr>
      </p:pic>
    </p:spTree>
    <p:extLst>
      <p:ext uri="{BB962C8B-B14F-4D97-AF65-F5344CB8AC3E}">
        <p14:creationId xmlns:p14="http://schemas.microsoft.com/office/powerpoint/2010/main" val="413017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E49CA-B77A-94CF-E363-F3D29E77D845}"/>
            </a:ext>
          </a:extLst>
        </p:cNvPr>
        <p:cNvGrpSpPr/>
        <p:nvPr/>
      </p:nvGrpSpPr>
      <p:grpSpPr>
        <a:xfrm>
          <a:off x="0" y="0"/>
          <a:ext cx="0" cy="0"/>
          <a:chOff x="0" y="0"/>
          <a:chExt cx="0" cy="0"/>
        </a:xfrm>
      </p:grpSpPr>
      <p:graphicFrame>
        <p:nvGraphicFramePr>
          <p:cNvPr id="7" name="Object 6">
            <a:extLst>
              <a:ext uri="{FF2B5EF4-FFF2-40B4-BE49-F238E27FC236}">
                <a16:creationId xmlns:a16="http://schemas.microsoft.com/office/drawing/2014/main" id="{8E16DDD4-BE95-A968-63E0-28DCC764DF84}"/>
              </a:ext>
            </a:extLst>
          </p:cNvPr>
          <p:cNvGraphicFramePr>
            <a:graphicFrameLocks noChangeAspect="1"/>
          </p:cNvGraphicFramePr>
          <p:nvPr>
            <p:extLst>
              <p:ext uri="{D42A27DB-BD31-4B8C-83A1-F6EECF244321}">
                <p14:modId xmlns:p14="http://schemas.microsoft.com/office/powerpoint/2010/main" val="3795279616"/>
              </p:ext>
            </p:extLst>
          </p:nvPr>
        </p:nvGraphicFramePr>
        <p:xfrm>
          <a:off x="3449638" y="7015163"/>
          <a:ext cx="3070225" cy="2160587"/>
        </p:xfrm>
        <a:graphic>
          <a:graphicData uri="http://schemas.openxmlformats.org/presentationml/2006/ole">
            <mc:AlternateContent xmlns:mc="http://schemas.openxmlformats.org/markup-compatibility/2006">
              <mc:Choice xmlns:v="urn:schemas-microsoft-com:vml" Requires="v">
                <p:oleObj name="Worksheet" r:id="rId3" imgW="3055372" imgH="2346709" progId="Excel.Sheet.12">
                  <p:link updateAutomatic="1"/>
                </p:oleObj>
              </mc:Choice>
              <mc:Fallback>
                <p:oleObj name="Worksheet" r:id="rId3" imgW="3055372" imgH="2346709" progId="Excel.Sheet.12">
                  <p:link updateAutomatic="1"/>
                  <p:pic>
                    <p:nvPicPr>
                      <p:cNvPr id="7" name="Object 6">
                        <a:extLst>
                          <a:ext uri="{FF2B5EF4-FFF2-40B4-BE49-F238E27FC236}">
                            <a16:creationId xmlns:a16="http://schemas.microsoft.com/office/drawing/2014/main" id="{8A81F347-ECCD-A781-6E4B-415E8B33BCE8}"/>
                          </a:ext>
                        </a:extLst>
                      </p:cNvPr>
                      <p:cNvPicPr/>
                      <p:nvPr/>
                    </p:nvPicPr>
                    <p:blipFill>
                      <a:blip r:embed="rId4"/>
                      <a:stretch>
                        <a:fillRect/>
                      </a:stretch>
                    </p:blipFill>
                    <p:spPr>
                      <a:xfrm>
                        <a:off x="3449638" y="7015163"/>
                        <a:ext cx="3070225" cy="2160587"/>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4C8FAA4-28A8-296B-FD68-5BEC32BA4EC0}"/>
              </a:ext>
            </a:extLst>
          </p:cNvPr>
          <p:cNvSpPr>
            <a:spLocks noGrp="1"/>
          </p:cNvSpPr>
          <p:nvPr>
            <p:ph type="body" sz="quarter" idx="20"/>
          </p:nvPr>
        </p:nvSpPr>
        <p:spPr>
          <a:xfrm>
            <a:off x="382830" y="1466176"/>
            <a:ext cx="2778382" cy="7980478"/>
          </a:xfrm>
          <a:noFill/>
          <a:ln>
            <a:noFill/>
          </a:ln>
        </p:spPr>
        <p:txBody>
          <a:bodyPr/>
          <a:lstStyle/>
          <a:p>
            <a:r>
              <a:rPr lang="en-US" dirty="0"/>
              <a:t>In terms of respondents, the Southeast region’s participation in the survey decreased by 13 p.p. to 57% of the responses in the July edition. This was followed by the South (14%, +0 p.p. MoM), the Northeast (13%, -2 p.p. MoM), the Midwest (3%, +1 p.p. MoM) and the North (0%, 0 p.p. MoM).</a:t>
            </a:r>
          </a:p>
          <a:p>
            <a:r>
              <a:rPr lang="en-US" b="1" dirty="0"/>
              <a:t>Allocation to equities increased.</a:t>
            </a:r>
            <a:r>
              <a:rPr lang="en-US" dirty="0"/>
              <a:t> In July, we observed a shift from lower to higher allocation brackets. The share of respondents with equity allocations in the 0-10% range decreased to 51% (-4 p.p. MoM), while the share in the 10-25% range also decreased to 32% (-1 p.p. MoM). At the same time, the 25-50% allocation bracket rose marginally to 13% (+1 p.p. MoM). The main change came from the 50-75% bracket, which increased to 4%, indicating a higher equity exposure among clients.</a:t>
            </a:r>
          </a:p>
          <a:p>
            <a:r>
              <a:rPr lang="en-US" b="1" dirty="0"/>
              <a:t>On the other hand, the intention to reduce exposure to equities increased.</a:t>
            </a:r>
            <a:r>
              <a:rPr lang="en-US" dirty="0"/>
              <a:t> The share of respondents planning to decrease their equity allocation rose to 14% (+3 p.p. MoM), while the share of those intending to keep their current allocation unchanged declined to 65% (-5 p.p. MoM). Meanwhile, the share planning to increase their equity exposure edged up to 21% (+1 p.p. MoM).</a:t>
            </a:r>
            <a:endParaRPr lang="en-US" b="1" dirty="0"/>
          </a:p>
          <a:p>
            <a:r>
              <a:rPr lang="en-US" b="1" dirty="0"/>
              <a:t>After a sharp correction since April, Brazilian equities are starting to show signs of improvement.</a:t>
            </a:r>
            <a:r>
              <a:rPr lang="en-US" dirty="0"/>
              <a:t> With the recent weakening of the AI trade, particularly in companies linked to the memory and semiconductor segments, we have seen a modest return of foreign flows to the local market.</a:t>
            </a:r>
          </a:p>
          <a:p>
            <a:r>
              <a:rPr lang="en-US" dirty="0"/>
              <a:t>In July, foreign investors have accumulated net inflows of R$4.6bn so far, which helped Brazilian equities outperform global markets during the month. As a result, the Ibovespa is up X.X% in BRL and X.X% in USD in July.</a:t>
            </a:r>
          </a:p>
        </p:txBody>
      </p:sp>
      <p:sp>
        <p:nvSpPr>
          <p:cNvPr id="6" name="Content Placeholder 5">
            <a:extLst>
              <a:ext uri="{FF2B5EF4-FFF2-40B4-BE49-F238E27FC236}">
                <a16:creationId xmlns:a16="http://schemas.microsoft.com/office/drawing/2014/main" id="{3D0BBC67-A2E3-5663-0B5B-7DE2FDCB1F23}"/>
              </a:ext>
            </a:extLst>
          </p:cNvPr>
          <p:cNvSpPr>
            <a:spLocks noGrp="1"/>
          </p:cNvSpPr>
          <p:nvPr>
            <p:ph sz="quarter" idx="24"/>
          </p:nvPr>
        </p:nvSpPr>
        <p:spPr>
          <a:xfrm>
            <a:off x="3444690" y="6618767"/>
            <a:ext cx="3044899" cy="369332"/>
          </a:xfrm>
        </p:spPr>
        <p:txBody>
          <a:bodyPr/>
          <a:lstStyle/>
          <a:p>
            <a:r>
              <a:rPr lang="en-US" dirty="0"/>
              <a:t>Chart 3: Regarding their investments in equities, your clients:</a:t>
            </a:r>
          </a:p>
        </p:txBody>
      </p:sp>
      <p:sp>
        <p:nvSpPr>
          <p:cNvPr id="10" name="Content Placeholder 9">
            <a:extLst>
              <a:ext uri="{FF2B5EF4-FFF2-40B4-BE49-F238E27FC236}">
                <a16:creationId xmlns:a16="http://schemas.microsoft.com/office/drawing/2014/main" id="{CD013A06-F860-B635-E7AA-136BBC3C3081}"/>
              </a:ext>
            </a:extLst>
          </p:cNvPr>
          <p:cNvSpPr>
            <a:spLocks noGrp="1"/>
          </p:cNvSpPr>
          <p:nvPr>
            <p:ph sz="quarter" idx="28"/>
          </p:nvPr>
        </p:nvSpPr>
        <p:spPr>
          <a:xfrm>
            <a:off x="3444798" y="1545498"/>
            <a:ext cx="3044899" cy="230832"/>
          </a:xfrm>
        </p:spPr>
        <p:txBody>
          <a:bodyPr/>
          <a:lstStyle/>
          <a:p>
            <a:r>
              <a:rPr lang="en-US" dirty="0"/>
              <a:t>Chart 1: Which region of Brazil is your office located?</a:t>
            </a:r>
          </a:p>
        </p:txBody>
      </p:sp>
      <p:sp>
        <p:nvSpPr>
          <p:cNvPr id="14" name="Text Placeholder 13">
            <a:extLst>
              <a:ext uri="{FF2B5EF4-FFF2-40B4-BE49-F238E27FC236}">
                <a16:creationId xmlns:a16="http://schemas.microsoft.com/office/drawing/2014/main" id="{68A66BA2-C31B-558B-F88F-24C9B536A0AA}"/>
              </a:ext>
            </a:extLst>
          </p:cNvPr>
          <p:cNvSpPr>
            <a:spLocks noGrp="1"/>
          </p:cNvSpPr>
          <p:nvPr>
            <p:ph type="body" sz="quarter" idx="17"/>
          </p:nvPr>
        </p:nvSpPr>
        <p:spPr>
          <a:xfrm>
            <a:off x="390152" y="1119209"/>
            <a:ext cx="6239247" cy="304570"/>
          </a:xfrm>
        </p:spPr>
        <p:txBody>
          <a:bodyPr vert="horz" lIns="0" tIns="0" rIns="0" bIns="0" rtlCol="0" anchor="t">
            <a:noAutofit/>
          </a:bodyPr>
          <a:lstStyle/>
          <a:p>
            <a:r>
              <a:rPr lang="en-US" dirty="0">
                <a:solidFill>
                  <a:schemeClr val="tx1"/>
                </a:solidFill>
              </a:rPr>
              <a:t>Intention to reduce equity allocation increases</a:t>
            </a:r>
          </a:p>
        </p:txBody>
      </p:sp>
      <p:sp>
        <p:nvSpPr>
          <p:cNvPr id="15" name="Text Placeholder 14">
            <a:extLst>
              <a:ext uri="{FF2B5EF4-FFF2-40B4-BE49-F238E27FC236}">
                <a16:creationId xmlns:a16="http://schemas.microsoft.com/office/drawing/2014/main" id="{729D312A-E2A4-EF1C-6D00-EB2092645622}"/>
              </a:ext>
            </a:extLst>
          </p:cNvPr>
          <p:cNvSpPr>
            <a:spLocks noGrp="1"/>
          </p:cNvSpPr>
          <p:nvPr>
            <p:ph type="body" sz="quarter" idx="31"/>
          </p:nvPr>
        </p:nvSpPr>
        <p:spPr/>
        <p:txBody>
          <a:bodyPr/>
          <a:lstStyle/>
          <a:p>
            <a:r>
              <a:rPr lang="en-US" dirty="0"/>
              <a:t>Source: XP Research. </a:t>
            </a:r>
          </a:p>
        </p:txBody>
      </p:sp>
      <p:sp>
        <p:nvSpPr>
          <p:cNvPr id="16" name="Date Placeholder 15">
            <a:extLst>
              <a:ext uri="{FF2B5EF4-FFF2-40B4-BE49-F238E27FC236}">
                <a16:creationId xmlns:a16="http://schemas.microsoft.com/office/drawing/2014/main" id="{C5FF90DB-B04F-22C4-1A59-3A9391F5A775}"/>
              </a:ext>
            </a:extLst>
          </p:cNvPr>
          <p:cNvSpPr>
            <a:spLocks noGrp="1"/>
          </p:cNvSpPr>
          <p:nvPr>
            <p:ph type="dt" sz="half" idx="2"/>
          </p:nvPr>
        </p:nvSpPr>
        <p:spPr/>
        <p:txBody>
          <a:bodyPr/>
          <a:lstStyle/>
          <a:p>
            <a:fld id="{8BA8F4B9-B6C6-4F2E-BC07-C261BB51569F}" type="datetime4">
              <a:rPr lang="en-US" smtClean="0"/>
              <a:pPr/>
              <a:t>July 27, 2026</a:t>
            </a:fld>
            <a:endParaRPr lang="en-US"/>
          </a:p>
        </p:txBody>
      </p:sp>
      <p:sp>
        <p:nvSpPr>
          <p:cNvPr id="13" name="Text Placeholder 12">
            <a:extLst>
              <a:ext uri="{FF2B5EF4-FFF2-40B4-BE49-F238E27FC236}">
                <a16:creationId xmlns:a16="http://schemas.microsoft.com/office/drawing/2014/main" id="{97AA921D-658E-2424-4724-C2D0F488CDCB}"/>
              </a:ext>
            </a:extLst>
          </p:cNvPr>
          <p:cNvSpPr>
            <a:spLocks noGrp="1"/>
          </p:cNvSpPr>
          <p:nvPr>
            <p:ph type="body" sz="quarter" idx="16"/>
          </p:nvPr>
        </p:nvSpPr>
        <p:spPr/>
        <p:txBody>
          <a:bodyPr/>
          <a:lstStyle/>
          <a:p>
            <a:r>
              <a:rPr lang="en-US" dirty="0"/>
              <a:t>XP Sentiment Survey</a:t>
            </a:r>
          </a:p>
        </p:txBody>
      </p:sp>
      <p:sp>
        <p:nvSpPr>
          <p:cNvPr id="18" name="Content Placeholder 3">
            <a:extLst>
              <a:ext uri="{FF2B5EF4-FFF2-40B4-BE49-F238E27FC236}">
                <a16:creationId xmlns:a16="http://schemas.microsoft.com/office/drawing/2014/main" id="{5B2A5D18-3507-7262-9A30-845DF1C87147}"/>
              </a:ext>
            </a:extLst>
          </p:cNvPr>
          <p:cNvSpPr txBox="1">
            <a:spLocks/>
          </p:cNvSpPr>
          <p:nvPr/>
        </p:nvSpPr>
        <p:spPr>
          <a:xfrm>
            <a:off x="3428892" y="6635670"/>
            <a:ext cx="3060698" cy="398672"/>
          </a:xfrm>
          <a:prstGeom prst="rect">
            <a:avLst/>
          </a:prstGeom>
        </p:spPr>
        <p:txBody>
          <a:bodyPr lIns="0">
            <a:noAutofit/>
          </a:bodyPr>
          <a:lstStyle>
            <a:lvl1pPr marL="0" indent="0" algn="just" defTabSz="385767" rtl="0" eaLnBrk="1" latinLnBrk="0" hangingPunct="1">
              <a:lnSpc>
                <a:spcPct val="100000"/>
              </a:lnSpc>
              <a:spcBef>
                <a:spcPts val="0"/>
              </a:spcBef>
              <a:buFont typeface="Arial" panose="020B0604020202020204" pitchFamily="34" charset="0"/>
              <a:buNone/>
              <a:defRPr sz="10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385767"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900" kern="1200">
                <a:solidFill>
                  <a:schemeClr val="accent6"/>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825" kern="1200">
                <a:solidFill>
                  <a:schemeClr val="accent6"/>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endParaRPr lang="en-US" dirty="0"/>
          </a:p>
        </p:txBody>
      </p:sp>
      <p:sp>
        <p:nvSpPr>
          <p:cNvPr id="19" name="Content Placeholder 5">
            <a:extLst>
              <a:ext uri="{FF2B5EF4-FFF2-40B4-BE49-F238E27FC236}">
                <a16:creationId xmlns:a16="http://schemas.microsoft.com/office/drawing/2014/main" id="{4260F58B-FF80-F4E4-A75D-C485003DF347}"/>
              </a:ext>
            </a:extLst>
          </p:cNvPr>
          <p:cNvSpPr txBox="1">
            <a:spLocks/>
          </p:cNvSpPr>
          <p:nvPr/>
        </p:nvSpPr>
        <p:spPr>
          <a:xfrm>
            <a:off x="3428999" y="3913476"/>
            <a:ext cx="3060699"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Chart 2: Within your clients' portfolio, the allocation in equities is on average:</a:t>
            </a:r>
          </a:p>
        </p:txBody>
      </p:sp>
      <p:graphicFrame>
        <p:nvGraphicFramePr>
          <p:cNvPr id="5" name="Object 4">
            <a:extLst>
              <a:ext uri="{FF2B5EF4-FFF2-40B4-BE49-F238E27FC236}">
                <a16:creationId xmlns:a16="http://schemas.microsoft.com/office/drawing/2014/main" id="{CEFB67C0-251B-F51D-9A35-72F9A4A0584C}"/>
              </a:ext>
            </a:extLst>
          </p:cNvPr>
          <p:cNvGraphicFramePr>
            <a:graphicFrameLocks noChangeAspect="1"/>
          </p:cNvGraphicFramePr>
          <p:nvPr>
            <p:extLst>
              <p:ext uri="{D42A27DB-BD31-4B8C-83A1-F6EECF244321}">
                <p14:modId xmlns:p14="http://schemas.microsoft.com/office/powerpoint/2010/main" val="2035600219"/>
              </p:ext>
            </p:extLst>
          </p:nvPr>
        </p:nvGraphicFramePr>
        <p:xfrm>
          <a:off x="3440113" y="1828800"/>
          <a:ext cx="3054350" cy="2051050"/>
        </p:xfrm>
        <a:graphic>
          <a:graphicData uri="http://schemas.openxmlformats.org/presentationml/2006/ole">
            <mc:AlternateContent xmlns:mc="http://schemas.openxmlformats.org/markup-compatibility/2006">
              <mc:Choice xmlns:v="urn:schemas-microsoft-com:vml" Requires="v">
                <p:oleObj name="Worksheet" r:id="rId5" imgW="2986898" imgH="2072247" progId="Excel.Sheet.12">
                  <p:link updateAutomatic="1"/>
                </p:oleObj>
              </mc:Choice>
              <mc:Fallback>
                <p:oleObj name="Worksheet" r:id="rId5" imgW="2986898" imgH="2072247" progId="Excel.Sheet.12">
                  <p:link updateAutomatic="1"/>
                  <p:pic>
                    <p:nvPicPr>
                      <p:cNvPr id="5" name="Object 4">
                        <a:extLst>
                          <a:ext uri="{FF2B5EF4-FFF2-40B4-BE49-F238E27FC236}">
                            <a16:creationId xmlns:a16="http://schemas.microsoft.com/office/drawing/2014/main" id="{6504C3B5-5465-6C07-1F1E-BB941F9FF09C}"/>
                          </a:ext>
                        </a:extLst>
                      </p:cNvPr>
                      <p:cNvPicPr/>
                      <p:nvPr/>
                    </p:nvPicPr>
                    <p:blipFill>
                      <a:blip r:embed="rId6"/>
                      <a:stretch>
                        <a:fillRect/>
                      </a:stretch>
                    </p:blipFill>
                    <p:spPr>
                      <a:xfrm>
                        <a:off x="3440113" y="1828800"/>
                        <a:ext cx="3054350" cy="205105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172FEA49-8483-3398-4FCE-90B65220F6EF}"/>
              </a:ext>
            </a:extLst>
          </p:cNvPr>
          <p:cNvGraphicFramePr>
            <a:graphicFrameLocks noChangeAspect="1"/>
          </p:cNvGraphicFramePr>
          <p:nvPr>
            <p:extLst>
              <p:ext uri="{D42A27DB-BD31-4B8C-83A1-F6EECF244321}">
                <p14:modId xmlns:p14="http://schemas.microsoft.com/office/powerpoint/2010/main" val="1987533304"/>
              </p:ext>
            </p:extLst>
          </p:nvPr>
        </p:nvGraphicFramePr>
        <p:xfrm>
          <a:off x="3413125" y="4327525"/>
          <a:ext cx="3089275" cy="2016125"/>
        </p:xfrm>
        <a:graphic>
          <a:graphicData uri="http://schemas.openxmlformats.org/presentationml/2006/ole">
            <mc:AlternateContent xmlns:mc="http://schemas.openxmlformats.org/markup-compatibility/2006">
              <mc:Choice xmlns:v="urn:schemas-microsoft-com:vml" Requires="v">
                <p:oleObj name="Worksheet" r:id="rId7" imgW="3093649" imgH="2308530" progId="Excel.Sheet.12">
                  <p:link updateAutomatic="1"/>
                </p:oleObj>
              </mc:Choice>
              <mc:Fallback>
                <p:oleObj name="Worksheet" r:id="rId7" imgW="3093649" imgH="2308530" progId="Excel.Sheet.12">
                  <p:link updateAutomatic="1"/>
                  <p:pic>
                    <p:nvPicPr>
                      <p:cNvPr id="4" name="Object 3">
                        <a:extLst>
                          <a:ext uri="{FF2B5EF4-FFF2-40B4-BE49-F238E27FC236}">
                            <a16:creationId xmlns:a16="http://schemas.microsoft.com/office/drawing/2014/main" id="{3507A879-FBAA-EFA8-1557-AF766EFD4FC2}"/>
                          </a:ext>
                        </a:extLst>
                      </p:cNvPr>
                      <p:cNvPicPr/>
                      <p:nvPr/>
                    </p:nvPicPr>
                    <p:blipFill>
                      <a:blip r:embed="rId8"/>
                      <a:stretch>
                        <a:fillRect/>
                      </a:stretch>
                    </p:blipFill>
                    <p:spPr>
                      <a:xfrm>
                        <a:off x="3413125" y="4327525"/>
                        <a:ext cx="3089275" cy="2016125"/>
                      </a:xfrm>
                      <a:prstGeom prst="rect">
                        <a:avLst/>
                      </a:prstGeom>
                    </p:spPr>
                  </p:pic>
                </p:oleObj>
              </mc:Fallback>
            </mc:AlternateContent>
          </a:graphicData>
        </a:graphic>
      </p:graphicFrame>
    </p:spTree>
    <p:extLst>
      <p:ext uri="{BB962C8B-B14F-4D97-AF65-F5344CB8AC3E}">
        <p14:creationId xmlns:p14="http://schemas.microsoft.com/office/powerpoint/2010/main" val="1948417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1">
            <a:extLst>
              <a:ext uri="{FF2B5EF4-FFF2-40B4-BE49-F238E27FC236}">
                <a16:creationId xmlns:a16="http://schemas.microsoft.com/office/drawing/2014/main" id="{510577D8-E0B2-DD10-EC14-70955B9C7A58}"/>
              </a:ext>
            </a:extLst>
          </p:cNvPr>
          <p:cNvSpPr txBox="1">
            <a:spLocks/>
          </p:cNvSpPr>
          <p:nvPr/>
        </p:nvSpPr>
        <p:spPr>
          <a:xfrm>
            <a:off x="382829" y="5361346"/>
            <a:ext cx="6063034" cy="1184495"/>
          </a:xfrm>
          <a:prstGeom prst="rect">
            <a:avLst/>
          </a:prstGeom>
          <a:noFill/>
        </p:spPr>
        <p:txBody>
          <a:bodyPr wrap="square" lIns="72000" tIns="72000" rIns="72000" bIns="72000" rtlCol="0" anchor="ctr">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In July, 42% (+3 p.p. MoM) of IFAs indicated that they expect the Ibovespa to end 2026 in the 170k-190k range, while 27% (-1 p.p. MoM) see the index finishing in 190-200k. The average projection stood at 184k points, slightly above the 182k reported in the previous survey, implying a ~5% of upside potential versus the current index level of around 175k points.</a:t>
            </a:r>
          </a:p>
          <a:p>
            <a:r>
              <a:rPr lang="en-US" dirty="0"/>
              <a:t>Meanwhile, the share of the most optimistic respondents, those projecting the Ibovespa above 200k points, increased to 14% (+3 p.p. MoM).</a:t>
            </a:r>
          </a:p>
        </p:txBody>
      </p:sp>
      <p:sp>
        <p:nvSpPr>
          <p:cNvPr id="2" name="Espaço Reservado para Texto 1">
            <a:extLst>
              <a:ext uri="{FF2B5EF4-FFF2-40B4-BE49-F238E27FC236}">
                <a16:creationId xmlns:a16="http://schemas.microsoft.com/office/drawing/2014/main" id="{C31EB2C6-7CFA-3F85-59F5-AC2686FE69DF}"/>
              </a:ext>
            </a:extLst>
          </p:cNvPr>
          <p:cNvSpPr>
            <a:spLocks noGrp="1"/>
          </p:cNvSpPr>
          <p:nvPr>
            <p:ph type="body" sz="quarter" idx="20"/>
          </p:nvPr>
        </p:nvSpPr>
        <p:spPr>
          <a:xfrm>
            <a:off x="382829" y="1497600"/>
            <a:ext cx="6063034" cy="605843"/>
          </a:xfrm>
          <a:noFill/>
        </p:spPr>
        <p:txBody>
          <a:bodyPr/>
          <a:lstStyle/>
          <a:p>
            <a:r>
              <a:rPr lang="en-US" dirty="0"/>
              <a:t>IFAs’ sentiment towards Brazilian equities improved slightly, with 59% (+2 p.p. MoM) rating it 7 or higher (on a scale of 0 to 10). Regarding the average of the responses, it also increased marginally from 6.4 in June to 6.6 currently.</a:t>
            </a:r>
            <a:endParaRPr lang="pt-BR" dirty="0"/>
          </a:p>
        </p:txBody>
      </p:sp>
      <p:sp>
        <p:nvSpPr>
          <p:cNvPr id="6" name="Espaço Reservado para Conteúdo 5">
            <a:extLst>
              <a:ext uri="{FF2B5EF4-FFF2-40B4-BE49-F238E27FC236}">
                <a16:creationId xmlns:a16="http://schemas.microsoft.com/office/drawing/2014/main" id="{DF695467-665F-2ACD-002A-65C1A5136D71}"/>
              </a:ext>
            </a:extLst>
          </p:cNvPr>
          <p:cNvSpPr>
            <a:spLocks noGrp="1"/>
          </p:cNvSpPr>
          <p:nvPr>
            <p:ph sz="quarter" idx="28"/>
          </p:nvPr>
        </p:nvSpPr>
        <p:spPr>
          <a:xfrm>
            <a:off x="390153" y="2179186"/>
            <a:ext cx="6063034" cy="369332"/>
          </a:xfrm>
        </p:spPr>
        <p:txBody>
          <a:bodyPr/>
          <a:lstStyle/>
          <a:p>
            <a:r>
              <a:rPr lang="pt-BR" dirty="0"/>
              <a:t>Chart 4: </a:t>
            </a:r>
            <a:r>
              <a:rPr lang="en-US" sz="1000" b="1" dirty="0"/>
              <a:t>On a scale of 0 (most bearish) to 10 (most bullish), indicate your current equity sentiment relative to historical terms.</a:t>
            </a:r>
          </a:p>
        </p:txBody>
      </p:sp>
      <p:sp>
        <p:nvSpPr>
          <p:cNvPr id="10" name="Espaço Reservado para Texto 9">
            <a:extLst>
              <a:ext uri="{FF2B5EF4-FFF2-40B4-BE49-F238E27FC236}">
                <a16:creationId xmlns:a16="http://schemas.microsoft.com/office/drawing/2014/main" id="{C22D6D7B-B171-21B5-C8DE-714040EC1CEA}"/>
              </a:ext>
            </a:extLst>
          </p:cNvPr>
          <p:cNvSpPr>
            <a:spLocks noGrp="1"/>
          </p:cNvSpPr>
          <p:nvPr>
            <p:ph type="body" sz="quarter" idx="16"/>
          </p:nvPr>
        </p:nvSpPr>
        <p:spPr/>
        <p:txBody>
          <a:bodyPr/>
          <a:lstStyle/>
          <a:p>
            <a:r>
              <a:rPr lang="en-US" dirty="0"/>
              <a:t>XP Sentiment Survey</a:t>
            </a:r>
            <a:endParaRPr lang="pt-BR" dirty="0"/>
          </a:p>
        </p:txBody>
      </p:sp>
      <p:sp>
        <p:nvSpPr>
          <p:cNvPr id="11" name="Espaço Reservado para Texto 10">
            <a:extLst>
              <a:ext uri="{FF2B5EF4-FFF2-40B4-BE49-F238E27FC236}">
                <a16:creationId xmlns:a16="http://schemas.microsoft.com/office/drawing/2014/main" id="{3551C3C7-7E17-5CC3-EB7D-5E241B8E2E39}"/>
              </a:ext>
            </a:extLst>
          </p:cNvPr>
          <p:cNvSpPr>
            <a:spLocks noGrp="1"/>
          </p:cNvSpPr>
          <p:nvPr>
            <p:ph type="body" sz="quarter" idx="17"/>
          </p:nvPr>
        </p:nvSpPr>
        <p:spPr>
          <a:xfrm>
            <a:off x="390154" y="1119209"/>
            <a:ext cx="6099545" cy="304570"/>
          </a:xfrm>
        </p:spPr>
        <p:txBody>
          <a:bodyPr vert="horz" lIns="0" tIns="0" rIns="0" bIns="0" rtlCol="0" anchor="t">
            <a:noAutofit/>
          </a:bodyPr>
          <a:lstStyle/>
          <a:p>
            <a:r>
              <a:rPr lang="en-US" dirty="0">
                <a:solidFill>
                  <a:schemeClr val="tx1"/>
                </a:solidFill>
              </a:rPr>
              <a:t>IFAs’ sentiment improves marginally</a:t>
            </a:r>
          </a:p>
        </p:txBody>
      </p:sp>
      <p:sp>
        <p:nvSpPr>
          <p:cNvPr id="12" name="Espaço Reservado para Texto 11">
            <a:extLst>
              <a:ext uri="{FF2B5EF4-FFF2-40B4-BE49-F238E27FC236}">
                <a16:creationId xmlns:a16="http://schemas.microsoft.com/office/drawing/2014/main" id="{46594125-0EBE-5F20-9E4B-11381A343271}"/>
              </a:ext>
            </a:extLst>
          </p:cNvPr>
          <p:cNvSpPr>
            <a:spLocks noGrp="1"/>
          </p:cNvSpPr>
          <p:nvPr>
            <p:ph type="body" sz="quarter" idx="32"/>
          </p:nvPr>
        </p:nvSpPr>
        <p:spPr/>
        <p:txBody>
          <a:bodyPr/>
          <a:lstStyle/>
          <a:p>
            <a:r>
              <a:rPr lang="pt-BR" dirty="0" err="1"/>
              <a:t>Source</a:t>
            </a:r>
            <a:r>
              <a:rPr lang="pt-BR" dirty="0"/>
              <a:t>: XP Research.</a:t>
            </a:r>
          </a:p>
        </p:txBody>
      </p:sp>
      <p:sp>
        <p:nvSpPr>
          <p:cNvPr id="13" name="Espaço Reservado para Data 12">
            <a:extLst>
              <a:ext uri="{FF2B5EF4-FFF2-40B4-BE49-F238E27FC236}">
                <a16:creationId xmlns:a16="http://schemas.microsoft.com/office/drawing/2014/main" id="{2BC69B0E-12AA-4967-6C69-E426A66B01E0}"/>
              </a:ext>
            </a:extLst>
          </p:cNvPr>
          <p:cNvSpPr>
            <a:spLocks noGrp="1"/>
          </p:cNvSpPr>
          <p:nvPr>
            <p:ph type="dt" sz="half" idx="2"/>
          </p:nvPr>
        </p:nvSpPr>
        <p:spPr/>
        <p:txBody>
          <a:bodyPr/>
          <a:lstStyle/>
          <a:p>
            <a:fld id="{5EBDDC5B-631B-4336-9543-98257A1F05F5}" type="datetime4">
              <a:rPr lang="en-US" smtClean="0"/>
              <a:pPr/>
              <a:t>July 27, 2026</a:t>
            </a:fld>
            <a:endParaRPr lang="en-US"/>
          </a:p>
        </p:txBody>
      </p:sp>
      <p:sp>
        <p:nvSpPr>
          <p:cNvPr id="17" name="Content Placeholder 11">
            <a:extLst>
              <a:ext uri="{FF2B5EF4-FFF2-40B4-BE49-F238E27FC236}">
                <a16:creationId xmlns:a16="http://schemas.microsoft.com/office/drawing/2014/main" id="{C69237D2-16DB-EFCA-D4DB-1E0E246AB14D}"/>
              </a:ext>
            </a:extLst>
          </p:cNvPr>
          <p:cNvSpPr txBox="1">
            <a:spLocks/>
          </p:cNvSpPr>
          <p:nvPr/>
        </p:nvSpPr>
        <p:spPr>
          <a:xfrm>
            <a:off x="382829" y="6514850"/>
            <a:ext cx="609954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Chart 5: In your opinion, what is the expected level for Ibovespa YE2026?</a:t>
            </a:r>
          </a:p>
        </p:txBody>
      </p:sp>
      <p:graphicFrame>
        <p:nvGraphicFramePr>
          <p:cNvPr id="5" name="Object 4">
            <a:extLst>
              <a:ext uri="{FF2B5EF4-FFF2-40B4-BE49-F238E27FC236}">
                <a16:creationId xmlns:a16="http://schemas.microsoft.com/office/drawing/2014/main" id="{6F498259-9306-1037-ABC0-BF038D61D176}"/>
              </a:ext>
            </a:extLst>
          </p:cNvPr>
          <p:cNvGraphicFramePr>
            <a:graphicFrameLocks noChangeAspect="1"/>
          </p:cNvGraphicFramePr>
          <p:nvPr>
            <p:extLst>
              <p:ext uri="{D42A27DB-BD31-4B8C-83A1-F6EECF244321}">
                <p14:modId xmlns:p14="http://schemas.microsoft.com/office/powerpoint/2010/main" val="424137685"/>
              </p:ext>
            </p:extLst>
          </p:nvPr>
        </p:nvGraphicFramePr>
        <p:xfrm>
          <a:off x="349249" y="2601141"/>
          <a:ext cx="6103938" cy="2684462"/>
        </p:xfrm>
        <a:graphic>
          <a:graphicData uri="http://schemas.openxmlformats.org/presentationml/2006/ole">
            <mc:AlternateContent xmlns:mc="http://schemas.openxmlformats.org/markup-compatibility/2006">
              <mc:Choice xmlns:v="urn:schemas-microsoft-com:vml" Requires="v">
                <p:oleObj name="Worksheet" r:id="rId2" imgW="5943600" imgH="2918114" progId="Excel.Sheet.12">
                  <p:link updateAutomatic="1"/>
                </p:oleObj>
              </mc:Choice>
              <mc:Fallback>
                <p:oleObj name="Worksheet" r:id="rId2" imgW="5943600" imgH="2918114" progId="Excel.Sheet.12">
                  <p:link updateAutomatic="1"/>
                  <p:pic>
                    <p:nvPicPr>
                      <p:cNvPr id="5" name="Object 4">
                        <a:extLst>
                          <a:ext uri="{FF2B5EF4-FFF2-40B4-BE49-F238E27FC236}">
                            <a16:creationId xmlns:a16="http://schemas.microsoft.com/office/drawing/2014/main" id="{6F498259-9306-1037-ABC0-BF038D61D176}"/>
                          </a:ext>
                        </a:extLst>
                      </p:cNvPr>
                      <p:cNvPicPr/>
                      <p:nvPr/>
                    </p:nvPicPr>
                    <p:blipFill>
                      <a:blip r:embed="rId3"/>
                      <a:stretch>
                        <a:fillRect/>
                      </a:stretch>
                    </p:blipFill>
                    <p:spPr>
                      <a:xfrm>
                        <a:off x="349249" y="2601141"/>
                        <a:ext cx="6103938" cy="2684462"/>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FB1FCB60-8110-D6BD-55BD-2465B481E9F5}"/>
              </a:ext>
            </a:extLst>
          </p:cNvPr>
          <p:cNvGraphicFramePr>
            <a:graphicFrameLocks noChangeAspect="1"/>
          </p:cNvGraphicFramePr>
          <p:nvPr>
            <p:extLst>
              <p:ext uri="{D42A27DB-BD31-4B8C-83A1-F6EECF244321}">
                <p14:modId xmlns:p14="http://schemas.microsoft.com/office/powerpoint/2010/main" val="3289025364"/>
              </p:ext>
            </p:extLst>
          </p:nvPr>
        </p:nvGraphicFramePr>
        <p:xfrm>
          <a:off x="388938" y="6781800"/>
          <a:ext cx="6134100" cy="2681288"/>
        </p:xfrm>
        <a:graphic>
          <a:graphicData uri="http://schemas.openxmlformats.org/presentationml/2006/ole">
            <mc:AlternateContent xmlns:mc="http://schemas.openxmlformats.org/markup-compatibility/2006">
              <mc:Choice xmlns:v="urn:schemas-microsoft-com:vml" Requires="v">
                <p:oleObj name="Worksheet" r:id="rId4" imgW="6133710" imgH="2681832" progId="Excel.Sheet.12">
                  <p:link updateAutomatic="1"/>
                </p:oleObj>
              </mc:Choice>
              <mc:Fallback>
                <p:oleObj name="Worksheet" r:id="rId4" imgW="6133710" imgH="2681832" progId="Excel.Sheet.12">
                  <p:link updateAutomatic="1"/>
                  <p:pic>
                    <p:nvPicPr>
                      <p:cNvPr id="0" name=""/>
                      <p:cNvPicPr/>
                      <p:nvPr/>
                    </p:nvPicPr>
                    <p:blipFill>
                      <a:blip r:embed="rId5"/>
                      <a:stretch>
                        <a:fillRect/>
                      </a:stretch>
                    </p:blipFill>
                    <p:spPr>
                      <a:xfrm>
                        <a:off x="388938" y="6781800"/>
                        <a:ext cx="6134100" cy="2681288"/>
                      </a:xfrm>
                      <a:prstGeom prst="rect">
                        <a:avLst/>
                      </a:prstGeom>
                    </p:spPr>
                  </p:pic>
                </p:oleObj>
              </mc:Fallback>
            </mc:AlternateContent>
          </a:graphicData>
        </a:graphic>
      </p:graphicFrame>
    </p:spTree>
    <p:extLst>
      <p:ext uri="{BB962C8B-B14F-4D97-AF65-F5344CB8AC3E}">
        <p14:creationId xmlns:p14="http://schemas.microsoft.com/office/powerpoint/2010/main" val="26727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68C9B52-415D-4C0B-8168-0C0246C34DA4}"/>
              </a:ext>
            </a:extLst>
          </p:cNvPr>
          <p:cNvSpPr>
            <a:spLocks noGrp="1"/>
          </p:cNvSpPr>
          <p:nvPr>
            <p:ph sz="quarter" idx="23"/>
          </p:nvPr>
        </p:nvSpPr>
        <p:spPr>
          <a:xfrm>
            <a:off x="368300" y="7093825"/>
            <a:ext cx="2974861" cy="369332"/>
          </a:xfrm>
        </p:spPr>
        <p:txBody>
          <a:bodyPr/>
          <a:lstStyle/>
          <a:p>
            <a:r>
              <a:rPr lang="en-US" dirty="0"/>
              <a:t>Chart 7: What percentage of your clients already invest in international assets?</a:t>
            </a:r>
          </a:p>
        </p:txBody>
      </p:sp>
      <p:sp>
        <p:nvSpPr>
          <p:cNvPr id="6" name="Content Placeholder 5">
            <a:extLst>
              <a:ext uri="{FF2B5EF4-FFF2-40B4-BE49-F238E27FC236}">
                <a16:creationId xmlns:a16="http://schemas.microsoft.com/office/drawing/2014/main" id="{1236E18C-DDCF-4D37-992A-3D5CC19BF857}"/>
              </a:ext>
            </a:extLst>
          </p:cNvPr>
          <p:cNvSpPr>
            <a:spLocks noGrp="1"/>
          </p:cNvSpPr>
          <p:nvPr>
            <p:ph sz="quarter" idx="24"/>
          </p:nvPr>
        </p:nvSpPr>
        <p:spPr>
          <a:xfrm>
            <a:off x="3514841" y="7081633"/>
            <a:ext cx="2974855" cy="369332"/>
          </a:xfrm>
        </p:spPr>
        <p:txBody>
          <a:bodyPr/>
          <a:lstStyle/>
          <a:p>
            <a:r>
              <a:rPr lang="en-US" dirty="0"/>
              <a:t>Chart 8: In international investments, your clients are interested in:</a:t>
            </a:r>
          </a:p>
        </p:txBody>
      </p:sp>
      <p:sp>
        <p:nvSpPr>
          <p:cNvPr id="13" name="Text Placeholder 12">
            <a:extLst>
              <a:ext uri="{FF2B5EF4-FFF2-40B4-BE49-F238E27FC236}">
                <a16:creationId xmlns:a16="http://schemas.microsoft.com/office/drawing/2014/main" id="{F97B7FBD-346A-4D88-BD9C-1322005A7B18}"/>
              </a:ext>
            </a:extLst>
          </p:cNvPr>
          <p:cNvSpPr>
            <a:spLocks noGrp="1"/>
          </p:cNvSpPr>
          <p:nvPr>
            <p:ph type="body" sz="quarter" idx="16"/>
          </p:nvPr>
        </p:nvSpPr>
        <p:spPr/>
        <p:txBody>
          <a:bodyPr/>
          <a:lstStyle/>
          <a:p>
            <a:r>
              <a:rPr lang="en-US" dirty="0"/>
              <a:t>XP Sentiment Survey</a:t>
            </a:r>
          </a:p>
        </p:txBody>
      </p:sp>
      <p:sp>
        <p:nvSpPr>
          <p:cNvPr id="14" name="Text Placeholder 13">
            <a:extLst>
              <a:ext uri="{FF2B5EF4-FFF2-40B4-BE49-F238E27FC236}">
                <a16:creationId xmlns:a16="http://schemas.microsoft.com/office/drawing/2014/main" id="{6984E8F4-404A-4A81-87A4-70586C96858E}"/>
              </a:ext>
            </a:extLst>
          </p:cNvPr>
          <p:cNvSpPr>
            <a:spLocks noGrp="1"/>
          </p:cNvSpPr>
          <p:nvPr>
            <p:ph type="body" sz="quarter" idx="17"/>
          </p:nvPr>
        </p:nvSpPr>
        <p:spPr>
          <a:xfrm>
            <a:off x="390154" y="1119209"/>
            <a:ext cx="6524996" cy="304570"/>
          </a:xfrm>
        </p:spPr>
        <p:txBody>
          <a:bodyPr vert="horz" lIns="0" tIns="0" rIns="0" bIns="0" rtlCol="0" anchor="t">
            <a:noAutofit/>
          </a:bodyPr>
          <a:lstStyle/>
          <a:p>
            <a:r>
              <a:rPr lang="en-US" dirty="0"/>
              <a:t>Fixed income remains the #1 asset class, despite a sharp drop in interest</a:t>
            </a:r>
            <a:endParaRPr lang="en-US" dirty="0">
              <a:solidFill>
                <a:schemeClr val="tx1"/>
              </a:solidFill>
            </a:endParaRPr>
          </a:p>
        </p:txBody>
      </p:sp>
      <p:sp>
        <p:nvSpPr>
          <p:cNvPr id="15" name="Text Placeholder 14">
            <a:extLst>
              <a:ext uri="{FF2B5EF4-FFF2-40B4-BE49-F238E27FC236}">
                <a16:creationId xmlns:a16="http://schemas.microsoft.com/office/drawing/2014/main" id="{CA791251-1188-4615-AC26-200476488594}"/>
              </a:ext>
            </a:extLst>
          </p:cNvPr>
          <p:cNvSpPr>
            <a:spLocks noGrp="1"/>
          </p:cNvSpPr>
          <p:nvPr>
            <p:ph type="body" sz="quarter" idx="31"/>
          </p:nvPr>
        </p:nvSpPr>
        <p:spPr/>
        <p:txBody>
          <a:bodyPr/>
          <a:lstStyle/>
          <a:p>
            <a:r>
              <a:rPr lang="en-US" dirty="0"/>
              <a:t>Source: XP Research. </a:t>
            </a:r>
          </a:p>
        </p:txBody>
      </p:sp>
      <p:sp>
        <p:nvSpPr>
          <p:cNvPr id="16" name="Date Placeholder 15">
            <a:extLst>
              <a:ext uri="{FF2B5EF4-FFF2-40B4-BE49-F238E27FC236}">
                <a16:creationId xmlns:a16="http://schemas.microsoft.com/office/drawing/2014/main" id="{A724230B-9781-4AF2-9DE7-3F83DFFE3493}"/>
              </a:ext>
            </a:extLst>
          </p:cNvPr>
          <p:cNvSpPr>
            <a:spLocks noGrp="1"/>
          </p:cNvSpPr>
          <p:nvPr>
            <p:ph type="dt" sz="half" idx="2"/>
          </p:nvPr>
        </p:nvSpPr>
        <p:spPr/>
        <p:txBody>
          <a:bodyPr/>
          <a:lstStyle/>
          <a:p>
            <a:fld id="{944B1522-D64F-491F-B357-196ED417A415}" type="datetime4">
              <a:rPr lang="en-US" smtClean="0"/>
              <a:pPr/>
              <a:t>July 27, 2026</a:t>
            </a:fld>
            <a:endParaRPr lang="en-US" dirty="0"/>
          </a:p>
        </p:txBody>
      </p:sp>
      <p:sp>
        <p:nvSpPr>
          <p:cNvPr id="18" name="Text Placeholder 1">
            <a:extLst>
              <a:ext uri="{FF2B5EF4-FFF2-40B4-BE49-F238E27FC236}">
                <a16:creationId xmlns:a16="http://schemas.microsoft.com/office/drawing/2014/main" id="{B8480CA5-E1D0-1C25-1B96-F5FC5B83D670}"/>
              </a:ext>
            </a:extLst>
          </p:cNvPr>
          <p:cNvSpPr txBox="1">
            <a:spLocks/>
          </p:cNvSpPr>
          <p:nvPr/>
        </p:nvSpPr>
        <p:spPr>
          <a:xfrm>
            <a:off x="368296" y="5394988"/>
            <a:ext cx="6121400" cy="1618799"/>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solidFill>
                  <a:schemeClr val="tx1"/>
                </a:solidFill>
              </a:rPr>
              <a:t>Interest in international investments (Chart 6) declined to 21% (-15 p.p. MoM). The 0-5% (-4 p.p. MoM) and 10-20% (-2 p.p. MoM) allocation brackets (Chart 7) moved lower, while the 5-10% bracket posted a small increase (+3 p.p. MoM). In addition, we observed an increase in allocations above 50%, which rose from 1% to 4%.</a:t>
            </a:r>
          </a:p>
          <a:p>
            <a:r>
              <a:rPr lang="en-US" dirty="0">
                <a:solidFill>
                  <a:schemeClr val="tx1"/>
                </a:solidFill>
              </a:rPr>
              <a:t>According to our survey, the most in demand international asset classes are: 1) </a:t>
            </a:r>
            <a:r>
              <a:rPr lang="en-US" b="1" dirty="0">
                <a:solidFill>
                  <a:schemeClr val="tx1"/>
                </a:solidFill>
              </a:rPr>
              <a:t>ETFs</a:t>
            </a:r>
            <a:r>
              <a:rPr lang="en-US" dirty="0">
                <a:solidFill>
                  <a:schemeClr val="tx1"/>
                </a:solidFill>
              </a:rPr>
              <a:t> (67%, -3 p.p. MoM); 2) </a:t>
            </a:r>
            <a:r>
              <a:rPr lang="en-US" b="1" dirty="0">
                <a:solidFill>
                  <a:schemeClr val="tx1"/>
                </a:solidFill>
              </a:rPr>
              <a:t>International Funds</a:t>
            </a:r>
            <a:r>
              <a:rPr lang="en-US" dirty="0">
                <a:solidFill>
                  <a:schemeClr val="tx1"/>
                </a:solidFill>
              </a:rPr>
              <a:t> (47%, -3 p.p. MoM); 3) </a:t>
            </a:r>
            <a:r>
              <a:rPr lang="en-US" b="1" dirty="0">
                <a:solidFill>
                  <a:schemeClr val="tx1"/>
                </a:solidFill>
              </a:rPr>
              <a:t>BDRs</a:t>
            </a:r>
            <a:r>
              <a:rPr lang="en-US" dirty="0">
                <a:solidFill>
                  <a:schemeClr val="tx1"/>
                </a:solidFill>
              </a:rPr>
              <a:t> (36%, -6 p.p. MoM); 4) </a:t>
            </a:r>
            <a:r>
              <a:rPr lang="en-US" b="1" dirty="0">
                <a:solidFill>
                  <a:schemeClr val="tx1"/>
                </a:solidFill>
              </a:rPr>
              <a:t>Bonds</a:t>
            </a:r>
            <a:r>
              <a:rPr lang="en-US" dirty="0">
                <a:solidFill>
                  <a:schemeClr val="tx1"/>
                </a:solidFill>
              </a:rPr>
              <a:t> (28%, +5 p.p. MoM); and 5) </a:t>
            </a:r>
            <a:r>
              <a:rPr lang="en-US" b="1" dirty="0">
                <a:solidFill>
                  <a:schemeClr val="tx1"/>
                </a:solidFill>
              </a:rPr>
              <a:t>Dollar</a:t>
            </a:r>
            <a:r>
              <a:rPr lang="en-US" dirty="0">
                <a:solidFill>
                  <a:schemeClr val="tx1"/>
                </a:solidFill>
              </a:rPr>
              <a:t> (23%, -5 p.p. MoM).</a:t>
            </a:r>
          </a:p>
        </p:txBody>
      </p:sp>
      <p:sp>
        <p:nvSpPr>
          <p:cNvPr id="2" name="Content Placeholder 4">
            <a:extLst>
              <a:ext uri="{FF2B5EF4-FFF2-40B4-BE49-F238E27FC236}">
                <a16:creationId xmlns:a16="http://schemas.microsoft.com/office/drawing/2014/main" id="{5B84587C-D49B-6DA0-1875-C5CD296123F7}"/>
              </a:ext>
            </a:extLst>
          </p:cNvPr>
          <p:cNvSpPr txBox="1">
            <a:spLocks/>
          </p:cNvSpPr>
          <p:nvPr/>
        </p:nvSpPr>
        <p:spPr>
          <a:xfrm>
            <a:off x="390151" y="2604651"/>
            <a:ext cx="6099545"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Chart 6: Which assets are your clients interested in? </a:t>
            </a:r>
            <a:endParaRPr lang="en-US" baseline="30000" dirty="0"/>
          </a:p>
        </p:txBody>
      </p:sp>
      <p:sp>
        <p:nvSpPr>
          <p:cNvPr id="7" name="Espaço Reservado para Texto 1">
            <a:extLst>
              <a:ext uri="{FF2B5EF4-FFF2-40B4-BE49-F238E27FC236}">
                <a16:creationId xmlns:a16="http://schemas.microsoft.com/office/drawing/2014/main" id="{16692299-BBD7-A24B-D29D-70C70AD5B378}"/>
              </a:ext>
            </a:extLst>
          </p:cNvPr>
          <p:cNvSpPr txBox="1">
            <a:spLocks/>
          </p:cNvSpPr>
          <p:nvPr/>
        </p:nvSpPr>
        <p:spPr>
          <a:xfrm>
            <a:off x="382829" y="1391046"/>
            <a:ext cx="6063034" cy="1051797"/>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t>July’s survey shows that </a:t>
            </a:r>
            <a:r>
              <a:rPr lang="en-US" b="1" dirty="0"/>
              <a:t>Fixed Income</a:t>
            </a:r>
            <a:r>
              <a:rPr lang="en-US" dirty="0"/>
              <a:t> remains the most demanded asset class among clients, although interest declined significantly to 58% (-18 p.p. MoM), while </a:t>
            </a:r>
            <a:r>
              <a:rPr lang="en-US" b="1" dirty="0"/>
              <a:t>Fixed Income Funds</a:t>
            </a:r>
            <a:r>
              <a:rPr lang="en-US" dirty="0"/>
              <a:t> also dropped significantly to 36% (-21 p.p. MoM). Meanwhile, interest in </a:t>
            </a:r>
            <a:r>
              <a:rPr lang="en-US" b="1" dirty="0"/>
              <a:t>Equities</a:t>
            </a:r>
            <a:r>
              <a:rPr lang="en-US" dirty="0"/>
              <a:t> and </a:t>
            </a:r>
            <a:r>
              <a:rPr lang="en-US" b="1" dirty="0"/>
              <a:t>Real Estate Funds</a:t>
            </a:r>
            <a:r>
              <a:rPr lang="en-US" dirty="0"/>
              <a:t> fell to 25% (-8 p.p. MoM) and 21% (-15 p.p. MoM), respectively. Finally, interest in </a:t>
            </a:r>
            <a:r>
              <a:rPr lang="en-US" b="1" dirty="0"/>
              <a:t>Equity Funds</a:t>
            </a:r>
            <a:r>
              <a:rPr lang="en-US" dirty="0"/>
              <a:t> also declined sharply, to 1% (-7 p.p. MoM).</a:t>
            </a:r>
            <a:endParaRPr lang="en-US" dirty="0">
              <a:solidFill>
                <a:schemeClr val="tx1"/>
              </a:solidFill>
            </a:endParaRPr>
          </a:p>
        </p:txBody>
      </p:sp>
      <p:graphicFrame>
        <p:nvGraphicFramePr>
          <p:cNvPr id="17" name="Object 16">
            <a:extLst>
              <a:ext uri="{FF2B5EF4-FFF2-40B4-BE49-F238E27FC236}">
                <a16:creationId xmlns:a16="http://schemas.microsoft.com/office/drawing/2014/main" id="{DD478D4E-1381-C813-EB13-6F7E87586E09}"/>
              </a:ext>
            </a:extLst>
          </p:cNvPr>
          <p:cNvGraphicFramePr>
            <a:graphicFrameLocks noChangeAspect="1"/>
          </p:cNvGraphicFramePr>
          <p:nvPr>
            <p:extLst>
              <p:ext uri="{D42A27DB-BD31-4B8C-83A1-F6EECF244321}">
                <p14:modId xmlns:p14="http://schemas.microsoft.com/office/powerpoint/2010/main" val="3830921135"/>
              </p:ext>
            </p:extLst>
          </p:nvPr>
        </p:nvGraphicFramePr>
        <p:xfrm>
          <a:off x="368303" y="7515985"/>
          <a:ext cx="2823191" cy="1980000"/>
        </p:xfrm>
        <a:graphic>
          <a:graphicData uri="http://schemas.openxmlformats.org/presentationml/2006/ole">
            <mc:AlternateContent xmlns:mc="http://schemas.openxmlformats.org/markup-compatibility/2006">
              <mc:Choice xmlns:v="urn:schemas-microsoft-com:vml" Requires="v">
                <p:oleObj name="Worksheet" r:id="rId3" imgW="2948621" imgH="2064612" progId="Excel.Sheet.12">
                  <p:link updateAutomatic="1"/>
                </p:oleObj>
              </mc:Choice>
              <mc:Fallback>
                <p:oleObj name="Worksheet" r:id="rId3" imgW="2948621" imgH="2064612" progId="Excel.Sheet.12">
                  <p:link updateAutomatic="1"/>
                  <p:pic>
                    <p:nvPicPr>
                      <p:cNvPr id="17" name="Object 16">
                        <a:extLst>
                          <a:ext uri="{FF2B5EF4-FFF2-40B4-BE49-F238E27FC236}">
                            <a16:creationId xmlns:a16="http://schemas.microsoft.com/office/drawing/2014/main" id="{DD478D4E-1381-C813-EB13-6F7E87586E09}"/>
                          </a:ext>
                        </a:extLst>
                      </p:cNvPr>
                      <p:cNvPicPr/>
                      <p:nvPr/>
                    </p:nvPicPr>
                    <p:blipFill>
                      <a:blip r:embed="rId4"/>
                      <a:stretch>
                        <a:fillRect/>
                      </a:stretch>
                    </p:blipFill>
                    <p:spPr>
                      <a:xfrm>
                        <a:off x="368303" y="7515985"/>
                        <a:ext cx="2823191" cy="19800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E842F6FD-A0F6-68E5-AECF-1687220DB086}"/>
              </a:ext>
            </a:extLst>
          </p:cNvPr>
          <p:cNvGraphicFramePr>
            <a:graphicFrameLocks noChangeAspect="1"/>
          </p:cNvGraphicFramePr>
          <p:nvPr>
            <p:extLst>
              <p:ext uri="{D42A27DB-BD31-4B8C-83A1-F6EECF244321}">
                <p14:modId xmlns:p14="http://schemas.microsoft.com/office/powerpoint/2010/main" val="2168914907"/>
              </p:ext>
            </p:extLst>
          </p:nvPr>
        </p:nvGraphicFramePr>
        <p:xfrm>
          <a:off x="3514725" y="7515225"/>
          <a:ext cx="2974975" cy="1792288"/>
        </p:xfrm>
        <a:graphic>
          <a:graphicData uri="http://schemas.openxmlformats.org/presentationml/2006/ole">
            <mc:AlternateContent xmlns:mc="http://schemas.openxmlformats.org/markup-compatibility/2006">
              <mc:Choice xmlns:v="urn:schemas-microsoft-com:vml" Requires="v">
                <p:oleObj name="Worksheet" r:id="rId5" imgW="2903114" imgH="2072247" progId="Excel.Sheet.12">
                  <p:link updateAutomatic="1"/>
                </p:oleObj>
              </mc:Choice>
              <mc:Fallback>
                <p:oleObj name="Worksheet" r:id="rId5" imgW="2903114" imgH="2072247" progId="Excel.Sheet.12">
                  <p:link updateAutomatic="1"/>
                  <p:pic>
                    <p:nvPicPr>
                      <p:cNvPr id="19" name="Object 18">
                        <a:extLst>
                          <a:ext uri="{FF2B5EF4-FFF2-40B4-BE49-F238E27FC236}">
                            <a16:creationId xmlns:a16="http://schemas.microsoft.com/office/drawing/2014/main" id="{E842F6FD-A0F6-68E5-AECF-1687220DB086}"/>
                          </a:ext>
                        </a:extLst>
                      </p:cNvPr>
                      <p:cNvPicPr/>
                      <p:nvPr/>
                    </p:nvPicPr>
                    <p:blipFill>
                      <a:blip r:embed="rId6"/>
                      <a:stretch>
                        <a:fillRect/>
                      </a:stretch>
                    </p:blipFill>
                    <p:spPr>
                      <a:xfrm>
                        <a:off x="3514725" y="7515225"/>
                        <a:ext cx="2974975" cy="1792288"/>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1B7A0AF2-2FF9-0038-26B7-90F2207DC7CE}"/>
              </a:ext>
            </a:extLst>
          </p:cNvPr>
          <p:cNvGraphicFramePr>
            <a:graphicFrameLocks noChangeAspect="1"/>
          </p:cNvGraphicFramePr>
          <p:nvPr>
            <p:extLst>
              <p:ext uri="{D42A27DB-BD31-4B8C-83A1-F6EECF244321}">
                <p14:modId xmlns:p14="http://schemas.microsoft.com/office/powerpoint/2010/main" val="1293493986"/>
              </p:ext>
            </p:extLst>
          </p:nvPr>
        </p:nvGraphicFramePr>
        <p:xfrm>
          <a:off x="390151" y="2888311"/>
          <a:ext cx="6055712" cy="2544762"/>
        </p:xfrm>
        <a:graphic>
          <a:graphicData uri="http://schemas.openxmlformats.org/presentationml/2006/ole">
            <mc:AlternateContent xmlns:mc="http://schemas.openxmlformats.org/markup-compatibility/2006">
              <mc:Choice xmlns:v="urn:schemas-microsoft-com:vml" Requires="v">
                <p:oleObj name="Worksheet" r:id="rId7" imgW="5966141" imgH="2544813" progId="Excel.Sheet.12">
                  <p:link updateAutomatic="1"/>
                </p:oleObj>
              </mc:Choice>
              <mc:Fallback>
                <p:oleObj name="Worksheet" r:id="rId7" imgW="5966141" imgH="2544813" progId="Excel.Sheet.12">
                  <p:link updateAutomatic="1"/>
                  <p:pic>
                    <p:nvPicPr>
                      <p:cNvPr id="0" name=""/>
                      <p:cNvPicPr/>
                      <p:nvPr/>
                    </p:nvPicPr>
                    <p:blipFill>
                      <a:blip r:embed="rId8"/>
                      <a:stretch>
                        <a:fillRect/>
                      </a:stretch>
                    </p:blipFill>
                    <p:spPr>
                      <a:xfrm>
                        <a:off x="390151" y="2888311"/>
                        <a:ext cx="6055712" cy="2544762"/>
                      </a:xfrm>
                      <a:prstGeom prst="rect">
                        <a:avLst/>
                      </a:prstGeom>
                    </p:spPr>
                  </p:pic>
                </p:oleObj>
              </mc:Fallback>
            </mc:AlternateContent>
          </a:graphicData>
        </a:graphic>
      </p:graphicFrame>
    </p:spTree>
    <p:extLst>
      <p:ext uri="{BB962C8B-B14F-4D97-AF65-F5344CB8AC3E}">
        <p14:creationId xmlns:p14="http://schemas.microsoft.com/office/powerpoint/2010/main" val="3116296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68C9B52-415D-4C0B-8168-0C0246C34DA4}"/>
              </a:ext>
            </a:extLst>
          </p:cNvPr>
          <p:cNvSpPr>
            <a:spLocks noGrp="1"/>
          </p:cNvSpPr>
          <p:nvPr>
            <p:ph sz="quarter" idx="23"/>
          </p:nvPr>
        </p:nvSpPr>
        <p:spPr>
          <a:xfrm>
            <a:off x="3564287" y="1497547"/>
            <a:ext cx="2938221" cy="369332"/>
          </a:xfrm>
        </p:spPr>
        <p:txBody>
          <a:bodyPr/>
          <a:lstStyle/>
          <a:p>
            <a:r>
              <a:rPr lang="en-US" dirty="0"/>
              <a:t>Chart 9: What do you think could be the biggest tail risk for Brazilian equities in the coming months?</a:t>
            </a:r>
          </a:p>
        </p:txBody>
      </p:sp>
      <p:sp>
        <p:nvSpPr>
          <p:cNvPr id="6" name="Content Placeholder 5">
            <a:extLst>
              <a:ext uri="{FF2B5EF4-FFF2-40B4-BE49-F238E27FC236}">
                <a16:creationId xmlns:a16="http://schemas.microsoft.com/office/drawing/2014/main" id="{1236E18C-DDCF-4D37-992A-3D5CC19BF857}"/>
              </a:ext>
            </a:extLst>
          </p:cNvPr>
          <p:cNvSpPr>
            <a:spLocks noGrp="1"/>
          </p:cNvSpPr>
          <p:nvPr>
            <p:ph sz="quarter" idx="24"/>
          </p:nvPr>
        </p:nvSpPr>
        <p:spPr>
          <a:xfrm>
            <a:off x="390152" y="5983272"/>
            <a:ext cx="6099545" cy="230832"/>
          </a:xfrm>
        </p:spPr>
        <p:txBody>
          <a:bodyPr/>
          <a:lstStyle/>
          <a:p>
            <a:r>
              <a:rPr lang="en-US" dirty="0"/>
              <a:t>Chart 11: Which sectors are your clients most interested in investing currently?</a:t>
            </a:r>
          </a:p>
        </p:txBody>
      </p:sp>
      <p:sp>
        <p:nvSpPr>
          <p:cNvPr id="13" name="Text Placeholder 12">
            <a:extLst>
              <a:ext uri="{FF2B5EF4-FFF2-40B4-BE49-F238E27FC236}">
                <a16:creationId xmlns:a16="http://schemas.microsoft.com/office/drawing/2014/main" id="{F97B7FBD-346A-4D88-BD9C-1322005A7B18}"/>
              </a:ext>
            </a:extLst>
          </p:cNvPr>
          <p:cNvSpPr>
            <a:spLocks noGrp="1"/>
          </p:cNvSpPr>
          <p:nvPr>
            <p:ph type="body" sz="quarter" idx="16"/>
          </p:nvPr>
        </p:nvSpPr>
        <p:spPr/>
        <p:txBody>
          <a:bodyPr/>
          <a:lstStyle/>
          <a:p>
            <a:r>
              <a:rPr lang="en-US" dirty="0"/>
              <a:t>XP Sentiment Survey</a:t>
            </a:r>
          </a:p>
        </p:txBody>
      </p:sp>
      <p:sp>
        <p:nvSpPr>
          <p:cNvPr id="14" name="Text Placeholder 13">
            <a:extLst>
              <a:ext uri="{FF2B5EF4-FFF2-40B4-BE49-F238E27FC236}">
                <a16:creationId xmlns:a16="http://schemas.microsoft.com/office/drawing/2014/main" id="{6984E8F4-404A-4A81-87A4-70586C96858E}"/>
              </a:ext>
            </a:extLst>
          </p:cNvPr>
          <p:cNvSpPr>
            <a:spLocks noGrp="1"/>
          </p:cNvSpPr>
          <p:nvPr>
            <p:ph type="body" sz="quarter" idx="17"/>
          </p:nvPr>
        </p:nvSpPr>
        <p:spPr>
          <a:xfrm>
            <a:off x="390153" y="1119209"/>
            <a:ext cx="6768000" cy="304570"/>
          </a:xfrm>
        </p:spPr>
        <p:txBody>
          <a:bodyPr vert="horz" lIns="0" tIns="0" rIns="0" bIns="0" rtlCol="0" anchor="t">
            <a:noAutofit/>
          </a:bodyPr>
          <a:lstStyle/>
          <a:p>
            <a:r>
              <a:rPr lang="en-US" dirty="0">
                <a:solidFill>
                  <a:schemeClr val="tx1"/>
                </a:solidFill>
              </a:rPr>
              <a:t>Fiscal risks in Brazil remain as the key concern</a:t>
            </a:r>
          </a:p>
        </p:txBody>
      </p:sp>
      <p:graphicFrame>
        <p:nvGraphicFramePr>
          <p:cNvPr id="3" name="Object 2">
            <a:extLst>
              <a:ext uri="{FF2B5EF4-FFF2-40B4-BE49-F238E27FC236}">
                <a16:creationId xmlns:a16="http://schemas.microsoft.com/office/drawing/2014/main" id="{B841F9D3-CFC3-09D6-45D9-B46D7A17F9EE}"/>
              </a:ext>
            </a:extLst>
          </p:cNvPr>
          <p:cNvGraphicFramePr>
            <a:graphicFrameLocks noChangeAspect="1"/>
          </p:cNvGraphicFramePr>
          <p:nvPr>
            <p:extLst>
              <p:ext uri="{D42A27DB-BD31-4B8C-83A1-F6EECF244321}">
                <p14:modId xmlns:p14="http://schemas.microsoft.com/office/powerpoint/2010/main" val="1126472458"/>
              </p:ext>
            </p:extLst>
          </p:nvPr>
        </p:nvGraphicFramePr>
        <p:xfrm>
          <a:off x="3536951" y="4203700"/>
          <a:ext cx="3058474" cy="1692000"/>
        </p:xfrm>
        <a:graphic>
          <a:graphicData uri="http://schemas.openxmlformats.org/presentationml/2006/ole">
            <mc:AlternateContent xmlns:mc="http://schemas.openxmlformats.org/markup-compatibility/2006">
              <mc:Choice xmlns:v="urn:schemas-microsoft-com:vml" Requires="v">
                <p:oleObj name="Worksheet" r:id="rId2" imgW="3931920" imgH="2232597" progId="Excel.Sheet.12">
                  <p:link updateAutomatic="1"/>
                </p:oleObj>
              </mc:Choice>
              <mc:Fallback>
                <p:oleObj name="Worksheet" r:id="rId2" imgW="3931920" imgH="2232597" progId="Excel.Sheet.12">
                  <p:link updateAutomatic="1"/>
                  <p:pic>
                    <p:nvPicPr>
                      <p:cNvPr id="3" name="Object 2">
                        <a:extLst>
                          <a:ext uri="{FF2B5EF4-FFF2-40B4-BE49-F238E27FC236}">
                            <a16:creationId xmlns:a16="http://schemas.microsoft.com/office/drawing/2014/main" id="{B841F9D3-CFC3-09D6-45D9-B46D7A17F9EE}"/>
                          </a:ext>
                        </a:extLst>
                      </p:cNvPr>
                      <p:cNvPicPr/>
                      <p:nvPr/>
                    </p:nvPicPr>
                    <p:blipFill>
                      <a:blip r:embed="rId3"/>
                      <a:stretch>
                        <a:fillRect/>
                      </a:stretch>
                    </p:blipFill>
                    <p:spPr>
                      <a:xfrm>
                        <a:off x="3536951" y="4203700"/>
                        <a:ext cx="3058474" cy="1692000"/>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CA791251-1188-4615-AC26-200476488594}"/>
              </a:ext>
            </a:extLst>
          </p:cNvPr>
          <p:cNvSpPr>
            <a:spLocks noGrp="1"/>
          </p:cNvSpPr>
          <p:nvPr>
            <p:ph type="body" sz="quarter" idx="31"/>
          </p:nvPr>
        </p:nvSpPr>
        <p:spPr/>
        <p:txBody>
          <a:bodyPr/>
          <a:lstStyle/>
          <a:p>
            <a:r>
              <a:rPr lang="en-US" dirty="0"/>
              <a:t>Source: XP Research. </a:t>
            </a:r>
          </a:p>
        </p:txBody>
      </p:sp>
      <p:sp>
        <p:nvSpPr>
          <p:cNvPr id="16" name="Date Placeholder 15">
            <a:extLst>
              <a:ext uri="{FF2B5EF4-FFF2-40B4-BE49-F238E27FC236}">
                <a16:creationId xmlns:a16="http://schemas.microsoft.com/office/drawing/2014/main" id="{A724230B-9781-4AF2-9DE7-3F83DFFE3493}"/>
              </a:ext>
            </a:extLst>
          </p:cNvPr>
          <p:cNvSpPr>
            <a:spLocks noGrp="1"/>
          </p:cNvSpPr>
          <p:nvPr>
            <p:ph type="dt" sz="half" idx="2"/>
          </p:nvPr>
        </p:nvSpPr>
        <p:spPr/>
        <p:txBody>
          <a:bodyPr/>
          <a:lstStyle/>
          <a:p>
            <a:fld id="{944B1522-D64F-491F-B357-196ED417A415}" type="datetime4">
              <a:rPr lang="en-US" smtClean="0"/>
              <a:pPr/>
              <a:t>July 27, 2026</a:t>
            </a:fld>
            <a:endParaRPr lang="en-US" dirty="0"/>
          </a:p>
        </p:txBody>
      </p:sp>
      <p:sp>
        <p:nvSpPr>
          <p:cNvPr id="18" name="Text Placeholder 1">
            <a:extLst>
              <a:ext uri="{FF2B5EF4-FFF2-40B4-BE49-F238E27FC236}">
                <a16:creationId xmlns:a16="http://schemas.microsoft.com/office/drawing/2014/main" id="{4A852CFB-3E02-5D09-5AC2-002ED20D05C8}"/>
              </a:ext>
            </a:extLst>
          </p:cNvPr>
          <p:cNvSpPr txBox="1">
            <a:spLocks/>
          </p:cNvSpPr>
          <p:nvPr/>
        </p:nvSpPr>
        <p:spPr>
          <a:xfrm>
            <a:off x="355492" y="1497012"/>
            <a:ext cx="2995200" cy="4398687"/>
          </a:xfrm>
          <a:prstGeom prst="rect">
            <a:avLst/>
          </a:prstGeom>
          <a:noFill/>
        </p:spPr>
        <p:txBody>
          <a:bodyPr wrap="square" lIns="72000" tIns="72000" rIns="72000" bIns="72000" rtlCol="0">
            <a:noAutofit/>
          </a:bodyPr>
          <a:lstStyle>
            <a:lvl1pPr marL="0" marR="0" indent="0" algn="just" defTabSz="914400" rtl="0" eaLnBrk="1" fontAlgn="auto" latinLnBrk="0" hangingPunct="1">
              <a:lnSpc>
                <a:spcPct val="125000"/>
              </a:lnSpc>
              <a:spcBef>
                <a:spcPts val="600"/>
              </a:spcBef>
              <a:spcAft>
                <a:spcPts val="0"/>
              </a:spcAft>
              <a:buClrTx/>
              <a:buSzTx/>
              <a:buFont typeface="Arial" panose="020B0604020202020204" pitchFamily="34" charset="0"/>
              <a:buNone/>
              <a:tabLst/>
              <a:defRPr lang="en-US" sz="1000" kern="1200" smtClean="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lang="en-US" sz="1800" kern="1200" smtClean="0">
                <a:solidFill>
                  <a:schemeClr val="tx1"/>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lang="en-US" sz="1800" kern="1200">
                <a:solidFill>
                  <a:schemeClr val="tx1"/>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en-US" dirty="0">
                <a:solidFill>
                  <a:schemeClr val="tx1"/>
                </a:solidFill>
              </a:rPr>
              <a:t>Regarding the main risks for Brazilian equities, there were few changes versus the previous survey. 70% of IFAs point to </a:t>
            </a:r>
            <a:r>
              <a:rPr lang="en-US" b="1" dirty="0">
                <a:solidFill>
                  <a:schemeClr val="tx1"/>
                </a:solidFill>
              </a:rPr>
              <a:t>Fiscal Risks in Brazil</a:t>
            </a:r>
            <a:r>
              <a:rPr lang="en-US" dirty="0">
                <a:solidFill>
                  <a:schemeClr val="tx1"/>
                </a:solidFill>
              </a:rPr>
              <a:t> as the key concern, while 62% highlight </a:t>
            </a:r>
            <a:r>
              <a:rPr lang="en-US" b="1" dirty="0">
                <a:solidFill>
                  <a:schemeClr val="tx1"/>
                </a:solidFill>
              </a:rPr>
              <a:t>Political Instability/Elections</a:t>
            </a:r>
            <a:r>
              <a:rPr lang="en-US" dirty="0">
                <a:solidFill>
                  <a:schemeClr val="tx1"/>
                </a:solidFill>
              </a:rPr>
              <a:t>. Additionally, </a:t>
            </a:r>
            <a:r>
              <a:rPr lang="en-US" b="1" dirty="0">
                <a:solidFill>
                  <a:schemeClr val="tx1"/>
                </a:solidFill>
              </a:rPr>
              <a:t>Higher than expected local rates</a:t>
            </a:r>
            <a:r>
              <a:rPr lang="en-US" dirty="0">
                <a:solidFill>
                  <a:schemeClr val="tx1"/>
                </a:solidFill>
              </a:rPr>
              <a:t> also feature prominently, cited by 42% of respondents.</a:t>
            </a:r>
          </a:p>
          <a:p>
            <a:r>
              <a:rPr lang="en-US" dirty="0">
                <a:solidFill>
                  <a:schemeClr val="tx1"/>
                </a:solidFill>
              </a:rPr>
              <a:t>As for factors that would increase risk appetite for Brazilian equities, </a:t>
            </a:r>
            <a:r>
              <a:rPr lang="en-US" b="1" dirty="0">
                <a:solidFill>
                  <a:schemeClr val="tx1"/>
                </a:solidFill>
              </a:rPr>
              <a:t>Rate cuts in Brazil</a:t>
            </a:r>
            <a:r>
              <a:rPr lang="en-US" dirty="0">
                <a:solidFill>
                  <a:schemeClr val="tx1"/>
                </a:solidFill>
              </a:rPr>
              <a:t> continue to lead despite a sharp drop this month, cited by 50% of respondents (-18 p.p. MoM), while </a:t>
            </a:r>
            <a:r>
              <a:rPr lang="en-US" b="1" dirty="0">
                <a:solidFill>
                  <a:schemeClr val="tx1"/>
                </a:solidFill>
              </a:rPr>
              <a:t>Rate cuts in the US and globally</a:t>
            </a:r>
            <a:r>
              <a:rPr lang="en-US" dirty="0">
                <a:solidFill>
                  <a:schemeClr val="tx1"/>
                </a:solidFill>
              </a:rPr>
              <a:t> remained in second place, at 36% (-3 p.p. MoM).</a:t>
            </a:r>
          </a:p>
          <a:p>
            <a:r>
              <a:rPr lang="en-US" dirty="0">
                <a:solidFill>
                  <a:schemeClr val="tx1"/>
                </a:solidFill>
              </a:rPr>
              <a:t>On sector preferences, positioning remains defensive. </a:t>
            </a:r>
            <a:r>
              <a:rPr lang="en-US" b="1" dirty="0">
                <a:solidFill>
                  <a:schemeClr val="tx1"/>
                </a:solidFill>
              </a:rPr>
              <a:t>Utilities</a:t>
            </a:r>
            <a:r>
              <a:rPr lang="en-US" dirty="0">
                <a:solidFill>
                  <a:schemeClr val="tx1"/>
                </a:solidFill>
              </a:rPr>
              <a:t> took the lead with 64% (+8 p.p. MoM), followed by </a:t>
            </a:r>
            <a:r>
              <a:rPr lang="en-US" b="1" dirty="0">
                <a:solidFill>
                  <a:schemeClr val="tx1"/>
                </a:solidFill>
              </a:rPr>
              <a:t>Financials</a:t>
            </a:r>
            <a:r>
              <a:rPr lang="en-US" dirty="0">
                <a:solidFill>
                  <a:schemeClr val="tx1"/>
                </a:solidFill>
              </a:rPr>
              <a:t> at 62% (0 p.p. MoM). Meanwhile, more rate-sensitive sectors such as </a:t>
            </a:r>
            <a:r>
              <a:rPr lang="en-US" b="1" dirty="0">
                <a:solidFill>
                  <a:schemeClr val="tx1"/>
                </a:solidFill>
              </a:rPr>
              <a:t>Education</a:t>
            </a:r>
            <a:r>
              <a:rPr lang="en-US" dirty="0">
                <a:solidFill>
                  <a:schemeClr val="tx1"/>
                </a:solidFill>
              </a:rPr>
              <a:t> and </a:t>
            </a:r>
            <a:r>
              <a:rPr lang="en-US" b="1" dirty="0">
                <a:solidFill>
                  <a:schemeClr val="tx1"/>
                </a:solidFill>
              </a:rPr>
              <a:t>Retail</a:t>
            </a:r>
            <a:r>
              <a:rPr lang="en-US" dirty="0">
                <a:solidFill>
                  <a:schemeClr val="tx1"/>
                </a:solidFill>
              </a:rPr>
              <a:t> remain at the bottom, with 2% and 1% of client interest, respectively.</a:t>
            </a:r>
          </a:p>
        </p:txBody>
      </p:sp>
      <p:sp>
        <p:nvSpPr>
          <p:cNvPr id="23" name="Content Placeholder 5">
            <a:extLst>
              <a:ext uri="{FF2B5EF4-FFF2-40B4-BE49-F238E27FC236}">
                <a16:creationId xmlns:a16="http://schemas.microsoft.com/office/drawing/2014/main" id="{A0753C8C-8791-2C41-815F-6392AC085A51}"/>
              </a:ext>
            </a:extLst>
          </p:cNvPr>
          <p:cNvSpPr txBox="1">
            <a:spLocks/>
          </p:cNvSpPr>
          <p:nvPr/>
        </p:nvSpPr>
        <p:spPr>
          <a:xfrm>
            <a:off x="3580088" y="3769230"/>
            <a:ext cx="2995200" cy="3693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r>
              <a:rPr lang="pt-BR" dirty="0"/>
              <a:t>Chart 10: </a:t>
            </a:r>
            <a:r>
              <a:rPr lang="en-US" sz="1000" b="1" dirty="0"/>
              <a:t>Which of the factors below would increase your risk-appetite for Brazilian equities?</a:t>
            </a:r>
            <a:endParaRPr lang="en-US" dirty="0"/>
          </a:p>
        </p:txBody>
      </p:sp>
      <p:graphicFrame>
        <p:nvGraphicFramePr>
          <p:cNvPr id="4" name="Object 3">
            <a:extLst>
              <a:ext uri="{FF2B5EF4-FFF2-40B4-BE49-F238E27FC236}">
                <a16:creationId xmlns:a16="http://schemas.microsoft.com/office/drawing/2014/main" id="{591D451B-01BC-7308-4972-07CEEC9F7DA7}"/>
              </a:ext>
            </a:extLst>
          </p:cNvPr>
          <p:cNvGraphicFramePr>
            <a:graphicFrameLocks noChangeAspect="1"/>
          </p:cNvGraphicFramePr>
          <p:nvPr>
            <p:extLst>
              <p:ext uri="{D42A27DB-BD31-4B8C-83A1-F6EECF244321}">
                <p14:modId xmlns:p14="http://schemas.microsoft.com/office/powerpoint/2010/main" val="4178078520"/>
              </p:ext>
            </p:extLst>
          </p:nvPr>
        </p:nvGraphicFramePr>
        <p:xfrm>
          <a:off x="390156" y="6237288"/>
          <a:ext cx="6070539" cy="2988000"/>
        </p:xfrm>
        <a:graphic>
          <a:graphicData uri="http://schemas.openxmlformats.org/presentationml/2006/ole">
            <mc:AlternateContent xmlns:mc="http://schemas.openxmlformats.org/markup-compatibility/2006">
              <mc:Choice xmlns:v="urn:schemas-microsoft-com:vml" Requires="v">
                <p:oleObj name="Worksheet" r:id="rId4" imgW="6613876" imgH="3184940" progId="Excel.Sheet.12">
                  <p:link updateAutomatic="1"/>
                </p:oleObj>
              </mc:Choice>
              <mc:Fallback>
                <p:oleObj name="Worksheet" r:id="rId4" imgW="6613876" imgH="3184940" progId="Excel.Sheet.12">
                  <p:link updateAutomatic="1"/>
                  <p:pic>
                    <p:nvPicPr>
                      <p:cNvPr id="4" name="Object 3">
                        <a:extLst>
                          <a:ext uri="{FF2B5EF4-FFF2-40B4-BE49-F238E27FC236}">
                            <a16:creationId xmlns:a16="http://schemas.microsoft.com/office/drawing/2014/main" id="{591D451B-01BC-7308-4972-07CEEC9F7DA7}"/>
                          </a:ext>
                        </a:extLst>
                      </p:cNvPr>
                      <p:cNvPicPr/>
                      <p:nvPr/>
                    </p:nvPicPr>
                    <p:blipFill>
                      <a:blip r:embed="rId5"/>
                      <a:stretch>
                        <a:fillRect/>
                      </a:stretch>
                    </p:blipFill>
                    <p:spPr>
                      <a:xfrm>
                        <a:off x="390156" y="6237288"/>
                        <a:ext cx="6070539" cy="2988000"/>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D9B75A80-7704-07C9-02A4-4315AB258661}"/>
              </a:ext>
            </a:extLst>
          </p:cNvPr>
          <p:cNvGraphicFramePr>
            <a:graphicFrameLocks noChangeAspect="1"/>
          </p:cNvGraphicFramePr>
          <p:nvPr>
            <p:extLst>
              <p:ext uri="{D42A27DB-BD31-4B8C-83A1-F6EECF244321}">
                <p14:modId xmlns:p14="http://schemas.microsoft.com/office/powerpoint/2010/main" val="843414295"/>
              </p:ext>
            </p:extLst>
          </p:nvPr>
        </p:nvGraphicFramePr>
        <p:xfrm>
          <a:off x="3579813" y="1919288"/>
          <a:ext cx="2881312" cy="1785937"/>
        </p:xfrm>
        <a:graphic>
          <a:graphicData uri="http://schemas.openxmlformats.org/presentationml/2006/ole">
            <mc:AlternateContent xmlns:mc="http://schemas.openxmlformats.org/markup-compatibility/2006">
              <mc:Choice xmlns:v="urn:schemas-microsoft-com:vml" Requires="v">
                <p:oleObj name="Worksheet" r:id="rId6" imgW="3017520" imgH="1844024" progId="Excel.Sheet.12">
                  <p:link updateAutomatic="1"/>
                </p:oleObj>
              </mc:Choice>
              <mc:Fallback>
                <p:oleObj name="Worksheet" r:id="rId6" imgW="3017520" imgH="1844024" progId="Excel.Sheet.12">
                  <p:link updateAutomatic="1"/>
                  <p:pic>
                    <p:nvPicPr>
                      <p:cNvPr id="0" name=""/>
                      <p:cNvPicPr/>
                      <p:nvPr/>
                    </p:nvPicPr>
                    <p:blipFill>
                      <a:blip r:embed="rId7"/>
                      <a:stretch>
                        <a:fillRect/>
                      </a:stretch>
                    </p:blipFill>
                    <p:spPr>
                      <a:xfrm>
                        <a:off x="3579813" y="1919288"/>
                        <a:ext cx="2881312" cy="1785937"/>
                      </a:xfrm>
                      <a:prstGeom prst="rect">
                        <a:avLst/>
                      </a:prstGeom>
                    </p:spPr>
                  </p:pic>
                </p:oleObj>
              </mc:Fallback>
            </mc:AlternateContent>
          </a:graphicData>
        </a:graphic>
      </p:graphicFrame>
    </p:spTree>
    <p:extLst>
      <p:ext uri="{BB962C8B-B14F-4D97-AF65-F5344CB8AC3E}">
        <p14:creationId xmlns:p14="http://schemas.microsoft.com/office/powerpoint/2010/main" val="1549297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BA457CB-D19B-90F0-632E-A93C0CCA286C}"/>
              </a:ext>
            </a:extLst>
          </p:cNvPr>
          <p:cNvSpPr>
            <a:spLocks noGrp="1"/>
          </p:cNvSpPr>
          <p:nvPr>
            <p:ph type="body" sz="quarter" idx="20"/>
          </p:nvPr>
        </p:nvSpPr>
        <p:spPr>
          <a:xfrm>
            <a:off x="382829" y="1572592"/>
            <a:ext cx="6063034" cy="2551176"/>
          </a:xfrm>
          <a:noFill/>
        </p:spPr>
        <p:txBody>
          <a:bodyPr/>
          <a:lstStyle/>
          <a:p>
            <a:r>
              <a:rPr lang="en-US" dirty="0">
                <a:solidFill>
                  <a:schemeClr val="tx1"/>
                </a:solidFill>
              </a:rPr>
              <a:t>Following the recent correction in Brazilian equities, we asked IFAs </a:t>
            </a:r>
            <a:r>
              <a:rPr lang="en-US" b="1" dirty="0">
                <a:solidFill>
                  <a:schemeClr val="tx1"/>
                </a:solidFill>
              </a:rPr>
              <a:t>which alternative best described their view on the move and how their clients have been reacting</a:t>
            </a:r>
            <a:r>
              <a:rPr lang="en-US" dirty="0">
                <a:solidFill>
                  <a:schemeClr val="tx1"/>
                </a:solidFill>
              </a:rPr>
              <a:t>. The most frequent response, mentioned by 49% of IFAs, was that the decline represents a buying opportunity, but that investors still prefer to wait for better entry points before increasing their exposure to Brazilian equities.</a:t>
            </a:r>
          </a:p>
          <a:p>
            <a:r>
              <a:rPr lang="en-US" dirty="0">
                <a:solidFill>
                  <a:schemeClr val="tx1"/>
                </a:solidFill>
              </a:rPr>
              <a:t>Next, 21% of IFAs said their clients have already been discussing an increase in allocation to Brazilian equities following the recent correction. On the other hand, 17% take a more cautious view, interpreting the move as a reflection of deteriorating fundamentals, which has led to conversations about reducing equity exposure among investors.</a:t>
            </a:r>
          </a:p>
          <a:p>
            <a:r>
              <a:rPr lang="en-US" dirty="0">
                <a:solidFill>
                  <a:schemeClr val="tx1"/>
                </a:solidFill>
              </a:rPr>
              <a:t>The results suggest that, although the prevailing perception is constructive on Brazilian equities, most investors still show caution in executing new allocations, preferring to wait for greater conviction on the entry point.</a:t>
            </a:r>
          </a:p>
        </p:txBody>
      </p:sp>
      <p:sp>
        <p:nvSpPr>
          <p:cNvPr id="9" name="Content Placeholder 8">
            <a:extLst>
              <a:ext uri="{FF2B5EF4-FFF2-40B4-BE49-F238E27FC236}">
                <a16:creationId xmlns:a16="http://schemas.microsoft.com/office/drawing/2014/main" id="{C1A1EC03-F381-A638-A26C-45AA9400E522}"/>
              </a:ext>
            </a:extLst>
          </p:cNvPr>
          <p:cNvSpPr>
            <a:spLocks noGrp="1"/>
          </p:cNvSpPr>
          <p:nvPr>
            <p:ph sz="quarter" idx="27"/>
          </p:nvPr>
        </p:nvSpPr>
        <p:spPr>
          <a:xfrm>
            <a:off x="382828" y="4242816"/>
            <a:ext cx="6106870" cy="365760"/>
          </a:xfrm>
        </p:spPr>
        <p:txBody>
          <a:bodyPr/>
          <a:lstStyle/>
          <a:p>
            <a:r>
              <a:rPr lang="en-US" dirty="0"/>
              <a:t>Chart 12: Which of the alternatives below best describes your view on the recent correction in Brazilian equities and the conversations you have been having with your clients?</a:t>
            </a:r>
            <a:endParaRPr lang="en-US" dirty="0"/>
          </a:p>
        </p:txBody>
      </p:sp>
      <p:sp>
        <p:nvSpPr>
          <p:cNvPr id="13" name="Text Placeholder 12">
            <a:extLst>
              <a:ext uri="{FF2B5EF4-FFF2-40B4-BE49-F238E27FC236}">
                <a16:creationId xmlns:a16="http://schemas.microsoft.com/office/drawing/2014/main" id="{EB82FCFA-EB69-248D-E4A9-99CCBCDDE7D9}"/>
              </a:ext>
            </a:extLst>
          </p:cNvPr>
          <p:cNvSpPr>
            <a:spLocks noGrp="1"/>
          </p:cNvSpPr>
          <p:nvPr>
            <p:ph type="body" sz="quarter" idx="16"/>
          </p:nvPr>
        </p:nvSpPr>
        <p:spPr/>
        <p:txBody>
          <a:bodyPr/>
          <a:lstStyle/>
          <a:p>
            <a:r>
              <a:rPr lang="en-US" dirty="0"/>
              <a:t>XP Sentiment Survey</a:t>
            </a:r>
          </a:p>
        </p:txBody>
      </p:sp>
      <p:sp>
        <p:nvSpPr>
          <p:cNvPr id="14" name="Text Placeholder 13">
            <a:extLst>
              <a:ext uri="{FF2B5EF4-FFF2-40B4-BE49-F238E27FC236}">
                <a16:creationId xmlns:a16="http://schemas.microsoft.com/office/drawing/2014/main" id="{06FBE0DF-9486-67F7-5F86-886EC13D1E22}"/>
              </a:ext>
            </a:extLst>
          </p:cNvPr>
          <p:cNvSpPr>
            <a:spLocks noGrp="1"/>
          </p:cNvSpPr>
          <p:nvPr>
            <p:ph type="body" sz="quarter" idx="17"/>
          </p:nvPr>
        </p:nvSpPr>
        <p:spPr>
          <a:xfrm>
            <a:off x="390154" y="1119209"/>
            <a:ext cx="6201146" cy="304570"/>
          </a:xfrm>
        </p:spPr>
        <p:txBody>
          <a:bodyPr/>
          <a:lstStyle/>
          <a:p>
            <a:r>
              <a:rPr lang="en-US" dirty="0"/>
              <a:t>Most clients are still waiting for a better entry point to increase Brazilian equity exposure</a:t>
            </a:r>
            <a:endParaRPr lang="pt-BR" dirty="0"/>
          </a:p>
        </p:txBody>
      </p:sp>
      <p:sp>
        <p:nvSpPr>
          <p:cNvPr id="16" name="Date Placeholder 15">
            <a:extLst>
              <a:ext uri="{FF2B5EF4-FFF2-40B4-BE49-F238E27FC236}">
                <a16:creationId xmlns:a16="http://schemas.microsoft.com/office/drawing/2014/main" id="{88F7D0E7-2F88-3A50-92E4-A62572FA57BD}"/>
              </a:ext>
            </a:extLst>
          </p:cNvPr>
          <p:cNvSpPr>
            <a:spLocks noGrp="1"/>
          </p:cNvSpPr>
          <p:nvPr>
            <p:ph type="dt" sz="half" idx="2"/>
          </p:nvPr>
        </p:nvSpPr>
        <p:spPr/>
        <p:txBody>
          <a:bodyPr/>
          <a:lstStyle/>
          <a:p>
            <a:fld id="{944B1522-D64F-491F-B357-196ED417A415}" type="datetime4">
              <a:rPr lang="en-US"/>
              <a:pPr/>
              <a:t>July 27, 2026</a:t>
            </a:fld>
            <a:endParaRPr lang="en-US" dirty="0"/>
          </a:p>
        </p:txBody>
      </p:sp>
      <p:sp>
        <p:nvSpPr>
          <p:cNvPr id="19" name="Text Placeholder 14">
            <a:extLst>
              <a:ext uri="{FF2B5EF4-FFF2-40B4-BE49-F238E27FC236}">
                <a16:creationId xmlns:a16="http://schemas.microsoft.com/office/drawing/2014/main" id="{16E34158-DC2E-A8E5-D88A-203C7684F641}"/>
              </a:ext>
            </a:extLst>
          </p:cNvPr>
          <p:cNvSpPr>
            <a:spLocks noGrp="1"/>
          </p:cNvSpPr>
          <p:nvPr>
            <p:ph type="body" sz="quarter" idx="31"/>
          </p:nvPr>
        </p:nvSpPr>
        <p:spPr>
          <a:xfrm>
            <a:off x="1021910" y="9548813"/>
            <a:ext cx="5251889" cy="197643"/>
          </a:xfrm>
        </p:spPr>
        <p:txBody>
          <a:bodyPr/>
          <a:lstStyle/>
          <a:p>
            <a:r>
              <a:rPr lang="en-US" dirty="0"/>
              <a:t>Source: XP Research. </a:t>
            </a:r>
          </a:p>
        </p:txBody>
      </p:sp>
      <p:graphicFrame>
        <p:nvGraphicFramePr>
          <p:cNvPr id="4" name="Chart 3">
            <a:extLst>
              <a:ext uri="{FF2B5EF4-FFF2-40B4-BE49-F238E27FC236}">
                <a16:creationId xmlns:a16="http://schemas.microsoft.com/office/drawing/2014/main" id="{7C19AC9A-C902-5B2D-F583-525BB192B9FC}"/>
              </a:ext>
            </a:extLst>
          </p:cNvPr>
          <p:cNvGraphicFramePr>
            <a:graphicFrameLocks/>
          </p:cNvGraphicFramePr>
          <p:nvPr>
            <p:extLst>
              <p:ext uri="{D42A27DB-BD31-4B8C-83A1-F6EECF244321}">
                <p14:modId xmlns:p14="http://schemas.microsoft.com/office/powerpoint/2010/main" val="4005406887"/>
              </p:ext>
            </p:extLst>
          </p:nvPr>
        </p:nvGraphicFramePr>
        <p:xfrm>
          <a:off x="390152" y="4645152"/>
          <a:ext cx="6099545" cy="27767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0115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F5260A6-30D1-D899-3028-6E9DC5BF4B7A}"/>
              </a:ext>
            </a:extLst>
          </p:cNvPr>
          <p:cNvSpPr>
            <a:spLocks noGrp="1"/>
          </p:cNvSpPr>
          <p:nvPr>
            <p:ph type="body" sz="quarter" idx="26"/>
          </p:nvPr>
        </p:nvSpPr>
        <p:spPr/>
        <p:txBody>
          <a:bodyPr/>
          <a:lstStyle/>
          <a:p>
            <a:endParaRPr lang="pt-BR"/>
          </a:p>
        </p:txBody>
      </p:sp>
      <p:sp>
        <p:nvSpPr>
          <p:cNvPr id="3" name="Date Placeholder 2">
            <a:extLst>
              <a:ext uri="{FF2B5EF4-FFF2-40B4-BE49-F238E27FC236}">
                <a16:creationId xmlns:a16="http://schemas.microsoft.com/office/drawing/2014/main" id="{1C5AF21C-1B6B-E9F6-0764-1A61717DEC83}"/>
              </a:ext>
            </a:extLst>
          </p:cNvPr>
          <p:cNvSpPr>
            <a:spLocks noGrp="1"/>
          </p:cNvSpPr>
          <p:nvPr>
            <p:ph type="dt" sz="half" idx="2"/>
          </p:nvPr>
        </p:nvSpPr>
        <p:spPr>
          <a:xfrm>
            <a:off x="3971925" y="438763"/>
            <a:ext cx="2517775" cy="184666"/>
          </a:xfrm>
        </p:spPr>
        <p:txBody>
          <a:bodyPr/>
          <a:lstStyle/>
          <a:p>
            <a:fld id="{4D03E599-AFA5-4A08-AC9F-588B0C61A5AB}" type="datetime4">
              <a:rPr lang="en-US" smtClean="0"/>
              <a:pPr/>
              <a:t>July 27, 2026</a:t>
            </a:fld>
            <a:endParaRPr lang="en-US" dirty="0"/>
          </a:p>
        </p:txBody>
      </p:sp>
    </p:spTree>
    <p:extLst>
      <p:ext uri="{BB962C8B-B14F-4D97-AF65-F5344CB8AC3E}">
        <p14:creationId xmlns:p14="http://schemas.microsoft.com/office/powerpoint/2010/main" val="4252573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762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ags/tag42.xml><?xml version="1.0" encoding="utf-8"?>
<p:tagLst xmlns:a="http://schemas.openxmlformats.org/drawingml/2006/main" xmlns:r="http://schemas.openxmlformats.org/officeDocument/2006/relationships" xmlns:p="http://schemas.openxmlformats.org/presentationml/2006/main">
  <p:tag name="MM_SLIDE_TYPE" val="6"/>
</p:tagLst>
</file>

<file path=ppt/tags/tag43.xml><?xml version="1.0" encoding="utf-8"?>
<p:tagLst xmlns:a="http://schemas.openxmlformats.org/drawingml/2006/main" xmlns:r="http://schemas.openxmlformats.org/officeDocument/2006/relationships" xmlns:p="http://schemas.openxmlformats.org/presentationml/2006/main">
  <p:tag name="MM_SLIDE_TYPE" val="6"/>
</p:tagLst>
</file>

<file path=ppt/tags/tag44.xml><?xml version="1.0" encoding="utf-8"?>
<p:tagLst xmlns:a="http://schemas.openxmlformats.org/drawingml/2006/main" xmlns:r="http://schemas.openxmlformats.org/officeDocument/2006/relationships" xmlns:p="http://schemas.openxmlformats.org/presentationml/2006/main">
  <p:tag name="MM_SLIDE_TYPE" val="6"/>
</p:tagLst>
</file>

<file path=ppt/tags/tag45.xml><?xml version="1.0" encoding="utf-8"?>
<p:tagLst xmlns:a="http://schemas.openxmlformats.org/drawingml/2006/main" xmlns:r="http://schemas.openxmlformats.org/officeDocument/2006/relationships" xmlns:p="http://schemas.openxmlformats.org/presentationml/2006/main">
  <p:tag name="MM_SLIDE_TYPE" val="6"/>
</p:tagLst>
</file>

<file path=ppt/tags/tag46.xml><?xml version="1.0" encoding="utf-8"?>
<p:tagLst xmlns:a="http://schemas.openxmlformats.org/drawingml/2006/main" xmlns:r="http://schemas.openxmlformats.org/officeDocument/2006/relationships" xmlns:p="http://schemas.openxmlformats.org/presentationml/2006/main">
  <p:tag name="MM_SLIDE_TYPE" val="6"/>
</p:tagLst>
</file>

<file path=ppt/tags/tag47.xml><?xml version="1.0" encoding="utf-8"?>
<p:tagLst xmlns:a="http://schemas.openxmlformats.org/drawingml/2006/main" xmlns:r="http://schemas.openxmlformats.org/officeDocument/2006/relationships" xmlns:p="http://schemas.openxmlformats.org/presentationml/2006/main">
  <p:tag name="MM_SLIDE_TYPE" val="6"/>
</p:tagLst>
</file>

<file path=ppt/tags/tag48.xml><?xml version="1.0" encoding="utf-8"?>
<p:tagLst xmlns:a="http://schemas.openxmlformats.org/drawingml/2006/main" xmlns:r="http://schemas.openxmlformats.org/officeDocument/2006/relationships" xmlns:p="http://schemas.openxmlformats.org/presentationml/2006/main">
  <p:tag name="MM_SLIDE_TYPE" val="6"/>
</p:tagLst>
</file>

<file path=ppt/tags/tag49.xml><?xml version="1.0" encoding="utf-8"?>
<p:tagLst xmlns:a="http://schemas.openxmlformats.org/drawingml/2006/main" xmlns:r="http://schemas.openxmlformats.org/officeDocument/2006/relationships" xmlns:p="http://schemas.openxmlformats.org/presentationml/2006/main">
  <p:tag name="MM_SLIDE_TYPE" val="6"/>
</p:tagLst>
</file>

<file path=ppt/tags/tag50.xml><?xml version="1.0" encoding="utf-8"?>
<p:tagLst xmlns:a="http://schemas.openxmlformats.org/drawingml/2006/main" xmlns:r="http://schemas.openxmlformats.org/officeDocument/2006/relationships" xmlns:p="http://schemas.openxmlformats.org/presentationml/2006/main">
  <p:tag name="MM_SLIDE_TYPE" val="6"/>
</p:tagLst>
</file>

<file path=ppt/tags/tag51.xml><?xml version="1.0" encoding="utf-8"?>
<p:tagLst xmlns:a="http://schemas.openxmlformats.org/drawingml/2006/main" xmlns:r="http://schemas.openxmlformats.org/officeDocument/2006/relationships" xmlns:p="http://schemas.openxmlformats.org/presentationml/2006/main">
  <p:tag name="MM_SLIDE_TYPE" val="6"/>
</p:tagLst>
</file>

<file path=ppt/tags/tag52.xml><?xml version="1.0" encoding="utf-8"?>
<p:tagLst xmlns:a="http://schemas.openxmlformats.org/drawingml/2006/main" xmlns:r="http://schemas.openxmlformats.org/officeDocument/2006/relationships" xmlns:p="http://schemas.openxmlformats.org/presentationml/2006/main">
  <p:tag name="MM_SLIDE_TYPE" val="6"/>
</p:tagLst>
</file>

<file path=ppt/tags/tag5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2.xml><?xml version="1.0" encoding="utf-8"?>
<a:theme xmlns:a="http://schemas.openxmlformats.org/drawingml/2006/main" name="1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3.xml><?xml version="1.0" encoding="utf-8"?>
<a:theme xmlns:a="http://schemas.openxmlformats.org/drawingml/2006/main" name="2_Tema IB 2021">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9">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a IB 2021" id="{6D847418-CD83-4597-AEBD-50544DA1ED74}" vid="{44D405C9-CCFA-46ED-BC78-7E1D304E95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XP">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XP">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Metadata/LabelInfo.xml><?xml version="1.0" encoding="utf-8"?>
<clbl:labelList xmlns:clbl="http://schemas.microsoft.com/office/2020/mipLabelMetadata">
  <clbl:label id="{e6a9157b-bcf3-4eac-b03e-7cf007ba9fdf}" enabled="1" method="Privileged" siteId="{cf56e405-d2b0-4266-b210-aa04636b6161}" contentBits="2" removed="0"/>
</clbl:labelList>
</file>

<file path=docProps/app.xml><?xml version="1.0" encoding="utf-8"?>
<Properties xmlns="http://schemas.openxmlformats.org/officeDocument/2006/extended-properties" xmlns:vt="http://schemas.openxmlformats.org/officeDocument/2006/docPropsVTypes">
  <Template/>
  <TotalTime>36442</TotalTime>
  <Words>2162</Words>
  <Application>Microsoft Office PowerPoint</Application>
  <PresentationFormat>A4 Paper (210x297 mm)</PresentationFormat>
  <Paragraphs>83</Paragraphs>
  <Slides>9</Slides>
  <Notes>3</Notes>
  <HiddenSlides>0</HiddenSlides>
  <MMClips>0</MMClips>
  <ScaleCrop>false</ScaleCrop>
  <HeadingPairs>
    <vt:vector size="8" baseType="variant">
      <vt:variant>
        <vt:lpstr>Fonts Used</vt:lpstr>
      </vt:variant>
      <vt:variant>
        <vt:i4>8</vt:i4>
      </vt:variant>
      <vt:variant>
        <vt:lpstr>Theme</vt:lpstr>
      </vt:variant>
      <vt:variant>
        <vt:i4>3</vt:i4>
      </vt:variant>
      <vt:variant>
        <vt:lpstr>Links</vt:lpstr>
      </vt:variant>
      <vt:variant>
        <vt:i4>11</vt:i4>
      </vt:variant>
      <vt:variant>
        <vt:lpstr>Slide Titles</vt:lpstr>
      </vt:variant>
      <vt:variant>
        <vt:i4>9</vt:i4>
      </vt:variant>
    </vt:vector>
  </HeadingPairs>
  <TitlesOfParts>
    <vt:vector size="31" baseType="lpstr">
      <vt:lpstr>Arial</vt:lpstr>
      <vt:lpstr>Calibri</vt:lpstr>
      <vt:lpstr>Roboto</vt:lpstr>
      <vt:lpstr>Roboto Light</vt:lpstr>
      <vt:lpstr>XP</vt:lpstr>
      <vt:lpstr>XP Light Lighthouse</vt:lpstr>
      <vt:lpstr>XP Lighthouse</vt:lpstr>
      <vt:lpstr>XP Medium Lighthouse</vt:lpstr>
      <vt:lpstr>Tema IB 2021</vt:lpstr>
      <vt:lpstr>1_Tema IB 2021</vt:lpstr>
      <vt:lpstr>2_Tema IB 2021</vt:lpstr>
      <vt:lpstr>\\xpdocs\Research\Equities\Estrategia\Reports\Pesquisa assessores\PA Principal.xlsx!Charts![PA Principal.xlsx]Charts Gráfico 1-2</vt:lpstr>
      <vt:lpstr>file:///\\xpdocs\Research\Equities\Estrategia\Reports\Pesquisa%20assessores\PA%20Principal.xlsx!Charts!%5bPA%20Principal.xlsx%5dCharts%20Gráfico%205</vt:lpstr>
      <vt:lpstr>\\xpdocs\Research\Equities\Estrategia\Reports\Pesquisa assessores\PA Principal.xlsx!Charts![PA Principal.xlsx]Charts Gráfico 5-2</vt:lpstr>
      <vt:lpstr>\\xpdocs\Research\Equities\Estrategia\Reports\Pesquisa assessores\PA Principal.xlsx!Charts![PA Principal.xlsx]Charts Gráfico 24</vt:lpstr>
      <vt:lpstr>\\xpdocs\Research\Equities\Estrategia\Reports\Pesquisa assessores\PA Principal.xlsx!Charts![PA Principal.xlsx]Charts Espaço Reservado para Conteúdo 20</vt:lpstr>
      <vt:lpstr>\\xpdocs\Research\Equities\Estrategia\Reports\Pesquisa assessores\PA Principal.xlsx!Charts![PA Principal.xlsx]Charts Chart 32</vt:lpstr>
      <vt:lpstr>\\xpdocs\Research\Equities\Estrategia\Reports\Pesquisa assessores\PA Principal.xlsx!Charts![PA Principal.xlsx]Charts Gráfico 2</vt:lpstr>
      <vt:lpstr>\\xpdocs\Research\Equities\Estrategia\Reports\Pesquisa assessores\PA Principal.xlsx!Charts![PA Principal.xlsx]Charts Gráfico 2-1</vt:lpstr>
      <vt:lpstr>\\xpdocs\Research\Equities\Estrategia\Reports\Pesquisa assessores\PA Principal.xlsx!Charts![PA Principal.xlsx]Charts Chart 5-1</vt:lpstr>
      <vt:lpstr>\\xpdocs\Research\Equities\Estrategia\Reports\Pesquisa assessores\PA Principal.xlsx!Charts![PA Principal.xlsx]Charts Chart 4-2</vt:lpstr>
      <vt:lpstr>\\xpdocs\Research\Equities\Estrategia\Reports\Pesquisa assessores\PA Principal.xlsx!Charts![PA Principal.xlsx]Charts Chart 45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XP IFAs Sentiment Survey</dc:title>
  <dc:creator>Amanda Augusti</dc:creator>
  <cp:lastModifiedBy>Caio Souza</cp:lastModifiedBy>
  <cp:revision>1179</cp:revision>
  <dcterms:created xsi:type="dcterms:W3CDTF">2022-03-20T14:16:37Z</dcterms:created>
  <dcterms:modified xsi:type="dcterms:W3CDTF">2026-07-27T22:17:39Z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2024-04-16T18:35:49Z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80ede2c5-4944-4592-8a17-754614a62062</vt:lpwstr>
  </property>
  <property fmtid="{D5CDD505-2E9C-101B-9397-08002B2CF9AE}" pid="8" name="MSIP_Label_e6a9157b-bcf3-4eac-b03e-7cf007ba9fdf_ContentBits">
    <vt:lpwstr>2</vt:lpwstr>
  </property>
  <property fmtid="{D5CDD505-2E9C-101B-9397-08002B2CF9AE}" pid="9" name="ClassificationContentMarkingFooterLocations">
    <vt:lpwstr>Tema IB 2021:5</vt:lpwstr>
  </property>
  <property fmtid="{D5CDD505-2E9C-101B-9397-08002B2CF9AE}" pid="10" name="ClassificationContentMarkingFooterText">
    <vt:lpwstr>[ CLASSIFICAÇÃO: PÚBLICA ]</vt:lpwstr>
  </property>
</Properties>
</file>