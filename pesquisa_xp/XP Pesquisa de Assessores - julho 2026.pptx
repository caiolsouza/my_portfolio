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2.xml" ContentType="application/vnd.openxmlformats-officedocument.drawingml.chart+xml"/>
  <Override PartName="/ppt/charts/colors1.xml" ContentType="application/vnd.ms-office.chartcolorstyle+xml"/>
  <Override PartName="/ppt/charts/colors2.xml" ContentType="application/vnd.ms-office.chartcolorstyle+xml"/>
  <Override PartName="/ppt/charts/style1.xml" ContentType="application/vnd.ms-office.chartstyle+xml"/>
  <Override PartName="/ppt/charts/style2.xml" ContentType="application/vnd.ms-office.chartstyle+xml"/>
  <Override PartName="/ppt/embeddings/oleObject1.bin" ContentType="application/vnd.openxmlformats-officedocument.oleObject"/>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1"/>
  </p:notesMasterIdLst>
  <p:sldIdLst>
    <p:sldId id="259" r:id="rId2"/>
    <p:sldId id="263" r:id="rId3"/>
    <p:sldId id="280" r:id="rId4"/>
    <p:sldId id="284" r:id="rId5"/>
    <p:sldId id="269" r:id="rId6"/>
    <p:sldId id="281" r:id="rId7"/>
    <p:sldId id="288" r:id="rId8"/>
    <p:sldId id="282" r:id="rId9"/>
    <p:sldId id="273" r:id="rId10"/>
  </p:sldIdLst>
  <p:sldSz cx="6858000" cy="9906000" type="A4"/>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6E38678-DC99-8AA7-CD9B-A7924E3A8969}" name="Júlia Aquino" initials="JA" userId="S::julia.aquino@xpi.com.br::df34683f-61bd-4800-a050-1fef18d72e46" providerId="AD"/>
  <p188:author id="{6C4C2D8B-95CF-3366-BCBB-00835F353133}" name="Jennie Li" initials="JL" userId="S::jennie.li@xpi.com.br::4287a3cb-d5b5-40b5-a43d-7effe9254b38" providerId="AD"/>
  <p188:author id="{BFD1BBA3-F31E-C3B2-2ADB-FE2D44934438}" name="Luiz Antonio" initials="LA" userId="S::luiz.antonio@xpi.com.br::af6a7920-edf7-4e9b-b160-08330b4d101d" providerId="AD"/>
  <p188:author id="{E1E189EC-10D0-F876-0321-6E26D67990E2}" name="Felipe Veiga" initials="FV" userId="S::felipe.bveiga@xpi.com.br::29d82955-035a-46d2-8c02-fc4125ffa591"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1F2F44"/>
    <a:srgbClr val="8EB3DF"/>
    <a:srgbClr val="C7C9CB"/>
    <a:srgbClr val="3F608B"/>
    <a:srgbClr val="74797C"/>
    <a:srgbClr val="555555"/>
    <a:srgbClr val="000000"/>
    <a:srgbClr val="222324"/>
    <a:srgbClr val="FFC114"/>
    <a:srgbClr val="7E7E7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10" autoAdjust="0"/>
    <p:restoredTop sz="94660"/>
  </p:normalViewPr>
  <p:slideViewPr>
    <p:cSldViewPr snapToGrid="0">
      <p:cViewPr>
        <p:scale>
          <a:sx n="112" d="100"/>
          <a:sy n="112" d="100"/>
        </p:scale>
        <p:origin x="1378" y="-235"/>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microsoft.com/office/2018/10/relationships/authors" Target="authors.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themeOverride" Target="../theme/themeOverride1.xml"/><Relationship Id="rId4"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themeOverride" Target="../theme/themeOverride2.xml"/><Relationship Id="rId4" Type="http://schemas.openxmlformats.org/officeDocument/2006/relationships/oleObject" Target="../embeddings/oleObject1.bin"/></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151654150942597"/>
          <c:y val="4.2175616610835763E-2"/>
          <c:w val="0.7014650385636777"/>
          <c:h val="0.43931194442876242"/>
        </c:manualLayout>
      </c:layout>
      <c:barChart>
        <c:barDir val="col"/>
        <c:grouping val="percentStacked"/>
        <c:varyColors val="0"/>
        <c:ser>
          <c:idx val="1"/>
          <c:order val="0"/>
          <c:tx>
            <c:strRef>
              <c:f>'Gráfico capa'!$D$3</c:f>
              <c:strCache>
                <c:ptCount val="1"/>
                <c:pt idx="0">
                  <c:v>Planejam aumentar a alocação em renda variável</c:v>
                </c:pt>
              </c:strCache>
            </c:strRef>
          </c:tx>
          <c:spPr>
            <a:solidFill>
              <a:srgbClr val="F9C113"/>
            </a:solidFill>
            <a:ln>
              <a:noFill/>
            </a:ln>
            <a:effectLst/>
          </c:spPr>
          <c:invertIfNegative val="0"/>
          <c:cat>
            <c:numRef>
              <c:f>'Gráfico capa'!$A$56:$A$80</c:f>
              <c:numCache>
                <c:formatCode>[$-416]mmm\-yy;@</c:formatCode>
                <c:ptCount val="25"/>
                <c:pt idx="0">
                  <c:v>45474</c:v>
                </c:pt>
                <c:pt idx="1">
                  <c:v>45505</c:v>
                </c:pt>
                <c:pt idx="2">
                  <c:v>45536</c:v>
                </c:pt>
                <c:pt idx="3">
                  <c:v>45566</c:v>
                </c:pt>
                <c:pt idx="4">
                  <c:v>45597</c:v>
                </c:pt>
                <c:pt idx="5">
                  <c:v>45627</c:v>
                </c:pt>
                <c:pt idx="6">
                  <c:v>45658</c:v>
                </c:pt>
                <c:pt idx="7">
                  <c:v>45689</c:v>
                </c:pt>
                <c:pt idx="8">
                  <c:v>45717</c:v>
                </c:pt>
                <c:pt idx="9">
                  <c:v>45748</c:v>
                </c:pt>
                <c:pt idx="10">
                  <c:v>45778</c:v>
                </c:pt>
                <c:pt idx="11">
                  <c:v>45809</c:v>
                </c:pt>
                <c:pt idx="12">
                  <c:v>45839</c:v>
                </c:pt>
                <c:pt idx="13">
                  <c:v>45870</c:v>
                </c:pt>
                <c:pt idx="14">
                  <c:v>45901</c:v>
                </c:pt>
                <c:pt idx="15">
                  <c:v>45931</c:v>
                </c:pt>
                <c:pt idx="16">
                  <c:v>45962</c:v>
                </c:pt>
                <c:pt idx="17">
                  <c:v>45992</c:v>
                </c:pt>
                <c:pt idx="18">
                  <c:v>46023</c:v>
                </c:pt>
                <c:pt idx="19">
                  <c:v>46054</c:v>
                </c:pt>
                <c:pt idx="20">
                  <c:v>46082</c:v>
                </c:pt>
                <c:pt idx="21">
                  <c:v>46113</c:v>
                </c:pt>
                <c:pt idx="22">
                  <c:v>46143</c:v>
                </c:pt>
                <c:pt idx="23">
                  <c:v>46174</c:v>
                </c:pt>
                <c:pt idx="24">
                  <c:v>46204</c:v>
                </c:pt>
              </c:numCache>
            </c:numRef>
          </c:cat>
          <c:val>
            <c:numRef>
              <c:f>'Gráfico capa'!$D$56:$D$80</c:f>
              <c:numCache>
                <c:formatCode>0%</c:formatCode>
                <c:ptCount val="25"/>
                <c:pt idx="0">
                  <c:v>0.26785714285714285</c:v>
                </c:pt>
                <c:pt idx="1">
                  <c:v>0.25</c:v>
                </c:pt>
                <c:pt idx="2">
                  <c:v>0.28930817610062892</c:v>
                </c:pt>
                <c:pt idx="3">
                  <c:v>0.18543046357615894</c:v>
                </c:pt>
                <c:pt idx="4">
                  <c:v>0.16455696202531644</c:v>
                </c:pt>
                <c:pt idx="5">
                  <c:v>0.11347517730496454</c:v>
                </c:pt>
                <c:pt idx="6">
                  <c:v>0.17507418397626112</c:v>
                </c:pt>
                <c:pt idx="7">
                  <c:v>0.19875776397515527</c:v>
                </c:pt>
                <c:pt idx="8">
                  <c:v>0.16111111111111112</c:v>
                </c:pt>
                <c:pt idx="9">
                  <c:v>0.18115942028985507</c:v>
                </c:pt>
                <c:pt idx="10">
                  <c:v>0.2711864406779661</c:v>
                </c:pt>
                <c:pt idx="11">
                  <c:v>0.30252100840336132</c:v>
                </c:pt>
                <c:pt idx="12">
                  <c:v>0.34108527131782945</c:v>
                </c:pt>
                <c:pt idx="13">
                  <c:v>0.20588235294117646</c:v>
                </c:pt>
                <c:pt idx="14">
                  <c:v>0.22935779816513763</c:v>
                </c:pt>
                <c:pt idx="15">
                  <c:v>0.31623931623931623</c:v>
                </c:pt>
                <c:pt idx="16">
                  <c:v>0.28971962616822428</c:v>
                </c:pt>
                <c:pt idx="17">
                  <c:v>0.40404040404040403</c:v>
                </c:pt>
                <c:pt idx="18">
                  <c:v>0.31</c:v>
                </c:pt>
                <c:pt idx="19">
                  <c:v>0.32710280373831774</c:v>
                </c:pt>
                <c:pt idx="20">
                  <c:v>0.32211538461538464</c:v>
                </c:pt>
                <c:pt idx="21">
                  <c:v>0.28688524590163933</c:v>
                </c:pt>
                <c:pt idx="22">
                  <c:v>0.19811320754716982</c:v>
                </c:pt>
                <c:pt idx="23">
                  <c:v>0.20183486238532111</c:v>
                </c:pt>
                <c:pt idx="24">
                  <c:v>0.21495327102803738</c:v>
                </c:pt>
              </c:numCache>
            </c:numRef>
          </c:val>
          <c:extLst>
            <c:ext xmlns:c16="http://schemas.microsoft.com/office/drawing/2014/chart" uri="{C3380CC4-5D6E-409C-BE32-E72D297353CC}">
              <c16:uniqueId val="{00000000-08D6-423C-AF38-8028920DE388}"/>
            </c:ext>
          </c:extLst>
        </c:ser>
        <c:ser>
          <c:idx val="2"/>
          <c:order val="1"/>
          <c:tx>
            <c:strRef>
              <c:f>'Gráfico capa'!$B$3</c:f>
              <c:strCache>
                <c:ptCount val="1"/>
                <c:pt idx="0">
                  <c:v>Não pretendem alterar seus investimentos em renda variável</c:v>
                </c:pt>
              </c:strCache>
            </c:strRef>
          </c:tx>
          <c:spPr>
            <a:solidFill>
              <a:srgbClr val="E7E6E6"/>
            </a:solidFill>
            <a:ln>
              <a:noFill/>
            </a:ln>
            <a:effectLst/>
          </c:spPr>
          <c:invertIfNegative val="0"/>
          <c:cat>
            <c:numRef>
              <c:f>'Gráfico capa'!$A$56:$A$80</c:f>
              <c:numCache>
                <c:formatCode>[$-416]mmm\-yy;@</c:formatCode>
                <c:ptCount val="25"/>
                <c:pt idx="0">
                  <c:v>45474</c:v>
                </c:pt>
                <c:pt idx="1">
                  <c:v>45505</c:v>
                </c:pt>
                <c:pt idx="2">
                  <c:v>45536</c:v>
                </c:pt>
                <c:pt idx="3">
                  <c:v>45566</c:v>
                </c:pt>
                <c:pt idx="4">
                  <c:v>45597</c:v>
                </c:pt>
                <c:pt idx="5">
                  <c:v>45627</c:v>
                </c:pt>
                <c:pt idx="6">
                  <c:v>45658</c:v>
                </c:pt>
                <c:pt idx="7">
                  <c:v>45689</c:v>
                </c:pt>
                <c:pt idx="8">
                  <c:v>45717</c:v>
                </c:pt>
                <c:pt idx="9">
                  <c:v>45748</c:v>
                </c:pt>
                <c:pt idx="10">
                  <c:v>45778</c:v>
                </c:pt>
                <c:pt idx="11">
                  <c:v>45809</c:v>
                </c:pt>
                <c:pt idx="12">
                  <c:v>45839</c:v>
                </c:pt>
                <c:pt idx="13">
                  <c:v>45870</c:v>
                </c:pt>
                <c:pt idx="14">
                  <c:v>45901</c:v>
                </c:pt>
                <c:pt idx="15">
                  <c:v>45931</c:v>
                </c:pt>
                <c:pt idx="16">
                  <c:v>45962</c:v>
                </c:pt>
                <c:pt idx="17">
                  <c:v>45992</c:v>
                </c:pt>
                <c:pt idx="18">
                  <c:v>46023</c:v>
                </c:pt>
                <c:pt idx="19">
                  <c:v>46054</c:v>
                </c:pt>
                <c:pt idx="20">
                  <c:v>46082</c:v>
                </c:pt>
                <c:pt idx="21">
                  <c:v>46113</c:v>
                </c:pt>
                <c:pt idx="22">
                  <c:v>46143</c:v>
                </c:pt>
                <c:pt idx="23">
                  <c:v>46174</c:v>
                </c:pt>
                <c:pt idx="24">
                  <c:v>46204</c:v>
                </c:pt>
              </c:numCache>
            </c:numRef>
          </c:cat>
          <c:val>
            <c:numRef>
              <c:f>'Gráfico capa'!$B$56:$B$80</c:f>
              <c:numCache>
                <c:formatCode>0%</c:formatCode>
                <c:ptCount val="25"/>
                <c:pt idx="0">
                  <c:v>0.625</c:v>
                </c:pt>
                <c:pt idx="1">
                  <c:v>0.6470588235294118</c:v>
                </c:pt>
                <c:pt idx="2">
                  <c:v>0.63522012578616349</c:v>
                </c:pt>
                <c:pt idx="3">
                  <c:v>0.66887417218543044</c:v>
                </c:pt>
                <c:pt idx="4">
                  <c:v>0.65189873417721522</c:v>
                </c:pt>
                <c:pt idx="5">
                  <c:v>0.48226950354609927</c:v>
                </c:pt>
                <c:pt idx="6">
                  <c:v>0.52522255192878342</c:v>
                </c:pt>
                <c:pt idx="7">
                  <c:v>0.63354037267080743</c:v>
                </c:pt>
                <c:pt idx="8">
                  <c:v>0.68888888888888888</c:v>
                </c:pt>
                <c:pt idx="9">
                  <c:v>0.70289855072463769</c:v>
                </c:pt>
                <c:pt idx="10">
                  <c:v>0.67796610169491522</c:v>
                </c:pt>
                <c:pt idx="11">
                  <c:v>0.67226890756302526</c:v>
                </c:pt>
                <c:pt idx="12">
                  <c:v>0.58914728682170547</c:v>
                </c:pt>
                <c:pt idx="13">
                  <c:v>0.63725490196078427</c:v>
                </c:pt>
                <c:pt idx="14">
                  <c:v>0.68807339449541283</c:v>
                </c:pt>
                <c:pt idx="15">
                  <c:v>0.60683760683760679</c:v>
                </c:pt>
                <c:pt idx="16">
                  <c:v>0.61682242990654201</c:v>
                </c:pt>
                <c:pt idx="17">
                  <c:v>0.55555555555555558</c:v>
                </c:pt>
                <c:pt idx="18">
                  <c:v>0.66</c:v>
                </c:pt>
                <c:pt idx="19">
                  <c:v>0.57943925233644855</c:v>
                </c:pt>
                <c:pt idx="20">
                  <c:v>0.59134615384615385</c:v>
                </c:pt>
                <c:pt idx="21">
                  <c:v>0.63114754098360659</c:v>
                </c:pt>
                <c:pt idx="22">
                  <c:v>0.75471698113207553</c:v>
                </c:pt>
                <c:pt idx="23">
                  <c:v>0.68807339449541283</c:v>
                </c:pt>
                <c:pt idx="24">
                  <c:v>0.64485981308411211</c:v>
                </c:pt>
              </c:numCache>
            </c:numRef>
          </c:val>
          <c:extLst>
            <c:ext xmlns:c16="http://schemas.microsoft.com/office/drawing/2014/chart" uri="{C3380CC4-5D6E-409C-BE32-E72D297353CC}">
              <c16:uniqueId val="{00000001-08D6-423C-AF38-8028920DE388}"/>
            </c:ext>
          </c:extLst>
        </c:ser>
        <c:ser>
          <c:idx val="0"/>
          <c:order val="2"/>
          <c:tx>
            <c:strRef>
              <c:f>'Gráfico capa'!$C$3</c:f>
              <c:strCache>
                <c:ptCount val="1"/>
                <c:pt idx="0">
                  <c:v>Planejam diminuir a alocação em renda variável</c:v>
                </c:pt>
              </c:strCache>
            </c:strRef>
          </c:tx>
          <c:spPr>
            <a:solidFill>
              <a:srgbClr val="7E7E7E"/>
            </a:solidFill>
            <a:ln>
              <a:noFill/>
            </a:ln>
            <a:effectLst/>
          </c:spPr>
          <c:invertIfNegative val="0"/>
          <c:cat>
            <c:numRef>
              <c:f>'Gráfico capa'!$A$56:$A$80</c:f>
              <c:numCache>
                <c:formatCode>[$-416]mmm\-yy;@</c:formatCode>
                <c:ptCount val="25"/>
                <c:pt idx="0">
                  <c:v>45474</c:v>
                </c:pt>
                <c:pt idx="1">
                  <c:v>45505</c:v>
                </c:pt>
                <c:pt idx="2">
                  <c:v>45536</c:v>
                </c:pt>
                <c:pt idx="3">
                  <c:v>45566</c:v>
                </c:pt>
                <c:pt idx="4">
                  <c:v>45597</c:v>
                </c:pt>
                <c:pt idx="5">
                  <c:v>45627</c:v>
                </c:pt>
                <c:pt idx="6">
                  <c:v>45658</c:v>
                </c:pt>
                <c:pt idx="7">
                  <c:v>45689</c:v>
                </c:pt>
                <c:pt idx="8">
                  <c:v>45717</c:v>
                </c:pt>
                <c:pt idx="9">
                  <c:v>45748</c:v>
                </c:pt>
                <c:pt idx="10">
                  <c:v>45778</c:v>
                </c:pt>
                <c:pt idx="11">
                  <c:v>45809</c:v>
                </c:pt>
                <c:pt idx="12">
                  <c:v>45839</c:v>
                </c:pt>
                <c:pt idx="13">
                  <c:v>45870</c:v>
                </c:pt>
                <c:pt idx="14">
                  <c:v>45901</c:v>
                </c:pt>
                <c:pt idx="15">
                  <c:v>45931</c:v>
                </c:pt>
                <c:pt idx="16">
                  <c:v>45962</c:v>
                </c:pt>
                <c:pt idx="17">
                  <c:v>45992</c:v>
                </c:pt>
                <c:pt idx="18">
                  <c:v>46023</c:v>
                </c:pt>
                <c:pt idx="19">
                  <c:v>46054</c:v>
                </c:pt>
                <c:pt idx="20">
                  <c:v>46082</c:v>
                </c:pt>
                <c:pt idx="21">
                  <c:v>46113</c:v>
                </c:pt>
                <c:pt idx="22">
                  <c:v>46143</c:v>
                </c:pt>
                <c:pt idx="23">
                  <c:v>46174</c:v>
                </c:pt>
                <c:pt idx="24">
                  <c:v>46204</c:v>
                </c:pt>
              </c:numCache>
            </c:numRef>
          </c:cat>
          <c:val>
            <c:numRef>
              <c:f>'Gráfico capa'!$C$56:$C$80</c:f>
              <c:numCache>
                <c:formatCode>0%</c:formatCode>
                <c:ptCount val="25"/>
                <c:pt idx="0">
                  <c:v>0.10714285714285714</c:v>
                </c:pt>
                <c:pt idx="1">
                  <c:v>0.10294117647058823</c:v>
                </c:pt>
                <c:pt idx="2">
                  <c:v>7.5471698113207544E-2</c:v>
                </c:pt>
                <c:pt idx="3">
                  <c:v>0.14569536423841059</c:v>
                </c:pt>
                <c:pt idx="4">
                  <c:v>0.18354430379746836</c:v>
                </c:pt>
                <c:pt idx="5">
                  <c:v>0.40425531914893614</c:v>
                </c:pt>
                <c:pt idx="6">
                  <c:v>0.29970326409495551</c:v>
                </c:pt>
                <c:pt idx="7">
                  <c:v>0.16770186335403728</c:v>
                </c:pt>
                <c:pt idx="8">
                  <c:v>0.15</c:v>
                </c:pt>
                <c:pt idx="9">
                  <c:v>0.11594202898550725</c:v>
                </c:pt>
                <c:pt idx="10">
                  <c:v>5.0847457627118647E-2</c:v>
                </c:pt>
                <c:pt idx="11">
                  <c:v>2.5210084033613446E-2</c:v>
                </c:pt>
                <c:pt idx="12">
                  <c:v>6.9767441860465115E-2</c:v>
                </c:pt>
                <c:pt idx="13">
                  <c:v>0.15686274509803921</c:v>
                </c:pt>
                <c:pt idx="14">
                  <c:v>8.2568807339449546E-2</c:v>
                </c:pt>
                <c:pt idx="15">
                  <c:v>7.6923076923076927E-2</c:v>
                </c:pt>
                <c:pt idx="16">
                  <c:v>9.3457943925233641E-2</c:v>
                </c:pt>
                <c:pt idx="17">
                  <c:v>4.0404040404040407E-2</c:v>
                </c:pt>
                <c:pt idx="18">
                  <c:v>0.03</c:v>
                </c:pt>
                <c:pt idx="19">
                  <c:v>9.3457943925233641E-2</c:v>
                </c:pt>
                <c:pt idx="20">
                  <c:v>8.6538461538461536E-2</c:v>
                </c:pt>
                <c:pt idx="21">
                  <c:v>8.1967213114754092E-2</c:v>
                </c:pt>
                <c:pt idx="22">
                  <c:v>4.716981132075472E-2</c:v>
                </c:pt>
                <c:pt idx="23">
                  <c:v>0.11009174311926606</c:v>
                </c:pt>
                <c:pt idx="24">
                  <c:v>0.14018691588785046</c:v>
                </c:pt>
              </c:numCache>
            </c:numRef>
          </c:val>
          <c:extLst>
            <c:ext xmlns:c16="http://schemas.microsoft.com/office/drawing/2014/chart" uri="{C3380CC4-5D6E-409C-BE32-E72D297353CC}">
              <c16:uniqueId val="{00000002-08D6-423C-AF38-8028920DE388}"/>
            </c:ext>
          </c:extLst>
        </c:ser>
        <c:dLbls>
          <c:showLegendKey val="0"/>
          <c:showVal val="0"/>
          <c:showCatName val="0"/>
          <c:showSerName val="0"/>
          <c:showPercent val="0"/>
          <c:showBubbleSize val="0"/>
        </c:dLbls>
        <c:gapWidth val="20"/>
        <c:overlap val="100"/>
        <c:axId val="1392012447"/>
        <c:axId val="1392009119"/>
      </c:barChart>
      <c:lineChart>
        <c:grouping val="standard"/>
        <c:varyColors val="0"/>
        <c:ser>
          <c:idx val="3"/>
          <c:order val="3"/>
          <c:tx>
            <c:strRef>
              <c:f>'Gráfico capa'!$E$3</c:f>
              <c:strCache>
                <c:ptCount val="1"/>
                <c:pt idx="0">
                  <c:v>Ibovespa</c:v>
                </c:pt>
              </c:strCache>
            </c:strRef>
          </c:tx>
          <c:spPr>
            <a:ln w="28575" cap="rnd">
              <a:solidFill>
                <a:schemeClr val="tx1"/>
              </a:solidFill>
              <a:round/>
            </a:ln>
            <a:effectLst/>
          </c:spPr>
          <c:marker>
            <c:symbol val="none"/>
          </c:marker>
          <c:val>
            <c:numRef>
              <c:f>'Gráfico capa'!$E$56:$E$80</c:f>
              <c:numCache>
                <c:formatCode>General</c:formatCode>
                <c:ptCount val="25"/>
                <c:pt idx="0">
                  <c:v>129321</c:v>
                </c:pt>
                <c:pt idx="1">
                  <c:v>133317</c:v>
                </c:pt>
                <c:pt idx="2">
                  <c:v>134882</c:v>
                </c:pt>
                <c:pt idx="3">
                  <c:v>129992</c:v>
                </c:pt>
                <c:pt idx="4">
                  <c:v>127698</c:v>
                </c:pt>
                <c:pt idx="5">
                  <c:v>124612.22</c:v>
                </c:pt>
                <c:pt idx="6">
                  <c:v>119006.93</c:v>
                </c:pt>
                <c:pt idx="7">
                  <c:v>126224.74</c:v>
                </c:pt>
                <c:pt idx="8">
                  <c:v>131474.73000000001</c:v>
                </c:pt>
                <c:pt idx="9">
                  <c:v>130790.96</c:v>
                </c:pt>
                <c:pt idx="10">
                  <c:v>139187.39000000001</c:v>
                </c:pt>
                <c:pt idx="11">
                  <c:v>137055.28</c:v>
                </c:pt>
                <c:pt idx="12">
                  <c:v>136187.31</c:v>
                </c:pt>
                <c:pt idx="13">
                  <c:v>136340.76999999999</c:v>
                </c:pt>
                <c:pt idx="14">
                  <c:v>144061.74</c:v>
                </c:pt>
                <c:pt idx="15">
                  <c:v>142603.66</c:v>
                </c:pt>
                <c:pt idx="16">
                  <c:v>155380.66</c:v>
                </c:pt>
                <c:pt idx="17">
                  <c:v>158141.66</c:v>
                </c:pt>
                <c:pt idx="18">
                  <c:v>178859</c:v>
                </c:pt>
                <c:pt idx="19">
                  <c:v>188853</c:v>
                </c:pt>
                <c:pt idx="20">
                  <c:v>180977.83</c:v>
                </c:pt>
                <c:pt idx="21">
                  <c:v>190745</c:v>
                </c:pt>
                <c:pt idx="22">
                  <c:v>176000</c:v>
                </c:pt>
                <c:pt idx="23">
                  <c:v>176001</c:v>
                </c:pt>
                <c:pt idx="24" formatCode="0">
                  <c:v>174751.84</c:v>
                </c:pt>
              </c:numCache>
            </c:numRef>
          </c:val>
          <c:smooth val="0"/>
          <c:extLst>
            <c:ext xmlns:c16="http://schemas.microsoft.com/office/drawing/2014/chart" uri="{C3380CC4-5D6E-409C-BE32-E72D297353CC}">
              <c16:uniqueId val="{00000003-08D6-423C-AF38-8028920DE388}"/>
            </c:ext>
          </c:extLst>
        </c:ser>
        <c:dLbls>
          <c:showLegendKey val="0"/>
          <c:showVal val="0"/>
          <c:showCatName val="0"/>
          <c:showSerName val="0"/>
          <c:showPercent val="0"/>
          <c:showBubbleSize val="0"/>
        </c:dLbls>
        <c:marker val="1"/>
        <c:smooth val="0"/>
        <c:axId val="1826708800"/>
        <c:axId val="1822611840"/>
      </c:lineChart>
      <c:dateAx>
        <c:axId val="1392012447"/>
        <c:scaling>
          <c:orientation val="minMax"/>
        </c:scaling>
        <c:delete val="0"/>
        <c:axPos val="b"/>
        <c:numFmt formatCode="[$-416]mmm\-yy;@" sourceLinked="0"/>
        <c:majorTickMark val="out"/>
        <c:minorTickMark val="none"/>
        <c:tickLblPos val="low"/>
        <c:spPr>
          <a:noFill/>
          <a:ln w="9525" cap="flat" cmpd="sng" algn="ctr">
            <a:solidFill>
              <a:schemeClr val="tx1"/>
            </a:solidFill>
            <a:round/>
          </a:ln>
          <a:effectLst/>
        </c:spPr>
        <c:txPr>
          <a:bodyPr rot="-5400000" spcFirstLastPara="1" vertOverflow="ellipsis" wrap="square" anchor="ctr" anchorCtr="1"/>
          <a:lstStyle/>
          <a:p>
            <a:pPr>
              <a:defRPr sz="600" b="0" i="0" u="none" strike="noStrike" kern="1200" baseline="0">
                <a:solidFill>
                  <a:schemeClr val="tx1">
                    <a:lumMod val="65000"/>
                    <a:lumOff val="35000"/>
                  </a:schemeClr>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1392009119"/>
        <c:crosses val="autoZero"/>
        <c:auto val="0"/>
        <c:lblOffset val="100"/>
        <c:baseTimeUnit val="months"/>
        <c:majorUnit val="2"/>
        <c:minorUnit val="1"/>
      </c:dateAx>
      <c:valAx>
        <c:axId val="1392009119"/>
        <c:scaling>
          <c:orientation val="minMax"/>
          <c:max val="1"/>
        </c:scaling>
        <c:delete val="0"/>
        <c:axPos val="l"/>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600" b="0" i="0" u="none" strike="noStrike" kern="1200" baseline="0">
                <a:solidFill>
                  <a:schemeClr val="tx1">
                    <a:lumMod val="65000"/>
                    <a:lumOff val="35000"/>
                  </a:schemeClr>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1392012447"/>
        <c:crosses val="autoZero"/>
        <c:crossBetween val="between"/>
        <c:majorUnit val="0.2"/>
      </c:valAx>
      <c:valAx>
        <c:axId val="1822611840"/>
        <c:scaling>
          <c:orientation val="minMax"/>
          <c:min val="95000"/>
        </c:scaling>
        <c:delete val="0"/>
        <c:axPos val="r"/>
        <c:numFmt formatCode="#&quot;k&quot;" sourceLinked="0"/>
        <c:majorTickMark val="out"/>
        <c:minorTickMark val="none"/>
        <c:tickLblPos val="nextTo"/>
        <c:spPr>
          <a:noFill/>
          <a:ln>
            <a:noFill/>
          </a:ln>
          <a:effectLst/>
        </c:spPr>
        <c:txPr>
          <a:bodyPr rot="-60000000" spcFirstLastPara="1" vertOverflow="ellipsis" vert="horz" wrap="square" anchor="ctr" anchorCtr="1"/>
          <a:lstStyle/>
          <a:p>
            <a:pPr>
              <a:defRPr sz="600" b="0" i="0" u="none" strike="noStrike" kern="1200" baseline="0">
                <a:solidFill>
                  <a:schemeClr val="tx1">
                    <a:lumMod val="65000"/>
                    <a:lumOff val="35000"/>
                  </a:schemeClr>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1826708800"/>
        <c:crosses val="max"/>
        <c:crossBetween val="between"/>
        <c:dispUnits>
          <c:builtInUnit val="thousands"/>
        </c:dispUnits>
      </c:valAx>
      <c:catAx>
        <c:axId val="1826708800"/>
        <c:scaling>
          <c:orientation val="minMax"/>
        </c:scaling>
        <c:delete val="1"/>
        <c:axPos val="b"/>
        <c:numFmt formatCode="General" sourceLinked="1"/>
        <c:majorTickMark val="out"/>
        <c:minorTickMark val="none"/>
        <c:tickLblPos val="nextTo"/>
        <c:crossAx val="1822611840"/>
        <c:crosses val="autoZero"/>
        <c:auto val="1"/>
        <c:lblAlgn val="ctr"/>
        <c:lblOffset val="100"/>
        <c:tickLblSkip val="1"/>
        <c:tickMarkSkip val="1"/>
        <c:noMultiLvlLbl val="0"/>
      </c:catAx>
      <c:spPr>
        <a:noFill/>
        <a:ln>
          <a:noFill/>
        </a:ln>
        <a:effectLst/>
      </c:spPr>
    </c:plotArea>
    <c:legend>
      <c:legendPos val="b"/>
      <c:layout>
        <c:manualLayout>
          <c:xMode val="edge"/>
          <c:yMode val="edge"/>
          <c:x val="6.5888181864811213E-2"/>
          <c:y val="0.66177214798675732"/>
          <c:w val="0.87268880268424043"/>
          <c:h val="0.33822804531435541"/>
        </c:manualLayout>
      </c:layout>
      <c:overlay val="0"/>
      <c:spPr>
        <a:noFill/>
        <a:ln>
          <a:noFill/>
        </a:ln>
        <a:effectLst/>
      </c:spPr>
      <c:txPr>
        <a:bodyPr rot="0" spcFirstLastPara="1" vertOverflow="ellipsis" vert="horz" wrap="square" anchor="ctr" anchorCtr="1"/>
        <a:lstStyle/>
        <a:p>
          <a:pPr>
            <a:defRPr sz="600" b="0" i="0" u="none" strike="noStrike" kern="1200" baseline="0">
              <a:solidFill>
                <a:schemeClr val="tx1">
                  <a:lumMod val="65000"/>
                  <a:lumOff val="35000"/>
                </a:schemeClr>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legend>
    <c:plotVisOnly val="1"/>
    <c:dispBlanksAs val="gap"/>
    <c:showDLblsOverMax val="0"/>
    <c:extLst/>
  </c:chart>
  <c:spPr>
    <a:solidFill>
      <a:schemeClr val="bg1"/>
    </a:solidFill>
    <a:ln w="9525" cap="flat" cmpd="sng" algn="ctr">
      <a:noFill/>
      <a:round/>
    </a:ln>
    <a:effectLst/>
  </c:spPr>
  <c:txPr>
    <a:bodyPr/>
    <a:lstStyle/>
    <a:p>
      <a:pPr>
        <a:defRPr sz="600">
          <a:latin typeface="Roboto Light" panose="02000000000000000000" pitchFamily="2" charset="0"/>
          <a:ea typeface="Roboto Light" panose="02000000000000000000" pitchFamily="2" charset="0"/>
          <a:cs typeface="Roboto Light" panose="02000000000000000000" pitchFamily="2" charset="0"/>
        </a:defRPr>
      </a:pPr>
      <a:endParaRPr lang="pt-BR"/>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bar"/>
        <c:grouping val="clustered"/>
        <c:varyColors val="0"/>
        <c:ser>
          <c:idx val="0"/>
          <c:order val="0"/>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'[PA Principal.xlsx]Charts'!$A$1750:$A$1754</c:f>
              <c:strCache>
                <c:ptCount val="5"/>
                <c:pt idx="0">
                  <c:v>Outra</c:v>
                </c:pt>
                <c:pt idx="1">
                  <c:v>Ainda não tenho convicção suficiente sobre as causas da correção para alterar minhas orientações</c:v>
                </c:pt>
                <c:pt idx="2">
                  <c:v>Vejo como reflexo de uma deterioração dos fundamentos e tenho visto os clientes reduzirem a exposição à Bolsa brasileira</c:v>
                </c:pt>
                <c:pt idx="3">
                  <c:v>Vejo como uma oportunidade de compra e tenho conversado com os clientes sobre aumentar a exposição à Bolsa brasileira </c:v>
                </c:pt>
                <c:pt idx="4">
                  <c:v>Vejo como uma oportunidade de compra, mas os clientes tem preferido aguardar melhores pontos de entrada antes de aumentar a exposição</c:v>
                </c:pt>
              </c:strCache>
            </c:strRef>
          </c:cat>
          <c:val>
            <c:numRef>
              <c:f>'[PA Principal.xlsx]Charts'!$C$1750:$C$1754</c:f>
              <c:numCache>
                <c:formatCode>0%</c:formatCode>
                <c:ptCount val="5"/>
                <c:pt idx="0">
                  <c:v>2.80373831775701E-2</c:v>
                </c:pt>
                <c:pt idx="1">
                  <c:v>0.10280373831775701</c:v>
                </c:pt>
                <c:pt idx="2">
                  <c:v>0.16822429906542055</c:v>
                </c:pt>
                <c:pt idx="3">
                  <c:v>0.21495327102803738</c:v>
                </c:pt>
                <c:pt idx="4">
                  <c:v>0.48598130841121495</c:v>
                </c:pt>
              </c:numCache>
            </c:numRef>
          </c:val>
          <c:extLst>
            <c:ext xmlns:c16="http://schemas.microsoft.com/office/drawing/2014/chart" uri="{C3380CC4-5D6E-409C-BE32-E72D297353CC}">
              <c16:uniqueId val="{00000000-F64D-420E-B19D-AD8C95844557}"/>
            </c:ext>
          </c:extLst>
        </c:ser>
        <c:dLbls>
          <c:dLblPos val="outEnd"/>
          <c:showLegendKey val="0"/>
          <c:showVal val="1"/>
          <c:showCatName val="0"/>
          <c:showSerName val="0"/>
          <c:showPercent val="0"/>
          <c:showBubbleSize val="0"/>
        </c:dLbls>
        <c:gapWidth val="120"/>
        <c:axId val="1004608464"/>
        <c:axId val="1004597904"/>
      </c:barChart>
      <c:catAx>
        <c:axId val="100460846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1004597904"/>
        <c:crosses val="autoZero"/>
        <c:auto val="1"/>
        <c:lblAlgn val="ctr"/>
        <c:lblOffset val="100"/>
        <c:noMultiLvlLbl val="0"/>
      </c:catAx>
      <c:valAx>
        <c:axId val="1004597904"/>
        <c:scaling>
          <c:orientation val="minMax"/>
        </c:scaling>
        <c:delete val="1"/>
        <c:axPos val="b"/>
        <c:numFmt formatCode="0%" sourceLinked="1"/>
        <c:majorTickMark val="none"/>
        <c:minorTickMark val="none"/>
        <c:tickLblPos val="nextTo"/>
        <c:crossAx val="100460846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900">
          <a:latin typeface="Roboto Light" panose="02000000000000000000" pitchFamily="2" charset="0"/>
          <a:ea typeface="Roboto Light" panose="02000000000000000000" pitchFamily="2" charset="0"/>
          <a:cs typeface="Roboto Light" panose="02000000000000000000" pitchFamily="2" charset="0"/>
        </a:defRPr>
      </a:pPr>
      <a:endParaRPr lang="pt-BR"/>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C49D1B-E909-44D7-AE07-475F731D1327}" type="datetimeFigureOut">
              <a:rPr lang="en-US" smtClean="0"/>
              <a:t>7/27/2026</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834217-4D54-4655-9730-DDABE530927F}" type="slidenum">
              <a:rPr lang="en-US" smtClean="0"/>
              <a:t>‹#›</a:t>
            </a:fld>
            <a:endParaRPr lang="en-US"/>
          </a:p>
        </p:txBody>
      </p:sp>
    </p:spTree>
    <p:extLst>
      <p:ext uri="{BB962C8B-B14F-4D97-AF65-F5344CB8AC3E}">
        <p14:creationId xmlns:p14="http://schemas.microsoft.com/office/powerpoint/2010/main" val="18185616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60834217-4D54-4655-9730-DDABE530927F}" type="slidenum">
              <a:rPr lang="en-US" smtClean="0"/>
              <a:t>1</a:t>
            </a:fld>
            <a:endParaRPr lang="en-US"/>
          </a:p>
        </p:txBody>
      </p:sp>
    </p:spTree>
    <p:extLst>
      <p:ext uri="{BB962C8B-B14F-4D97-AF65-F5344CB8AC3E}">
        <p14:creationId xmlns:p14="http://schemas.microsoft.com/office/powerpoint/2010/main" val="17727174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dirty="0"/>
          </a:p>
        </p:txBody>
      </p:sp>
      <p:sp>
        <p:nvSpPr>
          <p:cNvPr id="4" name="Slide Number Placeholder 3"/>
          <p:cNvSpPr>
            <a:spLocks noGrp="1"/>
          </p:cNvSpPr>
          <p:nvPr>
            <p:ph type="sldNum" sz="quarter" idx="5"/>
          </p:nvPr>
        </p:nvSpPr>
        <p:spPr/>
        <p:txBody>
          <a:bodyPr/>
          <a:lstStyle/>
          <a:p>
            <a:fld id="{60834217-4D54-4655-9730-DDABE530927F}" type="slidenum">
              <a:rPr lang="en-US" smtClean="0"/>
              <a:t>3</a:t>
            </a:fld>
            <a:endParaRPr lang="en-US"/>
          </a:p>
        </p:txBody>
      </p:sp>
    </p:spTree>
    <p:extLst>
      <p:ext uri="{BB962C8B-B14F-4D97-AF65-F5344CB8AC3E}">
        <p14:creationId xmlns:p14="http://schemas.microsoft.com/office/powerpoint/2010/main" val="12995920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dirty="0"/>
          </a:p>
        </p:txBody>
      </p:sp>
      <p:sp>
        <p:nvSpPr>
          <p:cNvPr id="4" name="Slide Number Placeholder 3"/>
          <p:cNvSpPr>
            <a:spLocks noGrp="1"/>
          </p:cNvSpPr>
          <p:nvPr>
            <p:ph type="sldNum" sz="quarter" idx="5"/>
          </p:nvPr>
        </p:nvSpPr>
        <p:spPr/>
        <p:txBody>
          <a:bodyPr/>
          <a:lstStyle/>
          <a:p>
            <a:fld id="{60834217-4D54-4655-9730-DDABE530927F}" type="slidenum">
              <a:rPr lang="en-US" smtClean="0"/>
              <a:t>4</a:t>
            </a:fld>
            <a:endParaRPr lang="en-US"/>
          </a:p>
        </p:txBody>
      </p:sp>
    </p:spTree>
    <p:extLst>
      <p:ext uri="{BB962C8B-B14F-4D97-AF65-F5344CB8AC3E}">
        <p14:creationId xmlns:p14="http://schemas.microsoft.com/office/powerpoint/2010/main" val="12987074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dirty="0"/>
          </a:p>
        </p:txBody>
      </p:sp>
      <p:sp>
        <p:nvSpPr>
          <p:cNvPr id="4" name="Slide Number Placeholder 3"/>
          <p:cNvSpPr>
            <a:spLocks noGrp="1"/>
          </p:cNvSpPr>
          <p:nvPr>
            <p:ph type="sldNum" sz="quarter" idx="5"/>
          </p:nvPr>
        </p:nvSpPr>
        <p:spPr/>
        <p:txBody>
          <a:bodyPr/>
          <a:lstStyle/>
          <a:p>
            <a:fld id="{60834217-4D54-4655-9730-DDABE530927F}" type="slidenum">
              <a:rPr lang="en-US" smtClean="0"/>
              <a:t>5</a:t>
            </a:fld>
            <a:endParaRPr lang="en-US"/>
          </a:p>
        </p:txBody>
      </p:sp>
    </p:spTree>
    <p:extLst>
      <p:ext uri="{BB962C8B-B14F-4D97-AF65-F5344CB8AC3E}">
        <p14:creationId xmlns:p14="http://schemas.microsoft.com/office/powerpoint/2010/main" val="34943422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dirty="0"/>
          </a:p>
        </p:txBody>
      </p:sp>
      <p:sp>
        <p:nvSpPr>
          <p:cNvPr id="4" name="Slide Number Placeholder 3"/>
          <p:cNvSpPr>
            <a:spLocks noGrp="1"/>
          </p:cNvSpPr>
          <p:nvPr>
            <p:ph type="sldNum" sz="quarter" idx="5"/>
          </p:nvPr>
        </p:nvSpPr>
        <p:spPr/>
        <p:txBody>
          <a:bodyPr/>
          <a:lstStyle/>
          <a:p>
            <a:fld id="{60834217-4D54-4655-9730-DDABE530927F}" type="slidenum">
              <a:rPr lang="en-US" smtClean="0"/>
              <a:t>6</a:t>
            </a:fld>
            <a:endParaRPr lang="en-US"/>
          </a:p>
        </p:txBody>
      </p:sp>
    </p:spTree>
    <p:extLst>
      <p:ext uri="{BB962C8B-B14F-4D97-AF65-F5344CB8AC3E}">
        <p14:creationId xmlns:p14="http://schemas.microsoft.com/office/powerpoint/2010/main" val="23176124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Master" Target="../slideMasters/slideMaster1.xml"/><Relationship Id="rId3"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Master" Target="../slideMasters/slideMaster1.xml"/><Relationship Id="rId3"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tags" Target="../tags/tag16.xml"/><Relationship Id="rId2"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tags" Target="../tags/tag17.xml"/><Relationship Id="rId2"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tags" Target="../tags/tag18.xml"/><Relationship Id="rId2" Type="http://schemas.openxmlformats.org/officeDocument/2006/relationships/slideMaster" Target="../slideMasters/slideMaster1.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apa">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27" name="Date Placeholder 20">
            <a:extLst>
              <a:ext uri="{FF2B5EF4-FFF2-40B4-BE49-F238E27FC236}">
                <a16:creationId xmlns:a16="http://schemas.microsoft.com/office/drawing/2014/main" id="{3CFE2718-552D-4895-B7F5-1F81E5DEF09B}"/>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fld id="{7C9C2A39-E05C-4B75-A654-FF17227B908E}" type="datetime4">
              <a:rPr lang="pt-BR" smtClean="0"/>
              <a:t>27 de julho de 2026</a:t>
            </a:fld>
            <a:endParaRPr lang="en-US" dirty="0"/>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3" y="988484"/>
            <a:ext cx="6112355"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41" name="Freeform: Shape 40">
            <a:extLst>
              <a:ext uri="{FF2B5EF4-FFF2-40B4-BE49-F238E27FC236}">
                <a16:creationId xmlns:a16="http://schemas.microsoft.com/office/drawing/2014/main" id="{9CAD89BC-209F-4A84-B643-8391FE84FD63}"/>
              </a:ext>
            </a:extLst>
          </p:cNvPr>
          <p:cNvSpPr/>
          <p:nvPr/>
        </p:nvSpPr>
        <p:spPr>
          <a:xfrm>
            <a:off x="390154" y="406178"/>
            <a:ext cx="379041" cy="34191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sp>
        <p:nvSpPr>
          <p:cNvPr id="52" name="Espaço Reservado para Texto 6">
            <a:extLst>
              <a:ext uri="{FF2B5EF4-FFF2-40B4-BE49-F238E27FC236}">
                <a16:creationId xmlns:a16="http://schemas.microsoft.com/office/drawing/2014/main" id="{B4234437-C19A-4839-88DC-46D48AF5A2C4}"/>
              </a:ext>
            </a:extLst>
          </p:cNvPr>
          <p:cNvSpPr>
            <a:spLocks noGrp="1"/>
          </p:cNvSpPr>
          <p:nvPr userDrawn="1">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userDrawn="1">
            <p:ph type="body" sz="quarter" idx="20"/>
          </p:nvPr>
        </p:nvSpPr>
        <p:spPr>
          <a:xfrm>
            <a:off x="390153" y="2150952"/>
            <a:ext cx="6113677" cy="1772766"/>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userDrawn="1">
            <p:ph type="body" sz="quarter" idx="23"/>
          </p:nvPr>
        </p:nvSpPr>
        <p:spPr>
          <a:xfrm>
            <a:off x="390154" y="4060055"/>
            <a:ext cx="6099546" cy="3349806"/>
          </a:xfrm>
          <a:prstGeom prst="rect">
            <a:avLst/>
          </a:prstGeom>
          <a:noFill/>
        </p:spPr>
        <p:txBody>
          <a:bodyPr wrap="square" lIns="72000" tIns="72000" rIns="72000" bIns="72000" rtlCol="0">
            <a:noAutofit/>
          </a:bodyPr>
          <a:lstStyle>
            <a:lvl1pPr marL="0" marR="0" indent="0" algn="just" defTabSz="914400" rtl="0" eaLnBrk="1" fontAlgn="auto" latinLnBrk="0" hangingPunct="1">
              <a:lnSpc>
                <a:spcPct val="125000"/>
              </a:lnSpc>
              <a:spcBef>
                <a:spcPts val="422"/>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72" name="Espaço Reservado para Conteúdo 14">
            <a:extLst>
              <a:ext uri="{FF2B5EF4-FFF2-40B4-BE49-F238E27FC236}">
                <a16:creationId xmlns:a16="http://schemas.microsoft.com/office/drawing/2014/main" id="{7F6E3DBC-5BBD-4436-85AB-82E653F9C656}"/>
              </a:ext>
            </a:extLst>
          </p:cNvPr>
          <p:cNvSpPr>
            <a:spLocks noGrp="1"/>
          </p:cNvSpPr>
          <p:nvPr userDrawn="1">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73" name="Espaço Reservado para Conteúdo 14">
            <a:extLst>
              <a:ext uri="{FF2B5EF4-FFF2-40B4-BE49-F238E27FC236}">
                <a16:creationId xmlns:a16="http://schemas.microsoft.com/office/drawing/2014/main" id="{3405AF30-6481-4177-8C12-0BD1B0028E72}"/>
              </a:ext>
            </a:extLst>
          </p:cNvPr>
          <p:cNvSpPr>
            <a:spLocks noGrp="1"/>
          </p:cNvSpPr>
          <p:nvPr userDrawn="1">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74" name="Espaço Reservado para Conteúdo 14">
            <a:extLst>
              <a:ext uri="{FF2B5EF4-FFF2-40B4-BE49-F238E27FC236}">
                <a16:creationId xmlns:a16="http://schemas.microsoft.com/office/drawing/2014/main" id="{14ECC719-6B01-4AF5-92A8-682707D600B0}"/>
              </a:ext>
            </a:extLst>
          </p:cNvPr>
          <p:cNvSpPr>
            <a:spLocks noGrp="1"/>
          </p:cNvSpPr>
          <p:nvPr userDrawn="1">
            <p:ph sz="quarter" idx="24"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75" name="Espaço Reservado para Conteúdo 14">
            <a:extLst>
              <a:ext uri="{FF2B5EF4-FFF2-40B4-BE49-F238E27FC236}">
                <a16:creationId xmlns:a16="http://schemas.microsoft.com/office/drawing/2014/main" id="{519BA8D8-2D27-44DB-8406-D6D20B529EED}"/>
              </a:ext>
            </a:extLst>
          </p:cNvPr>
          <p:cNvSpPr>
            <a:spLocks noGrp="1"/>
          </p:cNvSpPr>
          <p:nvPr userDrawn="1">
            <p:ph sz="quarter" idx="25"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Texto 6">
            <a:extLst>
              <a:ext uri="{FF2B5EF4-FFF2-40B4-BE49-F238E27FC236}">
                <a16:creationId xmlns:a16="http://schemas.microsoft.com/office/drawing/2014/main" id="{B54F2371-4029-49C8-9052-6B6BC6F10604}"/>
              </a:ext>
            </a:extLst>
          </p:cNvPr>
          <p:cNvSpPr>
            <a:spLocks noGrp="1"/>
          </p:cNvSpPr>
          <p:nvPr userDrawn="1">
            <p:ph type="body" sz="quarter" idx="26" hasCustomPrompt="1"/>
          </p:nvPr>
        </p:nvSpPr>
        <p:spPr>
          <a:xfrm>
            <a:off x="822326" y="9548813"/>
            <a:ext cx="5451474"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16" name="Espaço Reservado para Texto 6">
            <a:extLst>
              <a:ext uri="{FF2B5EF4-FFF2-40B4-BE49-F238E27FC236}">
                <a16:creationId xmlns:a16="http://schemas.microsoft.com/office/drawing/2014/main" id="{429C2E0A-5D74-471B-9FCE-9C25B248818E}"/>
              </a:ext>
            </a:extLst>
          </p:cNvPr>
          <p:cNvSpPr>
            <a:spLocks noGrp="1"/>
          </p:cNvSpPr>
          <p:nvPr>
            <p:ph type="body" sz="quarter" idx="27"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17" name="Espaço Reservado para Texto 6">
            <a:extLst>
              <a:ext uri="{FF2B5EF4-FFF2-40B4-BE49-F238E27FC236}">
                <a16:creationId xmlns:a16="http://schemas.microsoft.com/office/drawing/2014/main" id="{C8553583-CA95-4D8E-AFB1-B92DC71C9BE5}"/>
              </a:ext>
            </a:extLst>
          </p:cNvPr>
          <p:cNvSpPr>
            <a:spLocks noGrp="1"/>
          </p:cNvSpPr>
          <p:nvPr>
            <p:ph type="body" sz="quarter" idx="36"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2209024188"/>
      </p:ext>
    </p:extLst>
  </p:cSld>
  <p:clrMapOvr>
    <a:masterClrMapping/>
  </p:clrMapOvr>
  <p:extLst>
    <p:ext uri="{DCECCB84-F9BA-43D5-87BE-67443E8EF086}">
      <p15:sldGuideLst xmlns:p15="http://schemas.microsoft.com/office/powerpoint/2012/main">
        <p15:guide id="0" pos="2228" userDrawn="1">
          <p15:clr>
            <a:srgbClr val="FBAE40"/>
          </p15:clr>
        </p15:guide>
        <p15:guide id="1" pos="2092"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apa 2">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41" name="Freeform: Shape 40">
            <a:extLst>
              <a:ext uri="{FF2B5EF4-FFF2-40B4-BE49-F238E27FC236}">
                <a16:creationId xmlns:a16="http://schemas.microsoft.com/office/drawing/2014/main" id="{9CAD89BC-209F-4A84-B643-8391FE84FD63}"/>
              </a:ext>
            </a:extLst>
          </p:cNvPr>
          <p:cNvSpPr/>
          <p:nvPr/>
        </p:nvSpPr>
        <p:spPr>
          <a:xfrm>
            <a:off x="390154" y="406178"/>
            <a:ext cx="379041" cy="34191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sp>
        <p:nvSpPr>
          <p:cNvPr id="52" name="Espaço Reservado para Texto 6">
            <a:extLst>
              <a:ext uri="{FF2B5EF4-FFF2-40B4-BE49-F238E27FC236}">
                <a16:creationId xmlns:a16="http://schemas.microsoft.com/office/drawing/2014/main" id="{B4234437-C19A-4839-88DC-46D48AF5A2C4}"/>
              </a:ext>
            </a:extLst>
          </p:cNvPr>
          <p:cNvSpPr>
            <a:spLocks noGrp="1"/>
          </p:cNvSpPr>
          <p:nvPr userDrawn="1">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userDrawn="1">
            <p:ph type="body" sz="quarter" idx="20"/>
          </p:nvPr>
        </p:nvSpPr>
        <p:spPr>
          <a:xfrm>
            <a:off x="390154" y="2150952"/>
            <a:ext cx="4490940" cy="1772766"/>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userDrawn="1">
            <p:ph type="body" sz="quarter" idx="23"/>
          </p:nvPr>
        </p:nvSpPr>
        <p:spPr>
          <a:xfrm>
            <a:off x="390153" y="4060055"/>
            <a:ext cx="6112353" cy="3349806"/>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72" name="Espaço Reservado para Conteúdo 14">
            <a:extLst>
              <a:ext uri="{FF2B5EF4-FFF2-40B4-BE49-F238E27FC236}">
                <a16:creationId xmlns:a16="http://schemas.microsoft.com/office/drawing/2014/main" id="{7F6E3DBC-5BBD-4436-85AB-82E653F9C656}"/>
              </a:ext>
            </a:extLst>
          </p:cNvPr>
          <p:cNvSpPr>
            <a:spLocks noGrp="1"/>
          </p:cNvSpPr>
          <p:nvPr userDrawn="1">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73" name="Espaço Reservado para Conteúdo 14">
            <a:extLst>
              <a:ext uri="{FF2B5EF4-FFF2-40B4-BE49-F238E27FC236}">
                <a16:creationId xmlns:a16="http://schemas.microsoft.com/office/drawing/2014/main" id="{3405AF30-6481-4177-8C12-0BD1B0028E72}"/>
              </a:ext>
            </a:extLst>
          </p:cNvPr>
          <p:cNvSpPr>
            <a:spLocks noGrp="1"/>
          </p:cNvSpPr>
          <p:nvPr userDrawn="1">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74" name="Espaço Reservado para Conteúdo 14">
            <a:extLst>
              <a:ext uri="{FF2B5EF4-FFF2-40B4-BE49-F238E27FC236}">
                <a16:creationId xmlns:a16="http://schemas.microsoft.com/office/drawing/2014/main" id="{14ECC719-6B01-4AF5-92A8-682707D600B0}"/>
              </a:ext>
            </a:extLst>
          </p:cNvPr>
          <p:cNvSpPr>
            <a:spLocks noGrp="1"/>
          </p:cNvSpPr>
          <p:nvPr userDrawn="1">
            <p:ph sz="quarter" idx="24"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75" name="Espaço Reservado para Conteúdo 14">
            <a:extLst>
              <a:ext uri="{FF2B5EF4-FFF2-40B4-BE49-F238E27FC236}">
                <a16:creationId xmlns:a16="http://schemas.microsoft.com/office/drawing/2014/main" id="{519BA8D8-2D27-44DB-8406-D6D20B529EED}"/>
              </a:ext>
            </a:extLst>
          </p:cNvPr>
          <p:cNvSpPr>
            <a:spLocks noGrp="1"/>
          </p:cNvSpPr>
          <p:nvPr userDrawn="1">
            <p:ph sz="quarter" idx="25"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Date Placeholder 1">
            <a:extLst>
              <a:ext uri="{FF2B5EF4-FFF2-40B4-BE49-F238E27FC236}">
                <a16:creationId xmlns:a16="http://schemas.microsoft.com/office/drawing/2014/main" id="{3B4501E0-2CFF-4239-9520-A5B3FF88FAB7}"/>
              </a:ext>
            </a:extLst>
          </p:cNvPr>
          <p:cNvSpPr>
            <a:spLocks noGrp="1"/>
          </p:cNvSpPr>
          <p:nvPr userDrawn="1">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fld id="{371ED426-3533-4F3A-BE72-C7EFA5829CB3}" type="datetime4">
              <a:rPr lang="pt-BR" smtClean="0"/>
              <a:pPr/>
              <a:t>27 de julho de 2026</a:t>
            </a:fld>
            <a:endParaRPr lang="en-US" dirty="0"/>
          </a:p>
        </p:txBody>
      </p:sp>
      <p:sp>
        <p:nvSpPr>
          <p:cNvPr id="61" name="Text Placeholder 4">
            <a:extLst>
              <a:ext uri="{FF2B5EF4-FFF2-40B4-BE49-F238E27FC236}">
                <a16:creationId xmlns:a16="http://schemas.microsoft.com/office/drawing/2014/main" id="{318E1824-F862-4308-8D14-9073C9CBAABB}"/>
              </a:ext>
            </a:extLst>
          </p:cNvPr>
          <p:cNvSpPr>
            <a:spLocks noGrp="1"/>
          </p:cNvSpPr>
          <p:nvPr userDrawn="1">
            <p:ph type="body" sz="quarter" idx="27" hasCustomPrompt="1"/>
          </p:nvPr>
        </p:nvSpPr>
        <p:spPr>
          <a:xfrm>
            <a:off x="5022853" y="2150953"/>
            <a:ext cx="1466848"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userDrawn="1">
            <p:ph type="body" sz="quarter" idx="28" hasCustomPrompt="1"/>
          </p:nvPr>
        </p:nvSpPr>
        <p:spPr>
          <a:xfrm>
            <a:off x="5022853" y="2312750"/>
            <a:ext cx="1466848"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userDrawn="1">
            <p:ph type="body" sz="quarter" idx="29" hasCustomPrompt="1"/>
          </p:nvPr>
        </p:nvSpPr>
        <p:spPr>
          <a:xfrm>
            <a:off x="5022853" y="2439622"/>
            <a:ext cx="1466848"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userDrawn="1">
            <p:ph type="body" sz="quarter" idx="30" hasCustomPrompt="1"/>
          </p:nvPr>
        </p:nvSpPr>
        <p:spPr>
          <a:xfrm>
            <a:off x="5022853" y="2815008"/>
            <a:ext cx="1466848"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userDrawn="1">
            <p:ph type="body" sz="quarter" idx="31" hasCustomPrompt="1"/>
          </p:nvPr>
        </p:nvSpPr>
        <p:spPr>
          <a:xfrm>
            <a:off x="5022853" y="2976805"/>
            <a:ext cx="1466848"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userDrawn="1">
            <p:ph type="body" sz="quarter" idx="32" hasCustomPrompt="1"/>
          </p:nvPr>
        </p:nvSpPr>
        <p:spPr>
          <a:xfrm>
            <a:off x="5022853" y="3103677"/>
            <a:ext cx="1466848"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userDrawn="1">
            <p:ph type="body" sz="quarter" idx="33" hasCustomPrompt="1"/>
          </p:nvPr>
        </p:nvSpPr>
        <p:spPr>
          <a:xfrm>
            <a:off x="5022853" y="3467328"/>
            <a:ext cx="1466848"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userDrawn="1">
            <p:ph type="body" sz="quarter" idx="34" hasCustomPrompt="1"/>
          </p:nvPr>
        </p:nvSpPr>
        <p:spPr>
          <a:xfrm>
            <a:off x="5022853" y="3629125"/>
            <a:ext cx="1466848"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userDrawn="1">
            <p:ph type="body" sz="quarter" idx="35" hasCustomPrompt="1"/>
          </p:nvPr>
        </p:nvSpPr>
        <p:spPr>
          <a:xfrm>
            <a:off x="5022853" y="3755997"/>
            <a:ext cx="1466848"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cxnSp>
        <p:nvCxnSpPr>
          <p:cNvPr id="3" name="Straight Connector 2">
            <a:extLst>
              <a:ext uri="{FF2B5EF4-FFF2-40B4-BE49-F238E27FC236}">
                <a16:creationId xmlns:a16="http://schemas.microsoft.com/office/drawing/2014/main" id="{8A3B4E86-9E31-44B1-AD38-564BDC91B35E}"/>
              </a:ext>
            </a:extLst>
          </p:cNvPr>
          <p:cNvCxnSpPr/>
          <p:nvPr userDrawn="1"/>
        </p:nvCxnSpPr>
        <p:spPr>
          <a:xfrm>
            <a:off x="4951973" y="2150952"/>
            <a:ext cx="0" cy="1772766"/>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6" name="Espaço Reservado para Texto 6">
            <a:extLst>
              <a:ext uri="{FF2B5EF4-FFF2-40B4-BE49-F238E27FC236}">
                <a16:creationId xmlns:a16="http://schemas.microsoft.com/office/drawing/2014/main" id="{6BA2B197-504D-4D14-9FFE-83CCFB68CF27}"/>
              </a:ext>
            </a:extLst>
          </p:cNvPr>
          <p:cNvSpPr>
            <a:spLocks noGrp="1"/>
          </p:cNvSpPr>
          <p:nvPr>
            <p:ph type="body" sz="quarter" idx="26" hasCustomPrompt="1"/>
          </p:nvPr>
        </p:nvSpPr>
        <p:spPr>
          <a:xfrm>
            <a:off x="822325" y="9548813"/>
            <a:ext cx="5451474"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7" name="Espaço Reservado para Texto 6">
            <a:extLst>
              <a:ext uri="{FF2B5EF4-FFF2-40B4-BE49-F238E27FC236}">
                <a16:creationId xmlns:a16="http://schemas.microsoft.com/office/drawing/2014/main" id="{86EF7019-8945-4B32-85D1-9979F8FCD2E4}"/>
              </a:ext>
            </a:extLst>
          </p:cNvPr>
          <p:cNvSpPr>
            <a:spLocks noGrp="1"/>
          </p:cNvSpPr>
          <p:nvPr>
            <p:ph type="body" sz="quarter" idx="36"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3727755060"/>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apa Company Update/Report">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90155" y="1406305"/>
            <a:ext cx="6112352" cy="187200"/>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41" name="Freeform: Shape 40">
            <a:extLst>
              <a:ext uri="{FF2B5EF4-FFF2-40B4-BE49-F238E27FC236}">
                <a16:creationId xmlns:a16="http://schemas.microsoft.com/office/drawing/2014/main" id="{9CAD89BC-209F-4A84-B643-8391FE84FD63}"/>
              </a:ext>
            </a:extLst>
          </p:cNvPr>
          <p:cNvSpPr/>
          <p:nvPr/>
        </p:nvSpPr>
        <p:spPr>
          <a:xfrm>
            <a:off x="390154" y="406178"/>
            <a:ext cx="379041" cy="34191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sp>
        <p:nvSpPr>
          <p:cNvPr id="52" name="Espaço Reservado para Texto 6">
            <a:extLst>
              <a:ext uri="{FF2B5EF4-FFF2-40B4-BE49-F238E27FC236}">
                <a16:creationId xmlns:a16="http://schemas.microsoft.com/office/drawing/2014/main" id="{B4234437-C19A-4839-88DC-46D48AF5A2C4}"/>
              </a:ext>
            </a:extLst>
          </p:cNvPr>
          <p:cNvSpPr>
            <a:spLocks noGrp="1"/>
          </p:cNvSpPr>
          <p:nvPr userDrawn="1">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userDrawn="1">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userDrawn="1">
            <p:ph type="body" sz="quarter" idx="23"/>
          </p:nvPr>
        </p:nvSpPr>
        <p:spPr>
          <a:xfrm>
            <a:off x="390155" y="3605328"/>
            <a:ext cx="3734170" cy="4174580"/>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6" name="Date Placeholder 1">
            <a:extLst>
              <a:ext uri="{FF2B5EF4-FFF2-40B4-BE49-F238E27FC236}">
                <a16:creationId xmlns:a16="http://schemas.microsoft.com/office/drawing/2014/main" id="{3B4501E0-2CFF-4239-9520-A5B3FF88FAB7}"/>
              </a:ext>
            </a:extLst>
          </p:cNvPr>
          <p:cNvSpPr>
            <a:spLocks noGrp="1"/>
          </p:cNvSpPr>
          <p:nvPr userDrawn="1">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fld id="{9ACC90CF-0157-4B63-8DBF-AAD268A4BA64}" type="datetime4">
              <a:rPr lang="pt-BR" smtClean="0"/>
              <a:pPr/>
              <a:t>27 de julho de 2026</a:t>
            </a:fld>
            <a:endParaRPr lang="en-US" dirty="0"/>
          </a:p>
        </p:txBody>
      </p:sp>
      <p:sp>
        <p:nvSpPr>
          <p:cNvPr id="61" name="Text Placeholder 4">
            <a:extLst>
              <a:ext uri="{FF2B5EF4-FFF2-40B4-BE49-F238E27FC236}">
                <a16:creationId xmlns:a16="http://schemas.microsoft.com/office/drawing/2014/main" id="{318E1824-F862-4308-8D14-9073C9CBAABB}"/>
              </a:ext>
            </a:extLst>
          </p:cNvPr>
          <p:cNvSpPr>
            <a:spLocks noGrp="1"/>
          </p:cNvSpPr>
          <p:nvPr userDrawn="1">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userDrawn="1">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userDrawn="1">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userDrawn="1">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userDrawn="1">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userDrawn="1">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userDrawn="1">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userDrawn="1">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userDrawn="1">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417458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6" name="Espaço Reservado para Conteúdo 14">
            <a:extLst>
              <a:ext uri="{FF2B5EF4-FFF2-40B4-BE49-F238E27FC236}">
                <a16:creationId xmlns:a16="http://schemas.microsoft.com/office/drawing/2014/main" id="{FC793E5F-9C0C-468E-8CC6-E5FF5C28A615}"/>
              </a:ext>
            </a:extLst>
          </p:cNvPr>
          <p:cNvSpPr>
            <a:spLocks noGrp="1"/>
          </p:cNvSpPr>
          <p:nvPr userDrawn="1">
            <p:ph sz="quarter" idx="25" hasCustomPrompt="1"/>
          </p:nvPr>
        </p:nvSpPr>
        <p:spPr>
          <a:xfrm>
            <a:off x="4330594" y="5349815"/>
            <a:ext cx="2159107" cy="966741"/>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1445B0B9-ADF4-4441-B72F-3BFD45AB8EE6}"/>
              </a:ext>
            </a:extLst>
          </p:cNvPr>
          <p:cNvSpPr>
            <a:spLocks noGrp="1"/>
          </p:cNvSpPr>
          <p:nvPr userDrawn="1">
            <p:ph sz="quarter" idx="36" hasCustomPrompt="1"/>
          </p:nvPr>
        </p:nvSpPr>
        <p:spPr>
          <a:xfrm>
            <a:off x="4330594" y="5061196"/>
            <a:ext cx="215910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8" name="Espaço Reservado para Conteúdo 14">
            <a:extLst>
              <a:ext uri="{FF2B5EF4-FFF2-40B4-BE49-F238E27FC236}">
                <a16:creationId xmlns:a16="http://schemas.microsoft.com/office/drawing/2014/main" id="{8272B113-2F70-441F-8502-29E6B907995B}"/>
              </a:ext>
            </a:extLst>
          </p:cNvPr>
          <p:cNvSpPr>
            <a:spLocks noGrp="1"/>
          </p:cNvSpPr>
          <p:nvPr userDrawn="1">
            <p:ph sz="quarter" idx="21" hasCustomPrompt="1"/>
          </p:nvPr>
        </p:nvSpPr>
        <p:spPr>
          <a:xfrm>
            <a:off x="382829" y="8150455"/>
            <a:ext cx="6106871" cy="127740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1" name="Espaço Reservado para Conteúdo 14">
            <a:extLst>
              <a:ext uri="{FF2B5EF4-FFF2-40B4-BE49-F238E27FC236}">
                <a16:creationId xmlns:a16="http://schemas.microsoft.com/office/drawing/2014/main" id="{1CFB79D6-6CD7-480C-8CD0-27D7ABC00A16}"/>
              </a:ext>
            </a:extLst>
          </p:cNvPr>
          <p:cNvSpPr>
            <a:spLocks noGrp="1"/>
          </p:cNvSpPr>
          <p:nvPr userDrawn="1">
            <p:ph sz="quarter" idx="22" hasCustomPrompt="1"/>
          </p:nvPr>
        </p:nvSpPr>
        <p:spPr>
          <a:xfrm>
            <a:off x="4330594" y="67527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userDrawn="1">
            <p:ph sz="quarter"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userDrawn="1">
            <p:ph sz="quarter" idx="24" hasCustomPrompt="1"/>
          </p:nvPr>
        </p:nvSpPr>
        <p:spPr>
          <a:xfrm>
            <a:off x="4330594" y="64641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6" name="Espaço Reservado para Texto 6">
            <a:extLst>
              <a:ext uri="{FF2B5EF4-FFF2-40B4-BE49-F238E27FC236}">
                <a16:creationId xmlns:a16="http://schemas.microsoft.com/office/drawing/2014/main" id="{DC264199-65F3-45B7-A679-6FDC932AC7D0}"/>
              </a:ext>
            </a:extLst>
          </p:cNvPr>
          <p:cNvSpPr>
            <a:spLocks noGrp="1"/>
          </p:cNvSpPr>
          <p:nvPr>
            <p:ph type="body" sz="quarter" idx="26" hasCustomPrompt="1"/>
          </p:nvPr>
        </p:nvSpPr>
        <p:spPr>
          <a:xfrm>
            <a:off x="822326" y="9548813"/>
            <a:ext cx="5451474"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8" name="Espaço Reservado para Texto 6">
            <a:extLst>
              <a:ext uri="{FF2B5EF4-FFF2-40B4-BE49-F238E27FC236}">
                <a16:creationId xmlns:a16="http://schemas.microsoft.com/office/drawing/2014/main" id="{9DCB93D0-E61E-430D-9F36-5F0D26015BB2}"/>
              </a:ext>
            </a:extLst>
          </p:cNvPr>
          <p:cNvSpPr>
            <a:spLocks noGrp="1"/>
          </p:cNvSpPr>
          <p:nvPr>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1554458986"/>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apa Company Results">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41" name="Freeform: Shape 40">
            <a:extLst>
              <a:ext uri="{FF2B5EF4-FFF2-40B4-BE49-F238E27FC236}">
                <a16:creationId xmlns:a16="http://schemas.microsoft.com/office/drawing/2014/main" id="{9CAD89BC-209F-4A84-B643-8391FE84FD63}"/>
              </a:ext>
            </a:extLst>
          </p:cNvPr>
          <p:cNvSpPr/>
          <p:nvPr/>
        </p:nvSpPr>
        <p:spPr>
          <a:xfrm>
            <a:off x="390154" y="406178"/>
            <a:ext cx="379041" cy="34191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sp>
        <p:nvSpPr>
          <p:cNvPr id="52" name="Espaço Reservado para Texto 6">
            <a:extLst>
              <a:ext uri="{FF2B5EF4-FFF2-40B4-BE49-F238E27FC236}">
                <a16:creationId xmlns:a16="http://schemas.microsoft.com/office/drawing/2014/main" id="{B4234437-C19A-4839-88DC-46D48AF5A2C4}"/>
              </a:ext>
            </a:extLst>
          </p:cNvPr>
          <p:cNvSpPr>
            <a:spLocks noGrp="1"/>
          </p:cNvSpPr>
          <p:nvPr userDrawn="1">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userDrawn="1">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userDrawn="1">
            <p:ph type="body" sz="quarter" idx="23"/>
          </p:nvPr>
        </p:nvSpPr>
        <p:spPr>
          <a:xfrm>
            <a:off x="390155" y="3605328"/>
            <a:ext cx="3734170" cy="4174580"/>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61" name="Text Placeholder 4">
            <a:extLst>
              <a:ext uri="{FF2B5EF4-FFF2-40B4-BE49-F238E27FC236}">
                <a16:creationId xmlns:a16="http://schemas.microsoft.com/office/drawing/2014/main" id="{318E1824-F862-4308-8D14-9073C9CBAABB}"/>
              </a:ext>
            </a:extLst>
          </p:cNvPr>
          <p:cNvSpPr>
            <a:spLocks noGrp="1"/>
          </p:cNvSpPr>
          <p:nvPr userDrawn="1">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userDrawn="1">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userDrawn="1">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userDrawn="1">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userDrawn="1">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userDrawn="1">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userDrawn="1">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userDrawn="1">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userDrawn="1">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417458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8" name="Espaço Reservado para Conteúdo 14">
            <a:extLst>
              <a:ext uri="{FF2B5EF4-FFF2-40B4-BE49-F238E27FC236}">
                <a16:creationId xmlns:a16="http://schemas.microsoft.com/office/drawing/2014/main" id="{8272B113-2F70-441F-8502-29E6B907995B}"/>
              </a:ext>
            </a:extLst>
          </p:cNvPr>
          <p:cNvSpPr>
            <a:spLocks noGrp="1"/>
          </p:cNvSpPr>
          <p:nvPr userDrawn="1">
            <p:ph sz="quarter" idx="21" hasCustomPrompt="1"/>
          </p:nvPr>
        </p:nvSpPr>
        <p:spPr>
          <a:xfrm>
            <a:off x="382829" y="8150455"/>
            <a:ext cx="610687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1" name="Espaço Reservado para Conteúdo 14">
            <a:extLst>
              <a:ext uri="{FF2B5EF4-FFF2-40B4-BE49-F238E27FC236}">
                <a16:creationId xmlns:a16="http://schemas.microsoft.com/office/drawing/2014/main" id="{1CFB79D6-6CD7-480C-8CD0-27D7ABC00A16}"/>
              </a:ext>
            </a:extLst>
          </p:cNvPr>
          <p:cNvSpPr>
            <a:spLocks noGrp="1"/>
          </p:cNvSpPr>
          <p:nvPr userDrawn="1">
            <p:ph sz="quarter" idx="22" hasCustomPrompt="1"/>
          </p:nvPr>
        </p:nvSpPr>
        <p:spPr>
          <a:xfrm>
            <a:off x="4330594" y="67527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userDrawn="1">
            <p:ph sz="quarter"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userDrawn="1">
            <p:ph sz="quarter" idx="24" hasCustomPrompt="1"/>
          </p:nvPr>
        </p:nvSpPr>
        <p:spPr>
          <a:xfrm>
            <a:off x="4330594" y="64641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6" name="Date Placeholder 20">
            <a:extLst>
              <a:ext uri="{FF2B5EF4-FFF2-40B4-BE49-F238E27FC236}">
                <a16:creationId xmlns:a16="http://schemas.microsoft.com/office/drawing/2014/main" id="{B077F716-3648-4986-B642-EBB8EACA0CA3}"/>
              </a:ext>
            </a:extLst>
          </p:cNvPr>
          <p:cNvSpPr>
            <a:spLocks noGrp="1"/>
          </p:cNvSpPr>
          <p:nvPr userDrawn="1">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fld id="{7C9C2A39-E05C-4B75-A654-FF17227B908E}" type="datetime4">
              <a:rPr lang="pt-BR" smtClean="0"/>
              <a:t>27 de julho de 2026</a:t>
            </a:fld>
            <a:endParaRPr lang="en-US" dirty="0"/>
          </a:p>
        </p:txBody>
      </p:sp>
      <p:sp>
        <p:nvSpPr>
          <p:cNvPr id="37" name="Espaço Reservado para Texto 6">
            <a:extLst>
              <a:ext uri="{FF2B5EF4-FFF2-40B4-BE49-F238E27FC236}">
                <a16:creationId xmlns:a16="http://schemas.microsoft.com/office/drawing/2014/main" id="{D486432B-6611-4D66-9BE0-78F2DF17D3B9}"/>
              </a:ext>
            </a:extLst>
          </p:cNvPr>
          <p:cNvSpPr>
            <a:spLocks noGrp="1"/>
          </p:cNvSpPr>
          <p:nvPr userDrawn="1">
            <p:ph type="body" sz="quarter" idx="26" hasCustomPrompt="1"/>
          </p:nvPr>
        </p:nvSpPr>
        <p:spPr>
          <a:xfrm>
            <a:off x="822326" y="9548813"/>
            <a:ext cx="5451474"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56" name="Espaço Reservado para Texto 6">
            <a:extLst>
              <a:ext uri="{FF2B5EF4-FFF2-40B4-BE49-F238E27FC236}">
                <a16:creationId xmlns:a16="http://schemas.microsoft.com/office/drawing/2014/main" id="{AF036FFC-BAB5-47BE-A9DB-8B1C65BD75B2}"/>
              </a:ext>
            </a:extLst>
          </p:cNvPr>
          <p:cNvSpPr>
            <a:spLocks noGrp="1"/>
          </p:cNvSpPr>
          <p:nvPr userDrawn="1">
            <p:ph type="body" sz="quarter" idx="17" hasCustomPrompt="1"/>
          </p:nvPr>
        </p:nvSpPr>
        <p:spPr>
          <a:xfrm>
            <a:off x="390155" y="1406305"/>
            <a:ext cx="6112352" cy="187200"/>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58" name="Espaço Reservado para Texto 6">
            <a:extLst>
              <a:ext uri="{FF2B5EF4-FFF2-40B4-BE49-F238E27FC236}">
                <a16:creationId xmlns:a16="http://schemas.microsoft.com/office/drawing/2014/main" id="{4D1590AF-1353-4F4C-B98C-05C375BBBA92}"/>
              </a:ext>
            </a:extLst>
          </p:cNvPr>
          <p:cNvSpPr>
            <a:spLocks noGrp="1"/>
          </p:cNvSpPr>
          <p:nvPr userDrawn="1">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2159577802"/>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apa Short Note v1">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41" name="Freeform: Shape 40">
            <a:extLst>
              <a:ext uri="{FF2B5EF4-FFF2-40B4-BE49-F238E27FC236}">
                <a16:creationId xmlns:a16="http://schemas.microsoft.com/office/drawing/2014/main" id="{9CAD89BC-209F-4A84-B643-8391FE84FD63}"/>
              </a:ext>
            </a:extLst>
          </p:cNvPr>
          <p:cNvSpPr/>
          <p:nvPr userDrawn="1"/>
        </p:nvSpPr>
        <p:spPr>
          <a:xfrm>
            <a:off x="390154" y="406178"/>
            <a:ext cx="379041" cy="34191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sp>
        <p:nvSpPr>
          <p:cNvPr id="52" name="Espaço Reservado para Texto 6">
            <a:extLst>
              <a:ext uri="{FF2B5EF4-FFF2-40B4-BE49-F238E27FC236}">
                <a16:creationId xmlns:a16="http://schemas.microsoft.com/office/drawing/2014/main" id="{B4234437-C19A-4839-88DC-46D48AF5A2C4}"/>
              </a:ext>
            </a:extLst>
          </p:cNvPr>
          <p:cNvSpPr>
            <a:spLocks noGrp="1"/>
          </p:cNvSpPr>
          <p:nvPr userDrawn="1">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userDrawn="1">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userDrawn="1">
            <p:ph type="body" sz="quarter" idx="23"/>
          </p:nvPr>
        </p:nvSpPr>
        <p:spPr>
          <a:xfrm>
            <a:off x="390155" y="3605328"/>
            <a:ext cx="3734170" cy="4174580"/>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61" name="Text Placeholder 4">
            <a:extLst>
              <a:ext uri="{FF2B5EF4-FFF2-40B4-BE49-F238E27FC236}">
                <a16:creationId xmlns:a16="http://schemas.microsoft.com/office/drawing/2014/main" id="{318E1824-F862-4308-8D14-9073C9CBAABB}"/>
              </a:ext>
            </a:extLst>
          </p:cNvPr>
          <p:cNvSpPr>
            <a:spLocks noGrp="1"/>
          </p:cNvSpPr>
          <p:nvPr userDrawn="1">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userDrawn="1">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userDrawn="1">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userDrawn="1">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userDrawn="1">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userDrawn="1">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userDrawn="1">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userDrawn="1">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userDrawn="1">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417458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51" name="Espaço Reservado para Conteúdo 14">
            <a:extLst>
              <a:ext uri="{FF2B5EF4-FFF2-40B4-BE49-F238E27FC236}">
                <a16:creationId xmlns:a16="http://schemas.microsoft.com/office/drawing/2014/main" id="{1CFB79D6-6CD7-480C-8CD0-27D7ABC00A16}"/>
              </a:ext>
            </a:extLst>
          </p:cNvPr>
          <p:cNvSpPr>
            <a:spLocks noGrp="1"/>
          </p:cNvSpPr>
          <p:nvPr userDrawn="1">
            <p:ph sz="quarter" idx="22" hasCustomPrompt="1"/>
          </p:nvPr>
        </p:nvSpPr>
        <p:spPr>
          <a:xfrm>
            <a:off x="4330594" y="67527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userDrawn="1">
            <p:ph sz="quarter" idx="24" hasCustomPrompt="1"/>
          </p:nvPr>
        </p:nvSpPr>
        <p:spPr>
          <a:xfrm>
            <a:off x="4330594" y="64641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6" name="Espaço Reservado para Conteúdo 14">
            <a:extLst>
              <a:ext uri="{FF2B5EF4-FFF2-40B4-BE49-F238E27FC236}">
                <a16:creationId xmlns:a16="http://schemas.microsoft.com/office/drawing/2014/main" id="{91EAA875-CDD1-40CF-93C6-C46C988D6819}"/>
              </a:ext>
            </a:extLst>
          </p:cNvPr>
          <p:cNvSpPr>
            <a:spLocks noGrp="1"/>
          </p:cNvSpPr>
          <p:nvPr userDrawn="1">
            <p:ph sz="quarter" idx="21" hasCustomPrompt="1"/>
          </p:nvPr>
        </p:nvSpPr>
        <p:spPr>
          <a:xfrm>
            <a:off x="382829" y="8150455"/>
            <a:ext cx="293822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5F8828C5-9B1E-49A4-9578-F6E2F3FA1C7A}"/>
              </a:ext>
            </a:extLst>
          </p:cNvPr>
          <p:cNvSpPr>
            <a:spLocks noGrp="1"/>
          </p:cNvSpPr>
          <p:nvPr userDrawn="1">
            <p:ph sz="quarter" idx="36" hasCustomPrompt="1"/>
          </p:nvPr>
        </p:nvSpPr>
        <p:spPr>
          <a:xfrm>
            <a:off x="3536951" y="8150455"/>
            <a:ext cx="2965558"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6" name="Espaço Reservado para Conteúdo 14">
            <a:extLst>
              <a:ext uri="{FF2B5EF4-FFF2-40B4-BE49-F238E27FC236}">
                <a16:creationId xmlns:a16="http://schemas.microsoft.com/office/drawing/2014/main" id="{C8043A8B-C6A0-451F-BCE0-CF376EA84CE7}"/>
              </a:ext>
            </a:extLst>
          </p:cNvPr>
          <p:cNvSpPr>
            <a:spLocks noGrp="1"/>
          </p:cNvSpPr>
          <p:nvPr userDrawn="1">
            <p:ph sz="quarter" idx="37" hasCustomPrompt="1"/>
          </p:nvPr>
        </p:nvSpPr>
        <p:spPr>
          <a:xfrm>
            <a:off x="382829" y="7861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8" name="Espaço Reservado para Conteúdo 14">
            <a:extLst>
              <a:ext uri="{FF2B5EF4-FFF2-40B4-BE49-F238E27FC236}">
                <a16:creationId xmlns:a16="http://schemas.microsoft.com/office/drawing/2014/main" id="{313F160D-109A-48C3-A366-CA46AF2EF492}"/>
              </a:ext>
            </a:extLst>
          </p:cNvPr>
          <p:cNvSpPr>
            <a:spLocks noGrp="1"/>
          </p:cNvSpPr>
          <p:nvPr userDrawn="1">
            <p:ph sz="quarter" idx="25" hasCustomPrompt="1"/>
          </p:nvPr>
        </p:nvSpPr>
        <p:spPr>
          <a:xfrm>
            <a:off x="3552750" y="7861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8" name="Date Placeholder 20">
            <a:extLst>
              <a:ext uri="{FF2B5EF4-FFF2-40B4-BE49-F238E27FC236}">
                <a16:creationId xmlns:a16="http://schemas.microsoft.com/office/drawing/2014/main" id="{293DBD93-4868-4A4F-968E-94E04CD6E42E}"/>
              </a:ext>
            </a:extLst>
          </p:cNvPr>
          <p:cNvSpPr>
            <a:spLocks noGrp="1"/>
          </p:cNvSpPr>
          <p:nvPr userDrawn="1">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fld id="{7C9C2A39-E05C-4B75-A654-FF17227B908E}" type="datetime4">
              <a:rPr lang="pt-BR" smtClean="0"/>
              <a:t>27 de julho de 2026</a:t>
            </a:fld>
            <a:endParaRPr lang="en-US" dirty="0"/>
          </a:p>
        </p:txBody>
      </p:sp>
      <p:sp>
        <p:nvSpPr>
          <p:cNvPr id="54" name="Espaço Reservado para Texto 6">
            <a:extLst>
              <a:ext uri="{FF2B5EF4-FFF2-40B4-BE49-F238E27FC236}">
                <a16:creationId xmlns:a16="http://schemas.microsoft.com/office/drawing/2014/main" id="{B7FF09E0-DBB2-4C05-980D-A1B9EC23C136}"/>
              </a:ext>
            </a:extLst>
          </p:cNvPr>
          <p:cNvSpPr>
            <a:spLocks noGrp="1"/>
          </p:cNvSpPr>
          <p:nvPr userDrawn="1">
            <p:ph type="body" sz="quarter" idx="26" hasCustomPrompt="1"/>
          </p:nvPr>
        </p:nvSpPr>
        <p:spPr>
          <a:xfrm>
            <a:off x="822326" y="9548813"/>
            <a:ext cx="5451474"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59" name="Espaço Reservado para Texto 6">
            <a:extLst>
              <a:ext uri="{FF2B5EF4-FFF2-40B4-BE49-F238E27FC236}">
                <a16:creationId xmlns:a16="http://schemas.microsoft.com/office/drawing/2014/main" id="{A830B891-E0B8-4D1D-BB9C-EE29C18F0F6B}"/>
              </a:ext>
            </a:extLst>
          </p:cNvPr>
          <p:cNvSpPr>
            <a:spLocks noGrp="1"/>
          </p:cNvSpPr>
          <p:nvPr userDrawn="1">
            <p:ph type="body" sz="quarter" idx="17" hasCustomPrompt="1"/>
          </p:nvPr>
        </p:nvSpPr>
        <p:spPr>
          <a:xfrm>
            <a:off x="390155" y="1406305"/>
            <a:ext cx="6112352" cy="187200"/>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60" name="Espaço Reservado para Texto 6">
            <a:extLst>
              <a:ext uri="{FF2B5EF4-FFF2-40B4-BE49-F238E27FC236}">
                <a16:creationId xmlns:a16="http://schemas.microsoft.com/office/drawing/2014/main" id="{972B702A-4B13-46BF-832E-0E0CA6D10D39}"/>
              </a:ext>
            </a:extLst>
          </p:cNvPr>
          <p:cNvSpPr>
            <a:spLocks noGrp="1"/>
          </p:cNvSpPr>
          <p:nvPr userDrawn="1">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1383627395"/>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apa Short Note v2">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41" name="Freeform: Shape 40">
            <a:extLst>
              <a:ext uri="{FF2B5EF4-FFF2-40B4-BE49-F238E27FC236}">
                <a16:creationId xmlns:a16="http://schemas.microsoft.com/office/drawing/2014/main" id="{9CAD89BC-209F-4A84-B643-8391FE84FD63}"/>
              </a:ext>
            </a:extLst>
          </p:cNvPr>
          <p:cNvSpPr/>
          <p:nvPr userDrawn="1"/>
        </p:nvSpPr>
        <p:spPr>
          <a:xfrm>
            <a:off x="390154" y="406178"/>
            <a:ext cx="379041" cy="34191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sp>
        <p:nvSpPr>
          <p:cNvPr id="52" name="Espaço Reservado para Texto 6">
            <a:extLst>
              <a:ext uri="{FF2B5EF4-FFF2-40B4-BE49-F238E27FC236}">
                <a16:creationId xmlns:a16="http://schemas.microsoft.com/office/drawing/2014/main" id="{B4234437-C19A-4839-88DC-46D48AF5A2C4}"/>
              </a:ext>
            </a:extLst>
          </p:cNvPr>
          <p:cNvSpPr>
            <a:spLocks noGrp="1"/>
          </p:cNvSpPr>
          <p:nvPr userDrawn="1">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Estratégia</a:t>
            </a:r>
          </a:p>
        </p:txBody>
      </p:sp>
      <p:sp>
        <p:nvSpPr>
          <p:cNvPr id="53" name="Text Placeholder 4">
            <a:extLst>
              <a:ext uri="{FF2B5EF4-FFF2-40B4-BE49-F238E27FC236}">
                <a16:creationId xmlns:a16="http://schemas.microsoft.com/office/drawing/2014/main" id="{03A51246-6836-408F-ABF0-EEEEE8E00F14}"/>
              </a:ext>
            </a:extLst>
          </p:cNvPr>
          <p:cNvSpPr>
            <a:spLocks noGrp="1"/>
          </p:cNvSpPr>
          <p:nvPr userDrawn="1">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userDrawn="1">
            <p:ph type="body" sz="quarter" idx="23"/>
          </p:nvPr>
        </p:nvSpPr>
        <p:spPr>
          <a:xfrm>
            <a:off x="390155" y="3605327"/>
            <a:ext cx="3734170" cy="5848235"/>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61" name="Text Placeholder 4">
            <a:extLst>
              <a:ext uri="{FF2B5EF4-FFF2-40B4-BE49-F238E27FC236}">
                <a16:creationId xmlns:a16="http://schemas.microsoft.com/office/drawing/2014/main" id="{318E1824-F862-4308-8D14-9073C9CBAABB}"/>
              </a:ext>
            </a:extLst>
          </p:cNvPr>
          <p:cNvSpPr>
            <a:spLocks noGrp="1"/>
          </p:cNvSpPr>
          <p:nvPr userDrawn="1">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userDrawn="1">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userDrawn="1">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userDrawn="1">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userDrawn="1">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userDrawn="1">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userDrawn="1">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userDrawn="1">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userDrawn="1">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5848234"/>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51" name="Espaço Reservado para Conteúdo 14">
            <a:extLst>
              <a:ext uri="{FF2B5EF4-FFF2-40B4-BE49-F238E27FC236}">
                <a16:creationId xmlns:a16="http://schemas.microsoft.com/office/drawing/2014/main" id="{1CFB79D6-6CD7-480C-8CD0-27D7ABC00A16}"/>
              </a:ext>
            </a:extLst>
          </p:cNvPr>
          <p:cNvSpPr>
            <a:spLocks noGrp="1"/>
          </p:cNvSpPr>
          <p:nvPr userDrawn="1">
            <p:ph sz="quarter" idx="22" hasCustomPrompt="1"/>
          </p:nvPr>
        </p:nvSpPr>
        <p:spPr>
          <a:xfrm>
            <a:off x="4330594" y="84291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userDrawn="1">
            <p:ph sz="quarter" idx="24" hasCustomPrompt="1"/>
          </p:nvPr>
        </p:nvSpPr>
        <p:spPr>
          <a:xfrm>
            <a:off x="4330594" y="81405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4" name="Date Placeholder 20">
            <a:extLst>
              <a:ext uri="{FF2B5EF4-FFF2-40B4-BE49-F238E27FC236}">
                <a16:creationId xmlns:a16="http://schemas.microsoft.com/office/drawing/2014/main" id="{BE40CF6C-74CA-4119-8657-718B3FCF708A}"/>
              </a:ext>
            </a:extLst>
          </p:cNvPr>
          <p:cNvSpPr>
            <a:spLocks noGrp="1"/>
          </p:cNvSpPr>
          <p:nvPr userDrawn="1">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fld id="{7C9C2A39-E05C-4B75-A654-FF17227B908E}" type="datetime4">
              <a:rPr lang="pt-BR" smtClean="0"/>
              <a:t>27 de julho de 2026</a:t>
            </a:fld>
            <a:endParaRPr lang="en-US" dirty="0"/>
          </a:p>
        </p:txBody>
      </p:sp>
      <p:sp>
        <p:nvSpPr>
          <p:cNvPr id="35" name="Espaço Reservado para Texto 6">
            <a:extLst>
              <a:ext uri="{FF2B5EF4-FFF2-40B4-BE49-F238E27FC236}">
                <a16:creationId xmlns:a16="http://schemas.microsoft.com/office/drawing/2014/main" id="{1E6F56E5-318E-4118-8DDA-A5CA45A77597}"/>
              </a:ext>
            </a:extLst>
          </p:cNvPr>
          <p:cNvSpPr>
            <a:spLocks noGrp="1"/>
          </p:cNvSpPr>
          <p:nvPr userDrawn="1">
            <p:ph type="body" sz="quarter" idx="26" hasCustomPrompt="1"/>
          </p:nvPr>
        </p:nvSpPr>
        <p:spPr>
          <a:xfrm>
            <a:off x="822326" y="9548813"/>
            <a:ext cx="5451474"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36" name="Espaço Reservado para Texto 6">
            <a:extLst>
              <a:ext uri="{FF2B5EF4-FFF2-40B4-BE49-F238E27FC236}">
                <a16:creationId xmlns:a16="http://schemas.microsoft.com/office/drawing/2014/main" id="{1E73CCC6-0687-4130-B81B-BB5AE9569FAF}"/>
              </a:ext>
            </a:extLst>
          </p:cNvPr>
          <p:cNvSpPr>
            <a:spLocks noGrp="1"/>
          </p:cNvSpPr>
          <p:nvPr userDrawn="1">
            <p:ph type="body" sz="quarter" idx="17" hasCustomPrompt="1"/>
          </p:nvPr>
        </p:nvSpPr>
        <p:spPr>
          <a:xfrm>
            <a:off x="390155" y="1406305"/>
            <a:ext cx="6112352" cy="187200"/>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37" name="Espaço Reservado para Texto 6">
            <a:extLst>
              <a:ext uri="{FF2B5EF4-FFF2-40B4-BE49-F238E27FC236}">
                <a16:creationId xmlns:a16="http://schemas.microsoft.com/office/drawing/2014/main" id="{0A23ECE4-9B2D-4440-AF9B-8D400D9C8385}"/>
              </a:ext>
            </a:extLst>
          </p:cNvPr>
          <p:cNvSpPr>
            <a:spLocks noGrp="1"/>
          </p:cNvSpPr>
          <p:nvPr userDrawn="1">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2062242139"/>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apa Short Note Sector">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41" name="Freeform: Shape 40">
            <a:extLst>
              <a:ext uri="{FF2B5EF4-FFF2-40B4-BE49-F238E27FC236}">
                <a16:creationId xmlns:a16="http://schemas.microsoft.com/office/drawing/2014/main" id="{9CAD89BC-209F-4A84-B643-8391FE84FD63}"/>
              </a:ext>
            </a:extLst>
          </p:cNvPr>
          <p:cNvSpPr/>
          <p:nvPr/>
        </p:nvSpPr>
        <p:spPr>
          <a:xfrm>
            <a:off x="390154" y="406178"/>
            <a:ext cx="379041" cy="34191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sp>
        <p:nvSpPr>
          <p:cNvPr id="52" name="Espaço Reservado para Texto 6">
            <a:extLst>
              <a:ext uri="{FF2B5EF4-FFF2-40B4-BE49-F238E27FC236}">
                <a16:creationId xmlns:a16="http://schemas.microsoft.com/office/drawing/2014/main" id="{B4234437-C19A-4839-88DC-46D48AF5A2C4}"/>
              </a:ext>
            </a:extLst>
          </p:cNvPr>
          <p:cNvSpPr>
            <a:spLocks noGrp="1"/>
          </p:cNvSpPr>
          <p:nvPr userDrawn="1">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userDrawn="1">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userDrawn="1">
            <p:ph type="body" sz="quarter" idx="23"/>
          </p:nvPr>
        </p:nvSpPr>
        <p:spPr>
          <a:xfrm>
            <a:off x="390155" y="3605328"/>
            <a:ext cx="3734170" cy="4174580"/>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61" name="Text Placeholder 4">
            <a:extLst>
              <a:ext uri="{FF2B5EF4-FFF2-40B4-BE49-F238E27FC236}">
                <a16:creationId xmlns:a16="http://schemas.microsoft.com/office/drawing/2014/main" id="{318E1824-F862-4308-8D14-9073C9CBAABB}"/>
              </a:ext>
            </a:extLst>
          </p:cNvPr>
          <p:cNvSpPr>
            <a:spLocks noGrp="1"/>
          </p:cNvSpPr>
          <p:nvPr userDrawn="1">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userDrawn="1">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userDrawn="1">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userDrawn="1">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userDrawn="1">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userDrawn="1">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userDrawn="1">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userDrawn="1">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userDrawn="1">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417458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8" name="Espaço Reservado para Conteúdo 14">
            <a:extLst>
              <a:ext uri="{FF2B5EF4-FFF2-40B4-BE49-F238E27FC236}">
                <a16:creationId xmlns:a16="http://schemas.microsoft.com/office/drawing/2014/main" id="{8272B113-2F70-441F-8502-29E6B907995B}"/>
              </a:ext>
            </a:extLst>
          </p:cNvPr>
          <p:cNvSpPr>
            <a:spLocks noGrp="1"/>
          </p:cNvSpPr>
          <p:nvPr userDrawn="1">
            <p:ph sz="quarter" idx="21" hasCustomPrompt="1"/>
          </p:nvPr>
        </p:nvSpPr>
        <p:spPr>
          <a:xfrm>
            <a:off x="382829" y="8150455"/>
            <a:ext cx="610687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userDrawn="1">
            <p:ph sz="quarter"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4" name="Date Placeholder 20">
            <a:extLst>
              <a:ext uri="{FF2B5EF4-FFF2-40B4-BE49-F238E27FC236}">
                <a16:creationId xmlns:a16="http://schemas.microsoft.com/office/drawing/2014/main" id="{1317ACB7-2FA3-4A8F-B41F-00E0C34F3D47}"/>
              </a:ext>
            </a:extLst>
          </p:cNvPr>
          <p:cNvSpPr>
            <a:spLocks noGrp="1"/>
          </p:cNvSpPr>
          <p:nvPr userDrawn="1">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fld id="{7C9C2A39-E05C-4B75-A654-FF17227B908E}" type="datetime4">
              <a:rPr lang="pt-BR" smtClean="0"/>
              <a:t>27 de julho de 2026</a:t>
            </a:fld>
            <a:endParaRPr lang="en-US" dirty="0"/>
          </a:p>
        </p:txBody>
      </p:sp>
      <p:sp>
        <p:nvSpPr>
          <p:cNvPr id="35" name="Espaço Reservado para Texto 6">
            <a:extLst>
              <a:ext uri="{FF2B5EF4-FFF2-40B4-BE49-F238E27FC236}">
                <a16:creationId xmlns:a16="http://schemas.microsoft.com/office/drawing/2014/main" id="{D9E4FCAE-0E04-40BA-9535-EEA6DC6588AA}"/>
              </a:ext>
            </a:extLst>
          </p:cNvPr>
          <p:cNvSpPr>
            <a:spLocks noGrp="1"/>
          </p:cNvSpPr>
          <p:nvPr userDrawn="1">
            <p:ph type="body" sz="quarter" idx="26" hasCustomPrompt="1"/>
          </p:nvPr>
        </p:nvSpPr>
        <p:spPr>
          <a:xfrm>
            <a:off x="822326" y="9548813"/>
            <a:ext cx="5451474"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36" name="Espaço Reservado para Texto 6">
            <a:extLst>
              <a:ext uri="{FF2B5EF4-FFF2-40B4-BE49-F238E27FC236}">
                <a16:creationId xmlns:a16="http://schemas.microsoft.com/office/drawing/2014/main" id="{C6BEEAFD-6517-4B3A-98C6-5CE200725C9A}"/>
              </a:ext>
            </a:extLst>
          </p:cNvPr>
          <p:cNvSpPr>
            <a:spLocks noGrp="1"/>
          </p:cNvSpPr>
          <p:nvPr userDrawn="1">
            <p:ph type="body" sz="quarter" idx="17" hasCustomPrompt="1"/>
          </p:nvPr>
        </p:nvSpPr>
        <p:spPr>
          <a:xfrm>
            <a:off x="390155" y="1406305"/>
            <a:ext cx="6112352" cy="187200"/>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37" name="Espaço Reservado para Texto 6">
            <a:extLst>
              <a:ext uri="{FF2B5EF4-FFF2-40B4-BE49-F238E27FC236}">
                <a16:creationId xmlns:a16="http://schemas.microsoft.com/office/drawing/2014/main" id="{CFD8B131-5708-4896-A463-986532CD0997}"/>
              </a:ext>
            </a:extLst>
          </p:cNvPr>
          <p:cNvSpPr>
            <a:spLocks noGrp="1"/>
          </p:cNvSpPr>
          <p:nvPr userDrawn="1">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846880194"/>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umário">
    <p:bg>
      <p:bgPr>
        <a:solidFill>
          <a:schemeClr val="bg1"/>
        </a:solidFill>
        <a:effectLst/>
      </p:bgPr>
    </p:bg>
    <p:spTree>
      <p:nvGrpSpPr>
        <p:cNvPr id="1" name=""/>
        <p:cNvGrpSpPr/>
        <p:nvPr/>
      </p:nvGrpSpPr>
      <p:grpSpPr>
        <a:xfrm>
          <a:off x="0" y="0"/>
          <a:ext cx="0" cy="0"/>
          <a:chOff x="0" y="0"/>
          <a:chExt cx="0" cy="0"/>
        </a:xfrm>
      </p:grpSpPr>
      <p:sp>
        <p:nvSpPr>
          <p:cNvPr id="126" name="Freeform: Shape 125">
            <a:extLst>
              <a:ext uri="{FF2B5EF4-FFF2-40B4-BE49-F238E27FC236}">
                <a16:creationId xmlns:a16="http://schemas.microsoft.com/office/drawing/2014/main" id="{3FC77C66-38F9-4F02-B9BC-6AEE180B4F4B}"/>
              </a:ext>
            </a:extLst>
          </p:cNvPr>
          <p:cNvSpPr/>
          <p:nvPr userDrawn="1"/>
        </p:nvSpPr>
        <p:spPr>
          <a:xfrm>
            <a:off x="4738916" y="4"/>
            <a:ext cx="2119084" cy="9905999"/>
          </a:xfrm>
          <a:custGeom>
            <a:avLst/>
            <a:gdLst>
              <a:gd name="connsiteX0" fmla="*/ 0 w 2119084"/>
              <a:gd name="connsiteY0" fmla="*/ 0 h 9905999"/>
              <a:gd name="connsiteX1" fmla="*/ 2119084 w 2119084"/>
              <a:gd name="connsiteY1" fmla="*/ 0 h 9905999"/>
              <a:gd name="connsiteX2" fmla="*/ 2119084 w 2119084"/>
              <a:gd name="connsiteY2" fmla="*/ 9905999 h 9905999"/>
              <a:gd name="connsiteX3" fmla="*/ 0 w 2119084"/>
              <a:gd name="connsiteY3" fmla="*/ 9905999 h 9905999"/>
            </a:gdLst>
            <a:ahLst/>
            <a:cxnLst>
              <a:cxn ang="0">
                <a:pos x="connsiteX0" y="connsiteY0"/>
              </a:cxn>
              <a:cxn ang="0">
                <a:pos x="connsiteX1" y="connsiteY1"/>
              </a:cxn>
              <a:cxn ang="0">
                <a:pos x="connsiteX2" y="connsiteY2"/>
              </a:cxn>
              <a:cxn ang="0">
                <a:pos x="connsiteX3" y="connsiteY3"/>
              </a:cxn>
            </a:cxnLst>
            <a:rect l="l" t="t" r="r" b="b"/>
            <a:pathLst>
              <a:path w="2119084" h="9905999">
                <a:moveTo>
                  <a:pt x="0" y="0"/>
                </a:moveTo>
                <a:lnTo>
                  <a:pt x="2119084" y="0"/>
                </a:lnTo>
                <a:lnTo>
                  <a:pt x="2119084" y="9905999"/>
                </a:lnTo>
                <a:lnTo>
                  <a:pt x="0" y="9905999"/>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6" name="Rectangle 5">
            <a:extLst>
              <a:ext uri="{FF2B5EF4-FFF2-40B4-BE49-F238E27FC236}">
                <a16:creationId xmlns:a16="http://schemas.microsoft.com/office/drawing/2014/main" id="{1D58E3DF-22F8-4C37-9B26-E76DF3BA1D45}"/>
              </a:ext>
            </a:extLst>
          </p:cNvPr>
          <p:cNvSpPr/>
          <p:nvPr userDrawn="1"/>
        </p:nvSpPr>
        <p:spPr>
          <a:xfrm>
            <a:off x="0" y="0"/>
            <a:ext cx="4738914" cy="990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70" name="CaixaDeTexto 4">
            <a:extLst>
              <a:ext uri="{FF2B5EF4-FFF2-40B4-BE49-F238E27FC236}">
                <a16:creationId xmlns:a16="http://schemas.microsoft.com/office/drawing/2014/main" id="{B62B5412-17EF-418D-8B6E-BF6ED9EC7C15}"/>
              </a:ext>
            </a:extLst>
          </p:cNvPr>
          <p:cNvSpPr txBox="1"/>
          <p:nvPr userDrawn="1"/>
        </p:nvSpPr>
        <p:spPr>
          <a:xfrm>
            <a:off x="375638" y="368602"/>
            <a:ext cx="3733609" cy="430887"/>
          </a:xfrm>
          <a:prstGeom prst="rect">
            <a:avLst/>
          </a:prstGeom>
        </p:spPr>
        <p:txBody>
          <a:bodyPr wrap="square" lIns="0" tIns="0" rIns="0" bIns="0" rtlCol="0">
            <a:spAutoFit/>
          </a:bodyPr>
          <a:lstStyle/>
          <a:p>
            <a:r>
              <a:rPr lang="pt-BR" sz="2800" dirty="0">
                <a:solidFill>
                  <a:srgbClr val="242424"/>
                </a:solidFill>
                <a:latin typeface="+mj-lt"/>
                <a:ea typeface="XP Light Lighthouse" pitchFamily="50" charset="0"/>
              </a:rPr>
              <a:t>Índice</a:t>
            </a:r>
          </a:p>
        </p:txBody>
      </p:sp>
      <p:sp>
        <p:nvSpPr>
          <p:cNvPr id="71" name="Espaço Reservado para Texto 6">
            <a:extLst>
              <a:ext uri="{FF2B5EF4-FFF2-40B4-BE49-F238E27FC236}">
                <a16:creationId xmlns:a16="http://schemas.microsoft.com/office/drawing/2014/main" id="{03A9C79B-A9AE-450D-ABDB-D007A473C085}"/>
              </a:ext>
            </a:extLst>
          </p:cNvPr>
          <p:cNvSpPr>
            <a:spLocks noGrp="1"/>
          </p:cNvSpPr>
          <p:nvPr>
            <p:ph type="body" sz="quarter" idx="17" hasCustomPrompt="1"/>
          </p:nvPr>
        </p:nvSpPr>
        <p:spPr>
          <a:xfrm>
            <a:off x="375638" y="1155618"/>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72" name="Espaço Reservado para Texto 6">
            <a:extLst>
              <a:ext uri="{FF2B5EF4-FFF2-40B4-BE49-F238E27FC236}">
                <a16:creationId xmlns:a16="http://schemas.microsoft.com/office/drawing/2014/main" id="{BDA9F1F2-ABC2-4D8D-8E95-0E8A4C2D295D}"/>
              </a:ext>
            </a:extLst>
          </p:cNvPr>
          <p:cNvSpPr>
            <a:spLocks noGrp="1"/>
          </p:cNvSpPr>
          <p:nvPr>
            <p:ph type="body" sz="quarter" idx="18" hasCustomPrompt="1"/>
          </p:nvPr>
        </p:nvSpPr>
        <p:spPr>
          <a:xfrm>
            <a:off x="375638" y="1485836"/>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73" name="Espaço Reservado para Texto 6">
            <a:extLst>
              <a:ext uri="{FF2B5EF4-FFF2-40B4-BE49-F238E27FC236}">
                <a16:creationId xmlns:a16="http://schemas.microsoft.com/office/drawing/2014/main" id="{0A91C08B-11B6-4949-955F-D55D9CBDCDD4}"/>
              </a:ext>
            </a:extLst>
          </p:cNvPr>
          <p:cNvSpPr>
            <a:spLocks noGrp="1"/>
          </p:cNvSpPr>
          <p:nvPr>
            <p:ph type="body" sz="quarter" idx="19" hasCustomPrompt="1"/>
          </p:nvPr>
        </p:nvSpPr>
        <p:spPr>
          <a:xfrm>
            <a:off x="375638" y="2139998"/>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74" name="Espaço Reservado para Texto 6">
            <a:extLst>
              <a:ext uri="{FF2B5EF4-FFF2-40B4-BE49-F238E27FC236}">
                <a16:creationId xmlns:a16="http://schemas.microsoft.com/office/drawing/2014/main" id="{61B220E4-8E3F-4CA0-815C-0FC23ECB015D}"/>
              </a:ext>
            </a:extLst>
          </p:cNvPr>
          <p:cNvSpPr>
            <a:spLocks noGrp="1"/>
          </p:cNvSpPr>
          <p:nvPr>
            <p:ph type="body" sz="quarter" idx="20" hasCustomPrompt="1"/>
          </p:nvPr>
        </p:nvSpPr>
        <p:spPr>
          <a:xfrm>
            <a:off x="375638" y="2470216"/>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75" name="Espaço Reservado para Texto 6">
            <a:extLst>
              <a:ext uri="{FF2B5EF4-FFF2-40B4-BE49-F238E27FC236}">
                <a16:creationId xmlns:a16="http://schemas.microsoft.com/office/drawing/2014/main" id="{55260DBC-11EE-4FC0-8B7C-0A2E6E95D846}"/>
              </a:ext>
            </a:extLst>
          </p:cNvPr>
          <p:cNvSpPr>
            <a:spLocks noGrp="1"/>
          </p:cNvSpPr>
          <p:nvPr>
            <p:ph type="body" sz="quarter" idx="21" hasCustomPrompt="1"/>
          </p:nvPr>
        </p:nvSpPr>
        <p:spPr>
          <a:xfrm>
            <a:off x="375638" y="313479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76" name="Espaço Reservado para Texto 6">
            <a:extLst>
              <a:ext uri="{FF2B5EF4-FFF2-40B4-BE49-F238E27FC236}">
                <a16:creationId xmlns:a16="http://schemas.microsoft.com/office/drawing/2014/main" id="{6E08F1B6-19EB-446F-A384-6FA55F237690}"/>
              </a:ext>
            </a:extLst>
          </p:cNvPr>
          <p:cNvSpPr>
            <a:spLocks noGrp="1"/>
          </p:cNvSpPr>
          <p:nvPr>
            <p:ph type="body" sz="quarter" idx="22" hasCustomPrompt="1"/>
          </p:nvPr>
        </p:nvSpPr>
        <p:spPr>
          <a:xfrm>
            <a:off x="375638" y="346501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77" name="Espaço Reservado para Texto 6">
            <a:extLst>
              <a:ext uri="{FF2B5EF4-FFF2-40B4-BE49-F238E27FC236}">
                <a16:creationId xmlns:a16="http://schemas.microsoft.com/office/drawing/2014/main" id="{91B87D7C-F3BF-4C21-A351-A0BDE3AC1780}"/>
              </a:ext>
            </a:extLst>
          </p:cNvPr>
          <p:cNvSpPr>
            <a:spLocks noGrp="1"/>
          </p:cNvSpPr>
          <p:nvPr>
            <p:ph type="body" sz="quarter" idx="23" hasCustomPrompt="1"/>
          </p:nvPr>
        </p:nvSpPr>
        <p:spPr>
          <a:xfrm>
            <a:off x="375638" y="411834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78" name="Espaço Reservado para Texto 6">
            <a:extLst>
              <a:ext uri="{FF2B5EF4-FFF2-40B4-BE49-F238E27FC236}">
                <a16:creationId xmlns:a16="http://schemas.microsoft.com/office/drawing/2014/main" id="{0AADF45C-FD67-4EA0-A19C-DFC61C6FDD41}"/>
              </a:ext>
            </a:extLst>
          </p:cNvPr>
          <p:cNvSpPr>
            <a:spLocks noGrp="1"/>
          </p:cNvSpPr>
          <p:nvPr>
            <p:ph type="body" sz="quarter" idx="24" hasCustomPrompt="1"/>
          </p:nvPr>
        </p:nvSpPr>
        <p:spPr>
          <a:xfrm>
            <a:off x="375638" y="444856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79" name="Espaço Reservado para Texto 6">
            <a:extLst>
              <a:ext uri="{FF2B5EF4-FFF2-40B4-BE49-F238E27FC236}">
                <a16:creationId xmlns:a16="http://schemas.microsoft.com/office/drawing/2014/main" id="{DBE90486-65C0-4DE3-B772-E75BDCB11A71}"/>
              </a:ext>
            </a:extLst>
          </p:cNvPr>
          <p:cNvSpPr>
            <a:spLocks noGrp="1"/>
          </p:cNvSpPr>
          <p:nvPr>
            <p:ph type="body" sz="quarter" idx="25" hasCustomPrompt="1"/>
          </p:nvPr>
        </p:nvSpPr>
        <p:spPr>
          <a:xfrm>
            <a:off x="375638" y="510189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80" name="Espaço Reservado para Texto 6">
            <a:extLst>
              <a:ext uri="{FF2B5EF4-FFF2-40B4-BE49-F238E27FC236}">
                <a16:creationId xmlns:a16="http://schemas.microsoft.com/office/drawing/2014/main" id="{1A800117-3D6E-41C0-87EE-163118B8A2E2}"/>
              </a:ext>
            </a:extLst>
          </p:cNvPr>
          <p:cNvSpPr>
            <a:spLocks noGrp="1"/>
          </p:cNvSpPr>
          <p:nvPr>
            <p:ph type="body" sz="quarter" idx="26" hasCustomPrompt="1"/>
          </p:nvPr>
        </p:nvSpPr>
        <p:spPr>
          <a:xfrm>
            <a:off x="375638" y="543211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82" name="Espaço Reservado para Texto 6">
            <a:extLst>
              <a:ext uri="{FF2B5EF4-FFF2-40B4-BE49-F238E27FC236}">
                <a16:creationId xmlns:a16="http://schemas.microsoft.com/office/drawing/2014/main" id="{55F89238-ABFA-4DE5-BEEE-C9A02D0C172F}"/>
              </a:ext>
            </a:extLst>
          </p:cNvPr>
          <p:cNvSpPr>
            <a:spLocks noGrp="1"/>
          </p:cNvSpPr>
          <p:nvPr>
            <p:ph type="body" sz="quarter" idx="27" hasCustomPrompt="1"/>
          </p:nvPr>
        </p:nvSpPr>
        <p:spPr>
          <a:xfrm>
            <a:off x="375638" y="610088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83" name="Espaço Reservado para Texto 6">
            <a:extLst>
              <a:ext uri="{FF2B5EF4-FFF2-40B4-BE49-F238E27FC236}">
                <a16:creationId xmlns:a16="http://schemas.microsoft.com/office/drawing/2014/main" id="{B576006F-5C63-4F83-A6A7-3A1D6518574B}"/>
              </a:ext>
            </a:extLst>
          </p:cNvPr>
          <p:cNvSpPr>
            <a:spLocks noGrp="1"/>
          </p:cNvSpPr>
          <p:nvPr>
            <p:ph type="body" sz="quarter" idx="28" hasCustomPrompt="1"/>
          </p:nvPr>
        </p:nvSpPr>
        <p:spPr>
          <a:xfrm>
            <a:off x="375638" y="643110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84" name="Espaço Reservado para Texto 6">
            <a:extLst>
              <a:ext uri="{FF2B5EF4-FFF2-40B4-BE49-F238E27FC236}">
                <a16:creationId xmlns:a16="http://schemas.microsoft.com/office/drawing/2014/main" id="{5BF4C252-6B86-4B48-9F78-8860636B44CF}"/>
              </a:ext>
            </a:extLst>
          </p:cNvPr>
          <p:cNvSpPr>
            <a:spLocks noGrp="1"/>
          </p:cNvSpPr>
          <p:nvPr>
            <p:ph type="body" sz="quarter" idx="29" hasCustomPrompt="1"/>
          </p:nvPr>
        </p:nvSpPr>
        <p:spPr>
          <a:xfrm>
            <a:off x="375638" y="708443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85" name="Espaço Reservado para Texto 6">
            <a:extLst>
              <a:ext uri="{FF2B5EF4-FFF2-40B4-BE49-F238E27FC236}">
                <a16:creationId xmlns:a16="http://schemas.microsoft.com/office/drawing/2014/main" id="{25455617-CBBE-4E5A-84C2-E57D5C8B9CAE}"/>
              </a:ext>
            </a:extLst>
          </p:cNvPr>
          <p:cNvSpPr>
            <a:spLocks noGrp="1"/>
          </p:cNvSpPr>
          <p:nvPr>
            <p:ph type="body" sz="quarter" idx="30" hasCustomPrompt="1"/>
          </p:nvPr>
        </p:nvSpPr>
        <p:spPr>
          <a:xfrm>
            <a:off x="375638" y="741465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86" name="CaixaDeTexto 9">
            <a:extLst>
              <a:ext uri="{FF2B5EF4-FFF2-40B4-BE49-F238E27FC236}">
                <a16:creationId xmlns:a16="http://schemas.microsoft.com/office/drawing/2014/main" id="{50BF8A2C-093E-471E-8719-A576D404CF14}"/>
              </a:ext>
            </a:extLst>
          </p:cNvPr>
          <p:cNvSpPr txBox="1"/>
          <p:nvPr userDrawn="1"/>
        </p:nvSpPr>
        <p:spPr>
          <a:xfrm>
            <a:off x="6328029" y="9584374"/>
            <a:ext cx="148017" cy="127755"/>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bg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99" name="Espaço Reservado para Texto 6">
            <a:extLst>
              <a:ext uri="{FF2B5EF4-FFF2-40B4-BE49-F238E27FC236}">
                <a16:creationId xmlns:a16="http://schemas.microsoft.com/office/drawing/2014/main" id="{7B172628-B577-4AEB-B6C9-D0D032DB3544}"/>
              </a:ext>
            </a:extLst>
          </p:cNvPr>
          <p:cNvSpPr>
            <a:spLocks noGrp="1"/>
          </p:cNvSpPr>
          <p:nvPr>
            <p:ph type="body" sz="quarter" idx="31" hasCustomPrompt="1"/>
          </p:nvPr>
        </p:nvSpPr>
        <p:spPr>
          <a:xfrm>
            <a:off x="375638" y="8063396"/>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100" name="Espaço Reservado para Texto 6">
            <a:extLst>
              <a:ext uri="{FF2B5EF4-FFF2-40B4-BE49-F238E27FC236}">
                <a16:creationId xmlns:a16="http://schemas.microsoft.com/office/drawing/2014/main" id="{B20D4700-3F28-45FE-AD12-4DD7C836112A}"/>
              </a:ext>
            </a:extLst>
          </p:cNvPr>
          <p:cNvSpPr>
            <a:spLocks noGrp="1"/>
          </p:cNvSpPr>
          <p:nvPr>
            <p:ph type="body" sz="quarter" idx="32" hasCustomPrompt="1"/>
          </p:nvPr>
        </p:nvSpPr>
        <p:spPr>
          <a:xfrm>
            <a:off x="375638" y="8393614"/>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pic>
        <p:nvPicPr>
          <p:cNvPr id="125" name="Picture 124" descr="A picture containing dark, night sky&#10;&#10;Description automatically generated">
            <a:extLst>
              <a:ext uri="{FF2B5EF4-FFF2-40B4-BE49-F238E27FC236}">
                <a16:creationId xmlns:a16="http://schemas.microsoft.com/office/drawing/2014/main" id="{C3A5B707-C3CA-48F1-A65F-A0F1B5E937CC}"/>
              </a:ext>
            </a:extLst>
          </p:cNvPr>
          <p:cNvPicPr>
            <a:picLocks noChangeAspect="1"/>
          </p:cNvPicPr>
          <p:nvPr userDrawn="1"/>
        </p:nvPicPr>
        <p:blipFill rotWithShape="1">
          <a:blip r:embed="rId3">
            <a:alphaModFix amt="60000"/>
          </a:blip>
          <a:srcRect l="1608" t="46598" b="23299"/>
          <a:stretch/>
        </p:blipFill>
        <p:spPr>
          <a:xfrm rot="5400000" flipH="1" flipV="1">
            <a:off x="845461" y="3893458"/>
            <a:ext cx="9905993" cy="2119084"/>
          </a:xfrm>
          <a:prstGeom prst="rect">
            <a:avLst/>
          </a:prstGeom>
          <a:noFill/>
        </p:spPr>
      </p:pic>
      <p:grpSp>
        <p:nvGrpSpPr>
          <p:cNvPr id="58" name="Group 57">
            <a:extLst>
              <a:ext uri="{FF2B5EF4-FFF2-40B4-BE49-F238E27FC236}">
                <a16:creationId xmlns:a16="http://schemas.microsoft.com/office/drawing/2014/main" id="{21EC4E3C-94FF-4DEE-BCA5-6C69C79BF726}"/>
              </a:ext>
            </a:extLst>
          </p:cNvPr>
          <p:cNvGrpSpPr/>
          <p:nvPr userDrawn="1"/>
        </p:nvGrpSpPr>
        <p:grpSpPr>
          <a:xfrm>
            <a:off x="0" y="8408987"/>
            <a:ext cx="6858000" cy="1497013"/>
            <a:chOff x="-2701533" y="4131759"/>
            <a:chExt cx="8821930" cy="2757656"/>
          </a:xfrm>
        </p:grpSpPr>
        <p:cxnSp>
          <p:nvCxnSpPr>
            <p:cNvPr id="59" name="Conector reto 7">
              <a:extLst>
                <a:ext uri="{FF2B5EF4-FFF2-40B4-BE49-F238E27FC236}">
                  <a16:creationId xmlns:a16="http://schemas.microsoft.com/office/drawing/2014/main" id="{36127AE7-5949-4D77-9612-72EB21196D4A}"/>
                </a:ext>
              </a:extLst>
            </p:cNvPr>
            <p:cNvCxnSpPr>
              <a:cxnSpLocks/>
            </p:cNvCxnSpPr>
            <p:nvPr userDrawn="1"/>
          </p:nvCxnSpPr>
          <p:spPr>
            <a:xfrm>
              <a:off x="-2701533" y="5750250"/>
              <a:ext cx="88219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0" name="Conector reto 2">
              <a:extLst>
                <a:ext uri="{FF2B5EF4-FFF2-40B4-BE49-F238E27FC236}">
                  <a16:creationId xmlns:a16="http://schemas.microsoft.com/office/drawing/2014/main" id="{4CE8B0B8-0AF5-462B-9CCC-6E9CFFF38D98}"/>
                </a:ext>
              </a:extLst>
            </p:cNvPr>
            <p:cNvCxnSpPr>
              <a:cxnSpLocks/>
            </p:cNvCxnSpPr>
            <p:nvPr userDrawn="1"/>
          </p:nvCxnSpPr>
          <p:spPr>
            <a:xfrm flipH="1">
              <a:off x="4033407" y="4131759"/>
              <a:ext cx="2086990" cy="275765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38" name="Freeform: Shape 37">
            <a:extLst>
              <a:ext uri="{FF2B5EF4-FFF2-40B4-BE49-F238E27FC236}">
                <a16:creationId xmlns:a16="http://schemas.microsoft.com/office/drawing/2014/main" id="{B095B632-657C-4580-8D60-6742FAE9328E}"/>
              </a:ext>
            </a:extLst>
          </p:cNvPr>
          <p:cNvSpPr/>
          <p:nvPr userDrawn="1"/>
        </p:nvSpPr>
        <p:spPr>
          <a:xfrm>
            <a:off x="381000" y="9526266"/>
            <a:ext cx="270465" cy="24397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000000"/>
          </a:solidFill>
          <a:ln w="6350" cap="flat">
            <a:noFill/>
            <a:prstDash val="solid"/>
            <a:miter/>
          </a:ln>
        </p:spPr>
        <p:txBody>
          <a:bodyPr rtlCol="0" anchor="ctr"/>
          <a:lstStyle/>
          <a:p>
            <a:endParaRPr lang="en-US"/>
          </a:p>
        </p:txBody>
      </p:sp>
    </p:spTree>
    <p:extLst>
      <p:ext uri="{BB962C8B-B14F-4D97-AF65-F5344CB8AC3E}">
        <p14:creationId xmlns:p14="http://schemas.microsoft.com/office/powerpoint/2010/main" val="1228595421"/>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sória">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4004B1B-6C67-4C40-BA3A-400177C1EF88}"/>
              </a:ext>
            </a:extLst>
          </p:cNvPr>
          <p:cNvSpPr/>
          <p:nvPr userDrawn="1"/>
        </p:nvSpPr>
        <p:spPr>
          <a:xfrm>
            <a:off x="-1" y="0"/>
            <a:ext cx="6858001" cy="200346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5" name="Group 4">
            <a:extLst>
              <a:ext uri="{FF2B5EF4-FFF2-40B4-BE49-F238E27FC236}">
                <a16:creationId xmlns:a16="http://schemas.microsoft.com/office/drawing/2014/main" id="{F8C7BC6E-B42D-4416-8608-21682D8920A8}"/>
              </a:ext>
            </a:extLst>
          </p:cNvPr>
          <p:cNvGrpSpPr/>
          <p:nvPr userDrawn="1"/>
        </p:nvGrpSpPr>
        <p:grpSpPr>
          <a:xfrm>
            <a:off x="0" y="1188728"/>
            <a:ext cx="6858000" cy="8726315"/>
            <a:chOff x="0" y="-1859272"/>
            <a:chExt cx="6858000" cy="8726315"/>
          </a:xfrm>
        </p:grpSpPr>
        <p:sp>
          <p:nvSpPr>
            <p:cNvPr id="40" name="Rectangle 39">
              <a:extLst>
                <a:ext uri="{FF2B5EF4-FFF2-40B4-BE49-F238E27FC236}">
                  <a16:creationId xmlns:a16="http://schemas.microsoft.com/office/drawing/2014/main" id="{8213840C-2C06-4CAA-815E-6052211F6CA0}"/>
                </a:ext>
              </a:extLst>
            </p:cNvPr>
            <p:cNvSpPr/>
            <p:nvPr userDrawn="1"/>
          </p:nvSpPr>
          <p:spPr>
            <a:xfrm flipH="1" flipV="1">
              <a:off x="0" y="-1859272"/>
              <a:ext cx="6858000" cy="87172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pic>
          <p:nvPicPr>
            <p:cNvPr id="41" name="Picture 40" descr="A picture containing dark, night sky&#10;&#10;Description automatically generated">
              <a:extLst>
                <a:ext uri="{FF2B5EF4-FFF2-40B4-BE49-F238E27FC236}">
                  <a16:creationId xmlns:a16="http://schemas.microsoft.com/office/drawing/2014/main" id="{AACBCC8B-613D-4802-AE5F-7D7D5FE3F250}"/>
                </a:ext>
              </a:extLst>
            </p:cNvPr>
            <p:cNvPicPr>
              <a:picLocks noChangeAspect="1"/>
            </p:cNvPicPr>
            <p:nvPr userDrawn="1"/>
          </p:nvPicPr>
          <p:blipFill rotWithShape="1">
            <a:blip r:embed="rId3">
              <a:alphaModFix amt="49000"/>
            </a:blip>
            <a:srcRect l="11124"/>
            <a:stretch/>
          </p:blipFill>
          <p:spPr>
            <a:xfrm rot="16200000" flipV="1">
              <a:off x="-929638" y="-920592"/>
              <a:ext cx="8717273" cy="6857998"/>
            </a:xfrm>
            <a:prstGeom prst="rect">
              <a:avLst/>
            </a:prstGeom>
          </p:spPr>
        </p:pic>
      </p:gr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Freeform: Shape 52">
            <a:extLst>
              <a:ext uri="{FF2B5EF4-FFF2-40B4-BE49-F238E27FC236}">
                <a16:creationId xmlns:a16="http://schemas.microsoft.com/office/drawing/2014/main" id="{C0D7674D-49E8-4FD1-8EE6-775A8BFD963D}"/>
              </a:ext>
            </a:extLst>
          </p:cNvPr>
          <p:cNvSpPr/>
          <p:nvPr/>
        </p:nvSpPr>
        <p:spPr>
          <a:xfrm>
            <a:off x="390154" y="406178"/>
            <a:ext cx="379041" cy="34191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accent1"/>
          </a:solidFill>
          <a:ln w="6350" cap="flat">
            <a:noFill/>
            <a:prstDash val="solid"/>
            <a:miter/>
          </a:ln>
        </p:spPr>
        <p:txBody>
          <a:bodyPr rtlCol="0" anchor="ctr"/>
          <a:lstStyle/>
          <a:p>
            <a:endParaRPr lang="en-US"/>
          </a:p>
        </p:txBody>
      </p:sp>
      <p:grpSp>
        <p:nvGrpSpPr>
          <p:cNvPr id="68" name="Group 67">
            <a:extLst>
              <a:ext uri="{FF2B5EF4-FFF2-40B4-BE49-F238E27FC236}">
                <a16:creationId xmlns:a16="http://schemas.microsoft.com/office/drawing/2014/main" id="{17DB0CED-EB9B-40B9-950A-5942CEE89D15}"/>
              </a:ext>
            </a:extLst>
          </p:cNvPr>
          <p:cNvGrpSpPr/>
          <p:nvPr userDrawn="1"/>
        </p:nvGrpSpPr>
        <p:grpSpPr>
          <a:xfrm>
            <a:off x="0" y="0"/>
            <a:ext cx="6858000" cy="3415894"/>
            <a:chOff x="-2701533" y="4114034"/>
            <a:chExt cx="8821930" cy="4701783"/>
          </a:xfrm>
        </p:grpSpPr>
        <p:cxnSp>
          <p:nvCxnSpPr>
            <p:cNvPr id="69" name="Conector reto 7">
              <a:extLst>
                <a:ext uri="{FF2B5EF4-FFF2-40B4-BE49-F238E27FC236}">
                  <a16:creationId xmlns:a16="http://schemas.microsoft.com/office/drawing/2014/main" id="{7C215890-47CA-4535-A28E-F0D8639CAF52}"/>
                </a:ext>
              </a:extLst>
            </p:cNvPr>
            <p:cNvCxnSpPr>
              <a:cxnSpLocks/>
            </p:cNvCxnSpPr>
            <p:nvPr userDrawn="1"/>
          </p:nvCxnSpPr>
          <p:spPr>
            <a:xfrm>
              <a:off x="-2701533" y="5741510"/>
              <a:ext cx="882193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1" name="Conector reto 2">
              <a:extLst>
                <a:ext uri="{FF2B5EF4-FFF2-40B4-BE49-F238E27FC236}">
                  <a16:creationId xmlns:a16="http://schemas.microsoft.com/office/drawing/2014/main" id="{C9C6FAA6-86BF-4151-9C12-9A001DB12D56}"/>
                </a:ext>
              </a:extLst>
            </p:cNvPr>
            <p:cNvCxnSpPr>
              <a:cxnSpLocks/>
            </p:cNvCxnSpPr>
            <p:nvPr userDrawn="1"/>
          </p:nvCxnSpPr>
          <p:spPr>
            <a:xfrm flipH="1" flipV="1">
              <a:off x="2562094" y="4114034"/>
              <a:ext cx="3558302" cy="4701783"/>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sp>
        <p:nvSpPr>
          <p:cNvPr id="88" name="CaixaDeTexto 9">
            <a:extLst>
              <a:ext uri="{FF2B5EF4-FFF2-40B4-BE49-F238E27FC236}">
                <a16:creationId xmlns:a16="http://schemas.microsoft.com/office/drawing/2014/main" id="{2FF21D72-7D65-4AA3-AE03-41BAE5375E8C}"/>
              </a:ext>
            </a:extLst>
          </p:cNvPr>
          <p:cNvSpPr txBox="1"/>
          <p:nvPr userDrawn="1"/>
        </p:nvSpPr>
        <p:spPr>
          <a:xfrm>
            <a:off x="6328029" y="9584374"/>
            <a:ext cx="148017" cy="127755"/>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bg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89" name="Text Placeholder 40">
            <a:extLst>
              <a:ext uri="{FF2B5EF4-FFF2-40B4-BE49-F238E27FC236}">
                <a16:creationId xmlns:a16="http://schemas.microsoft.com/office/drawing/2014/main" id="{91D72DC1-72BB-4D90-888F-230C2490908D}"/>
              </a:ext>
            </a:extLst>
          </p:cNvPr>
          <p:cNvSpPr>
            <a:spLocks noGrp="1"/>
          </p:cNvSpPr>
          <p:nvPr userDrawn="1">
            <p:ph type="body" sz="quarter" idx="11" hasCustomPrompt="1"/>
          </p:nvPr>
        </p:nvSpPr>
        <p:spPr>
          <a:xfrm>
            <a:off x="368299" y="1928155"/>
            <a:ext cx="5337375" cy="458908"/>
          </a:xfrm>
          <a:prstGeom prst="rect">
            <a:avLst/>
          </a:prstGeom>
          <a:noFill/>
          <a:effectLst/>
        </p:spPr>
        <p:txBody>
          <a:bodyPr wrap="square" lIns="0" tIns="0" rIns="0" bIns="0" rtlCol="0" anchor="t" anchorCtr="0">
            <a:noAutofit/>
          </a:bodyPr>
          <a:lstStyle>
            <a:lvl1pPr algn="l">
              <a:defRPr lang="en-US" sz="3200" b="0" i="0" dirty="0">
                <a:solidFill>
                  <a:schemeClr val="bg1"/>
                </a:solidFill>
                <a:latin typeface="+mj-lt"/>
                <a:ea typeface="XP Light" pitchFamily="50" charset="0"/>
                <a:cs typeface="Roboto" panose="02000000000000000000" pitchFamily="2" charset="0"/>
              </a:defRPr>
            </a:lvl1pPr>
          </a:lstStyle>
          <a:p>
            <a:pPr lvl="0" algn="ctr" defTabSz="914400">
              <a:lnSpc>
                <a:spcPct val="80000"/>
              </a:lnSpc>
              <a:spcBef>
                <a:spcPts val="1200"/>
              </a:spcBef>
            </a:pPr>
            <a:r>
              <a:rPr lang="pt-BR" noProof="0" dirty="0" err="1"/>
              <a:t>Edit</a:t>
            </a:r>
            <a:endParaRPr lang="pt-BR" noProof="0" dirty="0"/>
          </a:p>
        </p:txBody>
      </p:sp>
      <p:sp>
        <p:nvSpPr>
          <p:cNvPr id="90" name="Text Placeholder 40">
            <a:extLst>
              <a:ext uri="{FF2B5EF4-FFF2-40B4-BE49-F238E27FC236}">
                <a16:creationId xmlns:a16="http://schemas.microsoft.com/office/drawing/2014/main" id="{B7833D10-130C-44AA-A9F0-0C48CBA6D02C}"/>
              </a:ext>
            </a:extLst>
          </p:cNvPr>
          <p:cNvSpPr>
            <a:spLocks noGrp="1"/>
          </p:cNvSpPr>
          <p:nvPr userDrawn="1">
            <p:ph type="body" sz="quarter" idx="12" hasCustomPrompt="1"/>
          </p:nvPr>
        </p:nvSpPr>
        <p:spPr>
          <a:xfrm>
            <a:off x="368300" y="1509004"/>
            <a:ext cx="3006272" cy="336050"/>
          </a:xfrm>
          <a:prstGeom prst="rect">
            <a:avLst/>
          </a:prstGeom>
          <a:noFill/>
          <a:effectLst/>
        </p:spPr>
        <p:txBody>
          <a:bodyPr wrap="none" lIns="0" tIns="0" rIns="0" bIns="0" rtlCol="0" anchor="ctr">
            <a:noAutofit/>
          </a:bodyPr>
          <a:lstStyle>
            <a:lvl1pPr algn="l">
              <a:defRPr lang="en-US" sz="1800" b="0" i="0" dirty="0">
                <a:solidFill>
                  <a:schemeClr val="accent3"/>
                </a:solidFill>
                <a:latin typeface="+mj-lt"/>
                <a:ea typeface="Roboto" panose="02000000000000000000" pitchFamily="2" charset="0"/>
                <a:cs typeface="Roboto" panose="02000000000000000000" pitchFamily="2" charset="0"/>
              </a:defRPr>
            </a:lvl1pPr>
          </a:lstStyle>
          <a:p>
            <a:pPr lvl="0" algn="ctr" defTabSz="914400">
              <a:lnSpc>
                <a:spcPct val="80000"/>
              </a:lnSpc>
              <a:spcBef>
                <a:spcPts val="1200"/>
              </a:spcBef>
            </a:pPr>
            <a:r>
              <a:rPr lang="pt-BR" noProof="0" dirty="0" err="1"/>
              <a:t>Section</a:t>
            </a:r>
            <a:endParaRPr lang="pt-BR" noProof="0" dirty="0"/>
          </a:p>
        </p:txBody>
      </p:sp>
    </p:spTree>
    <p:extLst>
      <p:ext uri="{BB962C8B-B14F-4D97-AF65-F5344CB8AC3E}">
        <p14:creationId xmlns:p14="http://schemas.microsoft.com/office/powerpoint/2010/main" val="766427935"/>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 Gráfico">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1836973"/>
            <a:ext cx="6105737" cy="763026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1548355"/>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2" name="Straight Connector 21">
            <a:extLst>
              <a:ext uri="{FF2B5EF4-FFF2-40B4-BE49-F238E27FC236}">
                <a16:creationId xmlns:a16="http://schemas.microsoft.com/office/drawing/2014/main" id="{66D21A7D-7928-4237-874A-A5ECB2674181}"/>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Espaço Reservado para Texto 6">
            <a:extLst>
              <a:ext uri="{FF2B5EF4-FFF2-40B4-BE49-F238E27FC236}">
                <a16:creationId xmlns:a16="http://schemas.microsoft.com/office/drawing/2014/main" id="{63243072-4DA0-4C3A-B73A-671A2BEE8737}"/>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3" name="Espaço Reservado para Texto 6">
            <a:extLst>
              <a:ext uri="{FF2B5EF4-FFF2-40B4-BE49-F238E27FC236}">
                <a16:creationId xmlns:a16="http://schemas.microsoft.com/office/drawing/2014/main" id="{6194D149-E2F1-4BF9-A8EC-BA08D0C1D8BC}"/>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14" name="Espaço Reservado para Texto 6">
            <a:extLst>
              <a:ext uri="{FF2B5EF4-FFF2-40B4-BE49-F238E27FC236}">
                <a16:creationId xmlns:a16="http://schemas.microsoft.com/office/drawing/2014/main" id="{222AA90C-E900-4ED3-BFA9-BB805E20C8AA}"/>
              </a:ext>
            </a:extLst>
          </p:cNvPr>
          <p:cNvSpPr>
            <a:spLocks noGrp="1"/>
          </p:cNvSpPr>
          <p:nvPr>
            <p:ph type="body" sz="quarter" idx="26" hasCustomPrompt="1"/>
          </p:nvPr>
        </p:nvSpPr>
        <p:spPr>
          <a:xfrm>
            <a:off x="822326" y="9548813"/>
            <a:ext cx="5451474"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15" name="Date Placeholder 20">
            <a:extLst>
              <a:ext uri="{FF2B5EF4-FFF2-40B4-BE49-F238E27FC236}">
                <a16:creationId xmlns:a16="http://schemas.microsoft.com/office/drawing/2014/main" id="{D3568A36-7D9D-4213-A2B6-805717509389}"/>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A1BA6855-24E8-4B4A-9C31-FF8C10D7C01B}" type="datetime4">
              <a:rPr lang="pt-BR" smtClean="0"/>
              <a:pPr/>
              <a:t>27 de julho de 2026</a:t>
            </a:fld>
            <a:endParaRPr lang="en-US" dirty="0"/>
          </a:p>
        </p:txBody>
      </p:sp>
    </p:spTree>
    <p:extLst>
      <p:ext uri="{BB962C8B-B14F-4D97-AF65-F5344CB8AC3E}">
        <p14:creationId xmlns:p14="http://schemas.microsoft.com/office/powerpoint/2010/main" val="3305316096"/>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8" y="1497015"/>
            <a:ext cx="6106871" cy="3948034"/>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sz="quarter" idx="21" hasCustomPrompt="1"/>
          </p:nvPr>
        </p:nvSpPr>
        <p:spPr>
          <a:xfrm>
            <a:off x="382829" y="7896455"/>
            <a:ext cx="610687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sz="quarter" idx="23" hasCustomPrompt="1"/>
          </p:nvPr>
        </p:nvSpPr>
        <p:spPr>
          <a:xfrm>
            <a:off x="382829" y="7607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5927315"/>
            <a:ext cx="6105737"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563869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2" name="Straight Connector 21">
            <a:extLst>
              <a:ext uri="{FF2B5EF4-FFF2-40B4-BE49-F238E27FC236}">
                <a16:creationId xmlns:a16="http://schemas.microsoft.com/office/drawing/2014/main" id="{36D3C0D4-4772-47D7-8E52-EDEF11C64EA1}"/>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6" name="Espaço Reservado para Texto 6">
            <a:extLst>
              <a:ext uri="{FF2B5EF4-FFF2-40B4-BE49-F238E27FC236}">
                <a16:creationId xmlns:a16="http://schemas.microsoft.com/office/drawing/2014/main" id="{F0727637-B56E-4C1E-9D50-4D5CB2A21C4F}"/>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37" name="Espaço Reservado para Texto 6">
            <a:extLst>
              <a:ext uri="{FF2B5EF4-FFF2-40B4-BE49-F238E27FC236}">
                <a16:creationId xmlns:a16="http://schemas.microsoft.com/office/drawing/2014/main" id="{6A52A1EC-A892-4253-A152-66B87248D94E}"/>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13" name="Espaço Reservado para Texto 6">
            <a:extLst>
              <a:ext uri="{FF2B5EF4-FFF2-40B4-BE49-F238E27FC236}">
                <a16:creationId xmlns:a16="http://schemas.microsoft.com/office/drawing/2014/main" id="{0B9E0035-3D29-4A50-87B9-CF1CCFAD2098}"/>
              </a:ext>
            </a:extLst>
          </p:cNvPr>
          <p:cNvSpPr>
            <a:spLocks noGrp="1"/>
          </p:cNvSpPr>
          <p:nvPr>
            <p:ph type="body" sz="quarter" idx="26" hasCustomPrompt="1"/>
          </p:nvPr>
        </p:nvSpPr>
        <p:spPr>
          <a:xfrm>
            <a:off x="822326" y="9548813"/>
            <a:ext cx="5451474"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Fonte:  XXX, XXX, XXX | Notas: (1) XXX; (2) XXX; (3) XXX</a:t>
            </a:r>
          </a:p>
        </p:txBody>
      </p:sp>
      <p:sp>
        <p:nvSpPr>
          <p:cNvPr id="14" name="Date Placeholder 20">
            <a:extLst>
              <a:ext uri="{FF2B5EF4-FFF2-40B4-BE49-F238E27FC236}">
                <a16:creationId xmlns:a16="http://schemas.microsoft.com/office/drawing/2014/main" id="{1B783E2F-C70B-4B03-9D46-E871E069EA4E}"/>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BC69E3CE-6C4A-4EA7-A688-53F3CD4F78F4}" type="datetime4">
              <a:rPr lang="pt-BR" smtClean="0"/>
              <a:pPr/>
              <a:t>27 de julho de 2026</a:t>
            </a:fld>
            <a:endParaRPr lang="en-US" dirty="0"/>
          </a:p>
        </p:txBody>
      </p:sp>
    </p:spTree>
    <p:extLst>
      <p:ext uri="{BB962C8B-B14F-4D97-AF65-F5344CB8AC3E}">
        <p14:creationId xmlns:p14="http://schemas.microsoft.com/office/powerpoint/2010/main" val="3969763560"/>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9" y="1497013"/>
            <a:ext cx="2923563" cy="2616675"/>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sz="quarter" idx="25" hasCustomPrompt="1"/>
          </p:nvPr>
        </p:nvSpPr>
        <p:spPr>
          <a:xfrm>
            <a:off x="382829" y="4581387"/>
            <a:ext cx="6119679" cy="208201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sz="quarter" idx="26" hasCustomPrompt="1"/>
          </p:nvPr>
        </p:nvSpPr>
        <p:spPr>
          <a:xfrm>
            <a:off x="3536951" y="1836751"/>
            <a:ext cx="2965558" cy="227693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sz="quarter" idx="27" hasCustomPrompt="1"/>
          </p:nvPr>
        </p:nvSpPr>
        <p:spPr>
          <a:xfrm>
            <a:off x="382829" y="4292769"/>
            <a:ext cx="611967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sz="quarter" idx="28" hasCustomPrompt="1"/>
          </p:nvPr>
        </p:nvSpPr>
        <p:spPr>
          <a:xfrm>
            <a:off x="3552750" y="1548134"/>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0" name="Text Placeholder 4">
            <a:extLst>
              <a:ext uri="{FF2B5EF4-FFF2-40B4-BE49-F238E27FC236}">
                <a16:creationId xmlns:a16="http://schemas.microsoft.com/office/drawing/2014/main" id="{92D80794-D9BD-4233-9669-1606A39695D6}"/>
              </a:ext>
            </a:extLst>
          </p:cNvPr>
          <p:cNvSpPr>
            <a:spLocks noGrp="1"/>
          </p:cNvSpPr>
          <p:nvPr>
            <p:ph type="body" sz="quarter" idx="29"/>
          </p:nvPr>
        </p:nvSpPr>
        <p:spPr>
          <a:xfrm>
            <a:off x="390154" y="6866857"/>
            <a:ext cx="2923563" cy="2584765"/>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1" name="Espaço Reservado para Conteúdo 14">
            <a:extLst>
              <a:ext uri="{FF2B5EF4-FFF2-40B4-BE49-F238E27FC236}">
                <a16:creationId xmlns:a16="http://schemas.microsoft.com/office/drawing/2014/main" id="{A6CB413F-84EF-44DF-BD40-B9F876AF8DE8}"/>
              </a:ext>
            </a:extLst>
          </p:cNvPr>
          <p:cNvSpPr>
            <a:spLocks noGrp="1"/>
          </p:cNvSpPr>
          <p:nvPr>
            <p:ph sz="quarter" idx="30" hasCustomPrompt="1"/>
          </p:nvPr>
        </p:nvSpPr>
        <p:spPr>
          <a:xfrm>
            <a:off x="3544276" y="7190300"/>
            <a:ext cx="2965558" cy="226326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2" name="Espaço Reservado para Conteúdo 14">
            <a:extLst>
              <a:ext uri="{FF2B5EF4-FFF2-40B4-BE49-F238E27FC236}">
                <a16:creationId xmlns:a16="http://schemas.microsoft.com/office/drawing/2014/main" id="{81B1184E-C2A9-4D89-B81A-04C67DFDFC84}"/>
              </a:ext>
            </a:extLst>
          </p:cNvPr>
          <p:cNvSpPr>
            <a:spLocks noGrp="1"/>
          </p:cNvSpPr>
          <p:nvPr>
            <p:ph sz="quarter" idx="31" hasCustomPrompt="1"/>
          </p:nvPr>
        </p:nvSpPr>
        <p:spPr>
          <a:xfrm>
            <a:off x="3560075" y="6901682"/>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3" name="Straight Connector 22">
            <a:extLst>
              <a:ext uri="{FF2B5EF4-FFF2-40B4-BE49-F238E27FC236}">
                <a16:creationId xmlns:a16="http://schemas.microsoft.com/office/drawing/2014/main" id="{15C7A86C-C2D3-4F3B-B362-92EDFEE558D4}"/>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7" name="Espaço Reservado para Texto 6">
            <a:extLst>
              <a:ext uri="{FF2B5EF4-FFF2-40B4-BE49-F238E27FC236}">
                <a16:creationId xmlns:a16="http://schemas.microsoft.com/office/drawing/2014/main" id="{667A78A2-6B0A-4B79-B91F-864FAEBDF306}"/>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8" name="Espaço Reservado para Texto 6">
            <a:extLst>
              <a:ext uri="{FF2B5EF4-FFF2-40B4-BE49-F238E27FC236}">
                <a16:creationId xmlns:a16="http://schemas.microsoft.com/office/drawing/2014/main" id="{C057AED6-8480-40FD-AA17-1DD8BA77D1B9}"/>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16" name="Espaço Reservado para Texto 6">
            <a:extLst>
              <a:ext uri="{FF2B5EF4-FFF2-40B4-BE49-F238E27FC236}">
                <a16:creationId xmlns:a16="http://schemas.microsoft.com/office/drawing/2014/main" id="{A42CB95F-345D-4DC7-8B91-57C326B11796}"/>
              </a:ext>
            </a:extLst>
          </p:cNvPr>
          <p:cNvSpPr>
            <a:spLocks noGrp="1"/>
          </p:cNvSpPr>
          <p:nvPr>
            <p:ph type="body" sz="quarter" idx="32" hasCustomPrompt="1"/>
          </p:nvPr>
        </p:nvSpPr>
        <p:spPr>
          <a:xfrm>
            <a:off x="822326" y="9548813"/>
            <a:ext cx="5451474"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Fonte:  XXX, XXX, XXX | Notas: (1) XXX; (2) XXX; (3) XXX</a:t>
            </a:r>
          </a:p>
        </p:txBody>
      </p:sp>
      <p:sp>
        <p:nvSpPr>
          <p:cNvPr id="19" name="Date Placeholder 20">
            <a:extLst>
              <a:ext uri="{FF2B5EF4-FFF2-40B4-BE49-F238E27FC236}">
                <a16:creationId xmlns:a16="http://schemas.microsoft.com/office/drawing/2014/main" id="{6BFE4986-E532-49BD-986A-23436161932A}"/>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4FA75AFD-5FD1-4113-9E66-2CB673635291}" type="datetime4">
              <a:rPr lang="pt-BR" smtClean="0"/>
              <a:pPr/>
              <a:t>27 de julho de 2026</a:t>
            </a:fld>
            <a:endParaRPr lang="en-US" dirty="0"/>
          </a:p>
        </p:txBody>
      </p:sp>
    </p:spTree>
    <p:extLst>
      <p:ext uri="{BB962C8B-B14F-4D97-AF65-F5344CB8AC3E}">
        <p14:creationId xmlns:p14="http://schemas.microsoft.com/office/powerpoint/2010/main" val="3967573536"/>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0" name="Text Placeholder 4">
            <a:extLst>
              <a:ext uri="{FF2B5EF4-FFF2-40B4-BE49-F238E27FC236}">
                <a16:creationId xmlns:a16="http://schemas.microsoft.com/office/drawing/2014/main" id="{49A1E59E-08DB-45E6-A0D5-7C78A54C869F}"/>
              </a:ext>
            </a:extLst>
          </p:cNvPr>
          <p:cNvSpPr>
            <a:spLocks noGrp="1"/>
          </p:cNvSpPr>
          <p:nvPr>
            <p:ph type="body" sz="quarter" idx="20"/>
          </p:nvPr>
        </p:nvSpPr>
        <p:spPr>
          <a:xfrm>
            <a:off x="382829" y="1497013"/>
            <a:ext cx="2923563" cy="4079539"/>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1" name="Espaço Reservado para Conteúdo 14">
            <a:extLst>
              <a:ext uri="{FF2B5EF4-FFF2-40B4-BE49-F238E27FC236}">
                <a16:creationId xmlns:a16="http://schemas.microsoft.com/office/drawing/2014/main" id="{85B528AB-0607-4A82-934E-C1C7106546B5}"/>
              </a:ext>
            </a:extLst>
          </p:cNvPr>
          <p:cNvSpPr>
            <a:spLocks noGrp="1"/>
          </p:cNvSpPr>
          <p:nvPr>
            <p:ph sz="quarter" idx="26" hasCustomPrompt="1"/>
          </p:nvPr>
        </p:nvSpPr>
        <p:spPr>
          <a:xfrm>
            <a:off x="3551610" y="1821656"/>
            <a:ext cx="2950898" cy="375489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2" name="Espaço Reservado para Conteúdo 14">
            <a:extLst>
              <a:ext uri="{FF2B5EF4-FFF2-40B4-BE49-F238E27FC236}">
                <a16:creationId xmlns:a16="http://schemas.microsoft.com/office/drawing/2014/main" id="{5294E6AB-735D-48F4-9AC8-EF3781FB2746}"/>
              </a:ext>
            </a:extLst>
          </p:cNvPr>
          <p:cNvSpPr>
            <a:spLocks noGrp="1"/>
          </p:cNvSpPr>
          <p:nvPr>
            <p:ph sz="quarter" idx="28" hasCustomPrompt="1"/>
          </p:nvPr>
        </p:nvSpPr>
        <p:spPr>
          <a:xfrm>
            <a:off x="3552750" y="1543180"/>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3" name="Espaço Reservado para Conteúdo 14">
            <a:extLst>
              <a:ext uri="{FF2B5EF4-FFF2-40B4-BE49-F238E27FC236}">
                <a16:creationId xmlns:a16="http://schemas.microsoft.com/office/drawing/2014/main" id="{6B9EB78B-FD20-4719-A056-235ADA20204A}"/>
              </a:ext>
            </a:extLst>
          </p:cNvPr>
          <p:cNvSpPr>
            <a:spLocks noGrp="1"/>
          </p:cNvSpPr>
          <p:nvPr>
            <p:ph sz="quarter" idx="25" hasCustomPrompt="1"/>
          </p:nvPr>
        </p:nvSpPr>
        <p:spPr>
          <a:xfrm>
            <a:off x="382829" y="6010940"/>
            <a:ext cx="6119679" cy="1466185"/>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5" name="Espaço Reservado para Conteúdo 14">
            <a:extLst>
              <a:ext uri="{FF2B5EF4-FFF2-40B4-BE49-F238E27FC236}">
                <a16:creationId xmlns:a16="http://schemas.microsoft.com/office/drawing/2014/main" id="{378CEBA8-7472-47EB-BC4A-EA019A667AE5}"/>
              </a:ext>
            </a:extLst>
          </p:cNvPr>
          <p:cNvSpPr>
            <a:spLocks noGrp="1"/>
          </p:cNvSpPr>
          <p:nvPr>
            <p:ph sz="quarter" idx="27" hasCustomPrompt="1"/>
          </p:nvPr>
        </p:nvSpPr>
        <p:spPr>
          <a:xfrm>
            <a:off x="382829" y="5722322"/>
            <a:ext cx="611967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8102008-164E-4847-B70E-2DA2859EB5FA}"/>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1DAFB6F6-C902-48DE-A854-209EE1401B64}"/>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8" name="Espaço Reservado para Conteúdo 14">
            <a:extLst>
              <a:ext uri="{FF2B5EF4-FFF2-40B4-BE49-F238E27FC236}">
                <a16:creationId xmlns:a16="http://schemas.microsoft.com/office/drawing/2014/main" id="{B4F7A4B0-6A5B-48E7-93D0-A6438A15CF56}"/>
              </a:ext>
            </a:extLst>
          </p:cNvPr>
          <p:cNvSpPr>
            <a:spLocks noGrp="1"/>
          </p:cNvSpPr>
          <p:nvPr>
            <p:ph sz="quarter"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9" name="Espaço Reservado para Conteúdo 14">
            <a:extLst>
              <a:ext uri="{FF2B5EF4-FFF2-40B4-BE49-F238E27FC236}">
                <a16:creationId xmlns:a16="http://schemas.microsoft.com/office/drawing/2014/main" id="{C64B94EB-9494-4B55-92F4-166DEF48DB35}"/>
              </a:ext>
            </a:extLst>
          </p:cNvPr>
          <p:cNvSpPr>
            <a:spLocks noGrp="1"/>
          </p:cNvSpPr>
          <p:nvPr>
            <p:ph sz="quarter" idx="24"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42" name="Straight Connector 41">
            <a:extLst>
              <a:ext uri="{FF2B5EF4-FFF2-40B4-BE49-F238E27FC236}">
                <a16:creationId xmlns:a16="http://schemas.microsoft.com/office/drawing/2014/main" id="{02558420-2316-4877-A0B8-02C6D7796F9F}"/>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8" name="Espaço Reservado para Texto 6">
            <a:extLst>
              <a:ext uri="{FF2B5EF4-FFF2-40B4-BE49-F238E27FC236}">
                <a16:creationId xmlns:a16="http://schemas.microsoft.com/office/drawing/2014/main" id="{E9006F28-0FC5-4C17-84E9-DDB1DE717662}"/>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9" name="Espaço Reservado para Texto 6">
            <a:extLst>
              <a:ext uri="{FF2B5EF4-FFF2-40B4-BE49-F238E27FC236}">
                <a16:creationId xmlns:a16="http://schemas.microsoft.com/office/drawing/2014/main" id="{840CD343-D27F-44CB-9F5D-7257A48DB76E}"/>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17" name="Espaço Reservado para Texto 6">
            <a:extLst>
              <a:ext uri="{FF2B5EF4-FFF2-40B4-BE49-F238E27FC236}">
                <a16:creationId xmlns:a16="http://schemas.microsoft.com/office/drawing/2014/main" id="{9446A3E0-D20A-4444-A6E6-9A289C2BDEB5}"/>
              </a:ext>
            </a:extLst>
          </p:cNvPr>
          <p:cNvSpPr>
            <a:spLocks noGrp="1"/>
          </p:cNvSpPr>
          <p:nvPr>
            <p:ph type="body" sz="quarter" idx="29" hasCustomPrompt="1"/>
          </p:nvPr>
        </p:nvSpPr>
        <p:spPr>
          <a:xfrm>
            <a:off x="822326" y="9548813"/>
            <a:ext cx="5451474"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4" name="Date Placeholder 20">
            <a:extLst>
              <a:ext uri="{FF2B5EF4-FFF2-40B4-BE49-F238E27FC236}">
                <a16:creationId xmlns:a16="http://schemas.microsoft.com/office/drawing/2014/main" id="{192EE3E3-9B37-40F8-A8BE-C0FA7BB86A5D}"/>
              </a:ext>
            </a:extLst>
          </p:cNvPr>
          <p:cNvSpPr>
            <a:spLocks noGrp="1"/>
          </p:cNvSpPr>
          <p:nvPr>
            <p:ph type="dt" sz="half" idx="2"/>
          </p:nvPr>
        </p:nvSpPr>
        <p:spPr>
          <a:xfrm>
            <a:off x="3975100" y="438763"/>
            <a:ext cx="2514600"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0834ECF4-E3A7-4EE5-B75E-4A8E0D61D7AD}" type="datetime4">
              <a:rPr lang="pt-BR" smtClean="0"/>
              <a:pPr/>
              <a:t>27 de julho de 2026</a:t>
            </a:fld>
            <a:endParaRPr lang="en-US" dirty="0"/>
          </a:p>
        </p:txBody>
      </p:sp>
    </p:spTree>
    <p:extLst>
      <p:ext uri="{BB962C8B-B14F-4D97-AF65-F5344CB8AC3E}">
        <p14:creationId xmlns:p14="http://schemas.microsoft.com/office/powerpoint/2010/main" val="3717197418"/>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9" y="1500036"/>
            <a:ext cx="6063034" cy="2027390"/>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cxnSp>
        <p:nvCxnSpPr>
          <p:cNvPr id="3" name="Straight Connector 2">
            <a:extLst>
              <a:ext uri="{FF2B5EF4-FFF2-40B4-BE49-F238E27FC236}">
                <a16:creationId xmlns:a16="http://schemas.microsoft.com/office/drawing/2014/main" id="{2EDD6930-C0EE-4FA2-8633-016983CCBB57}"/>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8" name="Espaço Reservado para Conteúdo 14">
            <a:extLst>
              <a:ext uri="{FF2B5EF4-FFF2-40B4-BE49-F238E27FC236}">
                <a16:creationId xmlns:a16="http://schemas.microsoft.com/office/drawing/2014/main" id="{90F6C72D-8B37-43A2-8FA6-85DFDDE86A1B}"/>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sz="quarter"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0" name="Espaço Reservado para Conteúdo 14">
            <a:extLst>
              <a:ext uri="{FF2B5EF4-FFF2-40B4-BE49-F238E27FC236}">
                <a16:creationId xmlns:a16="http://schemas.microsoft.com/office/drawing/2014/main" id="{24118CA0-014C-422D-9DAA-777D7AB184F5}"/>
              </a:ext>
            </a:extLst>
          </p:cNvPr>
          <p:cNvSpPr>
            <a:spLocks noGrp="1"/>
          </p:cNvSpPr>
          <p:nvPr>
            <p:ph sz="quarter" idx="24"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sz="quarter" idx="25" hasCustomPrompt="1"/>
          </p:nvPr>
        </p:nvSpPr>
        <p:spPr>
          <a:xfrm>
            <a:off x="382829" y="3937440"/>
            <a:ext cx="2938221"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sz="quarter" idx="26" hasCustomPrompt="1"/>
          </p:nvPr>
        </p:nvSpPr>
        <p:spPr>
          <a:xfrm>
            <a:off x="3536951" y="3937440"/>
            <a:ext cx="2965558"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sz="quarter" idx="27" hasCustomPrompt="1"/>
          </p:nvPr>
        </p:nvSpPr>
        <p:spPr>
          <a:xfrm>
            <a:off x="382829" y="3648822"/>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sz="quarter" idx="28" hasCustomPrompt="1"/>
          </p:nvPr>
        </p:nvSpPr>
        <p:spPr>
          <a:xfrm>
            <a:off x="3552750" y="3648822"/>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5927315"/>
            <a:ext cx="6105737"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563869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0" name="Espaço Reservado para Texto 6">
            <a:extLst>
              <a:ext uri="{FF2B5EF4-FFF2-40B4-BE49-F238E27FC236}">
                <a16:creationId xmlns:a16="http://schemas.microsoft.com/office/drawing/2014/main" id="{91D8F271-5DD6-476D-87DF-62D9F494BA28}"/>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21" name="Espaço Reservado para Texto 6">
            <a:extLst>
              <a:ext uri="{FF2B5EF4-FFF2-40B4-BE49-F238E27FC236}">
                <a16:creationId xmlns:a16="http://schemas.microsoft.com/office/drawing/2014/main" id="{AF9F85D2-CE44-4122-A483-C9E0FDD6786F}"/>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19" name="Espaço Reservado para Texto 6">
            <a:extLst>
              <a:ext uri="{FF2B5EF4-FFF2-40B4-BE49-F238E27FC236}">
                <a16:creationId xmlns:a16="http://schemas.microsoft.com/office/drawing/2014/main" id="{CB23BCCF-FEC6-458A-A4DC-98116231E5FD}"/>
              </a:ext>
            </a:extLst>
          </p:cNvPr>
          <p:cNvSpPr>
            <a:spLocks noGrp="1"/>
          </p:cNvSpPr>
          <p:nvPr>
            <p:ph type="body" sz="quarter" idx="31" hasCustomPrompt="1"/>
          </p:nvPr>
        </p:nvSpPr>
        <p:spPr>
          <a:xfrm>
            <a:off x="1000126" y="9548813"/>
            <a:ext cx="5273674"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Fonte:  XXX, XXX, XXX | Notas: (1) XXX; (2) XXX; (3) XXX</a:t>
            </a:r>
          </a:p>
        </p:txBody>
      </p:sp>
      <p:sp>
        <p:nvSpPr>
          <p:cNvPr id="22" name="Date Placeholder 20">
            <a:extLst>
              <a:ext uri="{FF2B5EF4-FFF2-40B4-BE49-F238E27FC236}">
                <a16:creationId xmlns:a16="http://schemas.microsoft.com/office/drawing/2014/main" id="{3F0710D4-8EE9-42DA-9DB8-7CAFDD337A6F}"/>
              </a:ext>
            </a:extLst>
          </p:cNvPr>
          <p:cNvSpPr>
            <a:spLocks noGrp="1"/>
          </p:cNvSpPr>
          <p:nvPr>
            <p:ph type="dt" sz="half" idx="2"/>
          </p:nvPr>
        </p:nvSpPr>
        <p:spPr>
          <a:xfrm>
            <a:off x="3968750" y="438763"/>
            <a:ext cx="2520950"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4A529EE4-38FC-4E0A-A4DD-0BE4B8620C13}" type="datetime4">
              <a:rPr lang="pt-BR" smtClean="0"/>
              <a:pPr/>
              <a:t>27 de julho de 2026</a:t>
            </a:fld>
            <a:endParaRPr lang="en-US" dirty="0"/>
          </a:p>
        </p:txBody>
      </p:sp>
    </p:spTree>
    <p:extLst>
      <p:ext uri="{BB962C8B-B14F-4D97-AF65-F5344CB8AC3E}">
        <p14:creationId xmlns:p14="http://schemas.microsoft.com/office/powerpoint/2010/main" val="1735979925"/>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5 Gráficos v2">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9" y="1498177"/>
            <a:ext cx="6063034" cy="202924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28" name="Espaço Reservado para Conteúdo 14">
            <a:extLst>
              <a:ext uri="{FF2B5EF4-FFF2-40B4-BE49-F238E27FC236}">
                <a16:creationId xmlns:a16="http://schemas.microsoft.com/office/drawing/2014/main" id="{90F6C72D-8B37-43A2-8FA6-85DFDDE86A1B}"/>
              </a:ext>
            </a:extLst>
          </p:cNvPr>
          <p:cNvSpPr>
            <a:spLocks noGrp="1"/>
          </p:cNvSpPr>
          <p:nvPr>
            <p:ph sz="quarter" idx="22" hasCustomPrompt="1"/>
          </p:nvPr>
        </p:nvSpPr>
        <p:spPr>
          <a:xfrm>
            <a:off x="3531947"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sz="quarter"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0" name="Espaço Reservado para Conteúdo 14">
            <a:extLst>
              <a:ext uri="{FF2B5EF4-FFF2-40B4-BE49-F238E27FC236}">
                <a16:creationId xmlns:a16="http://schemas.microsoft.com/office/drawing/2014/main" id="{24118CA0-014C-422D-9DAA-777D7AB184F5}"/>
              </a:ext>
            </a:extLst>
          </p:cNvPr>
          <p:cNvSpPr>
            <a:spLocks noGrp="1"/>
          </p:cNvSpPr>
          <p:nvPr>
            <p:ph sz="quarter" idx="24" hasCustomPrompt="1"/>
          </p:nvPr>
        </p:nvSpPr>
        <p:spPr>
          <a:xfrm>
            <a:off x="3531947"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sz="quarter" idx="25" hasCustomPrompt="1"/>
          </p:nvPr>
        </p:nvSpPr>
        <p:spPr>
          <a:xfrm>
            <a:off x="377825" y="5908439"/>
            <a:ext cx="2938221"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sz="quarter" idx="26" hasCustomPrompt="1"/>
          </p:nvPr>
        </p:nvSpPr>
        <p:spPr>
          <a:xfrm>
            <a:off x="3531947" y="5908439"/>
            <a:ext cx="2965558"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sz="quarter" idx="27" hasCustomPrompt="1"/>
          </p:nvPr>
        </p:nvSpPr>
        <p:spPr>
          <a:xfrm>
            <a:off x="377825" y="5619821"/>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sz="quarter" idx="28" hasCustomPrompt="1"/>
          </p:nvPr>
        </p:nvSpPr>
        <p:spPr>
          <a:xfrm>
            <a:off x="3531947" y="5619821"/>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3929789"/>
            <a:ext cx="6105737"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3641171"/>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2" name="Straight Connector 21">
            <a:extLst>
              <a:ext uri="{FF2B5EF4-FFF2-40B4-BE49-F238E27FC236}">
                <a16:creationId xmlns:a16="http://schemas.microsoft.com/office/drawing/2014/main" id="{014FD5D7-4E44-4DED-87A2-F5483B7E4A72}"/>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Espaço Reservado para Texto 6">
            <a:extLst>
              <a:ext uri="{FF2B5EF4-FFF2-40B4-BE49-F238E27FC236}">
                <a16:creationId xmlns:a16="http://schemas.microsoft.com/office/drawing/2014/main" id="{C5901B80-52C0-495B-B245-C86EC38FA663}"/>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21" name="Espaço Reservado para Texto 6">
            <a:extLst>
              <a:ext uri="{FF2B5EF4-FFF2-40B4-BE49-F238E27FC236}">
                <a16:creationId xmlns:a16="http://schemas.microsoft.com/office/drawing/2014/main" id="{12A1DB4F-E711-4954-BA2E-C3355075992F}"/>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19" name="Espaço Reservado para Texto 6">
            <a:extLst>
              <a:ext uri="{FF2B5EF4-FFF2-40B4-BE49-F238E27FC236}">
                <a16:creationId xmlns:a16="http://schemas.microsoft.com/office/drawing/2014/main" id="{36387CD8-F6C2-4025-8B4E-17000CA026F2}"/>
              </a:ext>
            </a:extLst>
          </p:cNvPr>
          <p:cNvSpPr>
            <a:spLocks noGrp="1"/>
          </p:cNvSpPr>
          <p:nvPr>
            <p:ph type="body" sz="quarter" idx="31" hasCustomPrompt="1"/>
          </p:nvPr>
        </p:nvSpPr>
        <p:spPr>
          <a:xfrm>
            <a:off x="822325" y="9548813"/>
            <a:ext cx="5451475"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Fonte:  XXX, XXX, XXX | Notas: (1) XXX; (2) XXX; (3) XXX</a:t>
            </a:r>
          </a:p>
        </p:txBody>
      </p:sp>
      <p:sp>
        <p:nvSpPr>
          <p:cNvPr id="23" name="Date Placeholder 20">
            <a:extLst>
              <a:ext uri="{FF2B5EF4-FFF2-40B4-BE49-F238E27FC236}">
                <a16:creationId xmlns:a16="http://schemas.microsoft.com/office/drawing/2014/main" id="{5521EB93-43B9-4EE7-8C2B-E35F08C08B4F}"/>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FB38B582-F58B-4949-B935-0554DCABA3BB}" type="datetime4">
              <a:rPr lang="pt-BR" smtClean="0"/>
              <a:pPr/>
              <a:t>27 de julho de 2026</a:t>
            </a:fld>
            <a:endParaRPr lang="en-US" dirty="0"/>
          </a:p>
        </p:txBody>
      </p:sp>
    </p:spTree>
    <p:extLst>
      <p:ext uri="{BB962C8B-B14F-4D97-AF65-F5344CB8AC3E}">
        <p14:creationId xmlns:p14="http://schemas.microsoft.com/office/powerpoint/2010/main" val="186726068"/>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hesis Chart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1791895"/>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150327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2" name="Straight Connector 21">
            <a:extLst>
              <a:ext uri="{FF2B5EF4-FFF2-40B4-BE49-F238E27FC236}">
                <a16:creationId xmlns:a16="http://schemas.microsoft.com/office/drawing/2014/main" id="{014FD5D7-4E44-4DED-87A2-F5483B7E4A72}"/>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Espaço Reservado para Texto 6">
            <a:extLst>
              <a:ext uri="{FF2B5EF4-FFF2-40B4-BE49-F238E27FC236}">
                <a16:creationId xmlns:a16="http://schemas.microsoft.com/office/drawing/2014/main" id="{C5901B80-52C0-495B-B245-C86EC38FA663}"/>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21" name="Espaço Reservado para Texto 6">
            <a:extLst>
              <a:ext uri="{FF2B5EF4-FFF2-40B4-BE49-F238E27FC236}">
                <a16:creationId xmlns:a16="http://schemas.microsoft.com/office/drawing/2014/main" id="{12A1DB4F-E711-4954-BA2E-C3355075992F}"/>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23" name="Espaço Reservado para Texto 6">
            <a:extLst>
              <a:ext uri="{FF2B5EF4-FFF2-40B4-BE49-F238E27FC236}">
                <a16:creationId xmlns:a16="http://schemas.microsoft.com/office/drawing/2014/main" id="{8578E20C-E30C-41E8-BD4E-471F9D9B43F9}"/>
              </a:ext>
            </a:extLst>
          </p:cNvPr>
          <p:cNvSpPr>
            <a:spLocks noGrp="1"/>
          </p:cNvSpPr>
          <p:nvPr>
            <p:ph type="body" sz="quarter" idx="31"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4" name="Date Placeholder 1">
            <a:extLst>
              <a:ext uri="{FF2B5EF4-FFF2-40B4-BE49-F238E27FC236}">
                <a16:creationId xmlns:a16="http://schemas.microsoft.com/office/drawing/2014/main" id="{BEDC87FD-5664-4739-BE21-72F2918833A4}"/>
              </a:ext>
            </a:extLst>
          </p:cNvPr>
          <p:cNvSpPr>
            <a:spLocks noGrp="1"/>
          </p:cNvSpPr>
          <p:nvPr>
            <p:ph type="dt" sz="half" idx="2"/>
          </p:nvPr>
        </p:nvSpPr>
        <p:spPr>
          <a:xfrm>
            <a:off x="3971925" y="438763"/>
            <a:ext cx="2517776"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8BA8F4B9-B6C6-4F2E-BC07-C261BB51569F}" type="datetime4">
              <a:rPr lang="en-US" smtClean="0"/>
              <a:pPr/>
              <a:t>July 27, 2026</a:t>
            </a:fld>
            <a:endParaRPr lang="en-US"/>
          </a:p>
        </p:txBody>
      </p:sp>
      <p:sp>
        <p:nvSpPr>
          <p:cNvPr id="19" name="Espaço Reservado para Conteúdo 14">
            <a:extLst>
              <a:ext uri="{FF2B5EF4-FFF2-40B4-BE49-F238E27FC236}">
                <a16:creationId xmlns:a16="http://schemas.microsoft.com/office/drawing/2014/main" id="{D23B7F16-8ADE-42C2-B1EE-5684155EC67C}"/>
              </a:ext>
            </a:extLst>
          </p:cNvPr>
          <p:cNvSpPr>
            <a:spLocks noGrp="1"/>
          </p:cNvSpPr>
          <p:nvPr>
            <p:ph sz="quarter" idx="32" hasCustomPrompt="1"/>
          </p:nvPr>
        </p:nvSpPr>
        <p:spPr>
          <a:xfrm>
            <a:off x="390153" y="3838161"/>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5" name="Espaço Reservado para Conteúdo 14">
            <a:extLst>
              <a:ext uri="{FF2B5EF4-FFF2-40B4-BE49-F238E27FC236}">
                <a16:creationId xmlns:a16="http://schemas.microsoft.com/office/drawing/2014/main" id="{8D21CE70-9138-4D56-899D-1BFC170ACCAA}"/>
              </a:ext>
            </a:extLst>
          </p:cNvPr>
          <p:cNvSpPr>
            <a:spLocks noGrp="1"/>
          </p:cNvSpPr>
          <p:nvPr>
            <p:ph sz="quarter" idx="33" hasCustomPrompt="1"/>
          </p:nvPr>
        </p:nvSpPr>
        <p:spPr>
          <a:xfrm>
            <a:off x="390153" y="3549543"/>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DA0FF651-C1F8-494C-8441-58B8D108DFB0}"/>
              </a:ext>
            </a:extLst>
          </p:cNvPr>
          <p:cNvSpPr>
            <a:spLocks noGrp="1"/>
          </p:cNvSpPr>
          <p:nvPr>
            <p:ph sz="quarter" idx="34" hasCustomPrompt="1"/>
          </p:nvPr>
        </p:nvSpPr>
        <p:spPr>
          <a:xfrm>
            <a:off x="390153" y="5842030"/>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EA6A1D37-C00C-4212-9602-D8F29782C38B}"/>
              </a:ext>
            </a:extLst>
          </p:cNvPr>
          <p:cNvSpPr>
            <a:spLocks noGrp="1"/>
          </p:cNvSpPr>
          <p:nvPr>
            <p:ph sz="quarter" idx="35" hasCustomPrompt="1"/>
          </p:nvPr>
        </p:nvSpPr>
        <p:spPr>
          <a:xfrm>
            <a:off x="390153" y="5553412"/>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8" name="Espaço Reservado para Conteúdo 14">
            <a:extLst>
              <a:ext uri="{FF2B5EF4-FFF2-40B4-BE49-F238E27FC236}">
                <a16:creationId xmlns:a16="http://schemas.microsoft.com/office/drawing/2014/main" id="{9BD0D569-187E-435F-84F7-4A907AB05F06}"/>
              </a:ext>
            </a:extLst>
          </p:cNvPr>
          <p:cNvSpPr>
            <a:spLocks noGrp="1"/>
          </p:cNvSpPr>
          <p:nvPr>
            <p:ph sz="quarter" idx="36" hasCustomPrompt="1"/>
          </p:nvPr>
        </p:nvSpPr>
        <p:spPr>
          <a:xfrm>
            <a:off x="397477" y="7888296"/>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9" name="Espaço Reservado para Conteúdo 14">
            <a:extLst>
              <a:ext uri="{FF2B5EF4-FFF2-40B4-BE49-F238E27FC236}">
                <a16:creationId xmlns:a16="http://schemas.microsoft.com/office/drawing/2014/main" id="{BD578F19-77CA-4807-93D6-DF0C8142271F}"/>
              </a:ext>
            </a:extLst>
          </p:cNvPr>
          <p:cNvSpPr>
            <a:spLocks noGrp="1"/>
          </p:cNvSpPr>
          <p:nvPr>
            <p:ph sz="quarter" idx="37" hasCustomPrompt="1"/>
          </p:nvPr>
        </p:nvSpPr>
        <p:spPr>
          <a:xfrm>
            <a:off x="397477" y="7599678"/>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0" name="Espaço Reservado para Conteúdo 14">
            <a:extLst>
              <a:ext uri="{FF2B5EF4-FFF2-40B4-BE49-F238E27FC236}">
                <a16:creationId xmlns:a16="http://schemas.microsoft.com/office/drawing/2014/main" id="{008E7608-0ADC-4C74-A591-69DB8C22030C}"/>
              </a:ext>
            </a:extLst>
          </p:cNvPr>
          <p:cNvSpPr>
            <a:spLocks noGrp="1"/>
          </p:cNvSpPr>
          <p:nvPr>
            <p:ph sz="quarter" idx="38" hasCustomPrompt="1"/>
          </p:nvPr>
        </p:nvSpPr>
        <p:spPr>
          <a:xfrm>
            <a:off x="3536952" y="1791895"/>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1" name="Espaço Reservado para Conteúdo 14">
            <a:extLst>
              <a:ext uri="{FF2B5EF4-FFF2-40B4-BE49-F238E27FC236}">
                <a16:creationId xmlns:a16="http://schemas.microsoft.com/office/drawing/2014/main" id="{34DA8105-E242-4DA6-910E-D486433DF87A}"/>
              </a:ext>
            </a:extLst>
          </p:cNvPr>
          <p:cNvSpPr>
            <a:spLocks noGrp="1"/>
          </p:cNvSpPr>
          <p:nvPr>
            <p:ph sz="quarter" idx="39" hasCustomPrompt="1"/>
          </p:nvPr>
        </p:nvSpPr>
        <p:spPr>
          <a:xfrm>
            <a:off x="3544276" y="3838161"/>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2" name="Espaço Reservado para Conteúdo 14">
            <a:extLst>
              <a:ext uri="{FF2B5EF4-FFF2-40B4-BE49-F238E27FC236}">
                <a16:creationId xmlns:a16="http://schemas.microsoft.com/office/drawing/2014/main" id="{581288D2-722F-44A9-937B-2A51CBC81940}"/>
              </a:ext>
            </a:extLst>
          </p:cNvPr>
          <p:cNvSpPr>
            <a:spLocks noGrp="1"/>
          </p:cNvSpPr>
          <p:nvPr>
            <p:ph sz="quarter" idx="40" hasCustomPrompt="1"/>
          </p:nvPr>
        </p:nvSpPr>
        <p:spPr>
          <a:xfrm>
            <a:off x="3544276" y="5842030"/>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3" name="Espaço Reservado para Conteúdo 14">
            <a:extLst>
              <a:ext uri="{FF2B5EF4-FFF2-40B4-BE49-F238E27FC236}">
                <a16:creationId xmlns:a16="http://schemas.microsoft.com/office/drawing/2014/main" id="{0A7E3758-611C-4779-8E92-7476EE614506}"/>
              </a:ext>
            </a:extLst>
          </p:cNvPr>
          <p:cNvSpPr>
            <a:spLocks noGrp="1"/>
          </p:cNvSpPr>
          <p:nvPr>
            <p:ph sz="quarter" idx="41" hasCustomPrompt="1"/>
          </p:nvPr>
        </p:nvSpPr>
        <p:spPr>
          <a:xfrm>
            <a:off x="3551600" y="7888296"/>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Tree>
    <p:extLst>
      <p:ext uri="{BB962C8B-B14F-4D97-AF65-F5344CB8AC3E}">
        <p14:creationId xmlns:p14="http://schemas.microsoft.com/office/powerpoint/2010/main" val="3379624918"/>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sclaimer">
    <p:bg>
      <p:bgPr>
        <a:solidFill>
          <a:schemeClr val="bg1"/>
        </a:solidFill>
        <a:effectLst/>
      </p:bgPr>
    </p:bg>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3B476172-FCCC-4217-B659-E252FC48877E}"/>
              </a:ext>
            </a:extLst>
          </p:cNvPr>
          <p:cNvSpPr txBox="1"/>
          <p:nvPr userDrawn="1"/>
        </p:nvSpPr>
        <p:spPr>
          <a:xfrm>
            <a:off x="390153" y="814312"/>
            <a:ext cx="6099546" cy="263149"/>
          </a:xfrm>
          <a:prstGeom prst="rect">
            <a:avLst/>
          </a:prstGeom>
        </p:spPr>
        <p:txBody>
          <a:bodyPr lIns="0" tIns="0" rIns="0" bIns="0" anchor="t" anchorCtr="0"/>
          <a:lstStyle>
            <a:lvl1pPr lvl="0" indent="0" defTabSz="385767">
              <a:lnSpc>
                <a:spcPct val="90000"/>
              </a:lnSpc>
              <a:spcBef>
                <a:spcPts val="422"/>
              </a:spcBef>
              <a:buFont typeface="Arial" panose="020B0604020202020204" pitchFamily="34" charset="0"/>
              <a:buNone/>
              <a:defRPr sz="1900" b="1" spc="0">
                <a:latin typeface="Roboto" panose="02000000000000000000" pitchFamily="2" charset="0"/>
                <a:ea typeface="Roboto" panose="02000000000000000000" pitchFamily="2" charset="0"/>
                <a:cs typeface="Roboto" panose="02000000000000000000" pitchFamily="2" charset="0"/>
              </a:defRPr>
            </a:lvl1pPr>
            <a:lvl2pPr marL="227710" indent="-77020" defTabSz="385767">
              <a:lnSpc>
                <a:spcPct val="90000"/>
              </a:lnSpc>
              <a:spcBef>
                <a:spcPts val="211"/>
              </a:spcBef>
              <a:buFont typeface="Arial" panose="020B0604020202020204" pitchFamily="34" charset="0"/>
              <a:buChar char="•"/>
              <a:defRPr sz="591">
                <a:solidFill>
                  <a:schemeClr val="tx2"/>
                </a:solidFill>
              </a:defRPr>
            </a:lvl2pPr>
            <a:lvl3pPr marL="379070" indent="-77689" defTabSz="385767">
              <a:lnSpc>
                <a:spcPct val="90000"/>
              </a:lnSpc>
              <a:spcBef>
                <a:spcPts val="211"/>
              </a:spcBef>
              <a:buFont typeface="Arial" panose="020B0604020202020204" pitchFamily="34" charset="0"/>
              <a:buChar char="•"/>
              <a:defRPr sz="506">
                <a:solidFill>
                  <a:schemeClr val="tx2"/>
                </a:solidFill>
              </a:defRPr>
            </a:lvl3pPr>
            <a:lvl4pPr marL="529761" indent="-77689" defTabSz="385767">
              <a:lnSpc>
                <a:spcPct val="90000"/>
              </a:lnSpc>
              <a:spcBef>
                <a:spcPts val="211"/>
              </a:spcBef>
              <a:buFont typeface="Arial" panose="020B0604020202020204" pitchFamily="34" charset="0"/>
              <a:buChar char="•"/>
              <a:defRPr sz="464">
                <a:solidFill>
                  <a:schemeClr val="tx2"/>
                </a:solidFill>
              </a:defRPr>
            </a:lvl4pPr>
            <a:lvl5pPr marL="680451" indent="-73671" defTabSz="385767">
              <a:lnSpc>
                <a:spcPct val="90000"/>
              </a:lnSpc>
              <a:spcBef>
                <a:spcPts val="211"/>
              </a:spcBef>
              <a:buFont typeface="Arial" panose="020B0604020202020204" pitchFamily="34" charset="0"/>
              <a:buChar char="•"/>
              <a:defRPr sz="464">
                <a:solidFill>
                  <a:schemeClr val="tx2"/>
                </a:solidFill>
              </a:defRPr>
            </a:lvl5pPr>
            <a:lvl6pPr marL="1060860" indent="-96442" defTabSz="385767">
              <a:lnSpc>
                <a:spcPct val="90000"/>
              </a:lnSpc>
              <a:spcBef>
                <a:spcPts val="211"/>
              </a:spcBef>
              <a:buFont typeface="Arial" panose="020B0604020202020204" pitchFamily="34" charset="0"/>
              <a:buChar char="•"/>
              <a:defRPr sz="760"/>
            </a:lvl6pPr>
            <a:lvl7pPr marL="1253744" indent="-96442" defTabSz="385767">
              <a:lnSpc>
                <a:spcPct val="90000"/>
              </a:lnSpc>
              <a:spcBef>
                <a:spcPts val="211"/>
              </a:spcBef>
              <a:buFont typeface="Arial" panose="020B0604020202020204" pitchFamily="34" charset="0"/>
              <a:buChar char="•"/>
              <a:defRPr sz="760"/>
            </a:lvl7pPr>
            <a:lvl8pPr marL="1446628" indent="-96442" defTabSz="385767">
              <a:lnSpc>
                <a:spcPct val="90000"/>
              </a:lnSpc>
              <a:spcBef>
                <a:spcPts val="211"/>
              </a:spcBef>
              <a:buFont typeface="Arial" panose="020B0604020202020204" pitchFamily="34" charset="0"/>
              <a:buChar char="•"/>
              <a:defRPr sz="760"/>
            </a:lvl8pPr>
            <a:lvl9pPr marL="1639511" indent="-96442" defTabSz="385767">
              <a:lnSpc>
                <a:spcPct val="90000"/>
              </a:lnSpc>
              <a:spcBef>
                <a:spcPts val="211"/>
              </a:spcBef>
              <a:buFont typeface="Arial" panose="020B0604020202020204" pitchFamily="34" charset="0"/>
              <a:buChar char="•"/>
              <a:defRPr sz="760"/>
            </a:lvl9pPr>
          </a:lstStyle>
          <a:p>
            <a:pPr lvl="0"/>
            <a:r>
              <a:rPr lang="en-US" dirty="0"/>
              <a:t>Disclaimer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cxnSp>
        <p:nvCxnSpPr>
          <p:cNvPr id="22" name="Straight Connector 21">
            <a:extLst>
              <a:ext uri="{FF2B5EF4-FFF2-40B4-BE49-F238E27FC236}">
                <a16:creationId xmlns:a16="http://schemas.microsoft.com/office/drawing/2014/main" id="{66D21A7D-7928-4237-874A-A5ECB2674181}"/>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Espaço Reservado para Texto 6">
            <a:extLst>
              <a:ext uri="{FF2B5EF4-FFF2-40B4-BE49-F238E27FC236}">
                <a16:creationId xmlns:a16="http://schemas.microsoft.com/office/drawing/2014/main" id="{2B30E5FD-9051-4E1E-8485-CF615FEFF1FB}"/>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15" name="Date Placeholder 1">
            <a:extLst>
              <a:ext uri="{FF2B5EF4-FFF2-40B4-BE49-F238E27FC236}">
                <a16:creationId xmlns:a16="http://schemas.microsoft.com/office/drawing/2014/main" id="{CEDF22C0-1511-410D-B4C2-53B4E4FE64CB}"/>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FE07D0A2-1A20-49BB-8914-BD089A02E581}" type="datetime4">
              <a:rPr lang="pt-BR" smtClean="0"/>
              <a:pPr/>
              <a:t>27 de julho de 2026</a:t>
            </a:fld>
            <a:endParaRPr lang="en-US" dirty="0"/>
          </a:p>
        </p:txBody>
      </p:sp>
      <p:sp>
        <p:nvSpPr>
          <p:cNvPr id="3" name="TextBox 1">
            <a:extLst>
              <a:ext uri="{FF2B5EF4-FFF2-40B4-BE49-F238E27FC236}">
                <a16:creationId xmlns:a16="http://schemas.microsoft.com/office/drawing/2014/main" id="{69951F69-1541-6D78-38A2-33DC5BF5E0F1}"/>
              </a:ext>
            </a:extLst>
          </p:cNvPr>
          <p:cNvSpPr txBox="1"/>
          <p:nvPr userDrawn="1"/>
        </p:nvSpPr>
        <p:spPr>
          <a:xfrm>
            <a:off x="390154" y="1133819"/>
            <a:ext cx="6099546" cy="8158644"/>
          </a:xfrm>
          <a:prstGeom prst="rect">
            <a:avLst/>
          </a:prstGeom>
        </p:spPr>
        <p:txBody>
          <a:bodyPr vert="horz" wrap="square" lIns="0" tIns="45720" rIns="91440" bIns="45720" rtlCol="0" anchor="t">
            <a:spAutoFit/>
          </a:bodyPr>
          <a:lstStyle>
            <a:lvl1pPr lvl="0" indent="0" defTabSz="685808">
              <a:lnSpc>
                <a:spcPct val="100000"/>
              </a:lnSpc>
              <a:spcBef>
                <a:spcPts val="0"/>
              </a:spcBef>
              <a:buFont typeface="Arial" panose="020B0604020202020204" pitchFamily="34" charset="0"/>
              <a:buNone/>
              <a:defRPr sz="1000" b="0">
                <a:solidFill>
                  <a:schemeClr val="accent4"/>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defTabSz="685808">
              <a:lnSpc>
                <a:spcPct val="90000"/>
              </a:lnSpc>
              <a:spcBef>
                <a:spcPts val="375"/>
              </a:spcBef>
              <a:buFont typeface="Arial" panose="020B0604020202020204" pitchFamily="34" charset="0"/>
              <a:buChar char="•"/>
              <a:defRPr sz="1051">
                <a:solidFill>
                  <a:schemeClr val="tx2"/>
                </a:solidFill>
              </a:defRPr>
            </a:lvl2pPr>
            <a:lvl3pPr marL="673902" indent="-138114" defTabSz="685808">
              <a:lnSpc>
                <a:spcPct val="90000"/>
              </a:lnSpc>
              <a:spcBef>
                <a:spcPts val="375"/>
              </a:spcBef>
              <a:buFont typeface="Arial" panose="020B0604020202020204" pitchFamily="34" charset="0"/>
              <a:buChar char="•"/>
              <a:defRPr sz="900">
                <a:solidFill>
                  <a:schemeClr val="tx2"/>
                </a:solidFill>
              </a:defRPr>
            </a:lvl3pPr>
            <a:lvl4pPr marL="941797" indent="-138114" defTabSz="685808">
              <a:lnSpc>
                <a:spcPct val="90000"/>
              </a:lnSpc>
              <a:spcBef>
                <a:spcPts val="375"/>
              </a:spcBef>
              <a:buFont typeface="Arial" panose="020B0604020202020204" pitchFamily="34" charset="0"/>
              <a:buChar char="•"/>
              <a:defRPr sz="825">
                <a:solidFill>
                  <a:schemeClr val="tx2"/>
                </a:solidFill>
              </a:defRPr>
            </a:lvl4pPr>
            <a:lvl5pPr marL="1209690" indent="-130971" defTabSz="685808">
              <a:lnSpc>
                <a:spcPct val="90000"/>
              </a:lnSpc>
              <a:spcBef>
                <a:spcPts val="375"/>
              </a:spcBef>
              <a:buFont typeface="Arial" panose="020B0604020202020204" pitchFamily="34" charset="0"/>
              <a:buChar char="•"/>
              <a:defRPr sz="825">
                <a:solidFill>
                  <a:schemeClr val="tx2"/>
                </a:solidFill>
              </a:defRPr>
            </a:lvl5pPr>
            <a:lvl6pPr marL="1885974" indent="-171453" defTabSz="685808">
              <a:lnSpc>
                <a:spcPct val="90000"/>
              </a:lnSpc>
              <a:spcBef>
                <a:spcPts val="375"/>
              </a:spcBef>
              <a:buFont typeface="Arial" panose="020B0604020202020204" pitchFamily="34" charset="0"/>
              <a:buChar char="•"/>
              <a:defRPr sz="1351"/>
            </a:lvl6pPr>
            <a:lvl7pPr marL="2228879" indent="-171453" defTabSz="685808">
              <a:lnSpc>
                <a:spcPct val="90000"/>
              </a:lnSpc>
              <a:spcBef>
                <a:spcPts val="375"/>
              </a:spcBef>
              <a:buFont typeface="Arial" panose="020B0604020202020204" pitchFamily="34" charset="0"/>
              <a:buChar char="•"/>
              <a:defRPr sz="1351"/>
            </a:lvl7pPr>
            <a:lvl8pPr marL="2571783" indent="-171453" defTabSz="685808">
              <a:lnSpc>
                <a:spcPct val="90000"/>
              </a:lnSpc>
              <a:spcBef>
                <a:spcPts val="375"/>
              </a:spcBef>
              <a:buFont typeface="Arial" panose="020B0604020202020204" pitchFamily="34" charset="0"/>
              <a:buChar char="•"/>
              <a:defRPr sz="1351"/>
            </a:lvl8pPr>
            <a:lvl9pPr marL="2914687" indent="-171453" defTabSz="685808">
              <a:lnSpc>
                <a:spcPct val="90000"/>
              </a:lnSpc>
              <a:spcBef>
                <a:spcPts val="375"/>
              </a:spcBef>
              <a:buFont typeface="Arial" panose="020B0604020202020204" pitchFamily="34" charset="0"/>
              <a:buChar char="•"/>
              <a:defRPr sz="1351"/>
            </a:lvl9pPr>
          </a:lstStyle>
          <a:p>
            <a:pPr marL="0" lvl="0" indent="0" algn="just">
              <a:lnSpc>
                <a:spcPts val="1000"/>
              </a:lnSpc>
              <a:buNone/>
            </a:pPr>
            <a:r>
              <a:rPr lang="pt-BR" sz="600" dirty="0">
                <a:solidFill>
                  <a:schemeClr val="accent6"/>
                </a:solidFill>
              </a:rPr>
              <a:t>Este relatório de análise foi elaborado pela XP Investimentos CCTVM S.A. (“XP Investimentos ou XP”) de acordo com todas as exigências previstas na Resolução CVM 20/2021, tem como objetivo fornecer informações que possam auxiliar o investidor a tomar sua própria decisão de investimento, não constituindo qualquer tipo de oferta ou solicitação de compra e/ou venda de qualquer produto. As informações contidas neste relatório são consideradas válidas na data de sua divulgação e foram obtidas de fontes públicas. A XP Investimentos não se responsabiliza por qualquer decisão tomada pelo cliente com base no presente relatório.</a:t>
            </a:r>
          </a:p>
          <a:p>
            <a:pPr marL="0" lvl="0" indent="0" algn="just">
              <a:lnSpc>
                <a:spcPts val="1000"/>
              </a:lnSpc>
              <a:buNone/>
            </a:pPr>
            <a:r>
              <a:rPr lang="pt-BR" sz="600" dirty="0">
                <a:solidFill>
                  <a:schemeClr val="accent6"/>
                </a:solidFill>
              </a:rPr>
              <a:t>2) Este relatório foi elaborado considerando a classificação de risco dos produtos de modo a gerar resultados de alocação para cada perfil de investidor.</a:t>
            </a:r>
          </a:p>
          <a:p>
            <a:pPr marL="0" lvl="0" indent="0" algn="just">
              <a:lnSpc>
                <a:spcPts val="1000"/>
              </a:lnSpc>
              <a:buNone/>
            </a:pPr>
            <a:r>
              <a:rPr lang="pt-BR" sz="600" dirty="0">
                <a:solidFill>
                  <a:schemeClr val="accent6"/>
                </a:solidFill>
              </a:rPr>
              <a:t>3) O(s) signatário(s) deste relatório declara(m) que as recomendações refletem única e exclusivamente suas análises e opiniões pessoais, que foram produzidas de forma independente, inclusive em relação à XP Investimentos e que estão sujeitas a modificações sem aviso prévio em decorrência de alterações nas condições de mercado, e que sua(s) remuneração(es) é(são) indiretamente influenciada por receitas provenientes dos negócios e operações financeiras realizadas pela XP Investimentos.</a:t>
            </a:r>
          </a:p>
          <a:p>
            <a:pPr marL="0" lvl="0" indent="0" algn="just">
              <a:lnSpc>
                <a:spcPts val="1000"/>
              </a:lnSpc>
              <a:buNone/>
            </a:pPr>
            <a:r>
              <a:rPr lang="pt-BR" sz="600" dirty="0">
                <a:solidFill>
                  <a:schemeClr val="accent6"/>
                </a:solidFill>
              </a:rPr>
              <a:t>4) O analista responsável pelo conteúdo deste relatório e pelo cumprimento da Resolução CVM nº 20/2021 está indicado acima, sendo que, caso constem a indicação de mais um analista no relatório, o responsável será o primeiro analista credenciado a ser mencionado no relatório.</a:t>
            </a:r>
          </a:p>
          <a:p>
            <a:pPr marL="0" lvl="0" indent="0" algn="just">
              <a:lnSpc>
                <a:spcPts val="1000"/>
              </a:lnSpc>
              <a:buNone/>
            </a:pPr>
            <a:r>
              <a:rPr lang="pt-BR" sz="600" dirty="0">
                <a:solidFill>
                  <a:schemeClr val="accent6"/>
                </a:solidFill>
              </a:rPr>
              <a:t>5) Os analistas da XP Investimentos estão obrigados ao cumprimento de todas as regras previstas no Código de Conduta da APIMEC para o Analista de Valores Mobiliários e na Política de Conduta dos Analistas de Valores Mobiliários da XP Investimentos.</a:t>
            </a:r>
          </a:p>
          <a:p>
            <a:pPr marL="0" lvl="0" indent="0" algn="just">
              <a:lnSpc>
                <a:spcPts val="1000"/>
              </a:lnSpc>
              <a:buNone/>
            </a:pPr>
            <a:r>
              <a:rPr lang="pt-BR" sz="600" dirty="0">
                <a:solidFill>
                  <a:schemeClr val="accent6"/>
                </a:solidFill>
              </a:rPr>
              <a:t>6) O atendimento de nossos clientes é realizado por empregados da XP Investimentos ou por agentes autônomos de investimento que desempenham suas atividades por meio da XP, em conformidade com a Resolução CVM nº 16/2021, os quais encontram-se registrados na Associação Nacional das Corretoras e Distribuidoras de Títulos e Valores Mobiliários – ANCORD. O agente autônomo de investimento não pode realizar consultoria, administração ou gestão de patrimônio de clientes, devendo atuar como intermediário e solicitar autorização prévia do cliente para a realização de qualquer operação no mercado de capitais.</a:t>
            </a:r>
          </a:p>
          <a:p>
            <a:pPr marL="0" lvl="0" indent="0" algn="just">
              <a:lnSpc>
                <a:spcPts val="1000"/>
              </a:lnSpc>
              <a:buNone/>
            </a:pPr>
            <a:r>
              <a:rPr lang="pt-BR" sz="600" dirty="0">
                <a:solidFill>
                  <a:schemeClr val="accent6"/>
                </a:solidFill>
              </a:rPr>
              <a:t>7) Para fins de verificação da adequação do perfil do investidor aos serviços e produtos de investimento oferecidos pela XP Investimentos, utilizamos a metodologia de adequação dos produtos por portfólio, nos termos das Regras e Procedimentos ANBIMA de </a:t>
            </a:r>
            <a:r>
              <a:rPr lang="pt-BR" sz="600" dirty="0" err="1">
                <a:solidFill>
                  <a:schemeClr val="accent6"/>
                </a:solidFill>
              </a:rPr>
              <a:t>Suitability</a:t>
            </a:r>
            <a:r>
              <a:rPr lang="pt-BR" sz="600" dirty="0">
                <a:solidFill>
                  <a:schemeClr val="accent6"/>
                </a:solidFill>
              </a:rPr>
              <a:t> nº 01 e do Código ANBIMA de Regulação e Melhores Práticas para Distribuição de Produtos de Investimento. Essa metodologia consiste em atribuir uma pontuação máxima de risco para cada perfil de investidor (conservador, moderado e agressivo), bem como uma pontuação de risco para cada um dos produtos oferecidos pela XP Investimentos, de modo que todos os clientes possam ter acesso a todos os produtos, desde que dentro das quantidades e limites da pontuação de risco definidas para o seu perfil. Antes de aplicar nos produtos e/ou contratar os serviços objeto deste material, é importante que você verifique se a sua pontuação de risco atual comporta a aplicação nos produtos e/ou a contratação dos serviços em questão, bem como se há limitações de volume, concentração e/ou quantidade para a aplicação desejada. Você pode consultar essas informações diretamente no momento da transmissão da sua ordem ou, ainda, consultando o risco geral da sua carteira na tela de carteira (Visão Risco). Caso a sua pontuação de risco atual não comporte a aplicação/contratação pretendida, ou caso existam limitações em relação à quantidade e/ou volume financeiro para a referida aplicação/contratação, isto significa que, com base na composição atual da sua carteira, esta aplicação/contratação não está adequada ao seu perfil. Em caso de dúvidas sobre o processo de adequação dos produtos oferecidos pela XP Investimentos ao seu perfil de investidor, consulte o FAQ. As condições de mercado, mudanças climáticas e o cenário macroeconômico podem afetar o desempenho do investimento.</a:t>
            </a:r>
          </a:p>
          <a:p>
            <a:pPr marL="0" lvl="0" indent="0" algn="just">
              <a:lnSpc>
                <a:spcPts val="1000"/>
              </a:lnSpc>
              <a:buNone/>
            </a:pPr>
            <a:r>
              <a:rPr lang="pt-BR" sz="600" dirty="0">
                <a:solidFill>
                  <a:schemeClr val="accent6"/>
                </a:solidFill>
              </a:rPr>
              <a:t>8) A rentabilidade de produtos financeiros pode apresentar variações e seu preço ou valor pode aumentar ou diminuir num curto espaço de tempo. Os desempenhos anteriores não são necessariamente indicativos de resultados futuros. A rentabilidade divulgada não é líquida de impostos. As informações presentes neste material são baseadas em simulações e os resultados reais poderão ser significativamente diferentes.</a:t>
            </a:r>
          </a:p>
          <a:p>
            <a:pPr marL="0" lvl="0" indent="0" algn="just">
              <a:lnSpc>
                <a:spcPts val="1000"/>
              </a:lnSpc>
              <a:buNone/>
            </a:pPr>
            <a:r>
              <a:rPr lang="pt-BR" sz="600" dirty="0">
                <a:solidFill>
                  <a:schemeClr val="accent6"/>
                </a:solidFill>
              </a:rPr>
              <a:t>9) Este relatório é destinado à circulação exclusiva para a rede de relacionamento da XP Investimentos, incluindo agentes autônomos da XP e clientes da XP, podendo também ser divulgado no site da XP. Fica proibida sua reprodução ou redistribuição para qualquer pessoa, no todo ou em parte, qualquer que seja o propósito, sem o prévio consentimento expresso da XP Investimentos.</a:t>
            </a:r>
          </a:p>
          <a:p>
            <a:pPr marL="0" lvl="0" indent="0" algn="just">
              <a:lnSpc>
                <a:spcPts val="1000"/>
              </a:lnSpc>
              <a:buNone/>
            </a:pPr>
            <a:r>
              <a:rPr lang="pt-BR" sz="600" dirty="0">
                <a:solidFill>
                  <a:schemeClr val="accent6"/>
                </a:solidFill>
              </a:rPr>
              <a:t>10)SAC. 0800 77 20202. A Ouvidoria da XP Investimentos tem a missão de servir de canal de contato sempre que os clientes que não se sentirem satisfeitos com as soluções dadas pela empresa aos seus problemas. O contato pode ser realizado por meio do telefone: 0800 722 3710.</a:t>
            </a:r>
          </a:p>
          <a:p>
            <a:pPr marL="0" lvl="0" indent="0" algn="just">
              <a:lnSpc>
                <a:spcPts val="1000"/>
              </a:lnSpc>
              <a:buNone/>
            </a:pPr>
            <a:r>
              <a:rPr lang="pt-BR" sz="600" dirty="0">
                <a:solidFill>
                  <a:schemeClr val="accent6"/>
                </a:solidFill>
              </a:rPr>
              <a:t>11)O custo da operação e a política de cobrança estão definidos nas tabelas de custos operacionais disponibilizadas no site da XP Investimentos: www.xpi.com.br.</a:t>
            </a:r>
          </a:p>
          <a:p>
            <a:pPr marL="0" lvl="0" indent="0" algn="just">
              <a:lnSpc>
                <a:spcPts val="1000"/>
              </a:lnSpc>
              <a:buNone/>
            </a:pPr>
            <a:r>
              <a:rPr lang="pt-BR" sz="600" dirty="0">
                <a:solidFill>
                  <a:schemeClr val="accent6"/>
                </a:solidFill>
              </a:rPr>
              <a:t>12)A XP Investimentos se exime de qualquer responsabilidade por quaisquer prejuízos, diretos ou indiretos, que venham a decorrer da utilização deste relatório ou seu conteúdo.</a:t>
            </a:r>
          </a:p>
          <a:p>
            <a:pPr marL="0" lvl="0" indent="0" algn="just">
              <a:lnSpc>
                <a:spcPts val="1000"/>
              </a:lnSpc>
              <a:buNone/>
            </a:pPr>
            <a:r>
              <a:rPr lang="pt-BR" sz="600" dirty="0">
                <a:solidFill>
                  <a:schemeClr val="accent6"/>
                </a:solidFill>
              </a:rPr>
              <a:t>13) A Avaliação Técnica e a Avaliação de Fundamentos seguem diferentes metodologias de análise. A Análise Técnica é executada seguindo conceitos como tendência, suporte, resistência, </a:t>
            </a:r>
            <a:r>
              <a:rPr lang="pt-BR" sz="600" dirty="0" err="1">
                <a:solidFill>
                  <a:schemeClr val="accent6"/>
                </a:solidFill>
              </a:rPr>
              <a:t>candles</a:t>
            </a:r>
            <a:r>
              <a:rPr lang="pt-BR" sz="600" dirty="0">
                <a:solidFill>
                  <a:schemeClr val="accent6"/>
                </a:solidFill>
              </a:rPr>
              <a:t>, volumes, médias móveis entre outros. Já a Análise Fundamentalista utiliza como informação os resultados divulgados pelas companhias emissoras e suas projeções. Desta forma, as opiniões dos Analistas Fundamentalistas, que buscam os melhores retornos dadas as condições de mercado, o cenário macroeconômico e os eventos específicos da empresa e do setor, podem divergir das opiniões dos Analistas Técnicos, que visam identificar os movimentos mais prováveis dos preços dos ativos, com utilização de “</a:t>
            </a:r>
            <a:r>
              <a:rPr lang="pt-BR" sz="600" dirty="0" err="1">
                <a:solidFill>
                  <a:schemeClr val="accent6"/>
                </a:solidFill>
              </a:rPr>
              <a:t>stops</a:t>
            </a:r>
            <a:r>
              <a:rPr lang="pt-BR" sz="600" dirty="0">
                <a:solidFill>
                  <a:schemeClr val="accent6"/>
                </a:solidFill>
              </a:rPr>
              <a:t>” para limitar as possíveis perdas.</a:t>
            </a:r>
          </a:p>
          <a:p>
            <a:pPr marL="0" lvl="0" indent="0" algn="just">
              <a:lnSpc>
                <a:spcPts val="1000"/>
              </a:lnSpc>
              <a:buNone/>
            </a:pPr>
            <a:r>
              <a:rPr lang="pt-BR" sz="600" dirty="0">
                <a:solidFill>
                  <a:schemeClr val="accent6"/>
                </a:solidFill>
              </a:rPr>
              <a:t>14) Ação é uma fração do capital de uma empresa que é negociada no mercado. É um título de renda variável, ou seja, um investimento no qual a rentabilidade não é preestabelecida, varia conforme as cotações de mercado. O investimento em ações é um investimento de alto risco e os desempenhos anteriores não são necessariamente indicativos de resultados futuros e nenhuma declaração ou garantia, de forma expressa ou implícita, é feita neste material em relação a desempenhos. As condições de mercado, o cenário macroeconômico, os eventos específicos da empresa e do setor podem afetar o desempenho do investimento, podendo resultar até mesmo em significativas perdas patrimoniais. A duração recomendada para o investimento é de médio-longo prazo. Não há quaisquer garantias sobre o patrimônio do cliente neste tipo de produto.</a:t>
            </a:r>
          </a:p>
          <a:p>
            <a:pPr marL="0" lvl="0" indent="0" algn="just">
              <a:lnSpc>
                <a:spcPts val="1000"/>
              </a:lnSpc>
              <a:buNone/>
            </a:pPr>
            <a:r>
              <a:rPr lang="pt-BR" sz="600" dirty="0">
                <a:solidFill>
                  <a:schemeClr val="accent6"/>
                </a:solidFill>
              </a:rPr>
              <a:t>15)O investimento em opções é preferencialmente indicado para investidores de perfil agressivo, de acordo com a política de </a:t>
            </a:r>
            <a:r>
              <a:rPr lang="pt-BR" sz="600" dirty="0" err="1">
                <a:solidFill>
                  <a:schemeClr val="accent6"/>
                </a:solidFill>
              </a:rPr>
              <a:t>suitability</a:t>
            </a:r>
            <a:r>
              <a:rPr lang="pt-BR" sz="600" dirty="0">
                <a:solidFill>
                  <a:schemeClr val="accent6"/>
                </a:solidFill>
              </a:rPr>
              <a:t> praticada pela XP Investimentos. No mercado de opções, são negociados direitos de compra ou venda de um bem por preço fixado em data futura, devendo o adquirente do direito negociado pagar um prêmio ao vendedor tal como num acordo seguro. As operações com esses derivativos são consideradas de risco muito alto por apresentarem altas relações de risco e retorno e algumas posições apresentarem a possibilidade de perdas superiores ao capital investido. A duração recomendada para o investimento é de curto prazo e o patrimônio do cliente não está garantido neste tipo de produto.</a:t>
            </a:r>
          </a:p>
          <a:p>
            <a:pPr marL="0" lvl="0" indent="0" algn="just">
              <a:lnSpc>
                <a:spcPts val="1000"/>
              </a:lnSpc>
              <a:buNone/>
            </a:pPr>
            <a:r>
              <a:rPr lang="pt-BR" sz="600" dirty="0">
                <a:solidFill>
                  <a:schemeClr val="accent6"/>
                </a:solidFill>
              </a:rPr>
              <a:t>16)O investimento em termos são contratos para compra ou a venda de uma determinada quantidade de ações, a um preço fixado, para liquidação em prazo determinado. O prazo do contrato a Termo é livremente escolhido pelos investidores, obedecendo o prazo mínimo de 16 dias e máximo de 999 dias corridos. O preço será o valor da ação adicionado de uma parcela correspondente aos juros – que são fixados livremente em mercado, em função do prazo do contrato. Toda transação a termo requer um depósito de garantia. Essas garantias são prestadas em duas formas: cobertura ou margem.</a:t>
            </a:r>
          </a:p>
          <a:p>
            <a:pPr marL="0" lvl="0" indent="0" algn="just">
              <a:lnSpc>
                <a:spcPts val="1000"/>
              </a:lnSpc>
              <a:buNone/>
            </a:pPr>
            <a:r>
              <a:rPr lang="pt-BR" sz="600" dirty="0">
                <a:solidFill>
                  <a:schemeClr val="accent6"/>
                </a:solidFill>
              </a:rPr>
              <a:t>17)O investimento em Mercados Futuros embute riscos de perdas patrimoniais significativos. Commodity é um objeto ou determinante de preço de um contrato futuro ou outro instrumento derivativo, podendo consubstanciar um índice, uma taxa, um valor mobiliário ou produto físico. É um investimento de risco muito alto, que contempla a possibilidade de oscilação de preço devido à utilização de alavancagem financeira. A duração recomendada para o investimento é de curto prazo e o patrimônio do cliente não está garantido neste tipo de produto. As condições de mercado, mudanças climáticas e o cenário macroeconômico podem afetar o desempenho do investimento.</a:t>
            </a:r>
          </a:p>
          <a:p>
            <a:pPr marL="0" lvl="0" indent="0" algn="just">
              <a:lnSpc>
                <a:spcPts val="1000"/>
              </a:lnSpc>
              <a:buNone/>
            </a:pPr>
            <a:r>
              <a:rPr lang="pt-BR" sz="600" dirty="0">
                <a:solidFill>
                  <a:schemeClr val="accent6"/>
                </a:solidFill>
              </a:rPr>
              <a:t>18)ESTA INSTITUIÇÃO É ADERENTE AO CÓDIGO ANBIMA DE REGULAÇÃO E MELHORES PRÁTICAS PARA ATIVIDADE DE DISTRIBUIÇÃO DE PRODUTOS DE INVESTIMENTO NO VAREJO.</a:t>
            </a:r>
          </a:p>
          <a:p>
            <a:pPr marL="0" lvl="0" indent="0" algn="just">
              <a:lnSpc>
                <a:spcPts val="1000"/>
              </a:lnSpc>
              <a:buNone/>
            </a:pPr>
            <a:endParaRPr lang="pt-BR" sz="600" dirty="0">
              <a:solidFill>
                <a:schemeClr val="accent6"/>
              </a:solidFill>
            </a:endParaRPr>
          </a:p>
        </p:txBody>
      </p:sp>
    </p:spTree>
    <p:extLst>
      <p:ext uri="{BB962C8B-B14F-4D97-AF65-F5344CB8AC3E}">
        <p14:creationId xmlns:p14="http://schemas.microsoft.com/office/powerpoint/2010/main" val="2221490026"/>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Fechamento">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5" name="Rectangle 24">
            <a:extLst>
              <a:ext uri="{FF2B5EF4-FFF2-40B4-BE49-F238E27FC236}">
                <a16:creationId xmlns:a16="http://schemas.microsoft.com/office/drawing/2014/main" id="{09CD1B14-21A0-4905-A3FF-6A46EBDF6BCD}"/>
              </a:ext>
            </a:extLst>
          </p:cNvPr>
          <p:cNvSpPr/>
          <p:nvPr userDrawn="1"/>
        </p:nvSpPr>
        <p:spPr>
          <a:xfrm>
            <a:off x="0" y="0"/>
            <a:ext cx="6858000" cy="9906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26" name="Picture 25" descr="A picture containing dark, night sky&#10;&#10;Description automatically generated">
            <a:extLst>
              <a:ext uri="{FF2B5EF4-FFF2-40B4-BE49-F238E27FC236}">
                <a16:creationId xmlns:a16="http://schemas.microsoft.com/office/drawing/2014/main" id="{A879A646-97B6-4998-8A89-2BAA11919B9D}"/>
              </a:ext>
            </a:extLst>
          </p:cNvPr>
          <p:cNvPicPr>
            <a:picLocks noChangeAspect="1"/>
          </p:cNvPicPr>
          <p:nvPr userDrawn="1"/>
        </p:nvPicPr>
        <p:blipFill rotWithShape="1">
          <a:blip r:embed="rId3">
            <a:alphaModFix amt="81000"/>
          </a:blip>
          <a:srcRect l="1783" t="114" r="50667" b="1655"/>
          <a:stretch/>
        </p:blipFill>
        <p:spPr>
          <a:xfrm>
            <a:off x="-438" y="0"/>
            <a:ext cx="6858438" cy="9906000"/>
          </a:xfrm>
          <a:prstGeom prst="rect">
            <a:avLst/>
          </a:prstGeom>
        </p:spPr>
      </p:pic>
      <p:grpSp>
        <p:nvGrpSpPr>
          <p:cNvPr id="37" name="Group 36">
            <a:extLst>
              <a:ext uri="{FF2B5EF4-FFF2-40B4-BE49-F238E27FC236}">
                <a16:creationId xmlns:a16="http://schemas.microsoft.com/office/drawing/2014/main" id="{B7CE084B-3CD6-493B-AA0A-FC3B928DD6B4}"/>
              </a:ext>
            </a:extLst>
          </p:cNvPr>
          <p:cNvGrpSpPr/>
          <p:nvPr userDrawn="1"/>
        </p:nvGrpSpPr>
        <p:grpSpPr>
          <a:xfrm>
            <a:off x="-438" y="6168571"/>
            <a:ext cx="6858438" cy="3737429"/>
            <a:chOff x="0" y="-3773484"/>
            <a:chExt cx="18085267" cy="9855364"/>
          </a:xfrm>
        </p:grpSpPr>
        <p:cxnSp>
          <p:nvCxnSpPr>
            <p:cNvPr id="38" name="Straight Connector 37">
              <a:extLst>
                <a:ext uri="{FF2B5EF4-FFF2-40B4-BE49-F238E27FC236}">
                  <a16:creationId xmlns:a16="http://schemas.microsoft.com/office/drawing/2014/main" id="{31AB2E40-F9FD-42C3-9517-2D4CAEFC6A49}"/>
                </a:ext>
              </a:extLst>
            </p:cNvPr>
            <p:cNvCxnSpPr>
              <a:cxnSpLocks/>
            </p:cNvCxnSpPr>
            <p:nvPr userDrawn="1"/>
          </p:nvCxnSpPr>
          <p:spPr>
            <a:xfrm flipV="1">
              <a:off x="0" y="2914763"/>
              <a:ext cx="18085267" cy="0"/>
            </a:xfrm>
            <a:prstGeom prst="line">
              <a:avLst/>
            </a:prstGeom>
            <a:ln w="12700" cap="rnd">
              <a:solidFill>
                <a:schemeClr val="bg1"/>
              </a:solidFill>
              <a:roun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5194F34E-5B13-40DE-A8F8-15955077D952}"/>
                </a:ext>
              </a:extLst>
            </p:cNvPr>
            <p:cNvCxnSpPr>
              <a:cxnSpLocks/>
            </p:cNvCxnSpPr>
            <p:nvPr userDrawn="1"/>
          </p:nvCxnSpPr>
          <p:spPr>
            <a:xfrm flipV="1">
              <a:off x="9327868" y="-3773484"/>
              <a:ext cx="8717924" cy="9855364"/>
            </a:xfrm>
            <a:prstGeom prst="line">
              <a:avLst/>
            </a:prstGeom>
            <a:ln w="12700" cap="rnd">
              <a:solidFill>
                <a:schemeClr val="bg1"/>
              </a:solidFill>
              <a:round/>
            </a:ln>
          </p:spPr>
          <p:style>
            <a:lnRef idx="1">
              <a:schemeClr val="accent1"/>
            </a:lnRef>
            <a:fillRef idx="0">
              <a:schemeClr val="accent1"/>
            </a:fillRef>
            <a:effectRef idx="0">
              <a:schemeClr val="accent1"/>
            </a:effectRef>
            <a:fontRef idx="minor">
              <a:schemeClr val="tx1"/>
            </a:fontRef>
          </p:style>
        </p:cxnSp>
      </p:grpSp>
      <p:pic>
        <p:nvPicPr>
          <p:cNvPr id="40" name="Graphic 39">
            <a:extLst>
              <a:ext uri="{FF2B5EF4-FFF2-40B4-BE49-F238E27FC236}">
                <a16:creationId xmlns:a16="http://schemas.microsoft.com/office/drawing/2014/main" id="{DCB009AC-E0A4-48A2-8D2A-AE84DA4D0C94}"/>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565203" y="9198690"/>
            <a:ext cx="924497" cy="213562"/>
          </a:xfrm>
          <a:prstGeom prst="rect">
            <a:avLst/>
          </a:prstGeom>
        </p:spPr>
      </p:pic>
      <p:sp>
        <p:nvSpPr>
          <p:cNvPr id="51" name="Freeform: Shape 50">
            <a:extLst>
              <a:ext uri="{FF2B5EF4-FFF2-40B4-BE49-F238E27FC236}">
                <a16:creationId xmlns:a16="http://schemas.microsoft.com/office/drawing/2014/main" id="{4B5EB41B-6E79-481E-A6C7-0CE249B9C220}"/>
              </a:ext>
            </a:extLst>
          </p:cNvPr>
          <p:cNvSpPr/>
          <p:nvPr/>
        </p:nvSpPr>
        <p:spPr>
          <a:xfrm>
            <a:off x="3073401" y="4632236"/>
            <a:ext cx="711200" cy="641528"/>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p>
        </p:txBody>
      </p:sp>
    </p:spTree>
    <p:extLst>
      <p:ext uri="{BB962C8B-B14F-4D97-AF65-F5344CB8AC3E}">
        <p14:creationId xmlns:p14="http://schemas.microsoft.com/office/powerpoint/2010/main" val="2120804717"/>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CaixaDeTexto 9">
            <a:extLst>
              <a:ext uri="{FF2B5EF4-FFF2-40B4-BE49-F238E27FC236}">
                <a16:creationId xmlns:a16="http://schemas.microsoft.com/office/drawing/2014/main" id="{121B26EB-04F5-4040-8B99-4DC605D90FD8}"/>
              </a:ext>
            </a:extLst>
          </p:cNvPr>
          <p:cNvSpPr txBox="1"/>
          <p:nvPr userDrawn="1"/>
        </p:nvSpPr>
        <p:spPr>
          <a:xfrm>
            <a:off x="6328029" y="9584374"/>
            <a:ext cx="148017" cy="127755"/>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tx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cxnSp>
        <p:nvCxnSpPr>
          <p:cNvPr id="3" name="Conector Reto 170">
            <a:extLst>
              <a:ext uri="{FF2B5EF4-FFF2-40B4-BE49-F238E27FC236}">
                <a16:creationId xmlns:a16="http://schemas.microsoft.com/office/drawing/2014/main" id="{E445F333-EB7A-43BD-A623-5BA87BD7F471}"/>
              </a:ext>
            </a:extLst>
          </p:cNvPr>
          <p:cNvCxnSpPr>
            <a:cxnSpLocks/>
          </p:cNvCxnSpPr>
          <p:nvPr userDrawn="1"/>
        </p:nvCxnSpPr>
        <p:spPr>
          <a:xfrm flipV="1">
            <a:off x="741267" y="9547232"/>
            <a:ext cx="0" cy="202038"/>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grpSp>
        <p:nvGrpSpPr>
          <p:cNvPr id="25" name="Group 24">
            <a:extLst>
              <a:ext uri="{FF2B5EF4-FFF2-40B4-BE49-F238E27FC236}">
                <a16:creationId xmlns:a16="http://schemas.microsoft.com/office/drawing/2014/main" id="{01297E8A-BBDE-4293-90C7-131F45678E37}"/>
              </a:ext>
            </a:extLst>
          </p:cNvPr>
          <p:cNvGrpSpPr/>
          <p:nvPr userDrawn="1"/>
        </p:nvGrpSpPr>
        <p:grpSpPr>
          <a:xfrm>
            <a:off x="-954966" y="0"/>
            <a:ext cx="850185" cy="1861222"/>
            <a:chOff x="-954966" y="304355"/>
            <a:chExt cx="850185" cy="1861222"/>
          </a:xfrm>
        </p:grpSpPr>
        <p:sp>
          <p:nvSpPr>
            <p:cNvPr id="15" name="Retângulo 13">
              <a:extLst>
                <a:ext uri="{FF2B5EF4-FFF2-40B4-BE49-F238E27FC236}">
                  <a16:creationId xmlns:a16="http://schemas.microsoft.com/office/drawing/2014/main" id="{3AA95D09-E6E1-455E-A12A-0B7004FA5266}"/>
                </a:ext>
              </a:extLst>
            </p:cNvPr>
            <p:cNvSpPr/>
            <p:nvPr userDrawn="1"/>
          </p:nvSpPr>
          <p:spPr>
            <a:xfrm>
              <a:off x="-954966" y="1885648"/>
              <a:ext cx="850185" cy="27992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126 126 126</a:t>
              </a:r>
            </a:p>
          </p:txBody>
        </p:sp>
        <p:sp>
          <p:nvSpPr>
            <p:cNvPr id="16" name="Retângulo 14">
              <a:extLst>
                <a:ext uri="{FF2B5EF4-FFF2-40B4-BE49-F238E27FC236}">
                  <a16:creationId xmlns:a16="http://schemas.microsoft.com/office/drawing/2014/main" id="{F11F0483-491A-4BB4-9426-359C3667CEA5}"/>
                </a:ext>
              </a:extLst>
            </p:cNvPr>
            <p:cNvSpPr/>
            <p:nvPr userDrawn="1"/>
          </p:nvSpPr>
          <p:spPr>
            <a:xfrm>
              <a:off x="-954966" y="936873"/>
              <a:ext cx="850185" cy="27992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255 188 0</a:t>
              </a:r>
            </a:p>
          </p:txBody>
        </p:sp>
        <p:sp>
          <p:nvSpPr>
            <p:cNvPr id="17" name="Retângulo 16">
              <a:extLst>
                <a:ext uri="{FF2B5EF4-FFF2-40B4-BE49-F238E27FC236}">
                  <a16:creationId xmlns:a16="http://schemas.microsoft.com/office/drawing/2014/main" id="{F132B67C-337F-4AD9-BDCC-DFFD7252F949}"/>
                </a:ext>
              </a:extLst>
            </p:cNvPr>
            <p:cNvSpPr/>
            <p:nvPr userDrawn="1"/>
          </p:nvSpPr>
          <p:spPr>
            <a:xfrm>
              <a:off x="-954966" y="1253132"/>
              <a:ext cx="850185" cy="27992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0 210 197</a:t>
              </a:r>
            </a:p>
          </p:txBody>
        </p:sp>
        <p:sp>
          <p:nvSpPr>
            <p:cNvPr id="18" name="Retângulo 18">
              <a:extLst>
                <a:ext uri="{FF2B5EF4-FFF2-40B4-BE49-F238E27FC236}">
                  <a16:creationId xmlns:a16="http://schemas.microsoft.com/office/drawing/2014/main" id="{FC03D85E-9A50-4C52-BEE1-98C62D9BC256}"/>
                </a:ext>
              </a:extLst>
            </p:cNvPr>
            <p:cNvSpPr/>
            <p:nvPr userDrawn="1"/>
          </p:nvSpPr>
          <p:spPr>
            <a:xfrm>
              <a:off x="-954966" y="304355"/>
              <a:ext cx="850185" cy="27992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0 0 0</a:t>
              </a:r>
            </a:p>
          </p:txBody>
        </p:sp>
        <p:sp>
          <p:nvSpPr>
            <p:cNvPr id="19" name="Retângulo 19">
              <a:extLst>
                <a:ext uri="{FF2B5EF4-FFF2-40B4-BE49-F238E27FC236}">
                  <a16:creationId xmlns:a16="http://schemas.microsoft.com/office/drawing/2014/main" id="{311565C6-9EB7-4E68-9DA3-88F7E38F2249}"/>
                </a:ext>
              </a:extLst>
            </p:cNvPr>
            <p:cNvSpPr/>
            <p:nvPr userDrawn="1"/>
          </p:nvSpPr>
          <p:spPr>
            <a:xfrm>
              <a:off x="-954966" y="620614"/>
              <a:ext cx="850185" cy="2799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50 52 54</a:t>
              </a:r>
            </a:p>
          </p:txBody>
        </p:sp>
        <p:sp>
          <p:nvSpPr>
            <p:cNvPr id="20" name="Retângulo 25">
              <a:extLst>
                <a:ext uri="{FF2B5EF4-FFF2-40B4-BE49-F238E27FC236}">
                  <a16:creationId xmlns:a16="http://schemas.microsoft.com/office/drawing/2014/main" id="{4098D990-3A3F-4006-8DF9-51A190E5F76D}"/>
                </a:ext>
              </a:extLst>
            </p:cNvPr>
            <p:cNvSpPr/>
            <p:nvPr userDrawn="1"/>
          </p:nvSpPr>
          <p:spPr>
            <a:xfrm>
              <a:off x="-954966" y="1569391"/>
              <a:ext cx="850185" cy="27992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64 64 64</a:t>
              </a:r>
            </a:p>
          </p:txBody>
        </p:sp>
      </p:grpSp>
      <p:sp>
        <p:nvSpPr>
          <p:cNvPr id="21" name="Date Placeholder 20">
            <a:extLst>
              <a:ext uri="{FF2B5EF4-FFF2-40B4-BE49-F238E27FC236}">
                <a16:creationId xmlns:a16="http://schemas.microsoft.com/office/drawing/2014/main" id="{D02AA3C6-718F-40AC-B743-9453A37CCCBC}"/>
              </a:ext>
            </a:extLst>
          </p:cNvPr>
          <p:cNvSpPr>
            <a:spLocks noGrp="1"/>
          </p:cNvSpPr>
          <p:nvPr>
            <p:ph type="dt" sz="half" idx="2"/>
          </p:nvPr>
        </p:nvSpPr>
        <p:spPr>
          <a:xfrm>
            <a:off x="4946650" y="438763"/>
            <a:ext cx="1543050" cy="184666"/>
          </a:xfrm>
          <a:prstGeom prst="rect">
            <a:avLst/>
          </a:prstGeom>
        </p:spPr>
        <p:txBody>
          <a:bodyPr vert="horz"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4F059C5C-FEA4-4F79-9512-148D8D019B43}" type="datetime4">
              <a:rPr lang="pt-BR" smtClean="0"/>
              <a:pPr/>
              <a:t>27 de julho de 2026</a:t>
            </a:fld>
            <a:endParaRPr lang="en-US" dirty="0"/>
          </a:p>
        </p:txBody>
      </p:sp>
      <p:sp>
        <p:nvSpPr>
          <p:cNvPr id="13" name="Freeform: Shape 12">
            <a:extLst>
              <a:ext uri="{FF2B5EF4-FFF2-40B4-BE49-F238E27FC236}">
                <a16:creationId xmlns:a16="http://schemas.microsoft.com/office/drawing/2014/main" id="{C152CD96-C8C5-4BC7-9D4B-F321374D8EF1}"/>
              </a:ext>
            </a:extLst>
          </p:cNvPr>
          <p:cNvSpPr/>
          <p:nvPr userDrawn="1"/>
        </p:nvSpPr>
        <p:spPr>
          <a:xfrm>
            <a:off x="368300" y="9526266"/>
            <a:ext cx="270465" cy="24397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tx1"/>
          </a:solidFill>
          <a:ln w="6350" cap="flat">
            <a:noFill/>
            <a:prstDash val="solid"/>
            <a:miter/>
          </a:ln>
        </p:spPr>
        <p:txBody>
          <a:bodyPr rtlCol="0" anchor="ctr"/>
          <a:lstStyle/>
          <a:p>
            <a:endParaRPr lang="en-US"/>
          </a:p>
        </p:txBody>
      </p:sp>
      <p:sp>
        <p:nvSpPr>
          <p:cNvPr id="14" name="Espaço Reservado para Texto 6">
            <a:extLst>
              <a:ext uri="{FF2B5EF4-FFF2-40B4-BE49-F238E27FC236}">
                <a16:creationId xmlns:a16="http://schemas.microsoft.com/office/drawing/2014/main" id="{0552A19C-3391-421C-B347-93E860D45439}"/>
              </a:ext>
            </a:extLst>
          </p:cNvPr>
          <p:cNvSpPr txBox="1">
            <a:spLocks/>
          </p:cNvSpPr>
          <p:nvPr userDrawn="1"/>
        </p:nvSpPr>
        <p:spPr>
          <a:xfrm>
            <a:off x="390154" y="438763"/>
            <a:ext cx="2916238" cy="215860"/>
          </a:xfrm>
          <a:prstGeom prst="rect">
            <a:avLst/>
          </a:prstGeom>
        </p:spPr>
        <p:txBody>
          <a:bodyPr vert="horz" lIns="0" tIns="0" rIns="0" bIns="0" rtlCol="0" anchor="t">
            <a:noAutofit/>
          </a:bodyPr>
          <a:lstStyle>
            <a:lvl1pPr marL="0" indent="0" algn="l" defTabSz="385767" rtl="0" eaLnBrk="1" latinLnBrk="0" hangingPunct="1">
              <a:lnSpc>
                <a:spcPct val="90000"/>
              </a:lnSpc>
              <a:spcBef>
                <a:spcPts val="422"/>
              </a:spcBef>
              <a:buFont typeface="Arial" panose="020B0604020202020204" pitchFamily="34" charset="0"/>
              <a:buNone/>
              <a:defRPr lang="pt-BR" sz="1200" b="0" kern="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dirty="0" err="1">
                <a:solidFill>
                  <a:schemeClr val="tx2"/>
                </a:solidFill>
              </a:rPr>
              <a:t>Estratégia</a:t>
            </a:r>
            <a:r>
              <a:rPr lang="en-US" dirty="0">
                <a:solidFill>
                  <a:schemeClr val="tx2"/>
                </a:solidFill>
              </a:rPr>
              <a:t> de </a:t>
            </a:r>
            <a:r>
              <a:rPr lang="en-US" dirty="0" err="1">
                <a:solidFill>
                  <a:schemeClr val="tx2"/>
                </a:solidFill>
              </a:rPr>
              <a:t>Ações</a:t>
            </a:r>
            <a:endParaRPr lang="en-US" dirty="0">
              <a:solidFill>
                <a:schemeClr val="tx2"/>
              </a:solidFill>
            </a:endParaRPr>
          </a:p>
        </p:txBody>
      </p:sp>
    </p:spTree>
    <p:extLst>
      <p:ext uri="{BB962C8B-B14F-4D97-AF65-F5344CB8AC3E}">
        <p14:creationId xmlns:p14="http://schemas.microsoft.com/office/powerpoint/2010/main" val="3552666448"/>
      </p:ext>
    </p:extLst>
  </p:cSld>
  <p:clrMap bg1="lt1" tx1="dk1" bg2="lt2" tx2="dk2" accent1="accent1" accent2="accent2" accent3="accent3" accent4="accent4" accent5="accent5" accent6="accent6" hlink="hlink" folHlink="folHlink"/>
  <p:sldLayoutIdLst>
    <p:sldLayoutId id="2147483676" r:id="rId1"/>
    <p:sldLayoutId id="2147483700" r:id="rId2"/>
    <p:sldLayoutId id="2147483701" r:id="rId3"/>
    <p:sldLayoutId id="2147483721" r:id="rId4"/>
    <p:sldLayoutId id="2147483722" r:id="rId5"/>
    <p:sldLayoutId id="2147483723" r:id="rId6"/>
    <p:sldLayoutId id="2147483724" r:id="rId7"/>
    <p:sldLayoutId id="2147483719" r:id="rId8"/>
    <p:sldLayoutId id="2147483720" r:id="rId9"/>
    <p:sldLayoutId id="2147483699" r:id="rId10"/>
    <p:sldLayoutId id="2147483697" r:id="rId11"/>
    <p:sldLayoutId id="2147483695" r:id="rId12"/>
    <p:sldLayoutId id="2147483696" r:id="rId13"/>
    <p:sldLayoutId id="2147483694" r:id="rId14"/>
    <p:sldLayoutId id="2147483698" r:id="rId15"/>
    <p:sldLayoutId id="2147483725" r:id="rId16"/>
    <p:sldLayoutId id="2147483703" r:id="rId17"/>
    <p:sldLayoutId id="2147483702" r:id="rId18"/>
  </p:sldLayoutIdLst>
  <p:hf sldNum="0" hdr="0" ftr="0"/>
  <p:txStyles>
    <p:titleStyle>
      <a:lvl1pPr algn="l" defTabSz="385767" rtl="0" eaLnBrk="1" latinLnBrk="0" hangingPunct="1">
        <a:lnSpc>
          <a:spcPct val="90000"/>
        </a:lnSpc>
        <a:spcBef>
          <a:spcPct val="0"/>
        </a:spcBef>
        <a:buNone/>
        <a:defRPr sz="1266" b="0" kern="1200">
          <a:solidFill>
            <a:schemeClr val="tx1"/>
          </a:solidFill>
          <a:latin typeface="+mj-lt"/>
          <a:ea typeface="+mj-ea"/>
          <a:cs typeface="+mj-cs"/>
        </a:defRPr>
      </a:lvl1pPr>
    </p:titleStyle>
    <p:bodyStyle>
      <a:lvl1pPr marL="0" indent="0" algn="l" defTabSz="385767" rtl="0" eaLnBrk="1" latinLnBrk="0" hangingPunct="1">
        <a:lnSpc>
          <a:spcPct val="90000"/>
        </a:lnSpc>
        <a:spcBef>
          <a:spcPts val="422"/>
        </a:spcBef>
        <a:buFont typeface="Arial" panose="020B0604020202020204" pitchFamily="34" charset="0"/>
        <a:buNone/>
        <a:defRPr sz="675" kern="1200">
          <a:solidFill>
            <a:schemeClr val="tx2"/>
          </a:solidFill>
          <a:latin typeface="+mn-lt"/>
          <a:ea typeface="+mn-ea"/>
          <a:cs typeface="+mn-cs"/>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p:bodyStyle>
    <p:otherStyle>
      <a:defPPr>
        <a:defRPr lang="pt-BR"/>
      </a:defPPr>
      <a:lvl1pPr marL="0" algn="l" defTabSz="385767" rtl="0" eaLnBrk="1" latinLnBrk="0" hangingPunct="1">
        <a:defRPr sz="760" kern="1200">
          <a:solidFill>
            <a:schemeClr val="tx1"/>
          </a:solidFill>
          <a:latin typeface="+mn-lt"/>
          <a:ea typeface="+mn-ea"/>
          <a:cs typeface="+mn-cs"/>
        </a:defRPr>
      </a:lvl1pPr>
      <a:lvl2pPr marL="192884" algn="l" defTabSz="385767" rtl="0" eaLnBrk="1" latinLnBrk="0" hangingPunct="1">
        <a:defRPr sz="760" kern="1200">
          <a:solidFill>
            <a:schemeClr val="tx1"/>
          </a:solidFill>
          <a:latin typeface="+mn-lt"/>
          <a:ea typeface="+mn-ea"/>
          <a:cs typeface="+mn-cs"/>
        </a:defRPr>
      </a:lvl2pPr>
      <a:lvl3pPr marL="385767" algn="l" defTabSz="385767" rtl="0" eaLnBrk="1" latinLnBrk="0" hangingPunct="1">
        <a:defRPr sz="760" kern="1200">
          <a:solidFill>
            <a:schemeClr val="tx1"/>
          </a:solidFill>
          <a:latin typeface="+mn-lt"/>
          <a:ea typeface="+mn-ea"/>
          <a:cs typeface="+mn-cs"/>
        </a:defRPr>
      </a:lvl3pPr>
      <a:lvl4pPr marL="578651" algn="l" defTabSz="385767" rtl="0" eaLnBrk="1" latinLnBrk="0" hangingPunct="1">
        <a:defRPr sz="760" kern="1200">
          <a:solidFill>
            <a:schemeClr val="tx1"/>
          </a:solidFill>
          <a:latin typeface="+mn-lt"/>
          <a:ea typeface="+mn-ea"/>
          <a:cs typeface="+mn-cs"/>
        </a:defRPr>
      </a:lvl4pPr>
      <a:lvl5pPr marL="771535" algn="l" defTabSz="385767" rtl="0" eaLnBrk="1" latinLnBrk="0" hangingPunct="1">
        <a:defRPr sz="760" kern="1200">
          <a:solidFill>
            <a:schemeClr val="tx1"/>
          </a:solidFill>
          <a:latin typeface="+mn-lt"/>
          <a:ea typeface="+mn-ea"/>
          <a:cs typeface="+mn-cs"/>
        </a:defRPr>
      </a:lvl5pPr>
      <a:lvl6pPr marL="964419" algn="l" defTabSz="385767" rtl="0" eaLnBrk="1" latinLnBrk="0" hangingPunct="1">
        <a:defRPr sz="760" kern="1200">
          <a:solidFill>
            <a:schemeClr val="tx1"/>
          </a:solidFill>
          <a:latin typeface="+mn-lt"/>
          <a:ea typeface="+mn-ea"/>
          <a:cs typeface="+mn-cs"/>
        </a:defRPr>
      </a:lvl6pPr>
      <a:lvl7pPr marL="1157302" algn="l" defTabSz="385767" rtl="0" eaLnBrk="1" latinLnBrk="0" hangingPunct="1">
        <a:defRPr sz="760" kern="1200">
          <a:solidFill>
            <a:schemeClr val="tx1"/>
          </a:solidFill>
          <a:latin typeface="+mn-lt"/>
          <a:ea typeface="+mn-ea"/>
          <a:cs typeface="+mn-cs"/>
        </a:defRPr>
      </a:lvl7pPr>
      <a:lvl8pPr marL="1350186" algn="l" defTabSz="385767" rtl="0" eaLnBrk="1" latinLnBrk="0" hangingPunct="1">
        <a:defRPr sz="760" kern="1200">
          <a:solidFill>
            <a:schemeClr val="tx1"/>
          </a:solidFill>
          <a:latin typeface="+mn-lt"/>
          <a:ea typeface="+mn-ea"/>
          <a:cs typeface="+mn-cs"/>
        </a:defRPr>
      </a:lvl8pPr>
      <a:lvl9pPr marL="1543070" algn="l" defTabSz="385767" rtl="0" eaLnBrk="1" latinLnBrk="0" hangingPunct="1">
        <a:defRPr sz="76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120" userDrawn="1">
          <p15:clr>
            <a:srgbClr val="F26B43"/>
          </p15:clr>
        </p15:guide>
        <p15:guide id="2" pos="232" userDrawn="1">
          <p15:clr>
            <a:srgbClr val="F26B43"/>
          </p15:clr>
        </p15:guide>
        <p15:guide id="3" pos="4088" userDrawn="1">
          <p15:clr>
            <a:srgbClr val="F26B43"/>
          </p15:clr>
        </p15:guide>
        <p15:guide id="4" orient="horz" pos="262" userDrawn="1">
          <p15:clr>
            <a:srgbClr val="F26B43"/>
          </p15:clr>
        </p15:guide>
        <p15:guide id="5" orient="horz" pos="5955" userDrawn="1">
          <p15:clr>
            <a:srgbClr val="F26B43"/>
          </p15:clr>
        </p15:guide>
        <p15:guide id="6" pos="2160" userDrawn="1">
          <p15:clr>
            <a:srgbClr val="F26B43"/>
          </p15:clr>
        </p15:guide>
        <p15:guide id="7" orient="horz" pos="466" userDrawn="1">
          <p15:clr>
            <a:srgbClr val="F26B43"/>
          </p15:clr>
        </p15:guide>
        <p15:guide id="8" orient="horz" pos="943"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chart" Target="../charts/char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slide" Target="slide3.xml"/><Relationship Id="rId3" Type="http://schemas.openxmlformats.org/officeDocument/2006/relationships/slide" Target="slide6.xml"/><Relationship Id="rId4" Type="http://schemas.openxmlformats.org/officeDocument/2006/relationships/slide" Target="slide5.xml"/><Relationship Id="rId5" Type="http://schemas.openxmlformats.org/officeDocument/2006/relationships/slide" Target="slide4.xml"/><Relationship Id="rId6" Type="http://schemas.openxmlformats.org/officeDocument/2006/relationships/slide" Target="slide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oleObject" Target="file:///\\xpdocs\Research\Equities\Estrategia\Reports\Pesquisa%20assessores\PA%20Principal.xlsx!Charts!%5bPA%20Principal.xlsx%5dCharts%20Gr&#225;fico%201-1" TargetMode="External"/><Relationship Id="rId4" Type="http://schemas.openxmlformats.org/officeDocument/2006/relationships/image" Target="../media/image6.emf"/><Relationship Id="rId5" Type="http://schemas.openxmlformats.org/officeDocument/2006/relationships/oleObject" Target="file:///\\xpdocs\Research\Equities\Estrategia\Reports\Pesquisa%20assessores\PA%20Principal.xlsx!Charts!%5bPA%20Principal.xlsx%5dCharts%20Gr&#225;fico%205-1" TargetMode="External"/><Relationship Id="rId6" Type="http://schemas.openxmlformats.org/officeDocument/2006/relationships/image" Target="../media/image7.emf"/><Relationship Id="rId7" Type="http://schemas.openxmlformats.org/officeDocument/2006/relationships/oleObject" Target="file:///\\xpdocs\Research\Equities\Estrategia\Reports\Pesquisa%20assessores\PA%20Principal.xlsx!Charts!%5bPA%20Principal.xlsx%5dCharts%20Espa&#231;o%20Reservado%20para%20Conte&#250;do%2014" TargetMode="External"/><Relationship Id="rId8" Type="http://schemas.openxmlformats.org/officeDocument/2006/relationships/image" Target="../media/image8.emf"/><Relationship Id="rId9"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oleObject" Target="file:///\\xpdocs\Research\Equities\Estrategia\Reports\Pesquisa%20assessores\PA%20Principal.xlsx!Charts!%5bPA%20Principal.xlsx%5dCharts%20Chart%2010" TargetMode="External"/><Relationship Id="rId4" Type="http://schemas.openxmlformats.org/officeDocument/2006/relationships/image" Target="../media/image9.emf"/><Relationship Id="rId5" Type="http://schemas.openxmlformats.org/officeDocument/2006/relationships/oleObject" Target="file:///\\xpdocs\Research\Equities\Estrategia\Reports\Pesquisa%20assessores\PA%20Principal.xlsx!Charts!%5bPA%20Principal.xlsx%5dCharts%20Gr&#225;fico%2022" TargetMode="External"/><Relationship Id="rId6" Type="http://schemas.openxmlformats.org/officeDocument/2006/relationships/image" Target="../media/image10.emf"/><Relationship Id="rId7"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oleObject" Target="file:///\\xpdocs\Research\Equities\Estrategia\Reports\Pesquisa%20assessores\PA%20Principal.xlsx!Charts!%5bPA%20Principal.xlsx%5dCharts%20Gr&#225;fico%2011" TargetMode="External"/><Relationship Id="rId4" Type="http://schemas.openxmlformats.org/officeDocument/2006/relationships/image" Target="../media/image11.emf"/><Relationship Id="rId5" Type="http://schemas.openxmlformats.org/officeDocument/2006/relationships/oleObject" Target="file:///\\xpdocs\Research\Equities\Estrategia\Reports\Pesquisa%20assessores\PA%20Principal.xlsx!Charts!%5bPA%20Principal.xlsx%5dCharts%20Espa&#231;o%20Reservado%20para%20Conte&#250;do%2020-1" TargetMode="External"/><Relationship Id="rId6" Type="http://schemas.openxmlformats.org/officeDocument/2006/relationships/image" Target="../media/image12.emf"/><Relationship Id="rId7" Type="http://schemas.openxmlformats.org/officeDocument/2006/relationships/oleObject" Target="file:///\\xpdocs\Research\Equities\Estrategia\Reports\Pesquisa%20assessores\PA%20Principal.xlsx!Charts!%5bPA%20Principal.xlsx%5dCharts%20Chart%2021" TargetMode="External"/><Relationship Id="rId8" Type="http://schemas.openxmlformats.org/officeDocument/2006/relationships/image" Target="../media/image13.emf"/><Relationship Id="rId9"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oleObject" Target="file:///\\xpdocs\Research\Equities\Estrategia\Reports\Pesquisa%20assessores\PA%20Principal.xlsx!Charts!%5bPA%20Principal.xlsx%5dCharts%20Gr&#225;fico%202-2" TargetMode="External"/><Relationship Id="rId4" Type="http://schemas.openxmlformats.org/officeDocument/2006/relationships/image" Target="../media/image14.emf"/><Relationship Id="rId5" Type="http://schemas.openxmlformats.org/officeDocument/2006/relationships/oleObject" Target="file:///\\xpdocs\Research\Equities\Estrategia\Reports\Pesquisa%20assessores\PA%20Principal.xlsx!Charts!%5bPA%20Principal.xlsx%5dCharts%20Chart%205" TargetMode="External"/><Relationship Id="rId6" Type="http://schemas.openxmlformats.org/officeDocument/2006/relationships/image" Target="../media/image15.emf"/><Relationship Id="rId7" Type="http://schemas.openxmlformats.org/officeDocument/2006/relationships/image" Target="../media/image5.png"/><Relationship Id="rId8" Type="http://schemas.openxmlformats.org/officeDocument/2006/relationships/oleObject" Target="file:///\\xpdocs\Research\Equities\Estrategia\Reports\Pesquisa%20assessores\PA%20Principal.xlsx!Charts!%5bPA%20Principal.xlsx%5dCharts%20Chart%204-1" TargetMode="External"/><Relationship Id="rId9" Type="http://schemas.openxmlformats.org/officeDocument/2006/relationships/image" Target="../media/image16.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5.png"/><Relationship Id="rId3" Type="http://schemas.openxmlformats.org/officeDocument/2006/relationships/chart" Target="../charts/char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A9EBE60-27E0-4509-9C91-3219C380F74D}"/>
              </a:ext>
            </a:extLst>
          </p:cNvPr>
          <p:cNvSpPr>
            <a:spLocks noGrp="1"/>
          </p:cNvSpPr>
          <p:nvPr>
            <p:ph type="body" sz="quarter" idx="16"/>
          </p:nvPr>
        </p:nvSpPr>
        <p:spPr/>
        <p:txBody>
          <a:bodyPr/>
          <a:lstStyle/>
          <a:p>
            <a:r>
              <a:rPr lang="pt-BR" dirty="0"/>
              <a:t>Pesquisa com assessores XP</a:t>
            </a:r>
            <a:endParaRPr lang="en-US" dirty="0"/>
          </a:p>
        </p:txBody>
      </p:sp>
      <p:sp>
        <p:nvSpPr>
          <p:cNvPr id="3" name="Text Placeholder 2">
            <a:extLst>
              <a:ext uri="{FF2B5EF4-FFF2-40B4-BE49-F238E27FC236}">
                <a16:creationId xmlns:a16="http://schemas.microsoft.com/office/drawing/2014/main" id="{74619EC1-EC19-432A-98AA-C66ECBD2FA25}"/>
              </a:ext>
            </a:extLst>
          </p:cNvPr>
          <p:cNvSpPr>
            <a:spLocks noGrp="1"/>
          </p:cNvSpPr>
          <p:nvPr>
            <p:ph type="body" sz="quarter" idx="19"/>
          </p:nvPr>
        </p:nvSpPr>
        <p:spPr/>
        <p:txBody>
          <a:bodyPr/>
          <a:lstStyle/>
          <a:p>
            <a:r>
              <a:rPr lang="en-US" dirty="0" err="1"/>
              <a:t>Estratégia</a:t>
            </a:r>
            <a:r>
              <a:rPr lang="en-US" dirty="0"/>
              <a:t> de </a:t>
            </a:r>
            <a:r>
              <a:rPr lang="en-US" dirty="0" err="1"/>
              <a:t>Ações</a:t>
            </a:r>
            <a:endParaRPr lang="en-US" dirty="0"/>
          </a:p>
        </p:txBody>
      </p:sp>
      <p:sp>
        <p:nvSpPr>
          <p:cNvPr id="4" name="Text Placeholder 3">
            <a:extLst>
              <a:ext uri="{FF2B5EF4-FFF2-40B4-BE49-F238E27FC236}">
                <a16:creationId xmlns:a16="http://schemas.microsoft.com/office/drawing/2014/main" id="{6058FD83-BC37-48F1-8AFD-EE650B9AD865}"/>
              </a:ext>
            </a:extLst>
          </p:cNvPr>
          <p:cNvSpPr>
            <a:spLocks noGrp="1"/>
          </p:cNvSpPr>
          <p:nvPr>
            <p:ph type="body" sz="quarter" idx="20"/>
          </p:nvPr>
        </p:nvSpPr>
        <p:spPr/>
        <p:txBody>
          <a:bodyPr anchor="ctr"/>
          <a:lstStyle/>
          <a:p>
            <a:pPr>
              <a:lnSpc>
                <a:spcPct val="105000"/>
              </a:lnSpc>
            </a:pPr>
            <a:r>
              <a:rPr lang="pt-BR" sz="900" dirty="0"/>
              <a:t>Nesta edição da nossa pesquisa com assessores afiliados à XP, observamos uma leve recuperação nos níveis de alocação em ações, embora a intenção de reduzir essa exposição tenha aumentado. Os principais destaques são:</a:t>
            </a:r>
            <a:r>
              <a:rPr lang="pt-BR" sz="900" b="1" dirty="0"/>
              <a:t> (i)</a:t>
            </a:r>
            <a:r>
              <a:rPr lang="pt-BR" sz="900" dirty="0"/>
              <a:t> a parcela que pretende aumentar a alocação em ações subiu para 21% (+1 p.p. M/M), a que pretende mantê-la inalterada caiu para 65% (-5 p.p. M/M) e a que planeja reduzi-la avançou para 14% (+3 p.p. M/M); </a:t>
            </a:r>
            <a:r>
              <a:rPr lang="pt-BR" sz="900" b="1" dirty="0"/>
              <a:t>(ii)</a:t>
            </a:r>
            <a:r>
              <a:rPr lang="pt-BR" sz="900" dirty="0"/>
              <a:t> o sentimento dos assessores em relação às ações melhorou para 6,6, ante 6,4 na pesquisa anterior; </a:t>
            </a:r>
            <a:r>
              <a:rPr lang="pt-BR" sz="900" b="1" dirty="0"/>
              <a:t>(iii)</a:t>
            </a:r>
            <a:r>
              <a:rPr lang="pt-BR" sz="900" dirty="0"/>
              <a:t> a Renda Fixa segue como a classe de ativo preferida, apesar da forte queda de interesse; </a:t>
            </a:r>
            <a:r>
              <a:rPr lang="pt-BR" sz="900" b="1" dirty="0"/>
              <a:t>(iv)</a:t>
            </a:r>
            <a:r>
              <a:rPr lang="pt-BR" sz="900" dirty="0"/>
              <a:t> os Riscos fiscais no Brasil seguem como a principal preocupação, seguidos por Instabilidade política/eleições e juros mais altos que o esperado no Brasil; </a:t>
            </a:r>
            <a:r>
              <a:rPr lang="pt-BR" sz="900" b="1" dirty="0"/>
              <a:t>(v)</a:t>
            </a:r>
            <a:r>
              <a:rPr lang="pt-BR" sz="900" dirty="0"/>
              <a:t> após a recente correção da Bolsa brasileira, 49% dos assessores reportaram que seus clientes veem uma oportunidade de compra, mas preferem aguardar níveis mais atrativos para comprar.</a:t>
            </a:r>
          </a:p>
        </p:txBody>
      </p:sp>
      <p:sp>
        <p:nvSpPr>
          <p:cNvPr id="5" name="Text Placeholder 4">
            <a:extLst>
              <a:ext uri="{FF2B5EF4-FFF2-40B4-BE49-F238E27FC236}">
                <a16:creationId xmlns:a16="http://schemas.microsoft.com/office/drawing/2014/main" id="{6D8B4689-960D-444F-BEC1-AC5057CE9BE0}"/>
              </a:ext>
            </a:extLst>
          </p:cNvPr>
          <p:cNvSpPr>
            <a:spLocks noGrp="1"/>
          </p:cNvSpPr>
          <p:nvPr>
            <p:ph type="body" sz="quarter" idx="23"/>
          </p:nvPr>
        </p:nvSpPr>
        <p:spPr>
          <a:xfrm>
            <a:off x="390155" y="3620567"/>
            <a:ext cx="3734170" cy="5848235"/>
          </a:xfrm>
        </p:spPr>
        <p:txBody>
          <a:bodyPr/>
          <a:lstStyle/>
          <a:p>
            <a:pPr>
              <a:lnSpc>
                <a:spcPct val="108000"/>
              </a:lnSpc>
            </a:pPr>
            <a:r>
              <a:rPr lang="pt-BR" sz="900" b="1" dirty="0"/>
              <a:t>A alocação em ações voltou a subir em julho, </a:t>
            </a:r>
            <a:r>
              <a:rPr lang="pt-BR" sz="900" dirty="0"/>
              <a:t>com migração de faixas mais baixas para faixas mais altas. A parcela de respondentes na faixa de 0-10% caiu para 51% (-4 p.p. M/M) e a de 10-25% recuou para 32% (-1 p.p. M/M). Ao mesmo tempo, a faixa de 25-50% subiu para 13% (+1 p.p. M/M) e a de 50-75% avançou para 4%, principal alteração do mês e sinal de maior exposição a ações por parte dos clientes.</a:t>
            </a:r>
          </a:p>
          <a:p>
            <a:pPr>
              <a:lnSpc>
                <a:spcPct val="108000"/>
              </a:lnSpc>
            </a:pPr>
            <a:r>
              <a:rPr lang="pt-BR" sz="900" b="1" dirty="0"/>
              <a:t>Por outro lado, a intenção de reduzir a exposição a ações aumentou.</a:t>
            </a:r>
            <a:r>
              <a:rPr lang="pt-BR" sz="900" dirty="0"/>
              <a:t> A parcela de respondentes que planeja diminuir sua alocação em ações subiu para 14% (+3 p.p. M/M), enquanto a parcela dos que pretendem manter a alocação atual inalterada caiu para 65% (-5 p.p. M/M). Já a parcela que planeja elevar a exposição a ações aumentou marginalmente para 21% (+1 p.p. M/M).</a:t>
            </a:r>
          </a:p>
          <a:p>
            <a:pPr>
              <a:lnSpc>
                <a:spcPct val="108000"/>
              </a:lnSpc>
            </a:pPr>
            <a:r>
              <a:rPr lang="pt-BR" sz="900" b="1" dirty="0"/>
              <a:t>Ao mesmo tempo, o sentimento dos assessores em relação às ações melhorou</a:t>
            </a:r>
            <a:r>
              <a:rPr lang="pt-BR" sz="900" dirty="0"/>
              <a:t>, com 59% (+2 p.p. M/M) atribuindo nota 7 ou superior, e a nota média de sentimento subindo de 6,4 em junho para 6,6 atualmente. Em relação às projeções para o Ibovespa, a estimativa média para o fim de 2026 avançou para 184 mil pontos, ante 182 mil anteriormente, o que implica cerca de 5% de potencial de alta em relação ao nível atual do índice, em torno de 175 mil pontos.</a:t>
            </a:r>
          </a:p>
          <a:p>
            <a:pPr>
              <a:lnSpc>
                <a:spcPct val="108000"/>
              </a:lnSpc>
            </a:pPr>
            <a:r>
              <a:rPr lang="pt-BR" sz="900" b="1" dirty="0"/>
              <a:t>A renda fixa continuou sendo a principal classe de ativos, </a:t>
            </a:r>
            <a:r>
              <a:rPr lang="pt-BR" sz="900" dirty="0"/>
              <a:t>apesar da forte queda de interesse, para 58% (-18 p.p. M/M). Os fundos de renda fixa recuaram para 36% (-21 p.p. M/M), enquanto o interesse em ações caiu para 25% (-8 p.p. M/M) e os fundos imobiliários, para 21% (-15 p.p. M/M). Os fundos de renda variável também recuaram, para 1% (-7 p.p. M/M).</a:t>
            </a:r>
          </a:p>
          <a:p>
            <a:pPr>
              <a:lnSpc>
                <a:spcPct val="108000"/>
              </a:lnSpc>
            </a:pPr>
            <a:r>
              <a:rPr lang="pt-BR" sz="900" b="1" dirty="0"/>
              <a:t>Riscos fiscais no Brasil são a principal preocupação. </a:t>
            </a:r>
            <a:r>
              <a:rPr lang="pt-BR" sz="900" dirty="0"/>
              <a:t>70% dos assessores os apontam como o maior risco para as ações brasileiras, enquanto 62% destacam a instabilidade política/eleições e 42% citam juros locais acima do esperado. Nas preferências setoriais, o posicionamento segue defensivo, com Elétricas &amp; Saneamento na liderança (64%, +8 p.p. M/M), seguido por Financeiro (62%, 0 p.p. M/M).</a:t>
            </a:r>
          </a:p>
          <a:p>
            <a:pPr>
              <a:lnSpc>
                <a:spcPct val="108000"/>
              </a:lnSpc>
            </a:pPr>
            <a:r>
              <a:rPr lang="pt-BR" sz="900" b="1" dirty="0"/>
              <a:t>Por fim, quando perguntados sobre a recente correção da Bolsa brasileira, </a:t>
            </a:r>
            <a:r>
              <a:rPr lang="pt-BR" sz="900" dirty="0"/>
              <a:t>a resposta mais comum entre os assessores (49%) foi que a queda representa uma oportunidade de compra, mas que os clientes ainda preferem aguardar níveis mais atrativos para aumentar a exposição à renda variável Brasil.</a:t>
            </a:r>
          </a:p>
        </p:txBody>
      </p:sp>
      <p:sp>
        <p:nvSpPr>
          <p:cNvPr id="6" name="Text Placeholder 5">
            <a:extLst>
              <a:ext uri="{FF2B5EF4-FFF2-40B4-BE49-F238E27FC236}">
                <a16:creationId xmlns:a16="http://schemas.microsoft.com/office/drawing/2014/main" id="{13F1F2AD-3F76-4B32-BC81-70BE81211194}"/>
              </a:ext>
            </a:extLst>
          </p:cNvPr>
          <p:cNvSpPr>
            <a:spLocks noGrp="1"/>
          </p:cNvSpPr>
          <p:nvPr>
            <p:ph type="body" sz="quarter" idx="27"/>
          </p:nvPr>
        </p:nvSpPr>
        <p:spPr/>
        <p:txBody>
          <a:bodyPr/>
          <a:lstStyle/>
          <a:p>
            <a:r>
              <a:rPr lang="en-US" dirty="0"/>
              <a:t>Fernando Ferreira, CFA</a:t>
            </a:r>
          </a:p>
        </p:txBody>
      </p:sp>
      <p:sp>
        <p:nvSpPr>
          <p:cNvPr id="7" name="Text Placeholder 6">
            <a:extLst>
              <a:ext uri="{FF2B5EF4-FFF2-40B4-BE49-F238E27FC236}">
                <a16:creationId xmlns:a16="http://schemas.microsoft.com/office/drawing/2014/main" id="{D4035212-B826-4143-9EEE-80B591BD289A}"/>
              </a:ext>
            </a:extLst>
          </p:cNvPr>
          <p:cNvSpPr>
            <a:spLocks noGrp="1"/>
          </p:cNvSpPr>
          <p:nvPr>
            <p:ph type="body" sz="quarter" idx="28"/>
          </p:nvPr>
        </p:nvSpPr>
        <p:spPr/>
        <p:txBody>
          <a:bodyPr/>
          <a:lstStyle/>
          <a:p>
            <a:r>
              <a:rPr lang="en-US" dirty="0" err="1"/>
              <a:t>Estrategista</a:t>
            </a:r>
            <a:r>
              <a:rPr lang="en-US" dirty="0"/>
              <a:t> </a:t>
            </a:r>
            <a:r>
              <a:rPr lang="en-US" dirty="0" err="1"/>
              <a:t>chefe</a:t>
            </a:r>
            <a:r>
              <a:rPr lang="en-US" dirty="0"/>
              <a:t> e Head do Research</a:t>
            </a:r>
          </a:p>
        </p:txBody>
      </p:sp>
      <p:sp>
        <p:nvSpPr>
          <p:cNvPr id="18" name="Text Placeholder 17">
            <a:extLst>
              <a:ext uri="{FF2B5EF4-FFF2-40B4-BE49-F238E27FC236}">
                <a16:creationId xmlns:a16="http://schemas.microsoft.com/office/drawing/2014/main" id="{228D1F14-AC03-0452-5AEC-52BFD26E12CF}"/>
              </a:ext>
            </a:extLst>
          </p:cNvPr>
          <p:cNvSpPr>
            <a:spLocks noGrp="1"/>
          </p:cNvSpPr>
          <p:nvPr>
            <p:ph type="body" sz="quarter" idx="29"/>
          </p:nvPr>
        </p:nvSpPr>
        <p:spPr/>
        <p:txBody>
          <a:bodyPr/>
          <a:lstStyle/>
          <a:p>
            <a:r>
              <a:rPr lang="pt-BR" dirty="0"/>
              <a:t>fernando.f.ferreira@xpi.com.br</a:t>
            </a:r>
          </a:p>
        </p:txBody>
      </p:sp>
      <p:sp>
        <p:nvSpPr>
          <p:cNvPr id="9" name="Text Placeholder 8">
            <a:extLst>
              <a:ext uri="{FF2B5EF4-FFF2-40B4-BE49-F238E27FC236}">
                <a16:creationId xmlns:a16="http://schemas.microsoft.com/office/drawing/2014/main" id="{F3E5D8DF-DF21-4099-A6F8-E902DEA0EA1D}"/>
              </a:ext>
            </a:extLst>
          </p:cNvPr>
          <p:cNvSpPr>
            <a:spLocks noGrp="1"/>
          </p:cNvSpPr>
          <p:nvPr>
            <p:ph type="body" sz="quarter" idx="30"/>
          </p:nvPr>
        </p:nvSpPr>
        <p:spPr/>
        <p:txBody>
          <a:bodyPr/>
          <a:lstStyle/>
          <a:p>
            <a:r>
              <a:rPr lang="pt-BR" dirty="0"/>
              <a:t>Raphael Figueredo</a:t>
            </a:r>
          </a:p>
        </p:txBody>
      </p:sp>
      <p:sp>
        <p:nvSpPr>
          <p:cNvPr id="10" name="Text Placeholder 9">
            <a:extLst>
              <a:ext uri="{FF2B5EF4-FFF2-40B4-BE49-F238E27FC236}">
                <a16:creationId xmlns:a16="http://schemas.microsoft.com/office/drawing/2014/main" id="{C1F6F8B5-F7F8-4E63-AF3F-A02303998F47}"/>
              </a:ext>
            </a:extLst>
          </p:cNvPr>
          <p:cNvSpPr>
            <a:spLocks noGrp="1"/>
          </p:cNvSpPr>
          <p:nvPr>
            <p:ph type="body" sz="quarter" idx="31"/>
          </p:nvPr>
        </p:nvSpPr>
        <p:spPr/>
        <p:txBody>
          <a:bodyPr/>
          <a:lstStyle/>
          <a:p>
            <a:r>
              <a:rPr lang="en-US" dirty="0" err="1"/>
              <a:t>Estrategista</a:t>
            </a:r>
            <a:r>
              <a:rPr lang="en-US" dirty="0"/>
              <a:t> de </a:t>
            </a:r>
            <a:r>
              <a:rPr lang="en-US" dirty="0" err="1"/>
              <a:t>Ações</a:t>
            </a:r>
            <a:endParaRPr lang="en-US" dirty="0"/>
          </a:p>
        </p:txBody>
      </p:sp>
      <p:sp>
        <p:nvSpPr>
          <p:cNvPr id="23" name="Text Placeholder 22">
            <a:extLst>
              <a:ext uri="{FF2B5EF4-FFF2-40B4-BE49-F238E27FC236}">
                <a16:creationId xmlns:a16="http://schemas.microsoft.com/office/drawing/2014/main" id="{DD878D79-8C4E-5DAB-AFBF-14DBA7B9F752}"/>
              </a:ext>
            </a:extLst>
          </p:cNvPr>
          <p:cNvSpPr>
            <a:spLocks noGrp="1"/>
          </p:cNvSpPr>
          <p:nvPr>
            <p:ph type="body" sz="quarter" idx="32"/>
          </p:nvPr>
        </p:nvSpPr>
        <p:spPr/>
        <p:txBody>
          <a:bodyPr/>
          <a:lstStyle/>
          <a:p>
            <a:r>
              <a:rPr lang="pt-BR" dirty="0"/>
              <a:t>raphael.sfigueredo@xpi.com.br</a:t>
            </a:r>
          </a:p>
        </p:txBody>
      </p:sp>
      <p:sp>
        <p:nvSpPr>
          <p:cNvPr id="15" name="Content Placeholder 14">
            <a:extLst>
              <a:ext uri="{FF2B5EF4-FFF2-40B4-BE49-F238E27FC236}">
                <a16:creationId xmlns:a16="http://schemas.microsoft.com/office/drawing/2014/main" id="{46888BF2-1587-F78D-C3FD-444E632B0A05}"/>
              </a:ext>
            </a:extLst>
          </p:cNvPr>
          <p:cNvSpPr>
            <a:spLocks noGrp="1"/>
          </p:cNvSpPr>
          <p:nvPr>
            <p:ph sz="quarter" idx="24"/>
          </p:nvPr>
        </p:nvSpPr>
        <p:spPr>
          <a:xfrm>
            <a:off x="4330593" y="6904880"/>
            <a:ext cx="2361137" cy="369332"/>
          </a:xfrm>
        </p:spPr>
        <p:txBody>
          <a:bodyPr/>
          <a:lstStyle/>
          <a:p>
            <a:r>
              <a:rPr lang="pt-BR" dirty="0"/>
              <a:t>Considerando o cenário dos próximos meses, seus clientes:</a:t>
            </a:r>
            <a:endParaRPr lang="en-US" dirty="0"/>
          </a:p>
        </p:txBody>
      </p:sp>
      <p:sp>
        <p:nvSpPr>
          <p:cNvPr id="19" name="Date Placeholder 18">
            <a:extLst>
              <a:ext uri="{FF2B5EF4-FFF2-40B4-BE49-F238E27FC236}">
                <a16:creationId xmlns:a16="http://schemas.microsoft.com/office/drawing/2014/main" id="{3AC9CEAF-FFED-4B36-90E6-D2B0CBCBB6C8}"/>
              </a:ext>
            </a:extLst>
          </p:cNvPr>
          <p:cNvSpPr>
            <a:spLocks noGrp="1"/>
          </p:cNvSpPr>
          <p:nvPr>
            <p:ph type="dt" sz="half" idx="2"/>
          </p:nvPr>
        </p:nvSpPr>
        <p:spPr/>
        <p:txBody>
          <a:bodyPr/>
          <a:lstStyle/>
          <a:p>
            <a:fld id="{7C9C2A39-E05C-4B75-A654-FF17227B908E}" type="datetime4">
              <a:rPr lang="pt-BR" smtClean="0"/>
              <a:t>27 de julho de 2026</a:t>
            </a:fld>
            <a:endParaRPr lang="en-US" dirty="0"/>
          </a:p>
        </p:txBody>
      </p:sp>
      <p:sp>
        <p:nvSpPr>
          <p:cNvPr id="20" name="Text Placeholder 19">
            <a:extLst>
              <a:ext uri="{FF2B5EF4-FFF2-40B4-BE49-F238E27FC236}">
                <a16:creationId xmlns:a16="http://schemas.microsoft.com/office/drawing/2014/main" id="{ADE170E0-5711-49FC-8E81-373CE27270E7}"/>
              </a:ext>
            </a:extLst>
          </p:cNvPr>
          <p:cNvSpPr>
            <a:spLocks noGrp="1"/>
          </p:cNvSpPr>
          <p:nvPr>
            <p:ph type="body" sz="quarter" idx="26"/>
          </p:nvPr>
        </p:nvSpPr>
        <p:spPr/>
        <p:txBody>
          <a:bodyPr/>
          <a:lstStyle/>
          <a:p>
            <a:r>
              <a:rPr lang="en-US" dirty="0"/>
              <a:t>Fonte: XP Research.</a:t>
            </a:r>
          </a:p>
        </p:txBody>
      </p:sp>
      <p:sp>
        <p:nvSpPr>
          <p:cNvPr id="21" name="Text Placeholder 20">
            <a:extLst>
              <a:ext uri="{FF2B5EF4-FFF2-40B4-BE49-F238E27FC236}">
                <a16:creationId xmlns:a16="http://schemas.microsoft.com/office/drawing/2014/main" id="{8DB79639-CADE-4875-A70E-4FD54170C81E}"/>
              </a:ext>
            </a:extLst>
          </p:cNvPr>
          <p:cNvSpPr>
            <a:spLocks noGrp="1"/>
          </p:cNvSpPr>
          <p:nvPr>
            <p:ph type="body" sz="quarter" idx="17"/>
          </p:nvPr>
        </p:nvSpPr>
        <p:spPr>
          <a:xfrm>
            <a:off x="390154" y="1406305"/>
            <a:ext cx="6418859" cy="187200"/>
          </a:xfrm>
        </p:spPr>
        <p:txBody>
          <a:bodyPr/>
          <a:lstStyle/>
          <a:p>
            <a:r>
              <a:rPr lang="pt-BR" sz="1400" dirty="0"/>
              <a:t>Alocação em ações avança, mas clientes aguardam melhor ponto de entrada</a:t>
            </a:r>
            <a:endParaRPr lang="en-US" sz="1400" dirty="0"/>
          </a:p>
        </p:txBody>
      </p:sp>
      <p:sp>
        <p:nvSpPr>
          <p:cNvPr id="22" name="Text Placeholder 21">
            <a:extLst>
              <a:ext uri="{FF2B5EF4-FFF2-40B4-BE49-F238E27FC236}">
                <a16:creationId xmlns:a16="http://schemas.microsoft.com/office/drawing/2014/main" id="{2D40444B-F81A-4785-AC04-99133178D602}"/>
              </a:ext>
            </a:extLst>
          </p:cNvPr>
          <p:cNvSpPr>
            <a:spLocks noGrp="1"/>
          </p:cNvSpPr>
          <p:nvPr>
            <p:ph type="body" sz="quarter" idx="38"/>
          </p:nvPr>
        </p:nvSpPr>
        <p:spPr>
          <a:xfrm>
            <a:off x="390154" y="1645841"/>
            <a:ext cx="6351840" cy="187302"/>
          </a:xfrm>
        </p:spPr>
        <p:txBody>
          <a:bodyPr/>
          <a:lstStyle/>
          <a:p>
            <a:r>
              <a:rPr lang="pt-BR" sz="1080" dirty="0"/>
              <a:t>Sentimento melhora e posicionamento setorial permanece defensivo</a:t>
            </a:r>
          </a:p>
        </p:txBody>
      </p:sp>
      <p:sp>
        <p:nvSpPr>
          <p:cNvPr id="28" name="Rectangle 20">
            <a:extLst>
              <a:ext uri="{FF2B5EF4-FFF2-40B4-BE49-F238E27FC236}">
                <a16:creationId xmlns:a16="http://schemas.microsoft.com/office/drawing/2014/main" id="{65CBBB69-3BA8-3725-6517-FD463B56C273}"/>
              </a:ext>
            </a:extLst>
          </p:cNvPr>
          <p:cNvSpPr/>
          <p:nvPr/>
        </p:nvSpPr>
        <p:spPr>
          <a:xfrm>
            <a:off x="4230163" y="6056022"/>
            <a:ext cx="2361137" cy="507831"/>
          </a:xfrm>
          <a:prstGeom prst="rect">
            <a:avLst/>
          </a:prstGeom>
        </p:spPr>
        <p:txBody>
          <a:bodyPr wrap="square">
            <a:spAutoFit/>
          </a:bodyPr>
          <a:lstStyle/>
          <a:p>
            <a:r>
              <a:rPr lang="en-US" sz="900" dirty="0">
                <a:latin typeface="+mj-lt"/>
              </a:rPr>
              <a:t>*</a:t>
            </a:r>
            <a:r>
              <a:rPr lang="en-US" sz="900" i="1" dirty="0">
                <a:latin typeface="+mj-lt"/>
                <a:ea typeface="Roboto Light" panose="02000000000000000000" pitchFamily="2" charset="0"/>
              </a:rPr>
              <a:t>Essa </a:t>
            </a:r>
            <a:r>
              <a:rPr lang="pt-BR" sz="900" i="1" dirty="0">
                <a:latin typeface="+mj-lt"/>
                <a:ea typeface="Roboto Light" panose="02000000000000000000" pitchFamily="2" charset="0"/>
              </a:rPr>
              <a:t>pesquisa foi realizada entre os dias 10 e 24 de julho de 2026 e obtivemos 107 respostas.</a:t>
            </a:r>
            <a:endParaRPr lang="en-US" sz="900" i="1" dirty="0">
              <a:latin typeface="+mj-lt"/>
              <a:ea typeface="Roboto Light" panose="02000000000000000000" pitchFamily="2" charset="0"/>
            </a:endParaRPr>
          </a:p>
        </p:txBody>
      </p:sp>
      <p:pic>
        <p:nvPicPr>
          <p:cNvPr id="8" name="Picture 7">
            <a:extLst>
              <a:ext uri="{FF2B5EF4-FFF2-40B4-BE49-F238E27FC236}">
                <a16:creationId xmlns:a16="http://schemas.microsoft.com/office/drawing/2014/main" id="{213C3FE6-2973-EE0E-BFD9-57B5742E5EF7}"/>
              </a:ext>
            </a:extLst>
          </p:cNvPr>
          <p:cNvPicPr>
            <a:picLocks noChangeAspect="1"/>
          </p:cNvPicPr>
          <p:nvPr/>
        </p:nvPicPr>
        <p:blipFill>
          <a:blip r:embed="rId3">
            <a:alphaModFix amt="10000"/>
            <a:extLst>
              <a:ext uri="{28A0092B-C50C-407E-A947-70E740481C1C}">
                <a14:useLocalDpi xmlns:a14="http://schemas.microsoft.com/office/drawing/2010/main" val="0"/>
              </a:ext>
            </a:extLst>
          </a:blip>
          <a:stretch>
            <a:fillRect/>
          </a:stretch>
        </p:blipFill>
        <p:spPr>
          <a:xfrm>
            <a:off x="4707330" y="7829600"/>
            <a:ext cx="1566470" cy="190243"/>
          </a:xfrm>
          <a:prstGeom prst="rect">
            <a:avLst/>
          </a:prstGeom>
        </p:spPr>
      </p:pic>
      <p:sp>
        <p:nvSpPr>
          <p:cNvPr id="11" name="Text Placeholder 8">
            <a:extLst>
              <a:ext uri="{FF2B5EF4-FFF2-40B4-BE49-F238E27FC236}">
                <a16:creationId xmlns:a16="http://schemas.microsoft.com/office/drawing/2014/main" id="{DEF4FF2F-F6C9-E2AA-CADC-48ABA139086E}"/>
              </a:ext>
            </a:extLst>
          </p:cNvPr>
          <p:cNvSpPr txBox="1">
            <a:spLocks/>
          </p:cNvSpPr>
          <p:nvPr/>
        </p:nvSpPr>
        <p:spPr>
          <a:xfrm>
            <a:off x="4343402" y="4585893"/>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kern="12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lang="en-US" sz="1800" kern="1200">
                <a:solidFill>
                  <a:schemeClr val="tx1"/>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pt-BR" dirty="0"/>
              <a:t>Caio Souza</a:t>
            </a:r>
          </a:p>
        </p:txBody>
      </p:sp>
      <p:sp>
        <p:nvSpPr>
          <p:cNvPr id="13" name="Text Placeholder 9">
            <a:extLst>
              <a:ext uri="{FF2B5EF4-FFF2-40B4-BE49-F238E27FC236}">
                <a16:creationId xmlns:a16="http://schemas.microsoft.com/office/drawing/2014/main" id="{78937170-DF0E-AB56-D279-D84AC8AF6437}"/>
              </a:ext>
            </a:extLst>
          </p:cNvPr>
          <p:cNvSpPr txBox="1">
            <a:spLocks/>
          </p:cNvSpPr>
          <p:nvPr/>
        </p:nvSpPr>
        <p:spPr>
          <a:xfrm>
            <a:off x="4343402" y="4747690"/>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kern="12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lang="en-US" sz="1800" kern="1200">
                <a:solidFill>
                  <a:schemeClr val="tx1"/>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pt-BR"/>
              <a:t>Estrategista de Ações</a:t>
            </a:r>
            <a:endParaRPr lang="pt-BR" dirty="0"/>
          </a:p>
        </p:txBody>
      </p:sp>
      <p:sp>
        <p:nvSpPr>
          <p:cNvPr id="14" name="Text Placeholder 22">
            <a:extLst>
              <a:ext uri="{FF2B5EF4-FFF2-40B4-BE49-F238E27FC236}">
                <a16:creationId xmlns:a16="http://schemas.microsoft.com/office/drawing/2014/main" id="{8CC14C8F-264D-299E-B948-097B041E6ECF}"/>
              </a:ext>
            </a:extLst>
          </p:cNvPr>
          <p:cNvSpPr txBox="1">
            <a:spLocks/>
          </p:cNvSpPr>
          <p:nvPr/>
        </p:nvSpPr>
        <p:spPr>
          <a:xfrm>
            <a:off x="4343402" y="4874562"/>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kern="12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lang="en-US" sz="1800" kern="1200">
                <a:solidFill>
                  <a:schemeClr val="tx1"/>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pt-BR" dirty="0"/>
              <a:t>caio.lsouza@xpi.com.br</a:t>
            </a:r>
          </a:p>
        </p:txBody>
      </p:sp>
      <p:sp>
        <p:nvSpPr>
          <p:cNvPr id="17" name="Text Placeholder 8">
            <a:extLst>
              <a:ext uri="{FF2B5EF4-FFF2-40B4-BE49-F238E27FC236}">
                <a16:creationId xmlns:a16="http://schemas.microsoft.com/office/drawing/2014/main" id="{B4C5F093-33B7-2CD5-CA39-F37BE5E441D0}"/>
              </a:ext>
            </a:extLst>
          </p:cNvPr>
          <p:cNvSpPr txBox="1">
            <a:spLocks/>
          </p:cNvSpPr>
          <p:nvPr/>
        </p:nvSpPr>
        <p:spPr>
          <a:xfrm>
            <a:off x="4343402" y="5054582"/>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kern="12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lang="en-US" sz="1800" kern="1200">
                <a:solidFill>
                  <a:schemeClr val="tx1"/>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pt-BR" dirty="0"/>
              <a:t>Antonio Mello</a:t>
            </a:r>
          </a:p>
        </p:txBody>
      </p:sp>
      <p:sp>
        <p:nvSpPr>
          <p:cNvPr id="24" name="Text Placeholder 9">
            <a:extLst>
              <a:ext uri="{FF2B5EF4-FFF2-40B4-BE49-F238E27FC236}">
                <a16:creationId xmlns:a16="http://schemas.microsoft.com/office/drawing/2014/main" id="{F467B34B-00DA-A9EB-E24D-FFF627B9D04B}"/>
              </a:ext>
            </a:extLst>
          </p:cNvPr>
          <p:cNvSpPr txBox="1">
            <a:spLocks/>
          </p:cNvSpPr>
          <p:nvPr/>
        </p:nvSpPr>
        <p:spPr>
          <a:xfrm>
            <a:off x="4343402" y="5216379"/>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kern="12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lang="en-US" sz="1800" kern="1200">
                <a:solidFill>
                  <a:schemeClr val="tx1"/>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pt-BR" dirty="0"/>
              <a:t>Estrategista Quantitativo</a:t>
            </a:r>
          </a:p>
        </p:txBody>
      </p:sp>
      <p:sp>
        <p:nvSpPr>
          <p:cNvPr id="25" name="Text Placeholder 22">
            <a:extLst>
              <a:ext uri="{FF2B5EF4-FFF2-40B4-BE49-F238E27FC236}">
                <a16:creationId xmlns:a16="http://schemas.microsoft.com/office/drawing/2014/main" id="{AA800186-87A4-C0D0-9529-A7A37FC13F24}"/>
              </a:ext>
            </a:extLst>
          </p:cNvPr>
          <p:cNvSpPr txBox="1">
            <a:spLocks/>
          </p:cNvSpPr>
          <p:nvPr/>
        </p:nvSpPr>
        <p:spPr>
          <a:xfrm>
            <a:off x="4343402" y="5343251"/>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kern="12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lang="en-US" sz="1800" kern="1200">
                <a:solidFill>
                  <a:schemeClr val="tx1"/>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pt-BR" dirty="0"/>
              <a:t>antonio.mello@xpi.com.br</a:t>
            </a:r>
          </a:p>
        </p:txBody>
      </p:sp>
      <p:graphicFrame>
        <p:nvGraphicFramePr>
          <p:cNvPr id="12" name="Content Placeholder 13">
            <a:extLst>
              <a:ext uri="{FF2B5EF4-FFF2-40B4-BE49-F238E27FC236}">
                <a16:creationId xmlns:a16="http://schemas.microsoft.com/office/drawing/2014/main" id="{8C0E5D69-95C2-4865-BCDB-3103FA928588}"/>
              </a:ext>
            </a:extLst>
          </p:cNvPr>
          <p:cNvGraphicFramePr>
            <a:graphicFrameLocks noGrp="1"/>
          </p:cNvGraphicFramePr>
          <p:nvPr>
            <p:extLst>
              <p:ext uri="{D42A27DB-BD31-4B8C-83A1-F6EECF244321}">
                <p14:modId xmlns:p14="http://schemas.microsoft.com/office/powerpoint/2010/main" val="1226643322"/>
              </p:ext>
            </p:extLst>
          </p:nvPr>
        </p:nvGraphicFramePr>
        <p:xfrm>
          <a:off x="4330593" y="7314265"/>
          <a:ext cx="2359027" cy="2070888"/>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558407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Espaço Reservado para Texto 18">
            <a:extLst>
              <a:ext uri="{FF2B5EF4-FFF2-40B4-BE49-F238E27FC236}">
                <a16:creationId xmlns:a16="http://schemas.microsoft.com/office/drawing/2014/main" id="{4E28F4F1-5BB7-2AE2-02F9-E7AA93BFBEF1}"/>
              </a:ext>
            </a:extLst>
          </p:cNvPr>
          <p:cNvSpPr>
            <a:spLocks noGrp="1"/>
          </p:cNvSpPr>
          <p:nvPr>
            <p:ph type="body" sz="quarter" idx="17"/>
          </p:nvPr>
        </p:nvSpPr>
        <p:spPr/>
        <p:txBody>
          <a:bodyPr/>
          <a:lstStyle/>
          <a:p>
            <a:r>
              <a:rPr lang="pt-BR" dirty="0"/>
              <a:t>Pesquisa com assessores XP</a:t>
            </a:r>
          </a:p>
        </p:txBody>
      </p:sp>
      <p:sp>
        <p:nvSpPr>
          <p:cNvPr id="21" name="Espaço Reservado para Texto 20">
            <a:extLst>
              <a:ext uri="{FF2B5EF4-FFF2-40B4-BE49-F238E27FC236}">
                <a16:creationId xmlns:a16="http://schemas.microsoft.com/office/drawing/2014/main" id="{4B329F29-F475-C3F4-1626-DFC8FC2CD937}"/>
              </a:ext>
            </a:extLst>
          </p:cNvPr>
          <p:cNvSpPr>
            <a:spLocks noGrp="1"/>
          </p:cNvSpPr>
          <p:nvPr>
            <p:ph type="body" sz="quarter" idx="18"/>
          </p:nvPr>
        </p:nvSpPr>
        <p:spPr>
          <a:xfrm>
            <a:off x="375636" y="1654469"/>
            <a:ext cx="4443499" cy="474229"/>
          </a:xfrm>
        </p:spPr>
        <p:txBody>
          <a:bodyPr/>
          <a:lstStyle/>
          <a:p>
            <a:r>
              <a:rPr lang="pt-BR" u="sng" dirty="0">
                <a:solidFill>
                  <a:schemeClr val="tx1"/>
                </a:solidFill>
                <a:hlinkClick r:id="rId2" action="ppaction://hlinksldjump">
                  <a:extLst>
                    <a:ext uri="{A12FA001-AC4F-418D-AE19-62706E023703}">
                      <ahyp:hlinkClr xmlns:ahyp="http://schemas.microsoft.com/office/drawing/2018/hyperlinkcolor" val="tx"/>
                    </a:ext>
                  </a:extLst>
                </a:hlinkClick>
              </a:rPr>
              <a:t>3. Intenção de reduzir alocação em ações aumenta</a:t>
            </a:r>
            <a:endParaRPr lang="en-US" dirty="0">
              <a:solidFill>
                <a:schemeClr val="tx1"/>
              </a:solidFill>
            </a:endParaRPr>
          </a:p>
          <a:p>
            <a:endParaRPr lang="pt-BR" u="sng" dirty="0">
              <a:solidFill>
                <a:schemeClr val="tx1"/>
              </a:solidFill>
            </a:endParaRPr>
          </a:p>
        </p:txBody>
      </p:sp>
      <p:sp>
        <p:nvSpPr>
          <p:cNvPr id="4" name="Espaço Reservado para Texto 28">
            <a:extLst>
              <a:ext uri="{FF2B5EF4-FFF2-40B4-BE49-F238E27FC236}">
                <a16:creationId xmlns:a16="http://schemas.microsoft.com/office/drawing/2014/main" id="{175475F5-02EA-6D7F-2781-55B086A3430D}"/>
              </a:ext>
            </a:extLst>
          </p:cNvPr>
          <p:cNvSpPr txBox="1">
            <a:spLocks/>
          </p:cNvSpPr>
          <p:nvPr/>
        </p:nvSpPr>
        <p:spPr>
          <a:xfrm>
            <a:off x="375636" y="3396021"/>
            <a:ext cx="4501164" cy="535531"/>
          </a:xfrm>
          <a:prstGeom prst="rect">
            <a:avLst/>
          </a:prstGeom>
        </p:spPr>
        <p:txBody>
          <a:bodyPr vert="horz" wrap="square" lIns="0" tIns="45720" rIns="91440" bIns="45720" rtlCol="0" anchor="t">
            <a:spAutoFit/>
          </a:bodyPr>
          <a:lstStyle>
            <a:lvl1pPr marL="0" indent="0" algn="l" defTabSz="385767" rtl="0" eaLnBrk="1" latinLnBrk="0" hangingPunct="1">
              <a:lnSpc>
                <a:spcPct val="90000"/>
              </a:lnSpc>
              <a:spcBef>
                <a:spcPts val="422"/>
              </a:spcBef>
              <a:buFont typeface="Arial" panose="020B0604020202020204" pitchFamily="34" charset="0"/>
              <a:buNone/>
              <a:defRPr lang="pt-BR" sz="1600" b="0" kern="120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pt-BR" dirty="0">
                <a:solidFill>
                  <a:schemeClr val="tx1"/>
                </a:solidFill>
                <a:hlinkClick r:id="rId3" action="ppaction://hlinksldjump">
                  <a:extLst>
                    <a:ext uri="{A12FA001-AC4F-418D-AE19-62706E023703}">
                      <ahyp:hlinkClr xmlns:ahyp="http://schemas.microsoft.com/office/drawing/2018/hyperlinkcolor" val="tx"/>
                    </a:ext>
                  </a:extLst>
                </a:hlinkClick>
              </a:rPr>
              <a:t>6. Riscos fiscais seguem como principal preocupação dos assessores</a:t>
            </a:r>
            <a:endParaRPr lang="pt-BR" dirty="0">
              <a:solidFill>
                <a:schemeClr val="tx1"/>
              </a:solidFill>
            </a:endParaRPr>
          </a:p>
        </p:txBody>
      </p:sp>
      <p:sp>
        <p:nvSpPr>
          <p:cNvPr id="6" name="Text Placeholder 5">
            <a:extLst>
              <a:ext uri="{FF2B5EF4-FFF2-40B4-BE49-F238E27FC236}">
                <a16:creationId xmlns:a16="http://schemas.microsoft.com/office/drawing/2014/main" id="{1C800590-73C4-4F41-1BF5-58AFEF78F0A3}"/>
              </a:ext>
            </a:extLst>
          </p:cNvPr>
          <p:cNvSpPr>
            <a:spLocks noGrp="1"/>
          </p:cNvSpPr>
          <p:nvPr>
            <p:ph type="body" sz="quarter" idx="20"/>
          </p:nvPr>
        </p:nvSpPr>
        <p:spPr>
          <a:xfrm>
            <a:off x="375636" y="2785213"/>
            <a:ext cx="4443984" cy="535531"/>
          </a:xfrm>
        </p:spPr>
        <p:txBody>
          <a:bodyPr/>
          <a:lstStyle/>
          <a:p>
            <a:r>
              <a:rPr lang="pt-BR" u="sng" dirty="0">
                <a:solidFill>
                  <a:schemeClr val="tx1"/>
                </a:solidFill>
                <a:hlinkClick r:id="rId4" action="ppaction://hlinksldjump">
                  <a:extLst>
                    <a:ext uri="{A12FA001-AC4F-418D-AE19-62706E023703}">
                      <ahyp:hlinkClr xmlns:ahyp="http://schemas.microsoft.com/office/drawing/2018/hyperlinkcolor" val="tx"/>
                    </a:ext>
                  </a:extLst>
                </a:hlinkClick>
              </a:rPr>
              <a:t>5. Renda fixa segue como classe de preferência, apesar de forte queda de interesse</a:t>
            </a:r>
            <a:endParaRPr lang="pt-BR" u="sng" dirty="0">
              <a:solidFill>
                <a:schemeClr val="tx1"/>
              </a:solidFill>
            </a:endParaRPr>
          </a:p>
        </p:txBody>
      </p:sp>
      <p:sp>
        <p:nvSpPr>
          <p:cNvPr id="2" name="Espaço Reservado para Texto 20">
            <a:hlinkClick r:id="rId5" action="ppaction://hlinksldjump"/>
            <a:extLst>
              <a:ext uri="{FF2B5EF4-FFF2-40B4-BE49-F238E27FC236}">
                <a16:creationId xmlns:a16="http://schemas.microsoft.com/office/drawing/2014/main" id="{FB2FC715-D936-B2F4-78BC-00F593C778B8}"/>
              </a:ext>
            </a:extLst>
          </p:cNvPr>
          <p:cNvSpPr txBox="1">
            <a:spLocks/>
          </p:cNvSpPr>
          <p:nvPr/>
        </p:nvSpPr>
        <p:spPr>
          <a:xfrm>
            <a:off x="375636" y="2128698"/>
            <a:ext cx="4443499" cy="535531"/>
          </a:xfrm>
          <a:prstGeom prst="rect">
            <a:avLst/>
          </a:prstGeom>
        </p:spPr>
        <p:txBody>
          <a:bodyPr vert="horz" wrap="square" lIns="0" tIns="45720" rIns="91440" bIns="45720" rtlCol="0" anchor="t">
            <a:spAutoFit/>
          </a:bodyPr>
          <a:lstStyle>
            <a:lvl1pPr marL="0" indent="0" algn="l" defTabSz="385767" rtl="0" eaLnBrk="1" latinLnBrk="0" hangingPunct="1">
              <a:lnSpc>
                <a:spcPct val="90000"/>
              </a:lnSpc>
              <a:spcBef>
                <a:spcPts val="422"/>
              </a:spcBef>
              <a:buFont typeface="Arial" panose="020B0604020202020204" pitchFamily="34" charset="0"/>
              <a:buNone/>
              <a:defRPr lang="pt-BR" sz="1600" b="0" kern="120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pt-BR" u="sng" dirty="0">
                <a:solidFill>
                  <a:schemeClr val="tx1"/>
                </a:solidFill>
                <a:hlinkClick r:id="rId5" action="ppaction://hlinksldjump">
                  <a:extLst>
                    <a:ext uri="{A12FA001-AC4F-418D-AE19-62706E023703}">
                      <ahyp:hlinkClr xmlns:ahyp="http://schemas.microsoft.com/office/drawing/2018/hyperlinkcolor" val="tx"/>
                    </a:ext>
                  </a:extLst>
                </a:hlinkClick>
              </a:rPr>
              <a:t>4. O sentimento dos assessores melhorou marginalmente</a:t>
            </a:r>
            <a:endParaRPr lang="pt-BR" u="sng" dirty="0">
              <a:solidFill>
                <a:schemeClr val="tx1"/>
              </a:solidFill>
            </a:endParaRPr>
          </a:p>
        </p:txBody>
      </p:sp>
      <p:sp>
        <p:nvSpPr>
          <p:cNvPr id="5" name="CaixaDeTexto 4">
            <a:extLst>
              <a:ext uri="{FF2B5EF4-FFF2-40B4-BE49-F238E27FC236}">
                <a16:creationId xmlns:a16="http://schemas.microsoft.com/office/drawing/2014/main" id="{D0C3727F-E2C8-3169-6C8B-649B37331122}"/>
              </a:ext>
            </a:extLst>
          </p:cNvPr>
          <p:cNvSpPr txBox="1"/>
          <p:nvPr/>
        </p:nvSpPr>
        <p:spPr>
          <a:xfrm>
            <a:off x="375636" y="4034060"/>
            <a:ext cx="4443984" cy="808426"/>
          </a:xfrm>
          <a:prstGeom prst="rect">
            <a:avLst/>
          </a:prstGeom>
        </p:spPr>
        <p:txBody>
          <a:bodyPr vert="horz" wrap="square" lIns="0" tIns="45720" rIns="91440" bIns="45720" rtlCol="0" anchor="t">
            <a:spAutoFit/>
          </a:bodyPr>
          <a:lstStyle>
            <a:defPPr>
              <a:defRPr lang="pt-BR"/>
            </a:defPPr>
            <a:lvl1pPr indent="0" defTabSz="385767">
              <a:lnSpc>
                <a:spcPct val="90000"/>
              </a:lnSpc>
              <a:spcBef>
                <a:spcPts val="422"/>
              </a:spcBef>
              <a:buFont typeface="Arial" panose="020B0604020202020204" pitchFamily="34" charset="0"/>
              <a:buNone/>
              <a:defRPr sz="1600" b="0">
                <a:latin typeface="Roboto Light" panose="02000000000000000000" pitchFamily="2" charset="0"/>
                <a:ea typeface="Roboto Light" panose="02000000000000000000" pitchFamily="2" charset="0"/>
                <a:cs typeface="Roboto Light" panose="02000000000000000000" pitchFamily="2" charset="0"/>
              </a:defRPr>
            </a:lvl1pPr>
            <a:lvl2pPr marL="227710" indent="-77020" defTabSz="385767">
              <a:lnSpc>
                <a:spcPct val="90000"/>
              </a:lnSpc>
              <a:spcBef>
                <a:spcPts val="211"/>
              </a:spcBef>
              <a:buFont typeface="Arial" panose="020B0604020202020204" pitchFamily="34" charset="0"/>
              <a:buChar char="•"/>
              <a:defRPr sz="591">
                <a:solidFill>
                  <a:schemeClr val="tx2"/>
                </a:solidFill>
              </a:defRPr>
            </a:lvl2pPr>
            <a:lvl3pPr marL="379070" indent="-77689" defTabSz="385767">
              <a:lnSpc>
                <a:spcPct val="90000"/>
              </a:lnSpc>
              <a:spcBef>
                <a:spcPts val="211"/>
              </a:spcBef>
              <a:buFont typeface="Arial" panose="020B0604020202020204" pitchFamily="34" charset="0"/>
              <a:buChar char="•"/>
              <a:defRPr sz="506">
                <a:solidFill>
                  <a:schemeClr val="tx2"/>
                </a:solidFill>
              </a:defRPr>
            </a:lvl3pPr>
            <a:lvl4pPr marL="529761" indent="-77689" defTabSz="385767">
              <a:lnSpc>
                <a:spcPct val="90000"/>
              </a:lnSpc>
              <a:spcBef>
                <a:spcPts val="211"/>
              </a:spcBef>
              <a:buFont typeface="Arial" panose="020B0604020202020204" pitchFamily="34" charset="0"/>
              <a:buChar char="•"/>
              <a:defRPr sz="464">
                <a:solidFill>
                  <a:schemeClr val="tx2"/>
                </a:solidFill>
              </a:defRPr>
            </a:lvl4pPr>
            <a:lvl5pPr marL="680451" indent="-73671" defTabSz="385767">
              <a:lnSpc>
                <a:spcPct val="90000"/>
              </a:lnSpc>
              <a:spcBef>
                <a:spcPts val="211"/>
              </a:spcBef>
              <a:buFont typeface="Arial" panose="020B0604020202020204" pitchFamily="34" charset="0"/>
              <a:buChar char="•"/>
              <a:defRPr sz="464">
                <a:solidFill>
                  <a:schemeClr val="tx2"/>
                </a:solidFill>
              </a:defRPr>
            </a:lvl5pPr>
            <a:lvl6pPr marL="1060860" indent="-96442" defTabSz="385767">
              <a:lnSpc>
                <a:spcPct val="90000"/>
              </a:lnSpc>
              <a:spcBef>
                <a:spcPts val="211"/>
              </a:spcBef>
              <a:buFont typeface="Arial" panose="020B0604020202020204" pitchFamily="34" charset="0"/>
              <a:buChar char="•"/>
              <a:defRPr sz="760"/>
            </a:lvl6pPr>
            <a:lvl7pPr marL="1253744" indent="-96442" defTabSz="385767">
              <a:lnSpc>
                <a:spcPct val="90000"/>
              </a:lnSpc>
              <a:spcBef>
                <a:spcPts val="211"/>
              </a:spcBef>
              <a:buFont typeface="Arial" panose="020B0604020202020204" pitchFamily="34" charset="0"/>
              <a:buChar char="•"/>
              <a:defRPr sz="760"/>
            </a:lvl7pPr>
            <a:lvl8pPr marL="1446628" indent="-96442" defTabSz="385767">
              <a:lnSpc>
                <a:spcPct val="90000"/>
              </a:lnSpc>
              <a:spcBef>
                <a:spcPts val="211"/>
              </a:spcBef>
              <a:buFont typeface="Arial" panose="020B0604020202020204" pitchFamily="34" charset="0"/>
              <a:buChar char="•"/>
              <a:defRPr sz="760"/>
            </a:lvl8pPr>
            <a:lvl9pPr marL="1639511" indent="-96442" defTabSz="385767">
              <a:lnSpc>
                <a:spcPct val="90000"/>
              </a:lnSpc>
              <a:spcBef>
                <a:spcPts val="211"/>
              </a:spcBef>
              <a:buFont typeface="Arial" panose="020B0604020202020204" pitchFamily="34" charset="0"/>
              <a:buChar char="•"/>
              <a:defRPr sz="760"/>
            </a:lvl9pPr>
          </a:lstStyle>
          <a:p>
            <a:r>
              <a:rPr lang="en-US" dirty="0">
                <a:hlinkClick r:id="rId6" action="ppaction://hlinksldjump">
                  <a:extLst>
                    <a:ext uri="{A12FA001-AC4F-418D-AE19-62706E023703}">
                      <ahyp:hlinkClr xmlns:ahyp="http://schemas.microsoft.com/office/drawing/2018/hyperlinkcolor" val="tx"/>
                    </a:ext>
                  </a:extLst>
                </a:hlinkClick>
              </a:rPr>
              <a:t>7. Maioria dos clientes ainda aguarda por um melhor ponto de entrada para aumentar exposição em RV Brasil</a:t>
            </a:r>
            <a:endParaRPr lang="pt-BR" dirty="0"/>
          </a:p>
          <a:p>
            <a:endParaRPr lang="pt-BR" dirty="0"/>
          </a:p>
        </p:txBody>
      </p:sp>
    </p:spTree>
    <p:extLst>
      <p:ext uri="{BB962C8B-B14F-4D97-AF65-F5344CB8AC3E}">
        <p14:creationId xmlns:p14="http://schemas.microsoft.com/office/powerpoint/2010/main" val="6100179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a:extLst>
              <a:ext uri="{FF2B5EF4-FFF2-40B4-BE49-F238E27FC236}">
                <a16:creationId xmlns:a16="http://schemas.microsoft.com/office/drawing/2014/main" id="{5750496A-0797-1CC1-9B46-E53D90AFD266}"/>
              </a:ext>
            </a:extLst>
          </p:cNvPr>
          <p:cNvGraphicFramePr>
            <a:graphicFrameLocks noChangeAspect="1"/>
          </p:cNvGraphicFramePr>
          <p:nvPr>
            <p:extLst>
              <p:ext uri="{D42A27DB-BD31-4B8C-83A1-F6EECF244321}">
                <p14:modId xmlns:p14="http://schemas.microsoft.com/office/powerpoint/2010/main" val="4116049210"/>
              </p:ext>
            </p:extLst>
          </p:nvPr>
        </p:nvGraphicFramePr>
        <p:xfrm>
          <a:off x="3552825" y="6791325"/>
          <a:ext cx="2935288" cy="2700338"/>
        </p:xfrm>
        <a:graphic>
          <a:graphicData uri="http://schemas.openxmlformats.org/presentationml/2006/ole">
            <mc:AlternateContent xmlns:mc="http://schemas.openxmlformats.org/markup-compatibility/2006">
              <mc:Choice xmlns:v="urn:schemas-microsoft-com:vml" Requires="v">
                <p:oleObj name="Worksheet" r:id="rId3" imgW="3329692" imgH="2560084" progId="Excel.Sheet.12">
                  <p:link updateAutomatic="1"/>
                </p:oleObj>
              </mc:Choice>
              <mc:Fallback>
                <p:oleObj name="Worksheet" r:id="rId3" imgW="3329692" imgH="2560084" progId="Excel.Sheet.12">
                  <p:link updateAutomatic="1"/>
                  <p:pic>
                    <p:nvPicPr>
                      <p:cNvPr id="3" name="Object 2">
                        <a:extLst>
                          <a:ext uri="{FF2B5EF4-FFF2-40B4-BE49-F238E27FC236}">
                            <a16:creationId xmlns:a16="http://schemas.microsoft.com/office/drawing/2014/main" id="{5750496A-0797-1CC1-9B46-E53D90AFD266}"/>
                          </a:ext>
                        </a:extLst>
                      </p:cNvPr>
                      <p:cNvPicPr/>
                      <p:nvPr/>
                    </p:nvPicPr>
                    <p:blipFill>
                      <a:blip r:embed="rId4"/>
                      <a:stretch>
                        <a:fillRect/>
                      </a:stretch>
                    </p:blipFill>
                    <p:spPr>
                      <a:xfrm>
                        <a:off x="3552825" y="6791325"/>
                        <a:ext cx="2935288" cy="2700338"/>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146A30CE-3623-4AAA-930B-F5E31F58EA43}"/>
              </a:ext>
            </a:extLst>
          </p:cNvPr>
          <p:cNvSpPr>
            <a:spLocks noGrp="1"/>
          </p:cNvSpPr>
          <p:nvPr>
            <p:ph type="body" sz="quarter" idx="20"/>
          </p:nvPr>
        </p:nvSpPr>
        <p:spPr>
          <a:xfrm>
            <a:off x="391538" y="1497011"/>
            <a:ext cx="2923563" cy="7956551"/>
          </a:xfrm>
          <a:noFill/>
        </p:spPr>
        <p:txBody>
          <a:bodyPr/>
          <a:lstStyle/>
          <a:p>
            <a:pPr>
              <a:lnSpc>
                <a:spcPct val="118000"/>
              </a:lnSpc>
            </a:pPr>
            <a:r>
              <a:rPr lang="pt-BR" dirty="0"/>
              <a:t>Em termos de respondentes, a participação da região Sudeste na pesquisa caiu 13 </a:t>
            </a:r>
            <a:r>
              <a:rPr lang="pt-BR" dirty="0" err="1"/>
              <a:t>p.p</a:t>
            </a:r>
            <a:r>
              <a:rPr lang="pt-BR" dirty="0"/>
              <a:t>., passando a representar 57% das respostas na edição de julho. Em seguida vieram o Sul (14%, +0 </a:t>
            </a:r>
            <a:r>
              <a:rPr lang="pt-BR" dirty="0" err="1"/>
              <a:t>p.p</a:t>
            </a:r>
            <a:r>
              <a:rPr lang="pt-BR" dirty="0"/>
              <a:t>. M/M), o Nordeste (13%, -2 </a:t>
            </a:r>
            <a:r>
              <a:rPr lang="pt-BR" dirty="0" err="1"/>
              <a:t>p.p</a:t>
            </a:r>
            <a:r>
              <a:rPr lang="pt-BR" dirty="0"/>
              <a:t>. M/M), o Centro-Oeste (3%, +1 </a:t>
            </a:r>
            <a:r>
              <a:rPr lang="pt-BR" dirty="0" err="1"/>
              <a:t>p.p</a:t>
            </a:r>
            <a:r>
              <a:rPr lang="pt-BR" dirty="0"/>
              <a:t>. M/M) e o Norte (0%, 0 </a:t>
            </a:r>
            <a:r>
              <a:rPr lang="pt-BR" dirty="0" err="1"/>
              <a:t>p.p</a:t>
            </a:r>
            <a:r>
              <a:rPr lang="pt-BR" dirty="0"/>
              <a:t>. M/M).</a:t>
            </a:r>
          </a:p>
          <a:p>
            <a:pPr>
              <a:lnSpc>
                <a:spcPct val="118000"/>
              </a:lnSpc>
            </a:pPr>
            <a:r>
              <a:rPr lang="pt-BR" b="1" dirty="0"/>
              <a:t>A alocação em ações aumentou.</a:t>
            </a:r>
            <a:r>
              <a:rPr lang="pt-BR" dirty="0"/>
              <a:t> Em julho, observamos uma migração de faixas mais baixas para faixas mais altas de alocação. A parcela de respondentes com alocação em ações na faixa de 0-10% caiu para 51% (-4 </a:t>
            </a:r>
            <a:r>
              <a:rPr lang="pt-BR" dirty="0" err="1"/>
              <a:t>p.p</a:t>
            </a:r>
            <a:r>
              <a:rPr lang="pt-BR" dirty="0"/>
              <a:t>. M/M), enquanto a parcela na faixa de 10-25% também caiu para 32% (-1 </a:t>
            </a:r>
            <a:r>
              <a:rPr lang="pt-BR" dirty="0" err="1"/>
              <a:t>p.p</a:t>
            </a:r>
            <a:r>
              <a:rPr lang="pt-BR" dirty="0"/>
              <a:t>. M/M). Ao mesmo tempo, a faixa de alocação de 25-50% subiu marginalmente para 13% (+1 </a:t>
            </a:r>
            <a:r>
              <a:rPr lang="pt-BR" dirty="0" err="1"/>
              <a:t>p.p</a:t>
            </a:r>
            <a:r>
              <a:rPr lang="pt-BR" dirty="0"/>
              <a:t>. M/M). A principal alteração foi na faixa de 50 a 75%, que aumentou para 4%, indicando uma elevação na exposição em ações por parte dos clientes clientes.</a:t>
            </a:r>
          </a:p>
          <a:p>
            <a:pPr>
              <a:lnSpc>
                <a:spcPct val="118000"/>
              </a:lnSpc>
            </a:pPr>
            <a:r>
              <a:rPr lang="pt-BR" b="1" dirty="0"/>
              <a:t>Por outro lado, a intenção de reduzir a exposição a ações aumentou.</a:t>
            </a:r>
            <a:r>
              <a:rPr lang="pt-BR" dirty="0"/>
              <a:t> A parcela de respondentes que planeja diminuir sua alocação em ações aumentou para 14% (+3 </a:t>
            </a:r>
            <a:r>
              <a:rPr lang="pt-BR" dirty="0" err="1"/>
              <a:t>p.p</a:t>
            </a:r>
            <a:r>
              <a:rPr lang="pt-BR" dirty="0"/>
              <a:t>. M/M), enquanto a parcela dos que pretendem manter a alocação atual inalterada caiu para 65% (-5 </a:t>
            </a:r>
            <a:r>
              <a:rPr lang="pt-BR" dirty="0" err="1"/>
              <a:t>p.p</a:t>
            </a:r>
            <a:r>
              <a:rPr lang="pt-BR" dirty="0"/>
              <a:t>. M/M). Já a parcela que planeja elevar a exposição a ações aumentou marginalmente para 21% (+1 </a:t>
            </a:r>
            <a:r>
              <a:rPr lang="pt-BR" dirty="0" err="1"/>
              <a:t>p.p</a:t>
            </a:r>
            <a:r>
              <a:rPr lang="pt-BR" dirty="0"/>
              <a:t>. M/M).</a:t>
            </a:r>
          </a:p>
          <a:p>
            <a:pPr>
              <a:lnSpc>
                <a:spcPct val="118000"/>
              </a:lnSpc>
            </a:pPr>
            <a:r>
              <a:rPr lang="pt-BR" b="1" dirty="0"/>
              <a:t>Após uma forte correção desde abril, a Bolsa brasileira começa a dar sinais de melhora. </a:t>
            </a:r>
            <a:r>
              <a:rPr lang="pt-BR" dirty="0"/>
              <a:t>Com o enfraquecimento recente do </a:t>
            </a:r>
            <a:r>
              <a:rPr lang="pt-BR" i="1" dirty="0"/>
              <a:t>trade</a:t>
            </a:r>
            <a:r>
              <a:rPr lang="pt-BR" dirty="0"/>
              <a:t> de inteligência artificial, especialmente em empresas ligadas aos segmentos de memória e semicondutores, observamos um modesto retorno dos fluxos estrangeiros para o mercado local. Em julho, os investidores estrangeiros acumulam entradas líquidas de R$ 4,6 bilhões até o momento, o que contribuiu para que as ações brasileiras voltassem a apresentar desempenho superior aos mercados globais durante o mês </a:t>
            </a:r>
            <a:r>
              <a:rPr lang="pt-BR" dirty="0" err="1"/>
              <a:t>mês</a:t>
            </a:r>
            <a:r>
              <a:rPr lang="pt-BR" dirty="0"/>
              <a:t>. Como resultado, o Ibovespa avança X,X% em reais e X,X% em dólares em julho,.</a:t>
            </a:r>
          </a:p>
        </p:txBody>
      </p:sp>
      <p:sp>
        <p:nvSpPr>
          <p:cNvPr id="4" name="Content Placeholder 3">
            <a:extLst>
              <a:ext uri="{FF2B5EF4-FFF2-40B4-BE49-F238E27FC236}">
                <a16:creationId xmlns:a16="http://schemas.microsoft.com/office/drawing/2014/main" id="{88D4048D-1565-4EFE-AE0B-868E8EE6F16A}"/>
              </a:ext>
            </a:extLst>
          </p:cNvPr>
          <p:cNvSpPr>
            <a:spLocks noGrp="1"/>
          </p:cNvSpPr>
          <p:nvPr>
            <p:ph sz="quarter" idx="28"/>
          </p:nvPr>
        </p:nvSpPr>
        <p:spPr>
          <a:xfrm>
            <a:off x="3552750" y="1558569"/>
            <a:ext cx="2949758" cy="230832"/>
          </a:xfrm>
        </p:spPr>
        <p:txBody>
          <a:bodyPr/>
          <a:lstStyle/>
          <a:p>
            <a:r>
              <a:rPr lang="pt-BR" dirty="0"/>
              <a:t>Gráfico</a:t>
            </a:r>
            <a:r>
              <a:rPr lang="en-US" dirty="0"/>
              <a:t> 1: </a:t>
            </a:r>
            <a:r>
              <a:rPr lang="pt-BR" dirty="0"/>
              <a:t>De qual região do Brasil é seu escritório?</a:t>
            </a:r>
            <a:endParaRPr lang="en-US" dirty="0"/>
          </a:p>
        </p:txBody>
      </p:sp>
      <p:sp>
        <p:nvSpPr>
          <p:cNvPr id="11" name="Text Placeholder 10">
            <a:extLst>
              <a:ext uri="{FF2B5EF4-FFF2-40B4-BE49-F238E27FC236}">
                <a16:creationId xmlns:a16="http://schemas.microsoft.com/office/drawing/2014/main" id="{6C5E73EF-785D-4689-9DD8-479796A9CF61}"/>
              </a:ext>
            </a:extLst>
          </p:cNvPr>
          <p:cNvSpPr>
            <a:spLocks noGrp="1"/>
          </p:cNvSpPr>
          <p:nvPr>
            <p:ph type="body" sz="quarter" idx="16"/>
          </p:nvPr>
        </p:nvSpPr>
        <p:spPr/>
        <p:txBody>
          <a:bodyPr/>
          <a:lstStyle/>
          <a:p>
            <a:r>
              <a:rPr lang="pt-BR" dirty="0"/>
              <a:t>Pesquisa de assessores XP</a:t>
            </a:r>
            <a:endParaRPr lang="en-US" dirty="0"/>
          </a:p>
        </p:txBody>
      </p:sp>
      <p:sp>
        <p:nvSpPr>
          <p:cNvPr id="13" name="Text Placeholder 12">
            <a:extLst>
              <a:ext uri="{FF2B5EF4-FFF2-40B4-BE49-F238E27FC236}">
                <a16:creationId xmlns:a16="http://schemas.microsoft.com/office/drawing/2014/main" id="{6F3225EA-C0D6-4DBA-9735-DD0741DE45D5}"/>
              </a:ext>
            </a:extLst>
          </p:cNvPr>
          <p:cNvSpPr>
            <a:spLocks noGrp="1"/>
          </p:cNvSpPr>
          <p:nvPr>
            <p:ph type="body" sz="quarter" idx="29"/>
          </p:nvPr>
        </p:nvSpPr>
        <p:spPr/>
        <p:txBody>
          <a:bodyPr/>
          <a:lstStyle/>
          <a:p>
            <a:r>
              <a:rPr lang="en-US" dirty="0"/>
              <a:t>Fonte: XP Research.</a:t>
            </a:r>
          </a:p>
        </p:txBody>
      </p:sp>
      <p:sp>
        <p:nvSpPr>
          <p:cNvPr id="14" name="Date Placeholder 13">
            <a:extLst>
              <a:ext uri="{FF2B5EF4-FFF2-40B4-BE49-F238E27FC236}">
                <a16:creationId xmlns:a16="http://schemas.microsoft.com/office/drawing/2014/main" id="{7030428E-18DA-488A-8954-33B709E1FECD}"/>
              </a:ext>
            </a:extLst>
          </p:cNvPr>
          <p:cNvSpPr>
            <a:spLocks noGrp="1"/>
          </p:cNvSpPr>
          <p:nvPr>
            <p:ph type="dt" sz="half" idx="2"/>
          </p:nvPr>
        </p:nvSpPr>
        <p:spPr/>
        <p:txBody>
          <a:bodyPr/>
          <a:lstStyle/>
          <a:p>
            <a:fld id="{0834ECF4-E3A7-4EE5-B75E-4A8E0D61D7AD}" type="datetime4">
              <a:rPr lang="pt-BR" smtClean="0"/>
              <a:pPr/>
              <a:t>27 de julho de 2026</a:t>
            </a:fld>
            <a:endParaRPr lang="en-US" dirty="0"/>
          </a:p>
        </p:txBody>
      </p:sp>
      <p:graphicFrame>
        <p:nvGraphicFramePr>
          <p:cNvPr id="8" name="Object 7">
            <a:extLst>
              <a:ext uri="{FF2B5EF4-FFF2-40B4-BE49-F238E27FC236}">
                <a16:creationId xmlns:a16="http://schemas.microsoft.com/office/drawing/2014/main" id="{BE569474-CA92-DE11-8E71-061DF7306882}"/>
              </a:ext>
            </a:extLst>
          </p:cNvPr>
          <p:cNvGraphicFramePr>
            <a:graphicFrameLocks noChangeAspect="1"/>
          </p:cNvGraphicFramePr>
          <p:nvPr>
            <p:extLst>
              <p:ext uri="{D42A27DB-BD31-4B8C-83A1-F6EECF244321}">
                <p14:modId xmlns:p14="http://schemas.microsoft.com/office/powerpoint/2010/main" val="4266358734"/>
              </p:ext>
            </p:extLst>
          </p:nvPr>
        </p:nvGraphicFramePr>
        <p:xfrm>
          <a:off x="3542901" y="4160502"/>
          <a:ext cx="2946799" cy="2138698"/>
        </p:xfrm>
        <a:graphic>
          <a:graphicData uri="http://schemas.openxmlformats.org/presentationml/2006/ole">
            <mc:AlternateContent xmlns:mc="http://schemas.openxmlformats.org/markup-compatibility/2006">
              <mc:Choice xmlns:v="urn:schemas-microsoft-com:vml" Requires="v">
                <p:oleObj name="Worksheet" r:id="rId5" imgW="3345003" imgH="2308530" progId="Excel.Sheet.12">
                  <p:link updateAutomatic="1"/>
                </p:oleObj>
              </mc:Choice>
              <mc:Fallback>
                <p:oleObj name="Worksheet" r:id="rId5" imgW="3345003" imgH="2308530" progId="Excel.Sheet.12">
                  <p:link updateAutomatic="1"/>
                  <p:pic>
                    <p:nvPicPr>
                      <p:cNvPr id="8" name="Object 7">
                        <a:extLst>
                          <a:ext uri="{FF2B5EF4-FFF2-40B4-BE49-F238E27FC236}">
                            <a16:creationId xmlns:a16="http://schemas.microsoft.com/office/drawing/2014/main" id="{BE569474-CA92-DE11-8E71-061DF7306882}"/>
                          </a:ext>
                        </a:extLst>
                      </p:cNvPr>
                      <p:cNvPicPr/>
                      <p:nvPr/>
                    </p:nvPicPr>
                    <p:blipFill>
                      <a:blip r:embed="rId6"/>
                      <a:stretch>
                        <a:fillRect/>
                      </a:stretch>
                    </p:blipFill>
                    <p:spPr>
                      <a:xfrm>
                        <a:off x="3542901" y="4160502"/>
                        <a:ext cx="2946799" cy="2138698"/>
                      </a:xfrm>
                      <a:prstGeom prst="rect">
                        <a:avLst/>
                      </a:prstGeom>
                    </p:spPr>
                  </p:pic>
                </p:oleObj>
              </mc:Fallback>
            </mc:AlternateContent>
          </a:graphicData>
        </a:graphic>
      </p:graphicFrame>
      <p:sp>
        <p:nvSpPr>
          <p:cNvPr id="16" name="Content Placeholder 8">
            <a:extLst>
              <a:ext uri="{FF2B5EF4-FFF2-40B4-BE49-F238E27FC236}">
                <a16:creationId xmlns:a16="http://schemas.microsoft.com/office/drawing/2014/main" id="{C4AF478A-375E-BA66-BC35-FA67A2CB165B}"/>
              </a:ext>
            </a:extLst>
          </p:cNvPr>
          <p:cNvSpPr txBox="1">
            <a:spLocks/>
          </p:cNvSpPr>
          <p:nvPr/>
        </p:nvSpPr>
        <p:spPr>
          <a:xfrm>
            <a:off x="3552751" y="3685271"/>
            <a:ext cx="2948400" cy="36933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marL="0" indent="0" algn="l" defTabSz="385767" rtl="0" eaLnBrk="1" latinLnBrk="0" hangingPunct="1">
              <a:lnSpc>
                <a:spcPct val="90000"/>
              </a:lnSpc>
              <a:spcBef>
                <a:spcPts val="422"/>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pt-BR" dirty="0"/>
              <a:t>Gráfico</a:t>
            </a:r>
            <a:r>
              <a:rPr lang="en-US" dirty="0"/>
              <a:t> 2: </a:t>
            </a:r>
            <a:r>
              <a:rPr lang="pt-BR" dirty="0"/>
              <a:t>Dentro da sua carteira de clientes, a alocação em renda variável está, na média:</a:t>
            </a:r>
          </a:p>
        </p:txBody>
      </p:sp>
      <p:graphicFrame>
        <p:nvGraphicFramePr>
          <p:cNvPr id="5" name="Object 4">
            <a:extLst>
              <a:ext uri="{FF2B5EF4-FFF2-40B4-BE49-F238E27FC236}">
                <a16:creationId xmlns:a16="http://schemas.microsoft.com/office/drawing/2014/main" id="{B443B9FB-D173-B634-F198-B3C404E47013}"/>
              </a:ext>
            </a:extLst>
          </p:cNvPr>
          <p:cNvGraphicFramePr>
            <a:graphicFrameLocks noChangeAspect="1"/>
          </p:cNvGraphicFramePr>
          <p:nvPr>
            <p:extLst>
              <p:ext uri="{D42A27DB-BD31-4B8C-83A1-F6EECF244321}">
                <p14:modId xmlns:p14="http://schemas.microsoft.com/office/powerpoint/2010/main" val="214789603"/>
              </p:ext>
            </p:extLst>
          </p:nvPr>
        </p:nvGraphicFramePr>
        <p:xfrm>
          <a:off x="3505200" y="1844675"/>
          <a:ext cx="3035300" cy="1763713"/>
        </p:xfrm>
        <a:graphic>
          <a:graphicData uri="http://schemas.openxmlformats.org/presentationml/2006/ole">
            <mc:AlternateContent xmlns:mc="http://schemas.openxmlformats.org/markup-compatibility/2006">
              <mc:Choice xmlns:v="urn:schemas-microsoft-com:vml" Requires="v">
                <p:oleObj name="Worksheet" r:id="rId7" imgW="2979243" imgH="1798210" progId="Excel.Sheet.12">
                  <p:link updateAutomatic="1"/>
                </p:oleObj>
              </mc:Choice>
              <mc:Fallback>
                <p:oleObj name="Worksheet" r:id="rId7" imgW="2979243" imgH="1798210" progId="Excel.Sheet.12">
                  <p:link updateAutomatic="1"/>
                  <p:pic>
                    <p:nvPicPr>
                      <p:cNvPr id="5" name="Object 4">
                        <a:extLst>
                          <a:ext uri="{FF2B5EF4-FFF2-40B4-BE49-F238E27FC236}">
                            <a16:creationId xmlns:a16="http://schemas.microsoft.com/office/drawing/2014/main" id="{B443B9FB-D173-B634-F198-B3C404E47013}"/>
                          </a:ext>
                        </a:extLst>
                      </p:cNvPr>
                      <p:cNvPicPr/>
                      <p:nvPr/>
                    </p:nvPicPr>
                    <p:blipFill>
                      <a:blip r:embed="rId8"/>
                      <a:stretch>
                        <a:fillRect/>
                      </a:stretch>
                    </p:blipFill>
                    <p:spPr>
                      <a:xfrm>
                        <a:off x="3505200" y="1844675"/>
                        <a:ext cx="3035300" cy="1763713"/>
                      </a:xfrm>
                      <a:prstGeom prst="rect">
                        <a:avLst/>
                      </a:prstGeom>
                    </p:spPr>
                  </p:pic>
                </p:oleObj>
              </mc:Fallback>
            </mc:AlternateContent>
          </a:graphicData>
        </a:graphic>
      </p:graphicFrame>
      <p:sp>
        <p:nvSpPr>
          <p:cNvPr id="18" name="Content Placeholder 9">
            <a:extLst>
              <a:ext uri="{FF2B5EF4-FFF2-40B4-BE49-F238E27FC236}">
                <a16:creationId xmlns:a16="http://schemas.microsoft.com/office/drawing/2014/main" id="{B0DF73F9-E98F-E516-CC0C-C781C03D1910}"/>
              </a:ext>
            </a:extLst>
          </p:cNvPr>
          <p:cNvSpPr txBox="1">
            <a:spLocks/>
          </p:cNvSpPr>
          <p:nvPr/>
        </p:nvSpPr>
        <p:spPr>
          <a:xfrm>
            <a:off x="3552750" y="6350998"/>
            <a:ext cx="2948400" cy="36933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marL="0" indent="0" algn="l" defTabSz="385767" rtl="0" eaLnBrk="1" latinLnBrk="0" hangingPunct="1">
              <a:lnSpc>
                <a:spcPct val="90000"/>
              </a:lnSpc>
              <a:spcBef>
                <a:spcPts val="422"/>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pt-BR" dirty="0"/>
              <a:t>Gráfico</a:t>
            </a:r>
            <a:r>
              <a:rPr lang="en-US" dirty="0"/>
              <a:t> 3: </a:t>
            </a:r>
            <a:r>
              <a:rPr lang="pt-BR" dirty="0"/>
              <a:t>Considerando o cenário dos próximos meses, seus clientes:</a:t>
            </a:r>
          </a:p>
        </p:txBody>
      </p:sp>
      <p:pic>
        <p:nvPicPr>
          <p:cNvPr id="6" name="Picture 5">
            <a:extLst>
              <a:ext uri="{FF2B5EF4-FFF2-40B4-BE49-F238E27FC236}">
                <a16:creationId xmlns:a16="http://schemas.microsoft.com/office/drawing/2014/main" id="{1450FCF6-D1AA-79CF-3B51-4FCF3F357EF2}"/>
              </a:ext>
            </a:extLst>
          </p:cNvPr>
          <p:cNvPicPr>
            <a:picLocks noChangeAspect="1"/>
          </p:cNvPicPr>
          <p:nvPr/>
        </p:nvPicPr>
        <p:blipFill>
          <a:blip r:embed="rId9">
            <a:alphaModFix amt="10000"/>
            <a:extLst>
              <a:ext uri="{28A0092B-C50C-407E-A947-70E740481C1C}">
                <a14:useLocalDpi xmlns:a14="http://schemas.microsoft.com/office/drawing/2010/main" val="0"/>
              </a:ext>
            </a:extLst>
          </a:blip>
          <a:stretch>
            <a:fillRect/>
          </a:stretch>
        </p:blipFill>
        <p:spPr>
          <a:xfrm>
            <a:off x="4075769" y="2596098"/>
            <a:ext cx="1778554" cy="216000"/>
          </a:xfrm>
          <a:prstGeom prst="rect">
            <a:avLst/>
          </a:prstGeom>
        </p:spPr>
      </p:pic>
      <p:pic>
        <p:nvPicPr>
          <p:cNvPr id="7" name="Picture 6">
            <a:extLst>
              <a:ext uri="{FF2B5EF4-FFF2-40B4-BE49-F238E27FC236}">
                <a16:creationId xmlns:a16="http://schemas.microsoft.com/office/drawing/2014/main" id="{FC0B850E-C3F7-DBA2-1244-7B8335F1769B}"/>
              </a:ext>
            </a:extLst>
          </p:cNvPr>
          <p:cNvPicPr>
            <a:picLocks noChangeAspect="1"/>
          </p:cNvPicPr>
          <p:nvPr/>
        </p:nvPicPr>
        <p:blipFill>
          <a:blip r:embed="rId9">
            <a:alphaModFix amt="10000"/>
            <a:extLst>
              <a:ext uri="{28A0092B-C50C-407E-A947-70E740481C1C}">
                <a14:useLocalDpi xmlns:a14="http://schemas.microsoft.com/office/drawing/2010/main" val="0"/>
              </a:ext>
            </a:extLst>
          </a:blip>
          <a:stretch>
            <a:fillRect/>
          </a:stretch>
        </p:blipFill>
        <p:spPr>
          <a:xfrm>
            <a:off x="3686175" y="4757939"/>
            <a:ext cx="2074987" cy="252000"/>
          </a:xfrm>
          <a:prstGeom prst="rect">
            <a:avLst/>
          </a:prstGeom>
        </p:spPr>
      </p:pic>
      <p:pic>
        <p:nvPicPr>
          <p:cNvPr id="9" name="Picture 8">
            <a:extLst>
              <a:ext uri="{FF2B5EF4-FFF2-40B4-BE49-F238E27FC236}">
                <a16:creationId xmlns:a16="http://schemas.microsoft.com/office/drawing/2014/main" id="{EB4ACEEB-83BE-BC09-1DFF-D78088BF1EEE}"/>
              </a:ext>
            </a:extLst>
          </p:cNvPr>
          <p:cNvPicPr>
            <a:picLocks noChangeAspect="1"/>
          </p:cNvPicPr>
          <p:nvPr/>
        </p:nvPicPr>
        <p:blipFill>
          <a:blip r:embed="rId9">
            <a:alphaModFix amt="10000"/>
            <a:extLst>
              <a:ext uri="{28A0092B-C50C-407E-A947-70E740481C1C}">
                <a14:useLocalDpi xmlns:a14="http://schemas.microsoft.com/office/drawing/2010/main" val="0"/>
              </a:ext>
            </a:extLst>
          </a:blip>
          <a:stretch>
            <a:fillRect/>
          </a:stretch>
        </p:blipFill>
        <p:spPr>
          <a:xfrm>
            <a:off x="3927553" y="7559593"/>
            <a:ext cx="2074986" cy="252000"/>
          </a:xfrm>
          <a:prstGeom prst="rect">
            <a:avLst/>
          </a:prstGeom>
        </p:spPr>
      </p:pic>
      <p:sp>
        <p:nvSpPr>
          <p:cNvPr id="17" name="Text Placeholder 11">
            <a:extLst>
              <a:ext uri="{FF2B5EF4-FFF2-40B4-BE49-F238E27FC236}">
                <a16:creationId xmlns:a16="http://schemas.microsoft.com/office/drawing/2014/main" id="{924C4BC9-01C4-BBA3-E1AC-18ABC3F98330}"/>
              </a:ext>
            </a:extLst>
          </p:cNvPr>
          <p:cNvSpPr>
            <a:spLocks noGrp="1"/>
          </p:cNvSpPr>
          <p:nvPr>
            <p:ph type="body" sz="quarter" idx="17"/>
          </p:nvPr>
        </p:nvSpPr>
        <p:spPr>
          <a:xfrm>
            <a:off x="390154" y="1119209"/>
            <a:ext cx="6110995" cy="304570"/>
          </a:xfrm>
        </p:spPr>
        <p:txBody>
          <a:bodyPr vert="horz" lIns="0" tIns="0" rIns="0" bIns="0" rtlCol="0" anchor="t">
            <a:noAutofit/>
          </a:bodyPr>
          <a:lstStyle/>
          <a:p>
            <a:r>
              <a:rPr lang="pt-BR" dirty="0">
                <a:solidFill>
                  <a:schemeClr val="tx1"/>
                </a:solidFill>
              </a:rPr>
              <a:t>Intenção de reduzir alocação em ações aumenta</a:t>
            </a:r>
            <a:endParaRPr lang="en-US" dirty="0">
              <a:solidFill>
                <a:schemeClr val="tx1"/>
              </a:solidFill>
            </a:endParaRPr>
          </a:p>
        </p:txBody>
      </p:sp>
    </p:spTree>
    <p:extLst>
      <p:ext uri="{BB962C8B-B14F-4D97-AF65-F5344CB8AC3E}">
        <p14:creationId xmlns:p14="http://schemas.microsoft.com/office/powerpoint/2010/main" val="29931979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a:extLst>
              <a:ext uri="{FF2B5EF4-FFF2-40B4-BE49-F238E27FC236}">
                <a16:creationId xmlns:a16="http://schemas.microsoft.com/office/drawing/2014/main" id="{341754FE-9AEB-F2A3-798C-BEA374181AD5}"/>
              </a:ext>
            </a:extLst>
          </p:cNvPr>
          <p:cNvGraphicFramePr>
            <a:graphicFrameLocks noChangeAspect="1"/>
          </p:cNvGraphicFramePr>
          <p:nvPr>
            <p:extLst>
              <p:ext uri="{D42A27DB-BD31-4B8C-83A1-F6EECF244321}">
                <p14:modId xmlns:p14="http://schemas.microsoft.com/office/powerpoint/2010/main" val="358192151"/>
              </p:ext>
            </p:extLst>
          </p:nvPr>
        </p:nvGraphicFramePr>
        <p:xfrm>
          <a:off x="395288" y="6775723"/>
          <a:ext cx="6126162" cy="2674938"/>
        </p:xfrm>
        <a:graphic>
          <a:graphicData uri="http://schemas.openxmlformats.org/presentationml/2006/ole">
            <mc:AlternateContent xmlns:mc="http://schemas.openxmlformats.org/markup-compatibility/2006">
              <mc:Choice xmlns:v="urn:schemas-microsoft-com:vml" Requires="v">
                <p:oleObj name="Worksheet" r:id="rId3" imgW="6126480" imgH="2674620" progId="Excel.Sheet.12">
                  <p:link updateAutomatic="1"/>
                </p:oleObj>
              </mc:Choice>
              <mc:Fallback>
                <p:oleObj name="Worksheet" r:id="rId3" imgW="6126480" imgH="2674620" progId="Excel.Sheet.12">
                  <p:link updateAutomatic="1"/>
                  <p:pic>
                    <p:nvPicPr>
                      <p:cNvPr id="0" name=""/>
                      <p:cNvPicPr/>
                      <p:nvPr/>
                    </p:nvPicPr>
                    <p:blipFill>
                      <a:blip r:embed="rId4"/>
                      <a:stretch>
                        <a:fillRect/>
                      </a:stretch>
                    </p:blipFill>
                    <p:spPr>
                      <a:xfrm>
                        <a:off x="395288" y="6775723"/>
                        <a:ext cx="6126162" cy="2674938"/>
                      </a:xfrm>
                      <a:prstGeom prst="rect">
                        <a:avLst/>
                      </a:prstGeom>
                    </p:spPr>
                  </p:pic>
                </p:oleObj>
              </mc:Fallback>
            </mc:AlternateContent>
          </a:graphicData>
        </a:graphic>
      </p:graphicFrame>
      <p:sp>
        <p:nvSpPr>
          <p:cNvPr id="4" name="Content Placeholder 3">
            <a:extLst>
              <a:ext uri="{FF2B5EF4-FFF2-40B4-BE49-F238E27FC236}">
                <a16:creationId xmlns:a16="http://schemas.microsoft.com/office/drawing/2014/main" id="{88D4048D-1565-4EFE-AE0B-868E8EE6F16A}"/>
              </a:ext>
            </a:extLst>
          </p:cNvPr>
          <p:cNvSpPr>
            <a:spLocks noGrp="1"/>
          </p:cNvSpPr>
          <p:nvPr>
            <p:ph sz="quarter" idx="28"/>
          </p:nvPr>
        </p:nvSpPr>
        <p:spPr>
          <a:xfrm>
            <a:off x="390153" y="2208868"/>
            <a:ext cx="6106871" cy="377042"/>
          </a:xfrm>
        </p:spPr>
        <p:txBody>
          <a:bodyPr/>
          <a:lstStyle/>
          <a:p>
            <a:r>
              <a:rPr lang="en-US" dirty="0" err="1"/>
              <a:t>Gráfico</a:t>
            </a:r>
            <a:r>
              <a:rPr lang="en-US" dirty="0"/>
              <a:t> 4: </a:t>
            </a:r>
            <a:r>
              <a:rPr lang="pt-BR" dirty="0"/>
              <a:t>Numa escala de 0 a 10, indique o seu sentimento em relação à Bolsa atualmente, comparando com seu próprio histórico:</a:t>
            </a:r>
            <a:endParaRPr lang="en-US" dirty="0"/>
          </a:p>
        </p:txBody>
      </p:sp>
      <p:sp>
        <p:nvSpPr>
          <p:cNvPr id="11" name="Text Placeholder 10">
            <a:extLst>
              <a:ext uri="{FF2B5EF4-FFF2-40B4-BE49-F238E27FC236}">
                <a16:creationId xmlns:a16="http://schemas.microsoft.com/office/drawing/2014/main" id="{6C5E73EF-785D-4689-9DD8-479796A9CF61}"/>
              </a:ext>
            </a:extLst>
          </p:cNvPr>
          <p:cNvSpPr>
            <a:spLocks noGrp="1"/>
          </p:cNvSpPr>
          <p:nvPr>
            <p:ph type="body" sz="quarter" idx="16"/>
          </p:nvPr>
        </p:nvSpPr>
        <p:spPr/>
        <p:txBody>
          <a:bodyPr/>
          <a:lstStyle/>
          <a:p>
            <a:r>
              <a:rPr lang="pt-BR" dirty="0"/>
              <a:t>Pesquisa de assessores XP</a:t>
            </a:r>
            <a:endParaRPr lang="en-US" dirty="0"/>
          </a:p>
        </p:txBody>
      </p:sp>
      <p:sp>
        <p:nvSpPr>
          <p:cNvPr id="12" name="Text Placeholder 11">
            <a:extLst>
              <a:ext uri="{FF2B5EF4-FFF2-40B4-BE49-F238E27FC236}">
                <a16:creationId xmlns:a16="http://schemas.microsoft.com/office/drawing/2014/main" id="{890890A1-B83F-439E-A751-080F5D07ED2E}"/>
              </a:ext>
            </a:extLst>
          </p:cNvPr>
          <p:cNvSpPr>
            <a:spLocks noGrp="1"/>
          </p:cNvSpPr>
          <p:nvPr>
            <p:ph type="body" sz="quarter" idx="17"/>
          </p:nvPr>
        </p:nvSpPr>
        <p:spPr>
          <a:xfrm>
            <a:off x="390154" y="1129148"/>
            <a:ext cx="6099546" cy="304570"/>
          </a:xfrm>
        </p:spPr>
        <p:txBody>
          <a:bodyPr vert="horz" lIns="0" tIns="0" rIns="0" bIns="0" rtlCol="0" anchor="t">
            <a:noAutofit/>
          </a:bodyPr>
          <a:lstStyle/>
          <a:p>
            <a:r>
              <a:rPr lang="pt-BR" dirty="0">
                <a:solidFill>
                  <a:schemeClr val="tx1"/>
                </a:solidFill>
              </a:rPr>
              <a:t>O sentimento dos assessores melhorou marginalmente</a:t>
            </a:r>
            <a:endParaRPr lang="en-US" dirty="0">
              <a:solidFill>
                <a:schemeClr val="tx1"/>
              </a:solidFill>
            </a:endParaRPr>
          </a:p>
        </p:txBody>
      </p:sp>
      <p:sp>
        <p:nvSpPr>
          <p:cNvPr id="13" name="Text Placeholder 12">
            <a:extLst>
              <a:ext uri="{FF2B5EF4-FFF2-40B4-BE49-F238E27FC236}">
                <a16:creationId xmlns:a16="http://schemas.microsoft.com/office/drawing/2014/main" id="{6F3225EA-C0D6-4DBA-9735-DD0741DE45D5}"/>
              </a:ext>
            </a:extLst>
          </p:cNvPr>
          <p:cNvSpPr>
            <a:spLocks noGrp="1"/>
          </p:cNvSpPr>
          <p:nvPr>
            <p:ph type="body" sz="quarter" idx="29"/>
          </p:nvPr>
        </p:nvSpPr>
        <p:spPr>
          <a:xfrm>
            <a:off x="822326" y="9548813"/>
            <a:ext cx="5451474" cy="197643"/>
          </a:xfrm>
        </p:spPr>
        <p:txBody>
          <a:bodyPr/>
          <a:lstStyle/>
          <a:p>
            <a:r>
              <a:rPr lang="en-US" dirty="0"/>
              <a:t>Fonte: XP Research.</a:t>
            </a:r>
          </a:p>
        </p:txBody>
      </p:sp>
      <p:sp>
        <p:nvSpPr>
          <p:cNvPr id="14" name="Date Placeholder 13">
            <a:extLst>
              <a:ext uri="{FF2B5EF4-FFF2-40B4-BE49-F238E27FC236}">
                <a16:creationId xmlns:a16="http://schemas.microsoft.com/office/drawing/2014/main" id="{7030428E-18DA-488A-8954-33B709E1FECD}"/>
              </a:ext>
            </a:extLst>
          </p:cNvPr>
          <p:cNvSpPr>
            <a:spLocks noGrp="1"/>
          </p:cNvSpPr>
          <p:nvPr>
            <p:ph type="dt" sz="half" idx="2"/>
          </p:nvPr>
        </p:nvSpPr>
        <p:spPr/>
        <p:txBody>
          <a:bodyPr/>
          <a:lstStyle/>
          <a:p>
            <a:fld id="{0834ECF4-E3A7-4EE5-B75E-4A8E0D61D7AD}" type="datetime4">
              <a:rPr lang="pt-BR" smtClean="0"/>
              <a:pPr/>
              <a:t>27 de julho de 2026</a:t>
            </a:fld>
            <a:endParaRPr lang="en-US" dirty="0"/>
          </a:p>
        </p:txBody>
      </p:sp>
      <p:sp>
        <p:nvSpPr>
          <p:cNvPr id="21" name="Espaço Reservado para Texto 20">
            <a:extLst>
              <a:ext uri="{FF2B5EF4-FFF2-40B4-BE49-F238E27FC236}">
                <a16:creationId xmlns:a16="http://schemas.microsoft.com/office/drawing/2014/main" id="{0CE7D2A5-E364-1257-EF2F-86FE5DCF1D4B}"/>
              </a:ext>
            </a:extLst>
          </p:cNvPr>
          <p:cNvSpPr>
            <a:spLocks noGrp="1"/>
          </p:cNvSpPr>
          <p:nvPr>
            <p:ph type="body" sz="quarter" idx="20"/>
          </p:nvPr>
        </p:nvSpPr>
        <p:spPr>
          <a:xfrm>
            <a:off x="382829" y="1497014"/>
            <a:ext cx="6106871" cy="674694"/>
          </a:xfrm>
          <a:noFill/>
        </p:spPr>
        <p:txBody>
          <a:bodyPr anchor="ctr"/>
          <a:lstStyle/>
          <a:p>
            <a:r>
              <a:rPr lang="pt-BR" dirty="0"/>
              <a:t>O sentimento dos assessores em relação às ações brasileiras melhorou ligeiramente, com 59% (+2 </a:t>
            </a:r>
            <a:r>
              <a:rPr lang="pt-BR" dirty="0" err="1"/>
              <a:t>p.p</a:t>
            </a:r>
            <a:r>
              <a:rPr lang="pt-BR" dirty="0"/>
              <a:t>. M/M) atribuindo nota 7 ou superior em uma escala de 0 a 10. Em termos de média das respostas, ela também aumentou marginalmente de 6,4 em junho para 6,6 atualmente.</a:t>
            </a:r>
          </a:p>
        </p:txBody>
      </p:sp>
      <p:graphicFrame>
        <p:nvGraphicFramePr>
          <p:cNvPr id="5" name="Object 4">
            <a:extLst>
              <a:ext uri="{FF2B5EF4-FFF2-40B4-BE49-F238E27FC236}">
                <a16:creationId xmlns:a16="http://schemas.microsoft.com/office/drawing/2014/main" id="{E02789C8-BBA5-D1E1-AE90-BE11DD3D8C6F}"/>
              </a:ext>
            </a:extLst>
          </p:cNvPr>
          <p:cNvGraphicFramePr>
            <a:graphicFrameLocks noChangeAspect="1"/>
          </p:cNvGraphicFramePr>
          <p:nvPr>
            <p:extLst>
              <p:ext uri="{D42A27DB-BD31-4B8C-83A1-F6EECF244321}">
                <p14:modId xmlns:p14="http://schemas.microsoft.com/office/powerpoint/2010/main" val="4045209214"/>
              </p:ext>
            </p:extLst>
          </p:nvPr>
        </p:nvGraphicFramePr>
        <p:xfrm>
          <a:off x="390153" y="2724191"/>
          <a:ext cx="6099548" cy="1987550"/>
        </p:xfrm>
        <a:graphic>
          <a:graphicData uri="http://schemas.openxmlformats.org/presentationml/2006/ole">
            <mc:AlternateContent xmlns:mc="http://schemas.openxmlformats.org/markup-compatibility/2006">
              <mc:Choice xmlns:v="urn:schemas-microsoft-com:vml" Requires="v">
                <p:oleObj name="Worksheet" r:id="rId5" imgW="7680960" imgH="2293259" progId="Excel.Sheet.12">
                  <p:link updateAutomatic="1"/>
                </p:oleObj>
              </mc:Choice>
              <mc:Fallback>
                <p:oleObj name="Worksheet" r:id="rId5" imgW="7680960" imgH="2293259" progId="Excel.Sheet.12">
                  <p:link updateAutomatic="1"/>
                  <p:pic>
                    <p:nvPicPr>
                      <p:cNvPr id="5" name="Object 4">
                        <a:extLst>
                          <a:ext uri="{FF2B5EF4-FFF2-40B4-BE49-F238E27FC236}">
                            <a16:creationId xmlns:a16="http://schemas.microsoft.com/office/drawing/2014/main" id="{E02789C8-BBA5-D1E1-AE90-BE11DD3D8C6F}"/>
                          </a:ext>
                        </a:extLst>
                      </p:cNvPr>
                      <p:cNvPicPr/>
                      <p:nvPr/>
                    </p:nvPicPr>
                    <p:blipFill>
                      <a:blip r:embed="rId6"/>
                      <a:stretch>
                        <a:fillRect/>
                      </a:stretch>
                    </p:blipFill>
                    <p:spPr>
                      <a:xfrm>
                        <a:off x="390153" y="2724191"/>
                        <a:ext cx="6099548" cy="1987550"/>
                      </a:xfrm>
                      <a:prstGeom prst="rect">
                        <a:avLst/>
                      </a:prstGeom>
                    </p:spPr>
                  </p:pic>
                </p:oleObj>
              </mc:Fallback>
            </mc:AlternateContent>
          </a:graphicData>
        </a:graphic>
      </p:graphicFrame>
      <p:sp>
        <p:nvSpPr>
          <p:cNvPr id="8" name="Text Placeholder 1">
            <a:extLst>
              <a:ext uri="{FF2B5EF4-FFF2-40B4-BE49-F238E27FC236}">
                <a16:creationId xmlns:a16="http://schemas.microsoft.com/office/drawing/2014/main" id="{0C50DC0C-7781-D5DB-BB07-405ACC9066A8}"/>
              </a:ext>
            </a:extLst>
          </p:cNvPr>
          <p:cNvSpPr txBox="1">
            <a:spLocks/>
          </p:cNvSpPr>
          <p:nvPr/>
        </p:nvSpPr>
        <p:spPr>
          <a:xfrm>
            <a:off x="382829" y="4970627"/>
            <a:ext cx="6106872" cy="1469145"/>
          </a:xfrm>
          <a:prstGeom prst="rect">
            <a:avLst/>
          </a:prstGeom>
          <a:no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kern="12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lang="en-US" sz="1800" kern="1200">
                <a:solidFill>
                  <a:schemeClr val="tx1"/>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a:spcBef>
                <a:spcPts val="400"/>
              </a:spcBef>
            </a:pPr>
            <a:r>
              <a:rPr lang="pt-BR" dirty="0">
                <a:latin typeface="Roboto light" panose="02000000000000000000"/>
              </a:rPr>
              <a:t>Em julho, 42% (+3 </a:t>
            </a:r>
            <a:r>
              <a:rPr lang="pt-BR" dirty="0" err="1">
                <a:latin typeface="Roboto light" panose="02000000000000000000"/>
              </a:rPr>
              <a:t>p.p</a:t>
            </a:r>
            <a:r>
              <a:rPr lang="pt-BR" dirty="0">
                <a:latin typeface="Roboto light" panose="02000000000000000000"/>
              </a:rPr>
              <a:t>. M/M) dos assessores indicaram esperar que o Ibovespa encerre 2026 na faixa de 170 mil a 190 mil pontos, enquanto 27% (-1 </a:t>
            </a:r>
            <a:r>
              <a:rPr lang="pt-BR" dirty="0" err="1">
                <a:latin typeface="Roboto light" panose="02000000000000000000"/>
              </a:rPr>
              <a:t>p.p</a:t>
            </a:r>
            <a:r>
              <a:rPr lang="pt-BR" dirty="0">
                <a:latin typeface="Roboto light" panose="02000000000000000000"/>
              </a:rPr>
              <a:t>. M/M) veem o índice terminando entre 190 mil e 200 mil pontos. A projeção média ficou em 184 mil pontos, ligeiramente acima dos 182 mil reportados na pesquisa anterior, o que implica cerca de 5% de potencial de alta em relação ao nível atual do índice, que está em torno de 175 mil pontos. </a:t>
            </a:r>
          </a:p>
          <a:p>
            <a:pPr>
              <a:spcBef>
                <a:spcPts val="400"/>
              </a:spcBef>
            </a:pPr>
            <a:r>
              <a:rPr lang="pt-BR" dirty="0">
                <a:latin typeface="Roboto light" panose="02000000000000000000"/>
              </a:rPr>
              <a:t>Enquanto isso, a parcela de respondentes mais otimistas, que projetam o Ibovespa acima dos 200 mil pontos, aumentou para 14% (+3 </a:t>
            </a:r>
            <a:r>
              <a:rPr lang="pt-BR" dirty="0" err="1">
                <a:latin typeface="Roboto light" panose="02000000000000000000"/>
              </a:rPr>
              <a:t>p.p</a:t>
            </a:r>
            <a:r>
              <a:rPr lang="pt-BR" dirty="0">
                <a:latin typeface="Roboto light" panose="02000000000000000000"/>
              </a:rPr>
              <a:t>. M/M).</a:t>
            </a:r>
          </a:p>
        </p:txBody>
      </p:sp>
      <p:sp>
        <p:nvSpPr>
          <p:cNvPr id="10" name="Content Placeholder 18">
            <a:extLst>
              <a:ext uri="{FF2B5EF4-FFF2-40B4-BE49-F238E27FC236}">
                <a16:creationId xmlns:a16="http://schemas.microsoft.com/office/drawing/2014/main" id="{1CC9641A-1032-7D21-2508-3696CC2AEDC1}"/>
              </a:ext>
            </a:extLst>
          </p:cNvPr>
          <p:cNvSpPr txBox="1">
            <a:spLocks/>
          </p:cNvSpPr>
          <p:nvPr/>
        </p:nvSpPr>
        <p:spPr>
          <a:xfrm>
            <a:off x="382830" y="6505575"/>
            <a:ext cx="6114194" cy="23083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marL="0" indent="0" algn="l" defTabSz="385767" rtl="0" eaLnBrk="1" latinLnBrk="0" hangingPunct="1">
              <a:lnSpc>
                <a:spcPct val="90000"/>
              </a:lnSpc>
              <a:spcBef>
                <a:spcPts val="422"/>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dirty="0" err="1"/>
              <a:t>Gráfico</a:t>
            </a:r>
            <a:r>
              <a:rPr lang="en-US" dirty="0"/>
              <a:t> 5: </a:t>
            </a:r>
            <a:r>
              <a:rPr lang="pt-BR" dirty="0"/>
              <a:t>Qual o nível que você espera que o Ibovespa atinja no final de 2026?</a:t>
            </a:r>
          </a:p>
        </p:txBody>
      </p:sp>
      <p:pic>
        <p:nvPicPr>
          <p:cNvPr id="2" name="Picture 1">
            <a:extLst>
              <a:ext uri="{FF2B5EF4-FFF2-40B4-BE49-F238E27FC236}">
                <a16:creationId xmlns:a16="http://schemas.microsoft.com/office/drawing/2014/main" id="{C595E883-EB5C-6403-2C60-B8AE47E8A5BD}"/>
              </a:ext>
            </a:extLst>
          </p:cNvPr>
          <p:cNvPicPr>
            <a:picLocks noChangeAspect="1"/>
          </p:cNvPicPr>
          <p:nvPr/>
        </p:nvPicPr>
        <p:blipFill>
          <a:blip r:embed="rId7">
            <a:alphaModFix amt="10000"/>
            <a:extLst>
              <a:ext uri="{28A0092B-C50C-407E-A947-70E740481C1C}">
                <a14:useLocalDpi xmlns:a14="http://schemas.microsoft.com/office/drawing/2010/main" val="0"/>
              </a:ext>
            </a:extLst>
          </a:blip>
          <a:stretch>
            <a:fillRect/>
          </a:stretch>
        </p:blipFill>
        <p:spPr>
          <a:xfrm>
            <a:off x="2220578" y="3578670"/>
            <a:ext cx="2446020" cy="297061"/>
          </a:xfrm>
          <a:prstGeom prst="rect">
            <a:avLst/>
          </a:prstGeom>
        </p:spPr>
      </p:pic>
      <p:pic>
        <p:nvPicPr>
          <p:cNvPr id="9" name="Picture 8">
            <a:extLst>
              <a:ext uri="{FF2B5EF4-FFF2-40B4-BE49-F238E27FC236}">
                <a16:creationId xmlns:a16="http://schemas.microsoft.com/office/drawing/2014/main" id="{D50E9014-EBCC-15EE-1632-1370FB0B7DB9}"/>
              </a:ext>
            </a:extLst>
          </p:cNvPr>
          <p:cNvPicPr>
            <a:picLocks noChangeAspect="1"/>
          </p:cNvPicPr>
          <p:nvPr/>
        </p:nvPicPr>
        <p:blipFill>
          <a:blip r:embed="rId7">
            <a:alphaModFix amt="10000"/>
            <a:extLst>
              <a:ext uri="{28A0092B-C50C-407E-A947-70E740481C1C}">
                <a14:useLocalDpi xmlns:a14="http://schemas.microsoft.com/office/drawing/2010/main" val="0"/>
              </a:ext>
            </a:extLst>
          </a:blip>
          <a:stretch>
            <a:fillRect/>
          </a:stretch>
        </p:blipFill>
        <p:spPr>
          <a:xfrm>
            <a:off x="2475230" y="7578332"/>
            <a:ext cx="2446020" cy="297061"/>
          </a:xfrm>
          <a:prstGeom prst="rect">
            <a:avLst/>
          </a:prstGeom>
        </p:spPr>
      </p:pic>
    </p:spTree>
    <p:extLst>
      <p:ext uri="{BB962C8B-B14F-4D97-AF65-F5344CB8AC3E}">
        <p14:creationId xmlns:p14="http://schemas.microsoft.com/office/powerpoint/2010/main" val="41226538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a:extLst>
              <a:ext uri="{FF2B5EF4-FFF2-40B4-BE49-F238E27FC236}">
                <a16:creationId xmlns:a16="http://schemas.microsoft.com/office/drawing/2014/main" id="{EA79D060-5100-2EB0-33E1-F080B4DBED2A}"/>
              </a:ext>
            </a:extLst>
          </p:cNvPr>
          <p:cNvGraphicFramePr>
            <a:graphicFrameLocks noChangeAspect="1"/>
          </p:cNvGraphicFramePr>
          <p:nvPr>
            <p:extLst>
              <p:ext uri="{D42A27DB-BD31-4B8C-83A1-F6EECF244321}">
                <p14:modId xmlns:p14="http://schemas.microsoft.com/office/powerpoint/2010/main" val="3125478194"/>
              </p:ext>
            </p:extLst>
          </p:nvPr>
        </p:nvGraphicFramePr>
        <p:xfrm>
          <a:off x="390153" y="2894251"/>
          <a:ext cx="6055711" cy="2241312"/>
        </p:xfrm>
        <a:graphic>
          <a:graphicData uri="http://schemas.openxmlformats.org/presentationml/2006/ole">
            <mc:AlternateContent xmlns:mc="http://schemas.openxmlformats.org/markup-compatibility/2006">
              <mc:Choice xmlns:v="urn:schemas-microsoft-com:vml" Requires="v">
                <p:oleObj name="Worksheet" r:id="rId3" imgW="7650338" imgH="2544813" progId="Excel.Sheet.12">
                  <p:link updateAutomatic="1"/>
                </p:oleObj>
              </mc:Choice>
              <mc:Fallback>
                <p:oleObj name="Worksheet" r:id="rId3" imgW="7650338" imgH="2544813" progId="Excel.Sheet.12">
                  <p:link updateAutomatic="1"/>
                  <p:pic>
                    <p:nvPicPr>
                      <p:cNvPr id="3" name="Object 2">
                        <a:extLst>
                          <a:ext uri="{FF2B5EF4-FFF2-40B4-BE49-F238E27FC236}">
                            <a16:creationId xmlns:a16="http://schemas.microsoft.com/office/drawing/2014/main" id="{EA79D060-5100-2EB0-33E1-F080B4DBED2A}"/>
                          </a:ext>
                        </a:extLst>
                      </p:cNvPr>
                      <p:cNvPicPr/>
                      <p:nvPr/>
                    </p:nvPicPr>
                    <p:blipFill>
                      <a:blip r:embed="rId4"/>
                      <a:stretch>
                        <a:fillRect/>
                      </a:stretch>
                    </p:blipFill>
                    <p:spPr>
                      <a:xfrm>
                        <a:off x="390153" y="2894251"/>
                        <a:ext cx="6055711" cy="2241312"/>
                      </a:xfrm>
                      <a:prstGeom prst="rect">
                        <a:avLst/>
                      </a:prstGeom>
                    </p:spPr>
                  </p:pic>
                </p:oleObj>
              </mc:Fallback>
            </mc:AlternateContent>
          </a:graphicData>
        </a:graphic>
      </p:graphicFrame>
      <p:graphicFrame>
        <p:nvGraphicFramePr>
          <p:cNvPr id="11" name="Object 10">
            <a:extLst>
              <a:ext uri="{FF2B5EF4-FFF2-40B4-BE49-F238E27FC236}">
                <a16:creationId xmlns:a16="http://schemas.microsoft.com/office/drawing/2014/main" id="{78671330-0374-B36C-5F11-DD1375E84FC6}"/>
              </a:ext>
            </a:extLst>
          </p:cNvPr>
          <p:cNvGraphicFramePr>
            <a:graphicFrameLocks noChangeAspect="1"/>
          </p:cNvGraphicFramePr>
          <p:nvPr>
            <p:extLst>
              <p:ext uri="{D42A27DB-BD31-4B8C-83A1-F6EECF244321}">
                <p14:modId xmlns:p14="http://schemas.microsoft.com/office/powerpoint/2010/main" val="783725723"/>
              </p:ext>
            </p:extLst>
          </p:nvPr>
        </p:nvGraphicFramePr>
        <p:xfrm>
          <a:off x="322263" y="7348538"/>
          <a:ext cx="2909887" cy="1981200"/>
        </p:xfrm>
        <a:graphic>
          <a:graphicData uri="http://schemas.openxmlformats.org/presentationml/2006/ole">
            <mc:AlternateContent xmlns:mc="http://schemas.openxmlformats.org/markup-compatibility/2006">
              <mc:Choice xmlns:v="urn:schemas-microsoft-com:vml" Requires="v">
                <p:oleObj name="Worksheet" r:id="rId5" imgW="3040061" imgH="2072247" progId="Excel.Sheet.12">
                  <p:link updateAutomatic="1"/>
                </p:oleObj>
              </mc:Choice>
              <mc:Fallback>
                <p:oleObj name="Worksheet" r:id="rId5" imgW="3040061" imgH="2072247" progId="Excel.Sheet.12">
                  <p:link updateAutomatic="1"/>
                  <p:pic>
                    <p:nvPicPr>
                      <p:cNvPr id="11" name="Object 10">
                        <a:extLst>
                          <a:ext uri="{FF2B5EF4-FFF2-40B4-BE49-F238E27FC236}">
                            <a16:creationId xmlns:a16="http://schemas.microsoft.com/office/drawing/2014/main" id="{78671330-0374-B36C-5F11-DD1375E84FC6}"/>
                          </a:ext>
                        </a:extLst>
                      </p:cNvPr>
                      <p:cNvPicPr/>
                      <p:nvPr/>
                    </p:nvPicPr>
                    <p:blipFill>
                      <a:blip r:embed="rId6"/>
                      <a:stretch>
                        <a:fillRect/>
                      </a:stretch>
                    </p:blipFill>
                    <p:spPr>
                      <a:xfrm>
                        <a:off x="322263" y="7348538"/>
                        <a:ext cx="2909887" cy="1981200"/>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2AD5018F-570D-4460-8927-A3B3051C800E}"/>
              </a:ext>
            </a:extLst>
          </p:cNvPr>
          <p:cNvSpPr>
            <a:spLocks noGrp="1"/>
          </p:cNvSpPr>
          <p:nvPr>
            <p:ph sz="quarter" idx="23"/>
          </p:nvPr>
        </p:nvSpPr>
        <p:spPr>
          <a:xfrm>
            <a:off x="3551479" y="6948637"/>
            <a:ext cx="2938221" cy="369332"/>
          </a:xfrm>
        </p:spPr>
        <p:txBody>
          <a:bodyPr/>
          <a:lstStyle/>
          <a:p>
            <a:r>
              <a:rPr lang="pt-BR" dirty="0"/>
              <a:t>Gráfico</a:t>
            </a:r>
            <a:r>
              <a:rPr lang="en-US" dirty="0"/>
              <a:t> 8: </a:t>
            </a:r>
            <a:r>
              <a:rPr lang="pt-BR" dirty="0"/>
              <a:t>Em investimentos internacionais, seus clientes se interessam por:</a:t>
            </a:r>
            <a:endParaRPr lang="en-US" dirty="0"/>
          </a:p>
        </p:txBody>
      </p:sp>
      <p:sp>
        <p:nvSpPr>
          <p:cNvPr id="6" name="Content Placeholder 5">
            <a:extLst>
              <a:ext uri="{FF2B5EF4-FFF2-40B4-BE49-F238E27FC236}">
                <a16:creationId xmlns:a16="http://schemas.microsoft.com/office/drawing/2014/main" id="{45D82C7F-DB97-4B2A-A680-AD343CB1158B}"/>
              </a:ext>
            </a:extLst>
          </p:cNvPr>
          <p:cNvSpPr>
            <a:spLocks noGrp="1"/>
          </p:cNvSpPr>
          <p:nvPr>
            <p:ph sz="quarter" idx="24"/>
          </p:nvPr>
        </p:nvSpPr>
        <p:spPr>
          <a:xfrm>
            <a:off x="368300" y="6948637"/>
            <a:ext cx="2989867" cy="369332"/>
          </a:xfrm>
        </p:spPr>
        <p:txBody>
          <a:bodyPr/>
          <a:lstStyle/>
          <a:p>
            <a:r>
              <a:rPr lang="pt-BR" dirty="0"/>
              <a:t>Gráfico</a:t>
            </a:r>
            <a:r>
              <a:rPr lang="en-US" dirty="0"/>
              <a:t> 7: </a:t>
            </a:r>
            <a:r>
              <a:rPr lang="pt-BR" dirty="0"/>
              <a:t>Qual a porcentagem dos seus clientes que já investem em ativos internacionais?</a:t>
            </a:r>
            <a:endParaRPr lang="en-US" dirty="0"/>
          </a:p>
        </p:txBody>
      </p:sp>
      <p:sp>
        <p:nvSpPr>
          <p:cNvPr id="13" name="Text Placeholder 12">
            <a:extLst>
              <a:ext uri="{FF2B5EF4-FFF2-40B4-BE49-F238E27FC236}">
                <a16:creationId xmlns:a16="http://schemas.microsoft.com/office/drawing/2014/main" id="{91CB6E43-F427-45C4-8CCA-B6B9FB01BE51}"/>
              </a:ext>
            </a:extLst>
          </p:cNvPr>
          <p:cNvSpPr>
            <a:spLocks noGrp="1"/>
          </p:cNvSpPr>
          <p:nvPr>
            <p:ph type="body" sz="quarter" idx="16"/>
          </p:nvPr>
        </p:nvSpPr>
        <p:spPr/>
        <p:txBody>
          <a:bodyPr/>
          <a:lstStyle/>
          <a:p>
            <a:r>
              <a:rPr lang="pt-BR" dirty="0"/>
              <a:t>Pesquisa de assessores XP</a:t>
            </a:r>
            <a:endParaRPr lang="en-US" dirty="0"/>
          </a:p>
        </p:txBody>
      </p:sp>
      <p:sp>
        <p:nvSpPr>
          <p:cNvPr id="14" name="Text Placeholder 13">
            <a:extLst>
              <a:ext uri="{FF2B5EF4-FFF2-40B4-BE49-F238E27FC236}">
                <a16:creationId xmlns:a16="http://schemas.microsoft.com/office/drawing/2014/main" id="{47224A0A-67DF-489B-B31C-88E427996765}"/>
              </a:ext>
            </a:extLst>
          </p:cNvPr>
          <p:cNvSpPr>
            <a:spLocks noGrp="1"/>
          </p:cNvSpPr>
          <p:nvPr>
            <p:ph type="body" sz="quarter" idx="17"/>
          </p:nvPr>
        </p:nvSpPr>
        <p:spPr>
          <a:xfrm>
            <a:off x="390154" y="1130287"/>
            <a:ext cx="6106871" cy="293492"/>
          </a:xfrm>
        </p:spPr>
        <p:txBody>
          <a:bodyPr vert="horz" lIns="0" tIns="0" rIns="0" bIns="0" rtlCol="0" anchor="t">
            <a:noAutofit/>
          </a:bodyPr>
          <a:lstStyle/>
          <a:p>
            <a:r>
              <a:rPr lang="en-US" dirty="0">
                <a:solidFill>
                  <a:schemeClr val="tx1"/>
                </a:solidFill>
              </a:rPr>
              <a:t>Renda </a:t>
            </a:r>
            <a:r>
              <a:rPr lang="en-US" dirty="0" err="1">
                <a:solidFill>
                  <a:schemeClr val="tx1"/>
                </a:solidFill>
              </a:rPr>
              <a:t>fixa</a:t>
            </a:r>
            <a:r>
              <a:rPr lang="en-US" dirty="0">
                <a:solidFill>
                  <a:schemeClr val="tx1"/>
                </a:solidFill>
              </a:rPr>
              <a:t> segue </a:t>
            </a:r>
            <a:r>
              <a:rPr lang="en-US" dirty="0" err="1">
                <a:solidFill>
                  <a:schemeClr val="tx1"/>
                </a:solidFill>
              </a:rPr>
              <a:t>como</a:t>
            </a:r>
            <a:r>
              <a:rPr lang="en-US" dirty="0">
                <a:solidFill>
                  <a:schemeClr val="tx1"/>
                </a:solidFill>
              </a:rPr>
              <a:t> </a:t>
            </a:r>
            <a:r>
              <a:rPr lang="en-US" dirty="0" err="1">
                <a:solidFill>
                  <a:schemeClr val="tx1"/>
                </a:solidFill>
              </a:rPr>
              <a:t>classe</a:t>
            </a:r>
            <a:r>
              <a:rPr lang="en-US" dirty="0">
                <a:solidFill>
                  <a:schemeClr val="tx1"/>
                </a:solidFill>
              </a:rPr>
              <a:t> de </a:t>
            </a:r>
            <a:r>
              <a:rPr lang="en-US" dirty="0" err="1">
                <a:solidFill>
                  <a:schemeClr val="tx1"/>
                </a:solidFill>
              </a:rPr>
              <a:t>preferência</a:t>
            </a:r>
            <a:r>
              <a:rPr lang="en-US" dirty="0">
                <a:solidFill>
                  <a:schemeClr val="tx1"/>
                </a:solidFill>
              </a:rPr>
              <a:t>, </a:t>
            </a:r>
            <a:r>
              <a:rPr lang="en-US" dirty="0" err="1">
                <a:solidFill>
                  <a:schemeClr val="tx1"/>
                </a:solidFill>
              </a:rPr>
              <a:t>apesar</a:t>
            </a:r>
            <a:r>
              <a:rPr lang="en-US" dirty="0">
                <a:solidFill>
                  <a:schemeClr val="tx1"/>
                </a:solidFill>
              </a:rPr>
              <a:t> de forte </a:t>
            </a:r>
            <a:r>
              <a:rPr lang="en-US" dirty="0" err="1">
                <a:solidFill>
                  <a:schemeClr val="tx1"/>
                </a:solidFill>
              </a:rPr>
              <a:t>queda</a:t>
            </a:r>
            <a:r>
              <a:rPr lang="en-US" dirty="0">
                <a:solidFill>
                  <a:schemeClr val="tx1"/>
                </a:solidFill>
              </a:rPr>
              <a:t> de interesse</a:t>
            </a:r>
          </a:p>
        </p:txBody>
      </p:sp>
      <p:sp>
        <p:nvSpPr>
          <p:cNvPr id="16" name="Date Placeholder 15">
            <a:extLst>
              <a:ext uri="{FF2B5EF4-FFF2-40B4-BE49-F238E27FC236}">
                <a16:creationId xmlns:a16="http://schemas.microsoft.com/office/drawing/2014/main" id="{FB188C31-3171-4D95-A310-AFA63DBEA9CF}"/>
              </a:ext>
            </a:extLst>
          </p:cNvPr>
          <p:cNvSpPr>
            <a:spLocks noGrp="1"/>
          </p:cNvSpPr>
          <p:nvPr>
            <p:ph type="dt" sz="half" idx="2"/>
          </p:nvPr>
        </p:nvSpPr>
        <p:spPr/>
        <p:txBody>
          <a:bodyPr/>
          <a:lstStyle/>
          <a:p>
            <a:fld id="{4A529EE4-38FC-4E0A-A4DD-0BE4B8620C13}" type="datetime4">
              <a:rPr lang="pt-BR" smtClean="0"/>
              <a:pPr/>
              <a:t>27 de julho de 2026</a:t>
            </a:fld>
            <a:endParaRPr lang="en-US" dirty="0"/>
          </a:p>
        </p:txBody>
      </p:sp>
      <p:sp>
        <p:nvSpPr>
          <p:cNvPr id="20" name="Text Placeholder 1">
            <a:extLst>
              <a:ext uri="{FF2B5EF4-FFF2-40B4-BE49-F238E27FC236}">
                <a16:creationId xmlns:a16="http://schemas.microsoft.com/office/drawing/2014/main" id="{3578F872-FF75-4C19-A398-682DAAC77CFC}"/>
              </a:ext>
            </a:extLst>
          </p:cNvPr>
          <p:cNvSpPr txBox="1">
            <a:spLocks/>
          </p:cNvSpPr>
          <p:nvPr/>
        </p:nvSpPr>
        <p:spPr>
          <a:xfrm>
            <a:off x="382829" y="1477254"/>
            <a:ext cx="6106871" cy="1199509"/>
          </a:xfrm>
          <a:prstGeom prst="rect">
            <a:avLst/>
          </a:prstGeom>
          <a:no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kern="12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lang="en-US" sz="1800" kern="1200">
                <a:solidFill>
                  <a:schemeClr val="tx1"/>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pt-BR" dirty="0">
                <a:latin typeface="Roboto Light" panose="02000000000000000000" pitchFamily="2" charset="0"/>
                <a:ea typeface="Roboto Light" panose="02000000000000000000" pitchFamily="2" charset="0"/>
              </a:rPr>
              <a:t>A pesquisa de julho mostra que a </a:t>
            </a:r>
            <a:r>
              <a:rPr lang="pt-BR" b="1" dirty="0">
                <a:latin typeface="Roboto Light" panose="02000000000000000000" pitchFamily="2" charset="0"/>
                <a:ea typeface="Roboto Light" panose="02000000000000000000" pitchFamily="2" charset="0"/>
              </a:rPr>
              <a:t>Renda Fixa </a:t>
            </a:r>
            <a:r>
              <a:rPr lang="pt-BR" dirty="0">
                <a:latin typeface="Roboto Light" panose="02000000000000000000" pitchFamily="2" charset="0"/>
                <a:ea typeface="Roboto Light" panose="02000000000000000000" pitchFamily="2" charset="0"/>
              </a:rPr>
              <a:t>segue como a classe de ativo mais demandada entre os clientes, apesar do interesse ter recuado significativamente para 58% (-18 </a:t>
            </a:r>
            <a:r>
              <a:rPr lang="pt-BR" dirty="0" err="1">
                <a:latin typeface="Roboto Light" panose="02000000000000000000" pitchFamily="2" charset="0"/>
                <a:ea typeface="Roboto Light" panose="02000000000000000000" pitchFamily="2" charset="0"/>
              </a:rPr>
              <a:t>p.p</a:t>
            </a:r>
            <a:r>
              <a:rPr lang="pt-BR" dirty="0">
                <a:latin typeface="Roboto Light" panose="02000000000000000000" pitchFamily="2" charset="0"/>
                <a:ea typeface="Roboto Light" panose="02000000000000000000" pitchFamily="2" charset="0"/>
              </a:rPr>
              <a:t>. M/M), enquanto </a:t>
            </a:r>
            <a:r>
              <a:rPr lang="pt-BR" b="1" dirty="0">
                <a:latin typeface="Roboto Light" panose="02000000000000000000" pitchFamily="2" charset="0"/>
                <a:ea typeface="Roboto Light" panose="02000000000000000000" pitchFamily="2" charset="0"/>
              </a:rPr>
              <a:t>os Fundos de Renda Fixa </a:t>
            </a:r>
            <a:r>
              <a:rPr lang="pt-BR" dirty="0">
                <a:latin typeface="Roboto Light" panose="02000000000000000000" pitchFamily="2" charset="0"/>
                <a:ea typeface="Roboto Light" panose="02000000000000000000" pitchFamily="2" charset="0"/>
              </a:rPr>
              <a:t>caíram significativamente para 36% (-21 </a:t>
            </a:r>
            <a:r>
              <a:rPr lang="pt-BR" dirty="0" err="1">
                <a:latin typeface="Roboto Light" panose="02000000000000000000" pitchFamily="2" charset="0"/>
                <a:ea typeface="Roboto Light" panose="02000000000000000000" pitchFamily="2" charset="0"/>
              </a:rPr>
              <a:t>p.p</a:t>
            </a:r>
            <a:r>
              <a:rPr lang="pt-BR" dirty="0">
                <a:latin typeface="Roboto Light" panose="02000000000000000000" pitchFamily="2" charset="0"/>
                <a:ea typeface="Roboto Light" panose="02000000000000000000" pitchFamily="2" charset="0"/>
              </a:rPr>
              <a:t>. M/M). Já o interesse em </a:t>
            </a:r>
            <a:r>
              <a:rPr lang="pt-BR" b="1" dirty="0">
                <a:latin typeface="Roboto Light" panose="02000000000000000000" pitchFamily="2" charset="0"/>
                <a:ea typeface="Roboto Light" panose="02000000000000000000" pitchFamily="2" charset="0"/>
              </a:rPr>
              <a:t>Ações</a:t>
            </a:r>
            <a:r>
              <a:rPr lang="pt-BR" dirty="0">
                <a:latin typeface="Roboto Light" panose="02000000000000000000" pitchFamily="2" charset="0"/>
                <a:ea typeface="Roboto Light" panose="02000000000000000000" pitchFamily="2" charset="0"/>
              </a:rPr>
              <a:t> </a:t>
            </a:r>
            <a:r>
              <a:rPr lang="pt-BR" dirty="0"/>
              <a:t>e</a:t>
            </a:r>
            <a:r>
              <a:rPr lang="pt-BR" dirty="0">
                <a:latin typeface="Roboto Light" panose="02000000000000000000" pitchFamily="2" charset="0"/>
                <a:ea typeface="Roboto Light" panose="02000000000000000000" pitchFamily="2" charset="0"/>
              </a:rPr>
              <a:t> </a:t>
            </a:r>
            <a:r>
              <a:rPr lang="pt-BR" b="1" dirty="0">
                <a:latin typeface="Roboto Light" panose="02000000000000000000" pitchFamily="2" charset="0"/>
                <a:ea typeface="Roboto Light" panose="02000000000000000000" pitchFamily="2" charset="0"/>
              </a:rPr>
              <a:t>Fundos Imobiliários</a:t>
            </a:r>
            <a:r>
              <a:rPr lang="pt-BR" dirty="0">
                <a:latin typeface="Roboto Light" panose="02000000000000000000" pitchFamily="2" charset="0"/>
                <a:ea typeface="Roboto Light" panose="02000000000000000000" pitchFamily="2" charset="0"/>
              </a:rPr>
              <a:t> recuou para 25% (-8 </a:t>
            </a:r>
            <a:r>
              <a:rPr lang="pt-BR" dirty="0" err="1">
                <a:latin typeface="Roboto Light" panose="02000000000000000000" pitchFamily="2" charset="0"/>
                <a:ea typeface="Roboto Light" panose="02000000000000000000" pitchFamily="2" charset="0"/>
              </a:rPr>
              <a:t>p.p</a:t>
            </a:r>
            <a:r>
              <a:rPr lang="pt-BR" dirty="0">
                <a:latin typeface="Roboto Light" panose="02000000000000000000" pitchFamily="2" charset="0"/>
                <a:ea typeface="Roboto Light" panose="02000000000000000000" pitchFamily="2" charset="0"/>
              </a:rPr>
              <a:t>. M/M) e 21% (-15 </a:t>
            </a:r>
            <a:r>
              <a:rPr lang="pt-BR" dirty="0" err="1">
                <a:latin typeface="Roboto Light" panose="02000000000000000000" pitchFamily="2" charset="0"/>
                <a:ea typeface="Roboto Light" panose="02000000000000000000" pitchFamily="2" charset="0"/>
              </a:rPr>
              <a:t>p.p</a:t>
            </a:r>
            <a:r>
              <a:rPr lang="pt-BR" dirty="0">
                <a:latin typeface="Roboto Light" panose="02000000000000000000" pitchFamily="2" charset="0"/>
                <a:ea typeface="Roboto Light" panose="02000000000000000000" pitchFamily="2" charset="0"/>
              </a:rPr>
              <a:t>. M/M), respectivamente. Por fim, o interesse por </a:t>
            </a:r>
            <a:r>
              <a:rPr lang="pt-BR" b="1" dirty="0">
                <a:latin typeface="Roboto Light" panose="02000000000000000000" pitchFamily="2" charset="0"/>
                <a:ea typeface="Roboto Light" panose="02000000000000000000" pitchFamily="2" charset="0"/>
              </a:rPr>
              <a:t>Fundos de Renda Variável </a:t>
            </a:r>
            <a:r>
              <a:rPr lang="pt-BR" dirty="0">
                <a:latin typeface="Roboto Light" panose="02000000000000000000" pitchFamily="2" charset="0"/>
                <a:ea typeface="Roboto Light" panose="02000000000000000000" pitchFamily="2" charset="0"/>
              </a:rPr>
              <a:t>também recuou fortemente para 1% (-7% </a:t>
            </a:r>
            <a:r>
              <a:rPr lang="pt-BR" dirty="0" err="1">
                <a:latin typeface="Roboto Light" panose="02000000000000000000" pitchFamily="2" charset="0"/>
                <a:ea typeface="Roboto Light" panose="02000000000000000000" pitchFamily="2" charset="0"/>
              </a:rPr>
              <a:t>p.p</a:t>
            </a:r>
            <a:r>
              <a:rPr lang="pt-BR" dirty="0">
                <a:latin typeface="Roboto Light" panose="02000000000000000000" pitchFamily="2" charset="0"/>
                <a:ea typeface="Roboto Light" panose="02000000000000000000" pitchFamily="2" charset="0"/>
              </a:rPr>
              <a:t>. M/M), </a:t>
            </a:r>
            <a:endParaRPr lang="pt-BR" b="1" dirty="0">
              <a:latin typeface="Roboto Light" panose="02000000000000000000" pitchFamily="2" charset="0"/>
              <a:ea typeface="Roboto Light" panose="02000000000000000000" pitchFamily="2" charset="0"/>
            </a:endParaRPr>
          </a:p>
        </p:txBody>
      </p:sp>
      <p:graphicFrame>
        <p:nvGraphicFramePr>
          <p:cNvPr id="8" name="Object 7">
            <a:extLst>
              <a:ext uri="{FF2B5EF4-FFF2-40B4-BE49-F238E27FC236}">
                <a16:creationId xmlns:a16="http://schemas.microsoft.com/office/drawing/2014/main" id="{5DDE6D5E-AA84-25F5-8D1B-4D9F7CCCC073}"/>
              </a:ext>
            </a:extLst>
          </p:cNvPr>
          <p:cNvGraphicFramePr>
            <a:graphicFrameLocks noChangeAspect="1"/>
          </p:cNvGraphicFramePr>
          <p:nvPr>
            <p:extLst>
              <p:ext uri="{D42A27DB-BD31-4B8C-83A1-F6EECF244321}">
                <p14:modId xmlns:p14="http://schemas.microsoft.com/office/powerpoint/2010/main" val="1604598012"/>
              </p:ext>
            </p:extLst>
          </p:nvPr>
        </p:nvGraphicFramePr>
        <p:xfrm>
          <a:off x="3498850" y="7348538"/>
          <a:ext cx="3022600" cy="2089150"/>
        </p:xfrm>
        <a:graphic>
          <a:graphicData uri="http://schemas.openxmlformats.org/presentationml/2006/ole">
            <mc:AlternateContent xmlns:mc="http://schemas.openxmlformats.org/markup-compatibility/2006">
              <mc:Choice xmlns:v="urn:schemas-microsoft-com:vml" Requires="v">
                <p:oleObj name="Worksheet" r:id="rId7" imgW="3017520" imgH="2072247" progId="Excel.Sheet.12">
                  <p:link updateAutomatic="1"/>
                </p:oleObj>
              </mc:Choice>
              <mc:Fallback>
                <p:oleObj name="Worksheet" r:id="rId7" imgW="3017520" imgH="2072247" progId="Excel.Sheet.12">
                  <p:link updateAutomatic="1"/>
                  <p:pic>
                    <p:nvPicPr>
                      <p:cNvPr id="8" name="Object 7">
                        <a:extLst>
                          <a:ext uri="{FF2B5EF4-FFF2-40B4-BE49-F238E27FC236}">
                            <a16:creationId xmlns:a16="http://schemas.microsoft.com/office/drawing/2014/main" id="{5DDE6D5E-AA84-25F5-8D1B-4D9F7CCCC073}"/>
                          </a:ext>
                        </a:extLst>
                      </p:cNvPr>
                      <p:cNvPicPr/>
                      <p:nvPr/>
                    </p:nvPicPr>
                    <p:blipFill>
                      <a:blip r:embed="rId8"/>
                      <a:stretch>
                        <a:fillRect/>
                      </a:stretch>
                    </p:blipFill>
                    <p:spPr>
                      <a:xfrm>
                        <a:off x="3498850" y="7348538"/>
                        <a:ext cx="3022600" cy="2089150"/>
                      </a:xfrm>
                      <a:prstGeom prst="rect">
                        <a:avLst/>
                      </a:prstGeom>
                    </p:spPr>
                  </p:pic>
                </p:oleObj>
              </mc:Fallback>
            </mc:AlternateContent>
          </a:graphicData>
        </a:graphic>
      </p:graphicFrame>
      <p:sp>
        <p:nvSpPr>
          <p:cNvPr id="7" name="Text Placeholder 1">
            <a:extLst>
              <a:ext uri="{FF2B5EF4-FFF2-40B4-BE49-F238E27FC236}">
                <a16:creationId xmlns:a16="http://schemas.microsoft.com/office/drawing/2014/main" id="{36CD1CD8-A146-2880-F9B3-3FCAE85E2070}"/>
              </a:ext>
            </a:extLst>
          </p:cNvPr>
          <p:cNvSpPr>
            <a:spLocks noGrp="1"/>
          </p:cNvSpPr>
          <p:nvPr>
            <p:ph type="body" sz="quarter" idx="20"/>
          </p:nvPr>
        </p:nvSpPr>
        <p:spPr>
          <a:xfrm>
            <a:off x="421666" y="5257930"/>
            <a:ext cx="6106872" cy="1770868"/>
          </a:xfrm>
          <a:noFill/>
        </p:spPr>
        <p:txBody>
          <a:bodyPr/>
          <a:lstStyle/>
          <a:p>
            <a:pPr marL="0" lvl="1" indent="0" algn="just">
              <a:lnSpc>
                <a:spcPct val="125000"/>
              </a:lnSpc>
              <a:spcBef>
                <a:spcPts val="600"/>
              </a:spcBef>
              <a:buNone/>
            </a:pPr>
            <a:r>
              <a:rPr lang="pt-BR" sz="1000" dirty="0">
                <a:latin typeface="+mj-lt"/>
              </a:rPr>
              <a:t>O interesse por </a:t>
            </a:r>
            <a:r>
              <a:rPr lang="pt-BR" sz="1000" b="1" dirty="0">
                <a:latin typeface="+mj-lt"/>
              </a:rPr>
              <a:t>investimentos internacionais </a:t>
            </a:r>
            <a:r>
              <a:rPr lang="pt-BR" sz="1000" dirty="0">
                <a:latin typeface="+mj-lt"/>
              </a:rPr>
              <a:t>(Gráfico 6) caiu para 21% (-15 </a:t>
            </a:r>
            <a:r>
              <a:rPr lang="pt-BR" sz="1000" dirty="0" err="1">
                <a:latin typeface="+mj-lt"/>
              </a:rPr>
              <a:t>p.p</a:t>
            </a:r>
            <a:r>
              <a:rPr lang="pt-BR" sz="1000" dirty="0">
                <a:latin typeface="+mj-lt"/>
              </a:rPr>
              <a:t>. M/M). As faixa de alocação (Gráfico 7) de 0-5% (-4 </a:t>
            </a:r>
            <a:r>
              <a:rPr lang="pt-BR" sz="1000" dirty="0" err="1">
                <a:latin typeface="+mj-lt"/>
              </a:rPr>
              <a:t>p.p</a:t>
            </a:r>
            <a:r>
              <a:rPr lang="pt-BR" sz="1000" dirty="0">
                <a:latin typeface="+mj-lt"/>
              </a:rPr>
              <a:t>. M/M) e 10-20% (-2 </a:t>
            </a:r>
            <a:r>
              <a:rPr lang="pt-BR" sz="1000" dirty="0" err="1">
                <a:latin typeface="+mj-lt"/>
              </a:rPr>
              <a:t>p.p</a:t>
            </a:r>
            <a:r>
              <a:rPr lang="pt-BR" sz="1000" dirty="0">
                <a:latin typeface="+mj-lt"/>
              </a:rPr>
              <a:t>. M/M) recuaram, enquanto a faixa de  5-10% apresentou um pequeno aumento (+3 </a:t>
            </a:r>
            <a:r>
              <a:rPr lang="pt-BR" sz="1000" dirty="0" err="1">
                <a:latin typeface="+mj-lt"/>
              </a:rPr>
              <a:t>p.p</a:t>
            </a:r>
            <a:r>
              <a:rPr lang="pt-BR" sz="1000" dirty="0">
                <a:latin typeface="+mj-lt"/>
              </a:rPr>
              <a:t>. M/M). Além disso, observamos um aumento no nível de alocação acima de 50%, que avançou de 1% para 4%.</a:t>
            </a:r>
          </a:p>
          <a:p>
            <a:pPr marL="0" lvl="1" indent="0" algn="just">
              <a:lnSpc>
                <a:spcPct val="125000"/>
              </a:lnSpc>
              <a:spcBef>
                <a:spcPts val="600"/>
              </a:spcBef>
              <a:buNone/>
            </a:pPr>
            <a:r>
              <a:rPr lang="pt-BR" sz="1000" dirty="0">
                <a:latin typeface="+mj-lt"/>
              </a:rPr>
              <a:t>De acordo com a nossa pesquisa, as classes de ativos internacionais mais demandadas são</a:t>
            </a:r>
            <a:r>
              <a:rPr lang="pt-BR" sz="1000" b="1" dirty="0">
                <a:latin typeface="+mj-lt"/>
              </a:rPr>
              <a:t>: 1) </a:t>
            </a:r>
            <a:r>
              <a:rPr lang="pt-BR" sz="1000" b="1" dirty="0" err="1">
                <a:latin typeface="+mj-lt"/>
              </a:rPr>
              <a:t>ETFs</a:t>
            </a:r>
            <a:r>
              <a:rPr lang="pt-BR" sz="1000" b="1" dirty="0">
                <a:latin typeface="+mj-lt"/>
              </a:rPr>
              <a:t> </a:t>
            </a:r>
            <a:r>
              <a:rPr lang="pt-BR" sz="1000" dirty="0">
                <a:latin typeface="+mj-lt"/>
              </a:rPr>
              <a:t>(67%, -3 </a:t>
            </a:r>
            <a:r>
              <a:rPr lang="pt-BR" sz="1000" dirty="0" err="1">
                <a:latin typeface="+mj-lt"/>
              </a:rPr>
              <a:t>p.p</a:t>
            </a:r>
            <a:r>
              <a:rPr lang="pt-BR" sz="1000" dirty="0">
                <a:latin typeface="+mj-lt"/>
              </a:rPr>
              <a:t>. M/M</a:t>
            </a:r>
            <a:r>
              <a:rPr lang="pt-BR" sz="1000" b="1" dirty="0">
                <a:latin typeface="+mj-lt"/>
              </a:rPr>
              <a:t>); 2) Fundos Internacionais </a:t>
            </a:r>
            <a:r>
              <a:rPr lang="pt-BR" sz="1000" dirty="0">
                <a:latin typeface="+mj-lt"/>
              </a:rPr>
              <a:t>(47%, -3 </a:t>
            </a:r>
            <a:r>
              <a:rPr lang="pt-BR" sz="1000" dirty="0" err="1">
                <a:latin typeface="+mj-lt"/>
              </a:rPr>
              <a:t>p.p</a:t>
            </a:r>
            <a:r>
              <a:rPr lang="pt-BR" sz="1000" dirty="0">
                <a:latin typeface="+mj-lt"/>
              </a:rPr>
              <a:t>. M/M); </a:t>
            </a:r>
            <a:r>
              <a:rPr lang="pt-BR" sz="1000" b="1" dirty="0">
                <a:latin typeface="+mj-lt"/>
              </a:rPr>
              <a:t>3) </a:t>
            </a:r>
            <a:r>
              <a:rPr lang="pt-BR" sz="1000" b="1" dirty="0" err="1">
                <a:latin typeface="+mj-lt"/>
              </a:rPr>
              <a:t>BDRs</a:t>
            </a:r>
            <a:r>
              <a:rPr lang="pt-BR" sz="1000" dirty="0">
                <a:latin typeface="+mj-lt"/>
              </a:rPr>
              <a:t> (36%, -6 </a:t>
            </a:r>
            <a:r>
              <a:rPr lang="pt-BR" sz="1000" dirty="0" err="1">
                <a:latin typeface="+mj-lt"/>
              </a:rPr>
              <a:t>p.p</a:t>
            </a:r>
            <a:r>
              <a:rPr lang="pt-BR" sz="1000" dirty="0">
                <a:latin typeface="+mj-lt"/>
              </a:rPr>
              <a:t>. M/M); </a:t>
            </a:r>
            <a:r>
              <a:rPr lang="pt-BR" sz="1000" b="1" dirty="0">
                <a:latin typeface="+mj-lt"/>
              </a:rPr>
              <a:t>4) Bonds </a:t>
            </a:r>
            <a:r>
              <a:rPr lang="pt-BR" sz="1000" dirty="0">
                <a:latin typeface="+mj-lt"/>
              </a:rPr>
              <a:t>(28%, +5 </a:t>
            </a:r>
            <a:r>
              <a:rPr lang="pt-BR" sz="1000" dirty="0" err="1">
                <a:latin typeface="+mj-lt"/>
              </a:rPr>
              <a:t>p.p</a:t>
            </a:r>
            <a:r>
              <a:rPr lang="pt-BR" sz="1000" dirty="0">
                <a:latin typeface="+mj-lt"/>
              </a:rPr>
              <a:t>. M/M); e </a:t>
            </a:r>
            <a:r>
              <a:rPr lang="pt-BR" sz="1000" b="1" dirty="0">
                <a:latin typeface="+mj-lt"/>
              </a:rPr>
              <a:t>5) Dólar </a:t>
            </a:r>
            <a:r>
              <a:rPr lang="pt-BR" sz="1000" dirty="0">
                <a:latin typeface="+mj-lt"/>
              </a:rPr>
              <a:t>(23%, -5 </a:t>
            </a:r>
            <a:r>
              <a:rPr lang="pt-BR" sz="1000" dirty="0" err="1">
                <a:latin typeface="+mj-lt"/>
              </a:rPr>
              <a:t>p.p</a:t>
            </a:r>
            <a:r>
              <a:rPr lang="pt-BR" sz="1000" dirty="0">
                <a:latin typeface="+mj-lt"/>
              </a:rPr>
              <a:t>. M/M).</a:t>
            </a:r>
          </a:p>
        </p:txBody>
      </p:sp>
      <p:sp>
        <p:nvSpPr>
          <p:cNvPr id="12" name="Content Placeholder 18">
            <a:extLst>
              <a:ext uri="{FF2B5EF4-FFF2-40B4-BE49-F238E27FC236}">
                <a16:creationId xmlns:a16="http://schemas.microsoft.com/office/drawing/2014/main" id="{CAF54323-308C-E7FE-AC6D-210ECEA038C6}"/>
              </a:ext>
            </a:extLst>
          </p:cNvPr>
          <p:cNvSpPr txBox="1">
            <a:spLocks/>
          </p:cNvSpPr>
          <p:nvPr/>
        </p:nvSpPr>
        <p:spPr>
          <a:xfrm>
            <a:off x="382830" y="2611135"/>
            <a:ext cx="6063034" cy="23083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marL="0" indent="0" algn="l" defTabSz="385767" rtl="0" eaLnBrk="1" latinLnBrk="0" hangingPunct="1">
              <a:lnSpc>
                <a:spcPct val="90000"/>
              </a:lnSpc>
              <a:spcBef>
                <a:spcPts val="422"/>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pt-BR" dirty="0"/>
              <a:t>Gráfico</a:t>
            </a:r>
            <a:r>
              <a:rPr lang="en-US" dirty="0"/>
              <a:t> 6: </a:t>
            </a:r>
            <a:r>
              <a:rPr lang="pt-BR" dirty="0"/>
              <a:t>Em quais ativos os seus clientes estão interessados?</a:t>
            </a:r>
          </a:p>
        </p:txBody>
      </p:sp>
      <p:pic>
        <p:nvPicPr>
          <p:cNvPr id="2" name="Picture 1">
            <a:extLst>
              <a:ext uri="{FF2B5EF4-FFF2-40B4-BE49-F238E27FC236}">
                <a16:creationId xmlns:a16="http://schemas.microsoft.com/office/drawing/2014/main" id="{F187578B-6546-EBF2-B0E8-55F53ED64606}"/>
              </a:ext>
            </a:extLst>
          </p:cNvPr>
          <p:cNvPicPr>
            <a:picLocks noChangeAspect="1"/>
          </p:cNvPicPr>
          <p:nvPr/>
        </p:nvPicPr>
        <p:blipFill>
          <a:blip r:embed="rId9">
            <a:alphaModFix amt="10000"/>
            <a:extLst>
              <a:ext uri="{28A0092B-C50C-407E-A947-70E740481C1C}">
                <a14:useLocalDpi xmlns:a14="http://schemas.microsoft.com/office/drawing/2010/main" val="0"/>
              </a:ext>
            </a:extLst>
          </a:blip>
          <a:stretch>
            <a:fillRect/>
          </a:stretch>
        </p:blipFill>
        <p:spPr>
          <a:xfrm>
            <a:off x="2252092" y="3740616"/>
            <a:ext cx="2446020" cy="297061"/>
          </a:xfrm>
          <a:prstGeom prst="rect">
            <a:avLst/>
          </a:prstGeom>
        </p:spPr>
      </p:pic>
      <p:pic>
        <p:nvPicPr>
          <p:cNvPr id="9" name="Picture 8">
            <a:extLst>
              <a:ext uri="{FF2B5EF4-FFF2-40B4-BE49-F238E27FC236}">
                <a16:creationId xmlns:a16="http://schemas.microsoft.com/office/drawing/2014/main" id="{C8C01C69-3B6B-4B81-074E-F106DA764060}"/>
              </a:ext>
            </a:extLst>
          </p:cNvPr>
          <p:cNvPicPr>
            <a:picLocks noChangeAspect="1"/>
          </p:cNvPicPr>
          <p:nvPr/>
        </p:nvPicPr>
        <p:blipFill>
          <a:blip r:embed="rId9">
            <a:alphaModFix amt="10000"/>
            <a:extLst>
              <a:ext uri="{28A0092B-C50C-407E-A947-70E740481C1C}">
                <a14:useLocalDpi xmlns:a14="http://schemas.microsoft.com/office/drawing/2010/main" val="0"/>
              </a:ext>
            </a:extLst>
          </a:blip>
          <a:stretch>
            <a:fillRect/>
          </a:stretch>
        </p:blipFill>
        <p:spPr>
          <a:xfrm>
            <a:off x="1000126" y="8271474"/>
            <a:ext cx="1958696" cy="237877"/>
          </a:xfrm>
          <a:prstGeom prst="rect">
            <a:avLst/>
          </a:prstGeom>
        </p:spPr>
      </p:pic>
      <p:pic>
        <p:nvPicPr>
          <p:cNvPr id="10" name="Picture 9">
            <a:extLst>
              <a:ext uri="{FF2B5EF4-FFF2-40B4-BE49-F238E27FC236}">
                <a16:creationId xmlns:a16="http://schemas.microsoft.com/office/drawing/2014/main" id="{6BF0C031-8EAE-EB48-6268-BFF5D7A6DF43}"/>
              </a:ext>
            </a:extLst>
          </p:cNvPr>
          <p:cNvPicPr>
            <a:picLocks noChangeAspect="1"/>
          </p:cNvPicPr>
          <p:nvPr/>
        </p:nvPicPr>
        <p:blipFill>
          <a:blip r:embed="rId9">
            <a:alphaModFix amt="10000"/>
            <a:extLst>
              <a:ext uri="{28A0092B-C50C-407E-A947-70E740481C1C}">
                <a14:useLocalDpi xmlns:a14="http://schemas.microsoft.com/office/drawing/2010/main" val="0"/>
              </a:ext>
            </a:extLst>
          </a:blip>
          <a:stretch>
            <a:fillRect/>
          </a:stretch>
        </p:blipFill>
        <p:spPr>
          <a:xfrm>
            <a:off x="4095564" y="8006734"/>
            <a:ext cx="1958696" cy="237877"/>
          </a:xfrm>
          <a:prstGeom prst="rect">
            <a:avLst/>
          </a:prstGeom>
        </p:spPr>
      </p:pic>
      <p:sp>
        <p:nvSpPr>
          <p:cNvPr id="19" name="Text Placeholder 12">
            <a:extLst>
              <a:ext uri="{FF2B5EF4-FFF2-40B4-BE49-F238E27FC236}">
                <a16:creationId xmlns:a16="http://schemas.microsoft.com/office/drawing/2014/main" id="{E979DC42-721D-D592-93B7-71D30C9AA00E}"/>
              </a:ext>
            </a:extLst>
          </p:cNvPr>
          <p:cNvSpPr txBox="1">
            <a:spLocks/>
          </p:cNvSpPr>
          <p:nvPr/>
        </p:nvSpPr>
        <p:spPr>
          <a:xfrm>
            <a:off x="822326" y="9548813"/>
            <a:ext cx="5451474" cy="197643"/>
          </a:xfrm>
          <a:prstGeom prst="rect">
            <a:avLst/>
          </a:prstGeom>
        </p:spPr>
        <p:txBody>
          <a:bodyPr vert="horz" lIns="0" tIns="0" rIns="0" bIns="0" rtlCol="0" anchor="ctr" anchorCtr="0">
            <a:noAutofit/>
          </a:bodyPr>
          <a:lstStyle>
            <a:lvl1pPr indent="0" defTabSz="385767">
              <a:lnSpc>
                <a:spcPct val="90000"/>
              </a:lnSpc>
              <a:spcBef>
                <a:spcPts val="422"/>
              </a:spcBef>
              <a:buFont typeface="Arial" panose="020B0604020202020204" pitchFamily="34" charset="0"/>
              <a:buNone/>
              <a:defRPr lang="pt-BR" sz="700" b="0">
                <a:latin typeface="Roboto" panose="02000000000000000000" pitchFamily="2" charset="0"/>
                <a:ea typeface="Roboto" panose="02000000000000000000" pitchFamily="2" charset="0"/>
                <a:cs typeface="Roboto" panose="02000000000000000000" pitchFamily="2" charset="0"/>
              </a:defRPr>
            </a:lvl1pPr>
            <a:lvl2pPr marL="227710" indent="-77020" defTabSz="385767">
              <a:lnSpc>
                <a:spcPct val="90000"/>
              </a:lnSpc>
              <a:spcBef>
                <a:spcPts val="211"/>
              </a:spcBef>
              <a:buFont typeface="Arial" panose="020B0604020202020204" pitchFamily="34" charset="0"/>
              <a:buChar char="•"/>
              <a:defRPr sz="591">
                <a:solidFill>
                  <a:schemeClr val="tx2"/>
                </a:solidFill>
              </a:defRPr>
            </a:lvl2pPr>
            <a:lvl3pPr marL="379070" indent="-77689" defTabSz="385767">
              <a:lnSpc>
                <a:spcPct val="90000"/>
              </a:lnSpc>
              <a:spcBef>
                <a:spcPts val="211"/>
              </a:spcBef>
              <a:buFont typeface="Arial" panose="020B0604020202020204" pitchFamily="34" charset="0"/>
              <a:buChar char="•"/>
              <a:defRPr sz="506">
                <a:solidFill>
                  <a:schemeClr val="tx2"/>
                </a:solidFill>
              </a:defRPr>
            </a:lvl3pPr>
            <a:lvl4pPr marL="529761" indent="-77689" defTabSz="385767">
              <a:lnSpc>
                <a:spcPct val="90000"/>
              </a:lnSpc>
              <a:spcBef>
                <a:spcPts val="211"/>
              </a:spcBef>
              <a:buFont typeface="Arial" panose="020B0604020202020204" pitchFamily="34" charset="0"/>
              <a:buChar char="•"/>
              <a:defRPr sz="464">
                <a:solidFill>
                  <a:schemeClr val="tx2"/>
                </a:solidFill>
              </a:defRPr>
            </a:lvl4pPr>
            <a:lvl5pPr marL="680451" indent="-73671" defTabSz="385767">
              <a:lnSpc>
                <a:spcPct val="90000"/>
              </a:lnSpc>
              <a:spcBef>
                <a:spcPts val="211"/>
              </a:spcBef>
              <a:buFont typeface="Arial" panose="020B0604020202020204" pitchFamily="34" charset="0"/>
              <a:buChar char="•"/>
              <a:defRPr sz="464">
                <a:solidFill>
                  <a:schemeClr val="tx2"/>
                </a:solidFill>
              </a:defRPr>
            </a:lvl5pPr>
            <a:lvl6pPr marL="1060860" indent="-96442" defTabSz="385767">
              <a:lnSpc>
                <a:spcPct val="90000"/>
              </a:lnSpc>
              <a:spcBef>
                <a:spcPts val="211"/>
              </a:spcBef>
              <a:buFont typeface="Arial" panose="020B0604020202020204" pitchFamily="34" charset="0"/>
              <a:buChar char="•"/>
              <a:defRPr sz="760"/>
            </a:lvl6pPr>
            <a:lvl7pPr marL="1253744" indent="-96442" defTabSz="385767">
              <a:lnSpc>
                <a:spcPct val="90000"/>
              </a:lnSpc>
              <a:spcBef>
                <a:spcPts val="211"/>
              </a:spcBef>
              <a:buFont typeface="Arial" panose="020B0604020202020204" pitchFamily="34" charset="0"/>
              <a:buChar char="•"/>
              <a:defRPr sz="760"/>
            </a:lvl7pPr>
            <a:lvl8pPr marL="1446628" indent="-96442" defTabSz="385767">
              <a:lnSpc>
                <a:spcPct val="90000"/>
              </a:lnSpc>
              <a:spcBef>
                <a:spcPts val="211"/>
              </a:spcBef>
              <a:buFont typeface="Arial" panose="020B0604020202020204" pitchFamily="34" charset="0"/>
              <a:buChar char="•"/>
              <a:defRPr sz="760"/>
            </a:lvl8pPr>
            <a:lvl9pPr marL="1639511" indent="-96442" defTabSz="385767">
              <a:lnSpc>
                <a:spcPct val="90000"/>
              </a:lnSpc>
              <a:spcBef>
                <a:spcPts val="211"/>
              </a:spcBef>
              <a:buFont typeface="Arial" panose="020B0604020202020204" pitchFamily="34" charset="0"/>
              <a:buChar char="•"/>
              <a:defRPr sz="760"/>
            </a:lvl9pPr>
          </a:lstStyle>
          <a:p>
            <a:r>
              <a:rPr lang="en-US" dirty="0"/>
              <a:t>Fonte: XP Research.</a:t>
            </a:r>
          </a:p>
        </p:txBody>
      </p:sp>
    </p:spTree>
    <p:extLst>
      <p:ext uri="{BB962C8B-B14F-4D97-AF65-F5344CB8AC3E}">
        <p14:creationId xmlns:p14="http://schemas.microsoft.com/office/powerpoint/2010/main" val="25159088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2AD5018F-570D-4460-8927-A3B3051C800E}"/>
              </a:ext>
            </a:extLst>
          </p:cNvPr>
          <p:cNvSpPr>
            <a:spLocks noGrp="1"/>
          </p:cNvSpPr>
          <p:nvPr>
            <p:ph sz="quarter" idx="23"/>
          </p:nvPr>
        </p:nvSpPr>
        <p:spPr>
          <a:xfrm>
            <a:off x="382829" y="6453874"/>
            <a:ext cx="6121399" cy="230832"/>
          </a:xfrm>
        </p:spPr>
        <p:txBody>
          <a:bodyPr/>
          <a:lstStyle/>
          <a:p>
            <a:r>
              <a:rPr lang="en-US" dirty="0" err="1"/>
              <a:t>Gráfico</a:t>
            </a:r>
            <a:r>
              <a:rPr lang="en-US" dirty="0"/>
              <a:t> 11: </a:t>
            </a:r>
            <a:r>
              <a:rPr lang="pt-BR" dirty="0"/>
              <a:t>Em quais setores seus clientes estão mais interessados em investir neste momento?</a:t>
            </a:r>
            <a:endParaRPr lang="en-US" dirty="0"/>
          </a:p>
        </p:txBody>
      </p:sp>
      <p:sp>
        <p:nvSpPr>
          <p:cNvPr id="6" name="Content Placeholder 5">
            <a:extLst>
              <a:ext uri="{FF2B5EF4-FFF2-40B4-BE49-F238E27FC236}">
                <a16:creationId xmlns:a16="http://schemas.microsoft.com/office/drawing/2014/main" id="{45D82C7F-DB97-4B2A-A680-AD343CB1158B}"/>
              </a:ext>
            </a:extLst>
          </p:cNvPr>
          <p:cNvSpPr>
            <a:spLocks noGrp="1"/>
          </p:cNvSpPr>
          <p:nvPr>
            <p:ph sz="quarter" idx="24"/>
          </p:nvPr>
        </p:nvSpPr>
        <p:spPr>
          <a:xfrm>
            <a:off x="3525413" y="1497012"/>
            <a:ext cx="2949758" cy="369332"/>
          </a:xfrm>
        </p:spPr>
        <p:txBody>
          <a:bodyPr/>
          <a:lstStyle/>
          <a:p>
            <a:r>
              <a:rPr lang="en-US" dirty="0" err="1"/>
              <a:t>Gráfico</a:t>
            </a:r>
            <a:r>
              <a:rPr lang="en-US" dirty="0"/>
              <a:t> 9: </a:t>
            </a:r>
            <a:r>
              <a:rPr lang="pt-BR" dirty="0"/>
              <a:t>Qual você acha que deve ser o maior risco para os ativos brasileiros nos próximos meses?</a:t>
            </a:r>
            <a:endParaRPr lang="en-US" dirty="0"/>
          </a:p>
        </p:txBody>
      </p:sp>
      <p:sp>
        <p:nvSpPr>
          <p:cNvPr id="13" name="Text Placeholder 12">
            <a:extLst>
              <a:ext uri="{FF2B5EF4-FFF2-40B4-BE49-F238E27FC236}">
                <a16:creationId xmlns:a16="http://schemas.microsoft.com/office/drawing/2014/main" id="{91CB6E43-F427-45C4-8CCA-B6B9FB01BE51}"/>
              </a:ext>
            </a:extLst>
          </p:cNvPr>
          <p:cNvSpPr>
            <a:spLocks noGrp="1"/>
          </p:cNvSpPr>
          <p:nvPr>
            <p:ph type="body" sz="quarter" idx="16"/>
          </p:nvPr>
        </p:nvSpPr>
        <p:spPr/>
        <p:txBody>
          <a:bodyPr/>
          <a:lstStyle/>
          <a:p>
            <a:r>
              <a:rPr lang="pt-BR" dirty="0"/>
              <a:t>Pesquisa de assessores XP</a:t>
            </a:r>
            <a:endParaRPr lang="en-US" dirty="0"/>
          </a:p>
        </p:txBody>
      </p:sp>
      <p:sp>
        <p:nvSpPr>
          <p:cNvPr id="14" name="Text Placeholder 13">
            <a:extLst>
              <a:ext uri="{FF2B5EF4-FFF2-40B4-BE49-F238E27FC236}">
                <a16:creationId xmlns:a16="http://schemas.microsoft.com/office/drawing/2014/main" id="{47224A0A-67DF-489B-B31C-88E427996765}"/>
              </a:ext>
            </a:extLst>
          </p:cNvPr>
          <p:cNvSpPr>
            <a:spLocks noGrp="1"/>
          </p:cNvSpPr>
          <p:nvPr>
            <p:ph type="body" sz="quarter" idx="17"/>
          </p:nvPr>
        </p:nvSpPr>
        <p:spPr>
          <a:xfrm>
            <a:off x="390155" y="1119209"/>
            <a:ext cx="6467845" cy="304570"/>
          </a:xfrm>
        </p:spPr>
        <p:txBody>
          <a:bodyPr/>
          <a:lstStyle/>
          <a:p>
            <a:r>
              <a:rPr lang="pt-BR" dirty="0">
                <a:solidFill>
                  <a:schemeClr val="tx1"/>
                </a:solidFill>
              </a:rPr>
              <a:t>Riscos fiscais segue como principal preocupação dos assessores</a:t>
            </a:r>
          </a:p>
        </p:txBody>
      </p:sp>
      <p:sp>
        <p:nvSpPr>
          <p:cNvPr id="16" name="Date Placeholder 15">
            <a:extLst>
              <a:ext uri="{FF2B5EF4-FFF2-40B4-BE49-F238E27FC236}">
                <a16:creationId xmlns:a16="http://schemas.microsoft.com/office/drawing/2014/main" id="{FB188C31-3171-4D95-A310-AFA63DBEA9CF}"/>
              </a:ext>
            </a:extLst>
          </p:cNvPr>
          <p:cNvSpPr>
            <a:spLocks noGrp="1"/>
          </p:cNvSpPr>
          <p:nvPr>
            <p:ph type="dt" sz="half" idx="2"/>
          </p:nvPr>
        </p:nvSpPr>
        <p:spPr/>
        <p:txBody>
          <a:bodyPr/>
          <a:lstStyle/>
          <a:p>
            <a:fld id="{4A529EE4-38FC-4E0A-A4DD-0BE4B8620C13}" type="datetime4">
              <a:rPr lang="pt-BR" smtClean="0"/>
              <a:pPr/>
              <a:t>27 de julho de 2026</a:t>
            </a:fld>
            <a:endParaRPr lang="en-US" dirty="0"/>
          </a:p>
        </p:txBody>
      </p:sp>
      <p:sp>
        <p:nvSpPr>
          <p:cNvPr id="20" name="Text Placeholder 1">
            <a:extLst>
              <a:ext uri="{FF2B5EF4-FFF2-40B4-BE49-F238E27FC236}">
                <a16:creationId xmlns:a16="http://schemas.microsoft.com/office/drawing/2014/main" id="{3578F872-FF75-4C19-A398-682DAAC77CFC}"/>
              </a:ext>
            </a:extLst>
          </p:cNvPr>
          <p:cNvSpPr txBox="1">
            <a:spLocks/>
          </p:cNvSpPr>
          <p:nvPr/>
        </p:nvSpPr>
        <p:spPr>
          <a:xfrm>
            <a:off x="382829" y="1505355"/>
            <a:ext cx="2994483" cy="4877961"/>
          </a:xfrm>
          <a:prstGeom prst="rect">
            <a:avLst/>
          </a:prstGeom>
          <a:no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kern="12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lang="en-US" sz="1800" kern="1200">
                <a:solidFill>
                  <a:schemeClr val="tx1"/>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pt-BR" sz="980" dirty="0"/>
              <a:t>Em relação aos principais riscos para as ações brasileiras, houve poucas alterações em relação à pesquisa anterior. 70% dos assessores apontam os </a:t>
            </a:r>
            <a:r>
              <a:rPr lang="pt-BR" sz="980" b="1" dirty="0"/>
              <a:t>Riscos fiscais no Brasil </a:t>
            </a:r>
            <a:r>
              <a:rPr lang="pt-BR" sz="980" dirty="0"/>
              <a:t>como a principal preocupação, enquanto 62% destacam a </a:t>
            </a:r>
            <a:r>
              <a:rPr lang="pt-BR" sz="980" b="1" dirty="0"/>
              <a:t>Instabilidade política/eleições. </a:t>
            </a:r>
            <a:r>
              <a:rPr lang="pt-BR" sz="980" dirty="0"/>
              <a:t>Além disso, </a:t>
            </a:r>
            <a:r>
              <a:rPr lang="pt-BR" sz="980" b="1" dirty="0"/>
              <a:t>juros mais altos que o esperado no Brasil</a:t>
            </a:r>
            <a:r>
              <a:rPr lang="pt-BR" sz="980" dirty="0"/>
              <a:t> também aparecem com destaque, citados por 42% dos respondentes.</a:t>
            </a:r>
          </a:p>
          <a:p>
            <a:r>
              <a:rPr lang="pt-BR" sz="980" dirty="0"/>
              <a:t>Quanto aos fatores que aumentariam o apetite por risco em ações brasileiras, </a:t>
            </a:r>
            <a:r>
              <a:rPr lang="pt-BR" sz="980" b="1" dirty="0"/>
              <a:t>Cortes de juros no Brasil</a:t>
            </a:r>
            <a:r>
              <a:rPr lang="pt-BR" sz="980" dirty="0"/>
              <a:t> segue na liderança apesar de forte queda neste mês, citados por 50% dos respondentes (-18 </a:t>
            </a:r>
            <a:r>
              <a:rPr lang="pt-BR" sz="980" dirty="0" err="1"/>
              <a:t>p.p</a:t>
            </a:r>
            <a:r>
              <a:rPr lang="pt-BR" sz="980" dirty="0"/>
              <a:t>. M/M), enquanto </a:t>
            </a:r>
            <a:r>
              <a:rPr lang="pt-BR" sz="980" b="1" dirty="0"/>
              <a:t>Queda de juros nos EUA e mundo</a:t>
            </a:r>
            <a:r>
              <a:rPr lang="pt-BR" sz="980" dirty="0"/>
              <a:t> permaneceu em segundo lugar com 36% (-3 </a:t>
            </a:r>
            <a:r>
              <a:rPr lang="pt-BR" sz="980" dirty="0" err="1"/>
              <a:t>p.p</a:t>
            </a:r>
            <a:r>
              <a:rPr lang="pt-BR" sz="980" dirty="0"/>
              <a:t>. M/M). </a:t>
            </a:r>
          </a:p>
          <a:p>
            <a:r>
              <a:rPr lang="pt-BR" sz="980" dirty="0"/>
              <a:t>Em relação às preferências setoriais, o posicionamento segue defensivo. </a:t>
            </a:r>
            <a:r>
              <a:rPr lang="pt-BR" sz="980" b="1" dirty="0"/>
              <a:t>Elétricas &amp; Saneamento </a:t>
            </a:r>
            <a:r>
              <a:rPr lang="pt-BR" sz="980" dirty="0"/>
              <a:t>assumiu a liderança com 64% (+8 </a:t>
            </a:r>
            <a:r>
              <a:rPr lang="pt-BR" sz="980" dirty="0" err="1"/>
              <a:t>p.p</a:t>
            </a:r>
            <a:r>
              <a:rPr lang="pt-BR" sz="980" dirty="0"/>
              <a:t>. M/M), seguido por </a:t>
            </a:r>
            <a:r>
              <a:rPr lang="pt-BR" sz="980" b="1" dirty="0"/>
              <a:t>Financeiro </a:t>
            </a:r>
            <a:r>
              <a:rPr lang="pt-BR" sz="980" dirty="0"/>
              <a:t>com 62% (0 </a:t>
            </a:r>
            <a:r>
              <a:rPr lang="pt-BR" sz="980" dirty="0" err="1"/>
              <a:t>p.p</a:t>
            </a:r>
            <a:r>
              <a:rPr lang="pt-BR" sz="980" dirty="0"/>
              <a:t>. M/M). Enquanto isso, setores mais sensíveis a juros, como </a:t>
            </a:r>
            <a:r>
              <a:rPr lang="pt-BR" sz="980" b="1" dirty="0"/>
              <a:t>Educação</a:t>
            </a:r>
            <a:r>
              <a:rPr lang="pt-BR" sz="980" dirty="0"/>
              <a:t> e </a:t>
            </a:r>
            <a:r>
              <a:rPr lang="pt-BR" sz="980" b="1" dirty="0"/>
              <a:t>Varejo</a:t>
            </a:r>
            <a:r>
              <a:rPr lang="pt-BR" sz="980" dirty="0"/>
              <a:t>, seguem na parte inferior, com 2% e 1% do interesse dos clientes, respectivamente.</a:t>
            </a:r>
          </a:p>
        </p:txBody>
      </p:sp>
      <p:graphicFrame>
        <p:nvGraphicFramePr>
          <p:cNvPr id="8" name="Object 7">
            <a:extLst>
              <a:ext uri="{FF2B5EF4-FFF2-40B4-BE49-F238E27FC236}">
                <a16:creationId xmlns:a16="http://schemas.microsoft.com/office/drawing/2014/main" id="{5B4D38DE-DC86-2124-E60A-481B027641E4}"/>
              </a:ext>
            </a:extLst>
          </p:cNvPr>
          <p:cNvGraphicFramePr>
            <a:graphicFrameLocks noChangeAspect="1"/>
          </p:cNvGraphicFramePr>
          <p:nvPr>
            <p:extLst>
              <p:ext uri="{D42A27DB-BD31-4B8C-83A1-F6EECF244321}">
                <p14:modId xmlns:p14="http://schemas.microsoft.com/office/powerpoint/2010/main" val="626113838"/>
              </p:ext>
            </p:extLst>
          </p:nvPr>
        </p:nvGraphicFramePr>
        <p:xfrm>
          <a:off x="3522964" y="4452939"/>
          <a:ext cx="2949758" cy="1742708"/>
        </p:xfrm>
        <a:graphic>
          <a:graphicData uri="http://schemas.openxmlformats.org/presentationml/2006/ole">
            <mc:AlternateContent xmlns:mc="http://schemas.openxmlformats.org/markup-compatibility/2006">
              <mc:Choice xmlns:v="urn:schemas-microsoft-com:vml" Requires="v">
                <p:oleObj name="Worksheet" r:id="rId3" imgW="4449938" imgH="2003950" progId="Excel.Sheet.12">
                  <p:link updateAutomatic="1"/>
                </p:oleObj>
              </mc:Choice>
              <mc:Fallback>
                <p:oleObj name="Worksheet" r:id="rId3" imgW="4449938" imgH="2003950" progId="Excel.Sheet.12">
                  <p:link updateAutomatic="1"/>
                  <p:pic>
                    <p:nvPicPr>
                      <p:cNvPr id="8" name="Object 7">
                        <a:extLst>
                          <a:ext uri="{FF2B5EF4-FFF2-40B4-BE49-F238E27FC236}">
                            <a16:creationId xmlns:a16="http://schemas.microsoft.com/office/drawing/2014/main" id="{5B4D38DE-DC86-2124-E60A-481B027641E4}"/>
                          </a:ext>
                        </a:extLst>
                      </p:cNvPr>
                      <p:cNvPicPr/>
                      <p:nvPr/>
                    </p:nvPicPr>
                    <p:blipFill>
                      <a:blip r:embed="rId4"/>
                      <a:stretch>
                        <a:fillRect/>
                      </a:stretch>
                    </p:blipFill>
                    <p:spPr>
                      <a:xfrm>
                        <a:off x="3522964" y="4452939"/>
                        <a:ext cx="2949758" cy="1742708"/>
                      </a:xfrm>
                      <a:prstGeom prst="rect">
                        <a:avLst/>
                      </a:prstGeom>
                    </p:spPr>
                  </p:pic>
                </p:oleObj>
              </mc:Fallback>
            </mc:AlternateContent>
          </a:graphicData>
        </a:graphic>
      </p:graphicFrame>
      <p:graphicFrame>
        <p:nvGraphicFramePr>
          <p:cNvPr id="9" name="Object 8">
            <a:extLst>
              <a:ext uri="{FF2B5EF4-FFF2-40B4-BE49-F238E27FC236}">
                <a16:creationId xmlns:a16="http://schemas.microsoft.com/office/drawing/2014/main" id="{F9EC6111-2A85-2A8A-AD2D-328F3DE26F63}"/>
              </a:ext>
            </a:extLst>
          </p:cNvPr>
          <p:cNvGraphicFramePr>
            <a:graphicFrameLocks noChangeAspect="1"/>
          </p:cNvGraphicFramePr>
          <p:nvPr>
            <p:extLst>
              <p:ext uri="{D42A27DB-BD31-4B8C-83A1-F6EECF244321}">
                <p14:modId xmlns:p14="http://schemas.microsoft.com/office/powerpoint/2010/main" val="1527405156"/>
              </p:ext>
            </p:extLst>
          </p:nvPr>
        </p:nvGraphicFramePr>
        <p:xfrm>
          <a:off x="390153" y="6755265"/>
          <a:ext cx="6114075" cy="2617335"/>
        </p:xfrm>
        <a:graphic>
          <a:graphicData uri="http://schemas.openxmlformats.org/presentationml/2006/ole">
            <mc:AlternateContent xmlns:mc="http://schemas.openxmlformats.org/markup-compatibility/2006">
              <mc:Choice xmlns:v="urn:schemas-microsoft-com:vml" Requires="v">
                <p:oleObj name="Worksheet" r:id="rId5" imgW="6225150" imgH="2697103" progId="Excel.Sheet.12">
                  <p:link updateAutomatic="1"/>
                </p:oleObj>
              </mc:Choice>
              <mc:Fallback>
                <p:oleObj name="Worksheet" r:id="rId5" imgW="6225150" imgH="2697103" progId="Excel.Sheet.12">
                  <p:link updateAutomatic="1"/>
                  <p:pic>
                    <p:nvPicPr>
                      <p:cNvPr id="9" name="Object 8">
                        <a:extLst>
                          <a:ext uri="{FF2B5EF4-FFF2-40B4-BE49-F238E27FC236}">
                            <a16:creationId xmlns:a16="http://schemas.microsoft.com/office/drawing/2014/main" id="{F9EC6111-2A85-2A8A-AD2D-328F3DE26F63}"/>
                          </a:ext>
                        </a:extLst>
                      </p:cNvPr>
                      <p:cNvPicPr/>
                      <p:nvPr/>
                    </p:nvPicPr>
                    <p:blipFill>
                      <a:blip r:embed="rId6"/>
                      <a:stretch>
                        <a:fillRect/>
                      </a:stretch>
                    </p:blipFill>
                    <p:spPr>
                      <a:xfrm>
                        <a:off x="390153" y="6755265"/>
                        <a:ext cx="6114075" cy="2617335"/>
                      </a:xfrm>
                      <a:prstGeom prst="rect">
                        <a:avLst/>
                      </a:prstGeom>
                    </p:spPr>
                  </p:pic>
                </p:oleObj>
              </mc:Fallback>
            </mc:AlternateContent>
          </a:graphicData>
        </a:graphic>
      </p:graphicFrame>
      <p:sp>
        <p:nvSpPr>
          <p:cNvPr id="19" name="Content Placeholder 5">
            <a:extLst>
              <a:ext uri="{FF2B5EF4-FFF2-40B4-BE49-F238E27FC236}">
                <a16:creationId xmlns:a16="http://schemas.microsoft.com/office/drawing/2014/main" id="{A3D82C16-22F2-A64D-522D-D65D4F8D5928}"/>
              </a:ext>
            </a:extLst>
          </p:cNvPr>
          <p:cNvSpPr txBox="1">
            <a:spLocks/>
          </p:cNvSpPr>
          <p:nvPr/>
        </p:nvSpPr>
        <p:spPr>
          <a:xfrm>
            <a:off x="3522964" y="3882662"/>
            <a:ext cx="2949758" cy="50783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marL="0" indent="0" algn="l" defTabSz="385767" rtl="0" eaLnBrk="1" latinLnBrk="0" hangingPunct="1">
              <a:lnSpc>
                <a:spcPct val="90000"/>
              </a:lnSpc>
              <a:spcBef>
                <a:spcPts val="422"/>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pt-BR" dirty="0"/>
              <a:t>Gráfico 10: Qual dos fatores abaixo aumentaria o apetite por risco dos clientes para alocar em ações brasileiras?</a:t>
            </a:r>
          </a:p>
        </p:txBody>
      </p:sp>
      <p:pic>
        <p:nvPicPr>
          <p:cNvPr id="2" name="Picture 1">
            <a:extLst>
              <a:ext uri="{FF2B5EF4-FFF2-40B4-BE49-F238E27FC236}">
                <a16:creationId xmlns:a16="http://schemas.microsoft.com/office/drawing/2014/main" id="{8E27BB59-5FD4-C9F9-3CB5-24DE9B074345}"/>
              </a:ext>
            </a:extLst>
          </p:cNvPr>
          <p:cNvPicPr>
            <a:picLocks noChangeAspect="1"/>
          </p:cNvPicPr>
          <p:nvPr/>
        </p:nvPicPr>
        <p:blipFill>
          <a:blip r:embed="rId7">
            <a:alphaModFix amt="10000"/>
            <a:extLst>
              <a:ext uri="{28A0092B-C50C-407E-A947-70E740481C1C}">
                <a14:useLocalDpi xmlns:a14="http://schemas.microsoft.com/office/drawing/2010/main" val="0"/>
              </a:ext>
            </a:extLst>
          </a:blip>
          <a:stretch>
            <a:fillRect/>
          </a:stretch>
        </p:blipFill>
        <p:spPr>
          <a:xfrm>
            <a:off x="2110416" y="7896716"/>
            <a:ext cx="3027322" cy="367658"/>
          </a:xfrm>
          <a:prstGeom prst="rect">
            <a:avLst/>
          </a:prstGeom>
        </p:spPr>
      </p:pic>
      <p:pic>
        <p:nvPicPr>
          <p:cNvPr id="4" name="Picture 3">
            <a:extLst>
              <a:ext uri="{FF2B5EF4-FFF2-40B4-BE49-F238E27FC236}">
                <a16:creationId xmlns:a16="http://schemas.microsoft.com/office/drawing/2014/main" id="{168CB05C-50C2-AA0C-D925-6150F0ED9669}"/>
              </a:ext>
            </a:extLst>
          </p:cNvPr>
          <p:cNvPicPr>
            <a:picLocks noChangeAspect="1"/>
          </p:cNvPicPr>
          <p:nvPr/>
        </p:nvPicPr>
        <p:blipFill>
          <a:blip r:embed="rId7">
            <a:alphaModFix amt="10000"/>
            <a:extLst>
              <a:ext uri="{28A0092B-C50C-407E-A947-70E740481C1C}">
                <a14:useLocalDpi xmlns:a14="http://schemas.microsoft.com/office/drawing/2010/main" val="0"/>
              </a:ext>
            </a:extLst>
          </a:blip>
          <a:stretch>
            <a:fillRect/>
          </a:stretch>
        </p:blipFill>
        <p:spPr>
          <a:xfrm>
            <a:off x="3968750" y="5254549"/>
            <a:ext cx="1958696" cy="237877"/>
          </a:xfrm>
          <a:prstGeom prst="rect">
            <a:avLst/>
          </a:prstGeom>
        </p:spPr>
      </p:pic>
      <p:pic>
        <p:nvPicPr>
          <p:cNvPr id="7" name="Picture 6">
            <a:extLst>
              <a:ext uri="{FF2B5EF4-FFF2-40B4-BE49-F238E27FC236}">
                <a16:creationId xmlns:a16="http://schemas.microsoft.com/office/drawing/2014/main" id="{3D8F7218-A917-50D0-B5CE-377DD0B4D133}"/>
              </a:ext>
            </a:extLst>
          </p:cNvPr>
          <p:cNvPicPr>
            <a:picLocks noChangeAspect="1"/>
          </p:cNvPicPr>
          <p:nvPr/>
        </p:nvPicPr>
        <p:blipFill>
          <a:blip r:embed="rId7">
            <a:alphaModFix amt="10000"/>
            <a:extLst>
              <a:ext uri="{28A0092B-C50C-407E-A947-70E740481C1C}">
                <a14:useLocalDpi xmlns:a14="http://schemas.microsoft.com/office/drawing/2010/main" val="0"/>
              </a:ext>
            </a:extLst>
          </a:blip>
          <a:stretch>
            <a:fillRect/>
          </a:stretch>
        </p:blipFill>
        <p:spPr>
          <a:xfrm>
            <a:off x="3968750" y="2812573"/>
            <a:ext cx="1958696" cy="237877"/>
          </a:xfrm>
          <a:prstGeom prst="rect">
            <a:avLst/>
          </a:prstGeom>
        </p:spPr>
      </p:pic>
      <p:sp>
        <p:nvSpPr>
          <p:cNvPr id="12" name="Text Placeholder 12">
            <a:extLst>
              <a:ext uri="{FF2B5EF4-FFF2-40B4-BE49-F238E27FC236}">
                <a16:creationId xmlns:a16="http://schemas.microsoft.com/office/drawing/2014/main" id="{C080D42B-1BFB-4E24-87F6-B48CFDBAEDDB}"/>
              </a:ext>
            </a:extLst>
          </p:cNvPr>
          <p:cNvSpPr txBox="1">
            <a:spLocks/>
          </p:cNvSpPr>
          <p:nvPr/>
        </p:nvSpPr>
        <p:spPr>
          <a:xfrm>
            <a:off x="822326" y="9548813"/>
            <a:ext cx="5451474" cy="197643"/>
          </a:xfrm>
          <a:prstGeom prst="rect">
            <a:avLst/>
          </a:prstGeom>
        </p:spPr>
        <p:txBody>
          <a:bodyPr vert="horz" lIns="0" tIns="0" rIns="0" bIns="0" rtlCol="0" anchor="ctr" anchorCtr="0">
            <a:noAutofit/>
          </a:bodyPr>
          <a:lstStyle>
            <a:lvl1pPr indent="0" defTabSz="385767">
              <a:lnSpc>
                <a:spcPct val="90000"/>
              </a:lnSpc>
              <a:spcBef>
                <a:spcPts val="422"/>
              </a:spcBef>
              <a:buFont typeface="Arial" panose="020B0604020202020204" pitchFamily="34" charset="0"/>
              <a:buNone/>
              <a:defRPr lang="pt-BR" sz="700" b="0">
                <a:latin typeface="Roboto" panose="02000000000000000000" pitchFamily="2" charset="0"/>
                <a:ea typeface="Roboto" panose="02000000000000000000" pitchFamily="2" charset="0"/>
                <a:cs typeface="Roboto" panose="02000000000000000000" pitchFamily="2" charset="0"/>
              </a:defRPr>
            </a:lvl1pPr>
            <a:lvl2pPr marL="227710" indent="-77020" defTabSz="385767">
              <a:lnSpc>
                <a:spcPct val="90000"/>
              </a:lnSpc>
              <a:spcBef>
                <a:spcPts val="211"/>
              </a:spcBef>
              <a:buFont typeface="Arial" panose="020B0604020202020204" pitchFamily="34" charset="0"/>
              <a:buChar char="•"/>
              <a:defRPr sz="591">
                <a:solidFill>
                  <a:schemeClr val="tx2"/>
                </a:solidFill>
              </a:defRPr>
            </a:lvl2pPr>
            <a:lvl3pPr marL="379070" indent="-77689" defTabSz="385767">
              <a:lnSpc>
                <a:spcPct val="90000"/>
              </a:lnSpc>
              <a:spcBef>
                <a:spcPts val="211"/>
              </a:spcBef>
              <a:buFont typeface="Arial" panose="020B0604020202020204" pitchFamily="34" charset="0"/>
              <a:buChar char="•"/>
              <a:defRPr sz="506">
                <a:solidFill>
                  <a:schemeClr val="tx2"/>
                </a:solidFill>
              </a:defRPr>
            </a:lvl3pPr>
            <a:lvl4pPr marL="529761" indent="-77689" defTabSz="385767">
              <a:lnSpc>
                <a:spcPct val="90000"/>
              </a:lnSpc>
              <a:spcBef>
                <a:spcPts val="211"/>
              </a:spcBef>
              <a:buFont typeface="Arial" panose="020B0604020202020204" pitchFamily="34" charset="0"/>
              <a:buChar char="•"/>
              <a:defRPr sz="464">
                <a:solidFill>
                  <a:schemeClr val="tx2"/>
                </a:solidFill>
              </a:defRPr>
            </a:lvl4pPr>
            <a:lvl5pPr marL="680451" indent="-73671" defTabSz="385767">
              <a:lnSpc>
                <a:spcPct val="90000"/>
              </a:lnSpc>
              <a:spcBef>
                <a:spcPts val="211"/>
              </a:spcBef>
              <a:buFont typeface="Arial" panose="020B0604020202020204" pitchFamily="34" charset="0"/>
              <a:buChar char="•"/>
              <a:defRPr sz="464">
                <a:solidFill>
                  <a:schemeClr val="tx2"/>
                </a:solidFill>
              </a:defRPr>
            </a:lvl5pPr>
            <a:lvl6pPr marL="1060860" indent="-96442" defTabSz="385767">
              <a:lnSpc>
                <a:spcPct val="90000"/>
              </a:lnSpc>
              <a:spcBef>
                <a:spcPts val="211"/>
              </a:spcBef>
              <a:buFont typeface="Arial" panose="020B0604020202020204" pitchFamily="34" charset="0"/>
              <a:buChar char="•"/>
              <a:defRPr sz="760"/>
            </a:lvl6pPr>
            <a:lvl7pPr marL="1253744" indent="-96442" defTabSz="385767">
              <a:lnSpc>
                <a:spcPct val="90000"/>
              </a:lnSpc>
              <a:spcBef>
                <a:spcPts val="211"/>
              </a:spcBef>
              <a:buFont typeface="Arial" panose="020B0604020202020204" pitchFamily="34" charset="0"/>
              <a:buChar char="•"/>
              <a:defRPr sz="760"/>
            </a:lvl7pPr>
            <a:lvl8pPr marL="1446628" indent="-96442" defTabSz="385767">
              <a:lnSpc>
                <a:spcPct val="90000"/>
              </a:lnSpc>
              <a:spcBef>
                <a:spcPts val="211"/>
              </a:spcBef>
              <a:buFont typeface="Arial" panose="020B0604020202020204" pitchFamily="34" charset="0"/>
              <a:buChar char="•"/>
              <a:defRPr sz="760"/>
            </a:lvl8pPr>
            <a:lvl9pPr marL="1639511" indent="-96442" defTabSz="385767">
              <a:lnSpc>
                <a:spcPct val="90000"/>
              </a:lnSpc>
              <a:spcBef>
                <a:spcPts val="211"/>
              </a:spcBef>
              <a:buFont typeface="Arial" panose="020B0604020202020204" pitchFamily="34" charset="0"/>
              <a:buChar char="•"/>
              <a:defRPr sz="760"/>
            </a:lvl9pPr>
          </a:lstStyle>
          <a:p>
            <a:r>
              <a:rPr lang="en-US" dirty="0"/>
              <a:t>Fonte: XP Research.</a:t>
            </a:r>
          </a:p>
        </p:txBody>
      </p:sp>
      <p:graphicFrame>
        <p:nvGraphicFramePr>
          <p:cNvPr id="15" name="Object 14">
            <a:extLst>
              <a:ext uri="{FF2B5EF4-FFF2-40B4-BE49-F238E27FC236}">
                <a16:creationId xmlns:a16="http://schemas.microsoft.com/office/drawing/2014/main" id="{827E07CC-15C4-E9FB-F605-FE79ADB523E6}"/>
              </a:ext>
            </a:extLst>
          </p:cNvPr>
          <p:cNvGraphicFramePr>
            <a:graphicFrameLocks noChangeAspect="1"/>
          </p:cNvGraphicFramePr>
          <p:nvPr>
            <p:extLst>
              <p:ext uri="{D42A27DB-BD31-4B8C-83A1-F6EECF244321}">
                <p14:modId xmlns:p14="http://schemas.microsoft.com/office/powerpoint/2010/main" val="1093629665"/>
              </p:ext>
            </p:extLst>
          </p:nvPr>
        </p:nvGraphicFramePr>
        <p:xfrm>
          <a:off x="3522964" y="1919558"/>
          <a:ext cx="2966736" cy="1963103"/>
        </p:xfrm>
        <a:graphic>
          <a:graphicData uri="http://schemas.openxmlformats.org/presentationml/2006/ole">
            <mc:AlternateContent xmlns:mc="http://schemas.openxmlformats.org/markup-compatibility/2006">
              <mc:Choice xmlns:v="urn:schemas-microsoft-com:vml" Requires="v">
                <p:oleObj name="Worksheet" r:id="rId8" imgW="3299070" imgH="2133333" progId="Excel.Sheet.12">
                  <p:link updateAutomatic="1"/>
                </p:oleObj>
              </mc:Choice>
              <mc:Fallback>
                <p:oleObj name="Worksheet" r:id="rId8" imgW="3299070" imgH="2133333" progId="Excel.Sheet.12">
                  <p:link updateAutomatic="1"/>
                  <p:pic>
                    <p:nvPicPr>
                      <p:cNvPr id="0" name=""/>
                      <p:cNvPicPr/>
                      <p:nvPr/>
                    </p:nvPicPr>
                    <p:blipFill>
                      <a:blip r:embed="rId9"/>
                      <a:stretch>
                        <a:fillRect/>
                      </a:stretch>
                    </p:blipFill>
                    <p:spPr>
                      <a:xfrm>
                        <a:off x="3522964" y="1919558"/>
                        <a:ext cx="2966736" cy="1963103"/>
                      </a:xfrm>
                      <a:prstGeom prst="rect">
                        <a:avLst/>
                      </a:prstGeom>
                    </p:spPr>
                  </p:pic>
                </p:oleObj>
              </mc:Fallback>
            </mc:AlternateContent>
          </a:graphicData>
        </a:graphic>
      </p:graphicFrame>
    </p:spTree>
    <p:extLst>
      <p:ext uri="{BB962C8B-B14F-4D97-AF65-F5344CB8AC3E}">
        <p14:creationId xmlns:p14="http://schemas.microsoft.com/office/powerpoint/2010/main" val="5944248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BA457CB-D19B-90F0-632E-A93C0CCA286C}"/>
              </a:ext>
            </a:extLst>
          </p:cNvPr>
          <p:cNvSpPr>
            <a:spLocks noGrp="1"/>
          </p:cNvSpPr>
          <p:nvPr>
            <p:ph type="body" sz="quarter" idx="20"/>
          </p:nvPr>
        </p:nvSpPr>
        <p:spPr>
          <a:xfrm>
            <a:off x="382829" y="1572591"/>
            <a:ext cx="6063034" cy="2551733"/>
          </a:xfrm>
          <a:noFill/>
        </p:spPr>
        <p:txBody>
          <a:bodyPr/>
          <a:lstStyle/>
          <a:p>
            <a:r>
              <a:rPr lang="pt-BR" dirty="0"/>
              <a:t>Após a recente correção da Bolsa brasileira, perguntamos aos assessores </a:t>
            </a:r>
            <a:r>
              <a:rPr lang="pt-BR" b="1" dirty="0"/>
              <a:t>qual alternativa melhor descrevia sua visão sobre o movimento e como seus clientes têm reagido</a:t>
            </a:r>
            <a:r>
              <a:rPr lang="pt-BR" dirty="0"/>
              <a:t>. A resposta mais frequente, mencionada por 49% dos assessores, foi de que a queda representa uma oportunidade de compra, mas que os investidores ainda preferem aguardar níveis mais atrativos antes de aumentar a exposição à renda variável Brasil.</a:t>
            </a:r>
          </a:p>
          <a:p>
            <a:r>
              <a:rPr lang="pt-BR" dirty="0"/>
              <a:t>Em seguida, 21% dos assessores afirmaram que seus clientes já vêm discutindo um aumento de alocação em ações brasileiras após a correção recente. Por outro lado, 17% adotam uma visão mais cautelosa, interpretando o movimento como reflexo de uma deterioração dos fundamentos, o que tem levado a conversas sobre redução da exposição à Bolsa por parte dos investidores.</a:t>
            </a:r>
          </a:p>
          <a:p>
            <a:r>
              <a:rPr lang="pt-BR" dirty="0"/>
              <a:t>Os resultados sugerem que, embora a percepção predominante está construtiva com ações brasileiras, a maior parte dos investidores ainda demonstra cautela na execução de novas alocações, preferindo aguardar maior convicção sobre o ponto de entrada.</a:t>
            </a:r>
          </a:p>
        </p:txBody>
      </p:sp>
      <p:sp>
        <p:nvSpPr>
          <p:cNvPr id="9" name="Content Placeholder 8">
            <a:extLst>
              <a:ext uri="{FF2B5EF4-FFF2-40B4-BE49-F238E27FC236}">
                <a16:creationId xmlns:a16="http://schemas.microsoft.com/office/drawing/2014/main" id="{C1A1EC03-F381-A638-A26C-45AA9400E522}"/>
              </a:ext>
            </a:extLst>
          </p:cNvPr>
          <p:cNvSpPr>
            <a:spLocks noGrp="1"/>
          </p:cNvSpPr>
          <p:nvPr>
            <p:ph sz="quarter" idx="27"/>
          </p:nvPr>
        </p:nvSpPr>
        <p:spPr>
          <a:xfrm>
            <a:off x="382828" y="4242817"/>
            <a:ext cx="6106870" cy="369332"/>
          </a:xfrm>
        </p:spPr>
        <p:txBody>
          <a:bodyPr/>
          <a:lstStyle/>
          <a:p>
            <a:r>
              <a:rPr lang="pt-BR" dirty="0"/>
              <a:t>Gráfico 12: Qual das alternativas melhor descreve sua visão sobre a recente correção da Bolsa brasileira e a conversas que você tem tido com seus clientes? </a:t>
            </a:r>
          </a:p>
        </p:txBody>
      </p:sp>
      <p:sp>
        <p:nvSpPr>
          <p:cNvPr id="13" name="Text Placeholder 12">
            <a:extLst>
              <a:ext uri="{FF2B5EF4-FFF2-40B4-BE49-F238E27FC236}">
                <a16:creationId xmlns:a16="http://schemas.microsoft.com/office/drawing/2014/main" id="{EB82FCFA-EB69-248D-E4A9-99CCBCDDE7D9}"/>
              </a:ext>
            </a:extLst>
          </p:cNvPr>
          <p:cNvSpPr>
            <a:spLocks noGrp="1"/>
          </p:cNvSpPr>
          <p:nvPr>
            <p:ph type="body" sz="quarter" idx="16"/>
          </p:nvPr>
        </p:nvSpPr>
        <p:spPr/>
        <p:txBody>
          <a:bodyPr/>
          <a:lstStyle/>
          <a:p>
            <a:r>
              <a:rPr lang="pt-BR" dirty="0"/>
              <a:t>Pesquisa de assessores XP</a:t>
            </a:r>
          </a:p>
        </p:txBody>
      </p:sp>
      <p:sp>
        <p:nvSpPr>
          <p:cNvPr id="14" name="Text Placeholder 13">
            <a:extLst>
              <a:ext uri="{FF2B5EF4-FFF2-40B4-BE49-F238E27FC236}">
                <a16:creationId xmlns:a16="http://schemas.microsoft.com/office/drawing/2014/main" id="{06FBE0DF-9486-67F7-5F86-886EC13D1E22}"/>
              </a:ext>
            </a:extLst>
          </p:cNvPr>
          <p:cNvSpPr>
            <a:spLocks noGrp="1"/>
          </p:cNvSpPr>
          <p:nvPr>
            <p:ph type="body" sz="quarter" idx="17"/>
          </p:nvPr>
        </p:nvSpPr>
        <p:spPr>
          <a:xfrm>
            <a:off x="390155" y="1119208"/>
            <a:ext cx="6099544" cy="453383"/>
          </a:xfrm>
        </p:spPr>
        <p:txBody>
          <a:bodyPr/>
          <a:lstStyle/>
          <a:p>
            <a:r>
              <a:rPr lang="pt-BR" sz="1550" dirty="0">
                <a:solidFill>
                  <a:schemeClr val="tx1"/>
                </a:solidFill>
              </a:rPr>
              <a:t>Maioria dos clientes ainda aguarda por um melhor ponto de entrada para aumentar exposição em RV Brasil</a:t>
            </a:r>
          </a:p>
        </p:txBody>
      </p:sp>
      <p:sp>
        <p:nvSpPr>
          <p:cNvPr id="16" name="Date Placeholder 15">
            <a:extLst>
              <a:ext uri="{FF2B5EF4-FFF2-40B4-BE49-F238E27FC236}">
                <a16:creationId xmlns:a16="http://schemas.microsoft.com/office/drawing/2014/main" id="{88F7D0E7-2F88-3A50-92E4-A62572FA57BD}"/>
              </a:ext>
            </a:extLst>
          </p:cNvPr>
          <p:cNvSpPr>
            <a:spLocks noGrp="1"/>
          </p:cNvSpPr>
          <p:nvPr>
            <p:ph type="dt" sz="half" idx="2"/>
          </p:nvPr>
        </p:nvSpPr>
        <p:spPr/>
        <p:txBody>
          <a:bodyPr/>
          <a:lstStyle/>
          <a:p>
            <a:fld id="{4A529EE4-38FC-4E0A-A4DD-0BE4B8620C13}" type="datetime4">
              <a:rPr lang="pt-BR" smtClean="0"/>
              <a:pPr/>
              <a:t>27 de julho de 2026</a:t>
            </a:fld>
            <a:endParaRPr lang="en-US" dirty="0"/>
          </a:p>
        </p:txBody>
      </p:sp>
      <p:sp>
        <p:nvSpPr>
          <p:cNvPr id="23" name="Text Placeholder 12">
            <a:extLst>
              <a:ext uri="{FF2B5EF4-FFF2-40B4-BE49-F238E27FC236}">
                <a16:creationId xmlns:a16="http://schemas.microsoft.com/office/drawing/2014/main" id="{842015B1-5FD6-802C-EFA2-8B324B5A7A17}"/>
              </a:ext>
            </a:extLst>
          </p:cNvPr>
          <p:cNvSpPr txBox="1">
            <a:spLocks/>
          </p:cNvSpPr>
          <p:nvPr/>
        </p:nvSpPr>
        <p:spPr>
          <a:xfrm>
            <a:off x="822326" y="9548813"/>
            <a:ext cx="5451474" cy="197643"/>
          </a:xfrm>
          <a:prstGeom prst="rect">
            <a:avLst/>
          </a:prstGeom>
        </p:spPr>
        <p:txBody>
          <a:bodyPr vert="horz" lIns="0" tIns="0" rIns="0" bIns="0" rtlCol="0" anchor="ctr" anchorCtr="0">
            <a:noAutofit/>
          </a:bodyPr>
          <a:lstStyle>
            <a:lvl1pPr indent="0" defTabSz="385767">
              <a:lnSpc>
                <a:spcPct val="90000"/>
              </a:lnSpc>
              <a:spcBef>
                <a:spcPts val="422"/>
              </a:spcBef>
              <a:buFont typeface="Arial" panose="020B0604020202020204" pitchFamily="34" charset="0"/>
              <a:buNone/>
              <a:defRPr lang="pt-BR" sz="700" b="0">
                <a:latin typeface="Roboto" panose="02000000000000000000" pitchFamily="2" charset="0"/>
                <a:ea typeface="Roboto" panose="02000000000000000000" pitchFamily="2" charset="0"/>
                <a:cs typeface="Roboto" panose="02000000000000000000" pitchFamily="2" charset="0"/>
              </a:defRPr>
            </a:lvl1pPr>
            <a:lvl2pPr marL="227710" indent="-77020" defTabSz="385767">
              <a:lnSpc>
                <a:spcPct val="90000"/>
              </a:lnSpc>
              <a:spcBef>
                <a:spcPts val="211"/>
              </a:spcBef>
              <a:buFont typeface="Arial" panose="020B0604020202020204" pitchFamily="34" charset="0"/>
              <a:buChar char="•"/>
              <a:defRPr sz="591">
                <a:solidFill>
                  <a:schemeClr val="tx2"/>
                </a:solidFill>
              </a:defRPr>
            </a:lvl2pPr>
            <a:lvl3pPr marL="379070" indent="-77689" defTabSz="385767">
              <a:lnSpc>
                <a:spcPct val="90000"/>
              </a:lnSpc>
              <a:spcBef>
                <a:spcPts val="211"/>
              </a:spcBef>
              <a:buFont typeface="Arial" panose="020B0604020202020204" pitchFamily="34" charset="0"/>
              <a:buChar char="•"/>
              <a:defRPr sz="506">
                <a:solidFill>
                  <a:schemeClr val="tx2"/>
                </a:solidFill>
              </a:defRPr>
            </a:lvl3pPr>
            <a:lvl4pPr marL="529761" indent="-77689" defTabSz="385767">
              <a:lnSpc>
                <a:spcPct val="90000"/>
              </a:lnSpc>
              <a:spcBef>
                <a:spcPts val="211"/>
              </a:spcBef>
              <a:buFont typeface="Arial" panose="020B0604020202020204" pitchFamily="34" charset="0"/>
              <a:buChar char="•"/>
              <a:defRPr sz="464">
                <a:solidFill>
                  <a:schemeClr val="tx2"/>
                </a:solidFill>
              </a:defRPr>
            </a:lvl4pPr>
            <a:lvl5pPr marL="680451" indent="-73671" defTabSz="385767">
              <a:lnSpc>
                <a:spcPct val="90000"/>
              </a:lnSpc>
              <a:spcBef>
                <a:spcPts val="211"/>
              </a:spcBef>
              <a:buFont typeface="Arial" panose="020B0604020202020204" pitchFamily="34" charset="0"/>
              <a:buChar char="•"/>
              <a:defRPr sz="464">
                <a:solidFill>
                  <a:schemeClr val="tx2"/>
                </a:solidFill>
              </a:defRPr>
            </a:lvl5pPr>
            <a:lvl6pPr marL="1060860" indent="-96442" defTabSz="385767">
              <a:lnSpc>
                <a:spcPct val="90000"/>
              </a:lnSpc>
              <a:spcBef>
                <a:spcPts val="211"/>
              </a:spcBef>
              <a:buFont typeface="Arial" panose="020B0604020202020204" pitchFamily="34" charset="0"/>
              <a:buChar char="•"/>
              <a:defRPr sz="760"/>
            </a:lvl6pPr>
            <a:lvl7pPr marL="1253744" indent="-96442" defTabSz="385767">
              <a:lnSpc>
                <a:spcPct val="90000"/>
              </a:lnSpc>
              <a:spcBef>
                <a:spcPts val="211"/>
              </a:spcBef>
              <a:buFont typeface="Arial" panose="020B0604020202020204" pitchFamily="34" charset="0"/>
              <a:buChar char="•"/>
              <a:defRPr sz="760"/>
            </a:lvl7pPr>
            <a:lvl8pPr marL="1446628" indent="-96442" defTabSz="385767">
              <a:lnSpc>
                <a:spcPct val="90000"/>
              </a:lnSpc>
              <a:spcBef>
                <a:spcPts val="211"/>
              </a:spcBef>
              <a:buFont typeface="Arial" panose="020B0604020202020204" pitchFamily="34" charset="0"/>
              <a:buChar char="•"/>
              <a:defRPr sz="760"/>
            </a:lvl8pPr>
            <a:lvl9pPr marL="1639511" indent="-96442" defTabSz="385767">
              <a:lnSpc>
                <a:spcPct val="90000"/>
              </a:lnSpc>
              <a:spcBef>
                <a:spcPts val="211"/>
              </a:spcBef>
              <a:buFont typeface="Arial" panose="020B0604020202020204" pitchFamily="34" charset="0"/>
              <a:buChar char="•"/>
              <a:defRPr sz="760"/>
            </a:lvl9pPr>
          </a:lstStyle>
          <a:p>
            <a:r>
              <a:rPr lang="en-US" dirty="0"/>
              <a:t>Fonte: XP Research.</a:t>
            </a:r>
          </a:p>
        </p:txBody>
      </p:sp>
      <p:pic>
        <p:nvPicPr>
          <p:cNvPr id="3" name="Picture 2">
            <a:extLst>
              <a:ext uri="{FF2B5EF4-FFF2-40B4-BE49-F238E27FC236}">
                <a16:creationId xmlns:a16="http://schemas.microsoft.com/office/drawing/2014/main" id="{852C97DF-4301-8F0B-CF58-85A5590EF2F6}"/>
              </a:ext>
            </a:extLst>
          </p:cNvPr>
          <p:cNvPicPr>
            <a:picLocks noChangeAspect="1"/>
          </p:cNvPicPr>
          <p:nvPr/>
        </p:nvPicPr>
        <p:blipFill>
          <a:blip r:embed="rId2">
            <a:alphaModFix amt="10000"/>
            <a:extLst>
              <a:ext uri="{28A0092B-C50C-407E-A947-70E740481C1C}">
                <a14:useLocalDpi xmlns:a14="http://schemas.microsoft.com/office/drawing/2010/main" val="0"/>
              </a:ext>
            </a:extLst>
          </a:blip>
          <a:stretch>
            <a:fillRect/>
          </a:stretch>
        </p:blipFill>
        <p:spPr>
          <a:xfrm>
            <a:off x="2235728" y="4556900"/>
            <a:ext cx="2667840" cy="324000"/>
          </a:xfrm>
          <a:prstGeom prst="rect">
            <a:avLst/>
          </a:prstGeom>
        </p:spPr>
      </p:pic>
      <p:graphicFrame>
        <p:nvGraphicFramePr>
          <p:cNvPr id="6" name="Chart 5">
            <a:extLst>
              <a:ext uri="{FF2B5EF4-FFF2-40B4-BE49-F238E27FC236}">
                <a16:creationId xmlns:a16="http://schemas.microsoft.com/office/drawing/2014/main" id="{C4590B4E-2565-71AB-6901-DB79F9B2AC70}"/>
              </a:ext>
            </a:extLst>
          </p:cNvPr>
          <p:cNvGraphicFramePr>
            <a:graphicFrameLocks/>
          </p:cNvGraphicFramePr>
          <p:nvPr>
            <p:extLst>
              <p:ext uri="{D42A27DB-BD31-4B8C-83A1-F6EECF244321}">
                <p14:modId xmlns:p14="http://schemas.microsoft.com/office/powerpoint/2010/main" val="3381477816"/>
              </p:ext>
            </p:extLst>
          </p:nvPr>
        </p:nvGraphicFramePr>
        <p:xfrm>
          <a:off x="331568" y="4640724"/>
          <a:ext cx="6158130" cy="298885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101158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Texto 1">
            <a:extLst>
              <a:ext uri="{FF2B5EF4-FFF2-40B4-BE49-F238E27FC236}">
                <a16:creationId xmlns:a16="http://schemas.microsoft.com/office/drawing/2014/main" id="{AF6185CC-FD9B-3988-0639-10DD5816BC9B}"/>
              </a:ext>
            </a:extLst>
          </p:cNvPr>
          <p:cNvSpPr>
            <a:spLocks noGrp="1"/>
          </p:cNvSpPr>
          <p:nvPr>
            <p:ph type="body" sz="quarter" idx="26"/>
          </p:nvPr>
        </p:nvSpPr>
        <p:spPr/>
        <p:txBody>
          <a:bodyPr/>
          <a:lstStyle/>
          <a:p>
            <a:endParaRPr lang="pt-BR"/>
          </a:p>
        </p:txBody>
      </p:sp>
      <p:sp>
        <p:nvSpPr>
          <p:cNvPr id="3" name="Espaço Reservado para Data 2">
            <a:extLst>
              <a:ext uri="{FF2B5EF4-FFF2-40B4-BE49-F238E27FC236}">
                <a16:creationId xmlns:a16="http://schemas.microsoft.com/office/drawing/2014/main" id="{10D8985B-BD7F-2B2F-1061-EE0336CDFB00}"/>
              </a:ext>
            </a:extLst>
          </p:cNvPr>
          <p:cNvSpPr>
            <a:spLocks noGrp="1"/>
          </p:cNvSpPr>
          <p:nvPr>
            <p:ph type="dt" sz="half" idx="2"/>
          </p:nvPr>
        </p:nvSpPr>
        <p:spPr/>
        <p:txBody>
          <a:bodyPr/>
          <a:lstStyle/>
          <a:p>
            <a:fld id="{FE07D0A2-1A20-49BB-8914-BD089A02E581}" type="datetime4">
              <a:rPr lang="pt-BR" smtClean="0"/>
              <a:pPr/>
              <a:t>27 de julho de 2026</a:t>
            </a:fld>
            <a:endParaRPr lang="en-US" dirty="0"/>
          </a:p>
        </p:txBody>
      </p:sp>
    </p:spTree>
    <p:extLst>
      <p:ext uri="{BB962C8B-B14F-4D97-AF65-F5344CB8AC3E}">
        <p14:creationId xmlns:p14="http://schemas.microsoft.com/office/powerpoint/2010/main" val="13390610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95528571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MM_SLIDE_TYPE" val="6"/>
</p:tagLst>
</file>

<file path=ppt/tags/tag6.xml><?xml version="1.0" encoding="utf-8"?>
<p:tagLst xmlns:a="http://schemas.openxmlformats.org/drawingml/2006/main" xmlns:r="http://schemas.openxmlformats.org/officeDocument/2006/relationships" xmlns:p="http://schemas.openxmlformats.org/presentationml/2006/main">
  <p:tag name="MM_SLIDE_TYPE" val="6"/>
</p:tagLst>
</file>

<file path=ppt/tags/tag7.xml><?xml version="1.0" encoding="utf-8"?>
<p:tagLst xmlns:a="http://schemas.openxmlformats.org/drawingml/2006/main" xmlns:r="http://schemas.openxmlformats.org/officeDocument/2006/relationships" xmlns:p="http://schemas.openxmlformats.org/presentationml/2006/main">
  <p:tag name="MM_SLIDE_TYPE" val="6"/>
</p:tagLst>
</file>

<file path=ppt/tags/tag8.xml><?xml version="1.0" encoding="utf-8"?>
<p:tagLst xmlns:a="http://schemas.openxmlformats.org/drawingml/2006/main" xmlns:r="http://schemas.openxmlformats.org/officeDocument/2006/relationships" xmlns:p="http://schemas.openxmlformats.org/presentationml/2006/main">
  <p:tag name="MM_SLIDE_TYPE" val="6"/>
</p:tagLst>
</file>

<file path=ppt/tags/tag9.xml><?xml version="1.0" encoding="utf-8"?>
<p:tagLst xmlns:a="http://schemas.openxmlformats.org/drawingml/2006/main" xmlns:r="http://schemas.openxmlformats.org/officeDocument/2006/relationships" xmlns:p="http://schemas.openxmlformats.org/presentationml/2006/main">
  <p:tag name="MM_SLIDE_TYPE" val="6"/>
</p:tagLst>
</file>

<file path=ppt/tags/tag10.xml><?xml version="1.0" encoding="utf-8"?>
<p:tagLst xmlns:a="http://schemas.openxmlformats.org/drawingml/2006/main" xmlns:r="http://schemas.openxmlformats.org/officeDocument/2006/relationships" xmlns:p="http://schemas.openxmlformats.org/presentationml/2006/main">
  <p:tag name="MM_SLIDE_TYPE" val="6"/>
</p:tagLst>
</file>

<file path=ppt/tags/tag11.xml><?xml version="1.0" encoding="utf-8"?>
<p:tagLst xmlns:a="http://schemas.openxmlformats.org/drawingml/2006/main" xmlns:r="http://schemas.openxmlformats.org/officeDocument/2006/relationships" xmlns:p="http://schemas.openxmlformats.org/presentationml/2006/main">
  <p:tag name="MM_SLIDE_TYPE" val="6"/>
</p:tagLst>
</file>

<file path=ppt/tags/tag12.xml><?xml version="1.0" encoding="utf-8"?>
<p:tagLst xmlns:a="http://schemas.openxmlformats.org/drawingml/2006/main" xmlns:r="http://schemas.openxmlformats.org/officeDocument/2006/relationships" xmlns:p="http://schemas.openxmlformats.org/presentationml/2006/main">
  <p:tag name="MM_SLIDE_TYPE" val="6"/>
</p:tagLst>
</file>

<file path=ppt/tags/tag13.xml><?xml version="1.0" encoding="utf-8"?>
<p:tagLst xmlns:a="http://schemas.openxmlformats.org/drawingml/2006/main" xmlns:r="http://schemas.openxmlformats.org/officeDocument/2006/relationships" xmlns:p="http://schemas.openxmlformats.org/presentationml/2006/main">
  <p:tag name="MM_SLIDE_TYPE" val="6"/>
</p:tagLst>
</file>

<file path=ppt/tags/tag14.xml><?xml version="1.0" encoding="utf-8"?>
<p:tagLst xmlns:a="http://schemas.openxmlformats.org/drawingml/2006/main" xmlns:r="http://schemas.openxmlformats.org/officeDocument/2006/relationships" xmlns:p="http://schemas.openxmlformats.org/presentationml/2006/main">
  <p:tag name="MM_SLIDE_TYPE" val="6"/>
</p:tagLst>
</file>

<file path=ppt/tags/tag15.xml><?xml version="1.0" encoding="utf-8"?>
<p:tagLst xmlns:a="http://schemas.openxmlformats.org/drawingml/2006/main" xmlns:r="http://schemas.openxmlformats.org/officeDocument/2006/relationships" xmlns:p="http://schemas.openxmlformats.org/presentationml/2006/main">
  <p:tag name="MM_SLIDE_TYPE" val="6"/>
</p:tagLst>
</file>

<file path=ppt/tags/tag16.xml><?xml version="1.0" encoding="utf-8"?>
<p:tagLst xmlns:a="http://schemas.openxmlformats.org/drawingml/2006/main" xmlns:r="http://schemas.openxmlformats.org/officeDocument/2006/relationships" xmlns:p="http://schemas.openxmlformats.org/presentationml/2006/main">
  <p:tag name="MM_SLIDE_TYPE" val="6"/>
</p:tagLst>
</file>

<file path=ppt/tags/tag17.xml><?xml version="1.0" encoding="utf-8"?>
<p:tagLst xmlns:a="http://schemas.openxmlformats.org/drawingml/2006/main" xmlns:r="http://schemas.openxmlformats.org/officeDocument/2006/relationships" xmlns:p="http://schemas.openxmlformats.org/presentationml/2006/main">
  <p:tag name="MM_SLIDE_TYPE" val="6"/>
</p:tagLst>
</file>

<file path=ppt/tags/tag18.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Tema IB 2021">
  <a:themeElements>
    <a:clrScheme name="Custom 80">
      <a:dk1>
        <a:srgbClr val="18191A"/>
      </a:dk1>
      <a:lt1>
        <a:srgbClr val="FFFFFF"/>
      </a:lt1>
      <a:dk2>
        <a:srgbClr val="3F3F3F"/>
      </a:dk2>
      <a:lt2>
        <a:srgbClr val="74797C"/>
      </a:lt2>
      <a:accent1>
        <a:srgbClr val="000000"/>
      </a:accent1>
      <a:accent2>
        <a:srgbClr val="323436"/>
      </a:accent2>
      <a:accent3>
        <a:srgbClr val="FFBC00"/>
      </a:accent3>
      <a:accent4>
        <a:srgbClr val="00D2C5"/>
      </a:accent4>
      <a:accent5>
        <a:srgbClr val="404040"/>
      </a:accent5>
      <a:accent6>
        <a:srgbClr val="7E7E7E"/>
      </a:accent6>
      <a:hlink>
        <a:srgbClr val="ABAAA8"/>
      </a:hlink>
      <a:folHlink>
        <a:srgbClr val="D8D7D6"/>
      </a:folHlink>
    </a:clrScheme>
    <a:fontScheme name="Custom 8">
      <a:majorFont>
        <a:latin typeface="Roboto Light"/>
        <a:ea typeface=""/>
        <a:cs typeface=""/>
      </a:majorFont>
      <a:minorFont>
        <a:latin typeface="Roboto Light"/>
        <a:ea typeface=""/>
        <a:cs typeface=""/>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tlCol="0" anchor="ctr"/>
      <a:lstStyle>
        <a:defPPr algn="ctr">
          <a:defRPr sz="1000" dirty="0">
            <a:solidFill>
              <a:schemeClr val="tx1"/>
            </a:solidFill>
            <a:latin typeface="Roboto" panose="02000000000000000000" pitchFamily="2" charset="0"/>
            <a:ea typeface="Roboto" panose="02000000000000000000" pitchFamily="2" charset="0"/>
            <a:cs typeface="Roboto"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dirty="0" err="1" smtClean="0">
            <a:latin typeface="Roboto" panose="02000000000000000000" pitchFamily="2" charset="0"/>
            <a:ea typeface="Roboto" panose="02000000000000000000" pitchFamily="2" charset="0"/>
            <a:cs typeface="Roboto" panose="02000000000000000000" pitchFamily="2" charset="0"/>
          </a:defRPr>
        </a:defPPr>
      </a:lstStyle>
    </a:txDef>
  </a:objectDefaults>
  <a:extraClrSchemeLst/>
  <a:extLst>
    <a:ext uri="{05A4C25C-085E-4340-85A3-A5531E510DB2}">
      <thm15:themeFamily xmlns:thm15="http://schemas.microsoft.com/office/thememl/2012/main" name="Tema IB 2021" id="{6D847418-CD83-4597-AEBD-50544DA1ED74}" vid="{44D405C9-CCFA-46ED-BC78-7E1D304E95E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XP">
    <a:dk1>
      <a:sysClr val="windowText" lastClr="000000"/>
    </a:dk1>
    <a:lt1>
      <a:sysClr val="window" lastClr="FFFFFF"/>
    </a:lt1>
    <a:dk2>
      <a:srgbClr val="3F3F3F"/>
    </a:dk2>
    <a:lt2>
      <a:srgbClr val="74797C"/>
    </a:lt2>
    <a:accent1>
      <a:srgbClr val="1F2F44"/>
    </a:accent1>
    <a:accent2>
      <a:srgbClr val="F9C113"/>
    </a:accent2>
    <a:accent3>
      <a:srgbClr val="8EB3DF"/>
    </a:accent3>
    <a:accent4>
      <a:srgbClr val="707971"/>
    </a:accent4>
    <a:accent5>
      <a:srgbClr val="494849"/>
    </a:accent5>
    <a:accent6>
      <a:srgbClr val="000000"/>
    </a:accent6>
    <a:hlink>
      <a:srgbClr val="3F3F3F"/>
    </a:hlink>
    <a:folHlink>
      <a:srgbClr val="74797C"/>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XP">
    <a:dk1>
      <a:sysClr val="windowText" lastClr="000000"/>
    </a:dk1>
    <a:lt1>
      <a:sysClr val="window" lastClr="FFFFFF"/>
    </a:lt1>
    <a:dk2>
      <a:srgbClr val="3F3F3F"/>
    </a:dk2>
    <a:lt2>
      <a:srgbClr val="74797C"/>
    </a:lt2>
    <a:accent1>
      <a:srgbClr val="1F2F44"/>
    </a:accent1>
    <a:accent2>
      <a:srgbClr val="F9C113"/>
    </a:accent2>
    <a:accent3>
      <a:srgbClr val="8EB3DF"/>
    </a:accent3>
    <a:accent4>
      <a:srgbClr val="707971"/>
    </a:accent4>
    <a:accent5>
      <a:srgbClr val="494849"/>
    </a:accent5>
    <a:accent6>
      <a:srgbClr val="000000"/>
    </a:accent6>
    <a:hlink>
      <a:srgbClr val="3F3F3F"/>
    </a:hlink>
    <a:folHlink>
      <a:srgbClr val="74797C"/>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Metadata/LabelInfo.xml><?xml version="1.0" encoding="utf-8"?>
<clbl:labelList xmlns:clbl="http://schemas.microsoft.com/office/2020/mipLabelMetadata">
  <clbl:label id="{e6a9157b-bcf3-4eac-b03e-7cf007ba9fdf}" enabled="1" method="Privileged" siteId="{cf56e405-d2b0-4266-b210-aa04636b6161}" contentBits="2" removed="0"/>
</clbl:labelList>
</file>

<file path=docProps/app.xml><?xml version="1.0" encoding="utf-8"?>
<Properties xmlns="http://schemas.openxmlformats.org/officeDocument/2006/extended-properties" xmlns:vt="http://schemas.openxmlformats.org/officeDocument/2006/docPropsVTypes">
  <Template>Tema IB 2021</Template>
  <TotalTime>21254</TotalTime>
  <Words>2556</Words>
  <Application>Microsoft Office PowerPoint</Application>
  <PresentationFormat>A4 Paper (210x297 mm)</PresentationFormat>
  <Paragraphs>87</Paragraphs>
  <Slides>9</Slides>
  <Notes>5</Notes>
  <HiddenSlides>0</HiddenSlides>
  <MMClips>0</MMClips>
  <ScaleCrop>false</ScaleCrop>
  <HeadingPairs>
    <vt:vector size="8" baseType="variant">
      <vt:variant>
        <vt:lpstr>Fonts Used</vt:lpstr>
      </vt:variant>
      <vt:variant>
        <vt:i4>5</vt:i4>
      </vt:variant>
      <vt:variant>
        <vt:lpstr>Theme</vt:lpstr>
      </vt:variant>
      <vt:variant>
        <vt:i4>1</vt:i4>
      </vt:variant>
      <vt:variant>
        <vt:lpstr>Links</vt:lpstr>
      </vt:variant>
      <vt:variant>
        <vt:i4>11</vt:i4>
      </vt:variant>
      <vt:variant>
        <vt:lpstr>Slide Titles</vt:lpstr>
      </vt:variant>
      <vt:variant>
        <vt:i4>9</vt:i4>
      </vt:variant>
    </vt:vector>
  </HeadingPairs>
  <TitlesOfParts>
    <vt:vector size="26" baseType="lpstr">
      <vt:lpstr>Arial</vt:lpstr>
      <vt:lpstr>Calibri</vt:lpstr>
      <vt:lpstr>Roboto</vt:lpstr>
      <vt:lpstr>Roboto Light</vt:lpstr>
      <vt:lpstr>Roboto Light</vt:lpstr>
      <vt:lpstr>Tema IB 2021</vt:lpstr>
      <vt:lpstr>file:///\\xpdocs\Research\Equities\Estrategia\Reports\Pesquisa%20assessores\PA%20Principal.xlsx!Charts!%5bPA%20Principal.xlsx%5dCharts%20Gráfico%201-1</vt:lpstr>
      <vt:lpstr>file:///\\xpdocs\Research\Equities\Estrategia\Reports\Pesquisa%20assessores\PA%20Principal.xlsx!Charts!%5bPA%20Principal.xlsx%5dCharts%20Gráfico%205-1</vt:lpstr>
      <vt:lpstr>file:///\\xpdocs\Research\Equities\Estrategia\Reports\Pesquisa%20assessores\PA%20Principal.xlsx!Charts!%5bPA%20Principal.xlsx%5dCharts%20Espaço%20Reservado%20para%20Conteúdo%2014</vt:lpstr>
      <vt:lpstr>file:///\\xpdocs\Research\Equities\Estrategia\Reports\Pesquisa%20assessores\PA%20Principal.xlsx!Charts!%5bPA%20Principal.xlsx%5dCharts%20Chart%2010</vt:lpstr>
      <vt:lpstr>file:///\\xpdocs\Research\Equities\Estrategia\Reports\Pesquisa%20assessores\PA%20Principal.xlsx!Charts!%5bPA%20Principal.xlsx%5dCharts%20Gráfico%2022</vt:lpstr>
      <vt:lpstr>file:///\\xpdocs\Research\Equities\Estrategia\Reports\Pesquisa%20assessores\PA%20Principal.xlsx!Charts!%5bPA%20Principal.xlsx%5dCharts%20Gráfico%2011</vt:lpstr>
      <vt:lpstr>file:///\\xpdocs\Research\Equities\Estrategia\Reports\Pesquisa%20assessores\PA%20Principal.xlsx!Charts!%5bPA%20Principal.xlsx%5dCharts%20Espaço%20Reservado%20para%20Conteúdo%2020-1</vt:lpstr>
      <vt:lpstr>file:///\\xpdocs\Research\Equities\Estrategia\Reports\Pesquisa%20assessores\PA%20Principal.xlsx!Charts!%5bPA%20Principal.xlsx%5dCharts%20Chart%2021</vt:lpstr>
      <vt:lpstr>file:///\\xpdocs\Research\Equities\Estrategia\Reports\Pesquisa%20assessores\PA%20Principal.xlsx!Charts!%5bPA%20Principal.xlsx%5dCharts%20Gráfico%202-2</vt:lpstr>
      <vt:lpstr>file:///\\xpdocs\Research\Equities\Estrategia\Reports\Pesquisa%20assessores\PA%20Principal.xlsx!Charts!%5bPA%20Principal.xlsx%5dCharts%20Chart%205</vt:lpstr>
      <vt:lpstr>file:///\\xpdocs\Research\Equities\Estrategia\Reports\Pesquisa%20assessores\PA%20Principal.xlsx!Charts!%5bPA%20Principal.xlsx%5dCharts%20Chart%204-1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XP Pesquisa com Assessores</dc:title>
  <dc:creator>Amanda Augusti</dc:creator>
  <cp:lastModifiedBy>Caio Souza</cp:lastModifiedBy>
  <cp:revision>1020</cp:revision>
  <dcterms:created xsi:type="dcterms:W3CDTF">2022-03-20T14:16:37Z</dcterms:created>
  <dcterms:modified xsi:type="dcterms:W3CDTF">2026-07-27T21:07:36Z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6a9157b-bcf3-4eac-b03e-7cf007ba9fdf_Enabled">
    <vt:lpwstr>true</vt:lpwstr>
  </property>
  <property fmtid="{D5CDD505-2E9C-101B-9397-08002B2CF9AE}" pid="3" name="MSIP_Label_e6a9157b-bcf3-4eac-b03e-7cf007ba9fdf_SetDate">
    <vt:lpwstr>2024-04-15T18:15:06Z</vt:lpwstr>
  </property>
  <property fmtid="{D5CDD505-2E9C-101B-9397-08002B2CF9AE}" pid="4" name="MSIP_Label_e6a9157b-bcf3-4eac-b03e-7cf007ba9fdf_Method">
    <vt:lpwstr>Standard</vt:lpwstr>
  </property>
  <property fmtid="{D5CDD505-2E9C-101B-9397-08002B2CF9AE}" pid="5" name="MSIP_Label_e6a9157b-bcf3-4eac-b03e-7cf007ba9fdf_Name">
    <vt:lpwstr>Publica</vt:lpwstr>
  </property>
  <property fmtid="{D5CDD505-2E9C-101B-9397-08002B2CF9AE}" pid="6" name="MSIP_Label_e6a9157b-bcf3-4eac-b03e-7cf007ba9fdf_SiteId">
    <vt:lpwstr>cf56e405-d2b0-4266-b210-aa04636b6161</vt:lpwstr>
  </property>
  <property fmtid="{D5CDD505-2E9C-101B-9397-08002B2CF9AE}" pid="7" name="MSIP_Label_e6a9157b-bcf3-4eac-b03e-7cf007ba9fdf_ActionId">
    <vt:lpwstr>3580c7bf-61c5-4191-8d0f-9e57fbfad6cc</vt:lpwstr>
  </property>
  <property fmtid="{D5CDD505-2E9C-101B-9397-08002B2CF9AE}" pid="8" name="MSIP_Label_e6a9157b-bcf3-4eac-b03e-7cf007ba9fdf_ContentBits">
    <vt:lpwstr>2</vt:lpwstr>
  </property>
  <property fmtid="{D5CDD505-2E9C-101B-9397-08002B2CF9AE}" pid="9" name="ClassificationContentMarkingFooterLocations">
    <vt:lpwstr>Tema IB 2021:5</vt:lpwstr>
  </property>
  <property fmtid="{D5CDD505-2E9C-101B-9397-08002B2CF9AE}" pid="10" name="ClassificationContentMarkingFooterText">
    <vt:lpwstr>[ CLASSIFICAÇÃO: PÚBLICA ]</vt:lpwstr>
  </property>
</Properties>
</file>