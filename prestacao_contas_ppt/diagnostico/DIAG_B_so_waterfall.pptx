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Ex1.xml" ContentType="application/vnd.ms-office.chartex+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media/image2.jpg" ContentType="image/jpg"/>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883" r:id="rId1"/>
    <p:sldMasterId id="2147483648" r:id="rId2"/>
  </p:sldMasterIdLst>
  <p:notesMasterIdLst>
    <p:notesMasterId r:id="rId6"/>
  </p:notesMasterIdLst>
  <p:sldIdLst>
    <p:sldId id="269" r:id="rId3"/>
    <p:sldId id="273" r:id="rId4"/>
    <p:sldId id="267" r:id="rId5"/>
  </p:sldIdLst>
  <p:sldSz cx="6858000" cy="9906000" type="A4"/>
  <p:notesSz cx="6858000" cy="9144000"/>
  <p:defaultTextStyle>
    <a:defPPr>
      <a:defRPr lang="en-US"/>
    </a:defPPr>
    <a:lvl1pPr marL="0" algn="l" defTabSz="473926" rtl="0" eaLnBrk="1" latinLnBrk="0" hangingPunct="1">
      <a:defRPr sz="1865" kern="1200">
        <a:solidFill>
          <a:schemeClr val="tx1"/>
        </a:solidFill>
        <a:latin typeface="+mn-lt"/>
        <a:ea typeface="+mn-ea"/>
        <a:cs typeface="+mn-cs"/>
      </a:defRPr>
    </a:lvl1pPr>
    <a:lvl2pPr marL="473926" algn="l" defTabSz="473926" rtl="0" eaLnBrk="1" latinLnBrk="0" hangingPunct="1">
      <a:defRPr sz="1865" kern="1200">
        <a:solidFill>
          <a:schemeClr val="tx1"/>
        </a:solidFill>
        <a:latin typeface="+mn-lt"/>
        <a:ea typeface="+mn-ea"/>
        <a:cs typeface="+mn-cs"/>
      </a:defRPr>
    </a:lvl2pPr>
    <a:lvl3pPr marL="947852" algn="l" defTabSz="473926" rtl="0" eaLnBrk="1" latinLnBrk="0" hangingPunct="1">
      <a:defRPr sz="1865" kern="1200">
        <a:solidFill>
          <a:schemeClr val="tx1"/>
        </a:solidFill>
        <a:latin typeface="+mn-lt"/>
        <a:ea typeface="+mn-ea"/>
        <a:cs typeface="+mn-cs"/>
      </a:defRPr>
    </a:lvl3pPr>
    <a:lvl4pPr marL="1421777" algn="l" defTabSz="473926" rtl="0" eaLnBrk="1" latinLnBrk="0" hangingPunct="1">
      <a:defRPr sz="1865" kern="1200">
        <a:solidFill>
          <a:schemeClr val="tx1"/>
        </a:solidFill>
        <a:latin typeface="+mn-lt"/>
        <a:ea typeface="+mn-ea"/>
        <a:cs typeface="+mn-cs"/>
      </a:defRPr>
    </a:lvl4pPr>
    <a:lvl5pPr marL="1895703" algn="l" defTabSz="473926" rtl="0" eaLnBrk="1" latinLnBrk="0" hangingPunct="1">
      <a:defRPr sz="1865" kern="1200">
        <a:solidFill>
          <a:schemeClr val="tx1"/>
        </a:solidFill>
        <a:latin typeface="+mn-lt"/>
        <a:ea typeface="+mn-ea"/>
        <a:cs typeface="+mn-cs"/>
      </a:defRPr>
    </a:lvl5pPr>
    <a:lvl6pPr marL="2369629" algn="l" defTabSz="473926" rtl="0" eaLnBrk="1" latinLnBrk="0" hangingPunct="1">
      <a:defRPr sz="1865" kern="1200">
        <a:solidFill>
          <a:schemeClr val="tx1"/>
        </a:solidFill>
        <a:latin typeface="+mn-lt"/>
        <a:ea typeface="+mn-ea"/>
        <a:cs typeface="+mn-cs"/>
      </a:defRPr>
    </a:lvl6pPr>
    <a:lvl7pPr marL="2843555" algn="l" defTabSz="473926" rtl="0" eaLnBrk="1" latinLnBrk="0" hangingPunct="1">
      <a:defRPr sz="1865" kern="1200">
        <a:solidFill>
          <a:schemeClr val="tx1"/>
        </a:solidFill>
        <a:latin typeface="+mn-lt"/>
        <a:ea typeface="+mn-ea"/>
        <a:cs typeface="+mn-cs"/>
      </a:defRPr>
    </a:lvl7pPr>
    <a:lvl8pPr marL="3317480" algn="l" defTabSz="473926" rtl="0" eaLnBrk="1" latinLnBrk="0" hangingPunct="1">
      <a:defRPr sz="1865" kern="1200">
        <a:solidFill>
          <a:schemeClr val="tx1"/>
        </a:solidFill>
        <a:latin typeface="+mn-lt"/>
        <a:ea typeface="+mn-ea"/>
        <a:cs typeface="+mn-cs"/>
      </a:defRPr>
    </a:lvl8pPr>
    <a:lvl9pPr marL="3791405" algn="l" defTabSz="473926" rtl="0" eaLnBrk="1" latinLnBrk="0" hangingPunct="1">
      <a:defRPr sz="1865"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5959"/>
    <a:srgbClr val="A6A6A6"/>
    <a:srgbClr val="CC3333"/>
    <a:srgbClr val="0B844C"/>
    <a:srgbClr val="B6DAC9"/>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78CCD8F-60A7-44EF-9BE2-EECB5075B632}" v="1" dt="2026-05-15T18:09:43.330"/>
  </p1510:revLst>
</p1510:revInfo>
</file>

<file path=ppt/tableStyles.xml><?xml version="1.0" encoding="utf-8"?>
<a:tblStyleLst xmlns:a="http://schemas.openxmlformats.org/drawingml/2006/main" def="{5C22544A-7EE6-4342-B048-85BDC9FD1C3A}">
  <a:tblStyle styleId="{5C22544A-7EE6-4342-B048-85BDC9FD1C3A}" styleName="Estilo Médio 2 - Ênfase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218" autoAdjust="0"/>
    <p:restoredTop sz="96126" autoAdjust="0"/>
  </p:normalViewPr>
  <p:slideViewPr>
    <p:cSldViewPr snapToGrid="0">
      <p:cViewPr>
        <p:scale>
          <a:sx n="98" d="100"/>
          <a:sy n="98" d="100"/>
        </p:scale>
        <p:origin x="2820" y="-93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oleObject" Target="https://xpcorretora-my.sharepoint.com/personal/joao_faia_xpi_com_br/Documents/CVP/Estudo%20Carteiras%20Automatizadas/Gr&#225;fico%20Desomposi&#231;&#227;o%20dos%20resultados%20de%20carteira.xlsx" TargetMode="External"/></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themeOverride" Target="../theme/themeOverride1.xml"/><Relationship Id="rId4" Type="http://schemas.openxmlformats.org/officeDocument/2006/relationships/package" Target="../embeddings/Microsoft_Excel_Worksheet.xlsx"/></Relationships>
</file>

<file path=ppt/charts/_rels/chartEx1.xml.rels><?xml version='1.0' encoding='UTF-8' standalone='yes'?>
<Relationships xmlns="http://schemas.openxmlformats.org/package/2006/relationships"><Relationship Id="rId1" Type="http://schemas.openxmlformats.org/officeDocument/2006/relationships/oleObject" Target="file:///\\xpdocs\Research\Equities\Estrategia\Carteiras\Carteiras%20de%20A&#231;&#245;es%20XP\Charts%20L&#226;mina%20Carteiras.xlsm" TargetMode="External"/><Relationship Id="rId2" Type="http://schemas.microsoft.com/office/2011/relationships/chartStyle" Target="style3.xml"/><Relationship Id="rId3" Type="http://schemas.microsoft.com/office/2011/relationships/chartColorStyle" Target="colors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Base</c:v>
                </c:pt>
              </c:strCache>
            </c:strRef>
          </c:tx>
          <c:spPr>
            <a:noFill/>
            <a:ln>
              <a:noFill/>
            </a:ln>
          </c:spPr>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Sheet1!$B$2:$B$18</c:f>
              <c:numCache>
                <c:formatCode>0.0%</c:formatCode>
                <c:ptCount val="17"/>
                <c:pt idx="0">
                  <c:v>0.0</c:v>
                </c:pt>
                <c:pt idx="1">
                  <c:v>-0.004958232774982313</c:v>
                </c:pt>
                <c:pt idx="2">
                  <c:v>-0.009610572998523336</c:v>
                </c:pt>
                <c:pt idx="3">
                  <c:v>-0.012071605591279986</c:v>
                </c:pt>
                <c:pt idx="4">
                  <c:v>-0.014398386465604762</c:v>
                </c:pt>
                <c:pt idx="5">
                  <c:v>-0.016624866062497946</c:v>
                </c:pt>
                <c:pt idx="6">
                  <c:v>-0.017761543025427252</c:v>
                </c:pt>
                <c:pt idx="7">
                  <c:v>-0.018446887663832796</c:v>
                </c:pt>
                <c:pt idx="8">
                  <c:v>-0.018516941836597273</c:v>
                </c:pt>
                <c:pt idx="9">
                  <c:v>-0.018366582830103676</c:v>
                </c:pt>
                <c:pt idx="10">
                  <c:v>-0.017971279396361558</c:v>
                </c:pt>
                <c:pt idx="11">
                  <c:v>-0.017224415552590383</c:v>
                </c:pt>
                <c:pt idx="12">
                  <c:v>-0.016332198032190232</c:v>
                </c:pt>
                <c:pt idx="13">
                  <c:v>-0.015107592906727236</c:v>
                </c:pt>
                <c:pt idx="14">
                  <c:v>-0.013369334920581517</c:v>
                </c:pt>
                <c:pt idx="15">
                  <c:v>-0.010018796806695183</c:v>
                </c:pt>
                <c:pt idx="16">
                  <c:v>0.0</c:v>
                </c:pt>
              </c:numCache>
            </c:numRef>
          </c:val>
        </c:ser>
        <c:ser>
          <c:idx val="1"/>
          <c:order val="1"/>
          <c:tx>
            <c:strRef>
              <c:f>Sheet1!$C$1</c:f>
              <c:strCache>
                <c:ptCount val="1"/>
                <c:pt idx="0">
                  <c:v>Contribuição (alta)</c:v>
                </c:pt>
              </c:strCache>
            </c:strRef>
          </c:tx>
          <c:spPr>
            <a:solidFill>
              <a:srgbClr val="70AD47"/>
            </a:solidFill>
          </c:spPr>
          <c:dLbls>
            <c:dLbl>
              <c:idx val="8"/>
              <c:tx>
                <c:rich>
                  <a:bodyPr/>
                  <a:lstStyle/>
                  <a:p>
                    <a:pPr>
                      <a:defRPr sz="800"/>
                    </a:pPr>
                    <a:r>
                      <a:rPr lang="pt-BR" sz="800"/>
                      <a:t>+0,0%</a:t>
                    </a:r>
                  </a:p>
                </c:rich>
              </c:tx>
              <c:showLegendKey val="0"/>
              <c:showVal val="0"/>
              <c:showCatName val="0"/>
              <c:showSerName val="0"/>
              <c:showPercent val="0"/>
              <c:showBubbleSize val="0"/>
            </c:dLbl>
            <c:dLbl>
              <c:idx val="9"/>
              <c:tx>
                <c:rich>
                  <a:bodyPr/>
                  <a:lstStyle/>
                  <a:p>
                    <a:pPr>
                      <a:defRPr sz="800"/>
                    </a:pPr>
                    <a:r>
                      <a:rPr lang="pt-BR" sz="800"/>
                      <a:t>+0,0%</a:t>
                    </a:r>
                  </a:p>
                </c:rich>
              </c:tx>
              <c:showLegendKey val="0"/>
              <c:showVal val="0"/>
              <c:showCatName val="0"/>
              <c:showSerName val="0"/>
              <c:showPercent val="0"/>
              <c:showBubbleSize val="0"/>
            </c:dLbl>
            <c:dLbl>
              <c:idx val="10"/>
              <c:tx>
                <c:rich>
                  <a:bodyPr/>
                  <a:lstStyle/>
                  <a:p>
                    <a:pPr>
                      <a:defRPr sz="800"/>
                    </a:pPr>
                    <a:r>
                      <a:rPr lang="pt-BR" sz="800"/>
                      <a:t>+0,0%</a:t>
                    </a:r>
                  </a:p>
                </c:rich>
              </c:tx>
              <c:showLegendKey val="0"/>
              <c:showVal val="0"/>
              <c:showCatName val="0"/>
              <c:showSerName val="0"/>
              <c:showPercent val="0"/>
              <c:showBubbleSize val="0"/>
            </c:dLbl>
            <c:dLbl>
              <c:idx val="11"/>
              <c:tx>
                <c:rich>
                  <a:bodyPr/>
                  <a:lstStyle/>
                  <a:p>
                    <a:pPr>
                      <a:defRPr sz="800"/>
                    </a:pPr>
                    <a:r>
                      <a:rPr lang="pt-BR" sz="800"/>
                      <a:t>+0,1%</a:t>
                    </a:r>
                  </a:p>
                </c:rich>
              </c:tx>
              <c:showLegendKey val="0"/>
              <c:showVal val="0"/>
              <c:showCatName val="0"/>
              <c:showSerName val="0"/>
              <c:showPercent val="0"/>
              <c:showBubbleSize val="0"/>
            </c:dLbl>
            <c:dLbl>
              <c:idx val="12"/>
              <c:tx>
                <c:rich>
                  <a:bodyPr/>
                  <a:lstStyle/>
                  <a:p>
                    <a:pPr>
                      <a:defRPr sz="800"/>
                    </a:pPr>
                    <a:r>
                      <a:rPr lang="pt-BR" sz="800"/>
                      <a:t>+0,1%</a:t>
                    </a:r>
                  </a:p>
                </c:rich>
              </c:tx>
              <c:showLegendKey val="0"/>
              <c:showVal val="0"/>
              <c:showCatName val="0"/>
              <c:showSerName val="0"/>
              <c:showPercent val="0"/>
              <c:showBubbleSize val="0"/>
            </c:dLbl>
            <c:dLbl>
              <c:idx val="13"/>
              <c:tx>
                <c:rich>
                  <a:bodyPr/>
                  <a:lstStyle/>
                  <a:p>
                    <a:pPr>
                      <a:defRPr sz="800"/>
                    </a:pPr>
                    <a:r>
                      <a:rPr lang="pt-BR" sz="800"/>
                      <a:t>+0,1%</a:t>
                    </a:r>
                  </a:p>
                </c:rich>
              </c:tx>
              <c:showLegendKey val="0"/>
              <c:showVal val="0"/>
              <c:showCatName val="0"/>
              <c:showSerName val="0"/>
              <c:showPercent val="0"/>
              <c:showBubbleSize val="0"/>
            </c:dLbl>
            <c:dLbl>
              <c:idx val="14"/>
              <c:tx>
                <c:rich>
                  <a:bodyPr/>
                  <a:lstStyle/>
                  <a:p>
                    <a:pPr>
                      <a:defRPr sz="800"/>
                    </a:pPr>
                    <a:r>
                      <a:rPr lang="pt-BR" sz="800"/>
                      <a:t>+0,2%</a:t>
                    </a:r>
                  </a:p>
                </c:rich>
              </c:tx>
              <c:showLegendKey val="0"/>
              <c:showVal val="0"/>
              <c:showCatName val="0"/>
              <c:showSerName val="0"/>
              <c:showPercent val="0"/>
              <c:showBubbleSize val="0"/>
            </c:dLbl>
            <c:dLbl>
              <c:idx val="15"/>
              <c:tx>
                <c:rich>
                  <a:bodyPr/>
                  <a:lstStyle/>
                  <a:p>
                    <a:pPr>
                      <a:defRPr sz="800"/>
                    </a:pPr>
                    <a:r>
                      <a:rPr lang="pt-BR" sz="800"/>
                      <a:t>+0,3%</a:t>
                    </a:r>
                  </a:p>
                </c:rich>
              </c:tx>
              <c:showLegendKey val="0"/>
              <c:showVal val="0"/>
              <c:showCatName val="0"/>
              <c:showSerName val="0"/>
              <c:showPercent val="0"/>
              <c:showBubbleSize val="0"/>
            </c:dLbl>
            <c:showLegendKey val="0"/>
            <c:showVal val="0"/>
            <c:showCatName val="0"/>
            <c:showSerName val="0"/>
            <c:showPercent val="0"/>
            <c:showBubbleSize val="0"/>
          </c:dLbls>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Sheet1!$C$2:$C$18</c:f>
              <c:numCache>
                <c:formatCode>0.0%</c:formatCode>
                <c:ptCount val="17"/>
                <c:pt idx="8">
                  <c:v>-3.075383393706436e-06</c:v>
                </c:pt>
                <c:pt idx="9">
                  <c:v>-0.00015035900649359622</c:v>
                </c:pt>
                <c:pt idx="10">
                  <c:v>-0.0003953034337421196</c:v>
                </c:pt>
                <c:pt idx="11">
                  <c:v>-0.0007468638437711748</c:v>
                </c:pt>
                <c:pt idx="12">
                  <c:v>-0.0008922175204001521</c:v>
                </c:pt>
                <c:pt idx="13">
                  <c:v>-0.0012246051254629958</c:v>
                </c:pt>
                <c:pt idx="14">
                  <c:v>-0.0017382579861457198</c:v>
                </c:pt>
                <c:pt idx="15">
                  <c:v>-0.003350538113886334</c:v>
                </c:pt>
              </c:numCache>
            </c:numRef>
          </c:val>
        </c:ser>
        <c:ser>
          <c:idx val="2"/>
          <c:order val="2"/>
          <c:tx>
            <c:strRef>
              <c:f>Sheet1!$D$1</c:f>
              <c:strCache>
                <c:ptCount val="1"/>
                <c:pt idx="0">
                  <c:v>Contribuição (baixa)</c:v>
                </c:pt>
              </c:strCache>
            </c:strRef>
          </c:tx>
          <c:spPr>
            <a:solidFill>
              <a:srgbClr val="C0504D"/>
            </a:solidFill>
          </c:spPr>
          <c:dLbls>
            <c:dLbl>
              <c:idx val="0"/>
              <c:tx>
                <c:rich>
                  <a:bodyPr/>
                  <a:lstStyle/>
                  <a:p>
                    <a:pPr>
                      <a:defRPr sz="800"/>
                    </a:pPr>
                    <a:r>
                      <a:rPr lang="pt-BR" sz="800"/>
                      <a:t>-0,5%</a:t>
                    </a:r>
                  </a:p>
                </c:rich>
              </c:tx>
              <c:showLegendKey val="0"/>
              <c:showVal val="0"/>
              <c:showCatName val="0"/>
              <c:showSerName val="0"/>
              <c:showPercent val="0"/>
              <c:showBubbleSize val="0"/>
            </c:dLbl>
            <c:dLbl>
              <c:idx val="1"/>
              <c:tx>
                <c:rich>
                  <a:bodyPr/>
                  <a:lstStyle/>
                  <a:p>
                    <a:pPr>
                      <a:defRPr sz="800"/>
                    </a:pPr>
                    <a:r>
                      <a:rPr lang="pt-BR" sz="800"/>
                      <a:t>-0,5%</a:t>
                    </a:r>
                  </a:p>
                </c:rich>
              </c:tx>
              <c:showLegendKey val="0"/>
              <c:showVal val="0"/>
              <c:showCatName val="0"/>
              <c:showSerName val="0"/>
              <c:showPercent val="0"/>
              <c:showBubbleSize val="0"/>
            </c:dLbl>
            <c:dLbl>
              <c:idx val="2"/>
              <c:tx>
                <c:rich>
                  <a:bodyPr/>
                  <a:lstStyle/>
                  <a:p>
                    <a:pPr>
                      <a:defRPr sz="800"/>
                    </a:pPr>
                    <a:r>
                      <a:rPr lang="pt-BR" sz="800"/>
                      <a:t>-0,2%</a:t>
                    </a:r>
                  </a:p>
                </c:rich>
              </c:tx>
              <c:showLegendKey val="0"/>
              <c:showVal val="0"/>
              <c:showCatName val="0"/>
              <c:showSerName val="0"/>
              <c:showPercent val="0"/>
              <c:showBubbleSize val="0"/>
            </c:dLbl>
            <c:dLbl>
              <c:idx val="3"/>
              <c:tx>
                <c:rich>
                  <a:bodyPr/>
                  <a:lstStyle/>
                  <a:p>
                    <a:pPr>
                      <a:defRPr sz="800"/>
                    </a:pPr>
                    <a:r>
                      <a:rPr lang="pt-BR" sz="800"/>
                      <a:t>-0,2%</a:t>
                    </a:r>
                  </a:p>
                </c:rich>
              </c:tx>
              <c:showLegendKey val="0"/>
              <c:showVal val="0"/>
              <c:showCatName val="0"/>
              <c:showSerName val="0"/>
              <c:showPercent val="0"/>
              <c:showBubbleSize val="0"/>
            </c:dLbl>
            <c:dLbl>
              <c:idx val="4"/>
              <c:tx>
                <c:rich>
                  <a:bodyPr/>
                  <a:lstStyle/>
                  <a:p>
                    <a:pPr>
                      <a:defRPr sz="800"/>
                    </a:pPr>
                    <a:r>
                      <a:rPr lang="pt-BR" sz="800"/>
                      <a:t>-0,2%</a:t>
                    </a:r>
                  </a:p>
                </c:rich>
              </c:tx>
              <c:showLegendKey val="0"/>
              <c:showVal val="0"/>
              <c:showCatName val="0"/>
              <c:showSerName val="0"/>
              <c:showPercent val="0"/>
              <c:showBubbleSize val="0"/>
            </c:dLbl>
            <c:dLbl>
              <c:idx val="5"/>
              <c:tx>
                <c:rich>
                  <a:bodyPr/>
                  <a:lstStyle/>
                  <a:p>
                    <a:pPr>
                      <a:defRPr sz="800"/>
                    </a:pPr>
                    <a:r>
                      <a:rPr lang="pt-BR" sz="800"/>
                      <a:t>-0,1%</a:t>
                    </a:r>
                  </a:p>
                </c:rich>
              </c:tx>
              <c:showLegendKey val="0"/>
              <c:showVal val="0"/>
              <c:showCatName val="0"/>
              <c:showSerName val="0"/>
              <c:showPercent val="0"/>
              <c:showBubbleSize val="0"/>
            </c:dLbl>
            <c:dLbl>
              <c:idx val="6"/>
              <c:tx>
                <c:rich>
                  <a:bodyPr/>
                  <a:lstStyle/>
                  <a:p>
                    <a:pPr>
                      <a:defRPr sz="800"/>
                    </a:pPr>
                    <a:r>
                      <a:rPr lang="pt-BR" sz="800"/>
                      <a:t>-0,1%</a:t>
                    </a:r>
                  </a:p>
                </c:rich>
              </c:tx>
              <c:showLegendKey val="0"/>
              <c:showVal val="0"/>
              <c:showCatName val="0"/>
              <c:showSerName val="0"/>
              <c:showPercent val="0"/>
              <c:showBubbleSize val="0"/>
            </c:dLbl>
            <c:dLbl>
              <c:idx val="7"/>
              <c:tx>
                <c:rich>
                  <a:bodyPr/>
                  <a:lstStyle/>
                  <a:p>
                    <a:pPr>
                      <a:defRPr sz="800"/>
                    </a:pPr>
                    <a:r>
                      <a:rPr lang="pt-BR" sz="800"/>
                      <a:t>-0,0%</a:t>
                    </a:r>
                  </a:p>
                </c:rich>
              </c:tx>
              <c:showLegendKey val="0"/>
              <c:showVal val="0"/>
              <c:showCatName val="0"/>
              <c:showSerName val="0"/>
              <c:showPercent val="0"/>
              <c:showBubbleSize val="0"/>
            </c:dLbl>
            <c:showLegendKey val="0"/>
            <c:showVal val="0"/>
            <c:showCatName val="0"/>
            <c:showSerName val="0"/>
            <c:showPercent val="0"/>
            <c:showBubbleSize val="0"/>
          </c:dLbls>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Sheet1!$D$2:$D$18</c:f>
              <c:numCache>
                <c:formatCode>0.0%</c:formatCode>
                <c:ptCount val="17"/>
                <c:pt idx="0">
                  <c:v>-0.004958232774982313</c:v>
                </c:pt>
                <c:pt idx="1">
                  <c:v>-0.004652340223541024</c:v>
                </c:pt>
                <c:pt idx="2">
                  <c:v>-0.0024610325927566486</c:v>
                </c:pt>
                <c:pt idx="3">
                  <c:v>-0.0023267808743247767</c:v>
                </c:pt>
                <c:pt idx="4">
                  <c:v>-0.0022264795968931854</c:v>
                </c:pt>
                <c:pt idx="5">
                  <c:v>-0.0011366769629293065</c:v>
                </c:pt>
                <c:pt idx="6">
                  <c:v>-0.000685344638405544</c:v>
                </c:pt>
                <c:pt idx="7">
                  <c:v>-7.312955615818374e-05</c:v>
                </c:pt>
              </c:numCache>
            </c:numRef>
          </c:val>
        </c:ser>
        <c:ser>
          <c:idx val="3"/>
          <c:order val="3"/>
          <c:tx>
            <c:strRef>
              <c:f>Sheet1!$E$1</c:f>
              <c:strCache>
                <c:ptCount val="1"/>
                <c:pt idx="0">
                  <c:v>Carteira (total)</c:v>
                </c:pt>
              </c:strCache>
            </c:strRef>
          </c:tx>
          <c:spPr>
            <a:solidFill>
              <a:srgbClr val="FFBC00"/>
            </a:solidFill>
          </c:spPr>
          <c:dLbls>
            <c:dLbl>
              <c:idx val="16"/>
              <c:tx>
                <c:rich>
                  <a:bodyPr/>
                  <a:lstStyle/>
                  <a:p>
                    <a:pPr>
                      <a:defRPr sz="800"/>
                    </a:pPr>
                    <a:r>
                      <a:rPr lang="pt-BR" sz="800"/>
                      <a:t>-1,0%</a:t>
                    </a:r>
                  </a:p>
                </c:rich>
              </c:tx>
              <c:showLegendKey val="0"/>
              <c:showVal val="0"/>
              <c:showCatName val="0"/>
              <c:showSerName val="0"/>
              <c:showPercent val="0"/>
              <c:showBubbleSize val="0"/>
            </c:dLbl>
            <c:showLegendKey val="0"/>
            <c:showVal val="0"/>
            <c:showCatName val="0"/>
            <c:showSerName val="0"/>
            <c:showPercent val="0"/>
            <c:showBubbleSize val="0"/>
          </c:dLbls>
          <c:cat>
            <c:strRef>
              <c:f>Sheet1!$A$2:$A$18</c:f>
              <c:strCache>
                <c:ptCount val="17"/>
                <c:pt idx="0">
                  <c:v>RENT3</c:v>
                </c:pt>
                <c:pt idx="1">
                  <c:v>ITUB4</c:v>
                </c:pt>
                <c:pt idx="2">
                  <c:v>IGTI11</c:v>
                </c:pt>
                <c:pt idx="3">
                  <c:v>RDOR3</c:v>
                </c:pt>
                <c:pt idx="4">
                  <c:v>VALE3</c:v>
                </c:pt>
                <c:pt idx="5">
                  <c:v>LREN3</c:v>
                </c:pt>
                <c:pt idx="6">
                  <c:v>GGBR4</c:v>
                </c:pt>
                <c:pt idx="7">
                  <c:v>BPAC11</c:v>
                </c:pt>
                <c:pt idx="8">
                  <c:v>PETR4</c:v>
                </c:pt>
                <c:pt idx="9">
                  <c:v>EMBJ3</c:v>
                </c:pt>
                <c:pt idx="10">
                  <c:v>B3SA3</c:v>
                </c:pt>
                <c:pt idx="11">
                  <c:v>PRIO3</c:v>
                </c:pt>
                <c:pt idx="12">
                  <c:v>ORVR3</c:v>
                </c:pt>
                <c:pt idx="13">
                  <c:v>SBSP3</c:v>
                </c:pt>
                <c:pt idx="14">
                  <c:v>ROXO34</c:v>
                </c:pt>
                <c:pt idx="15">
                  <c:v>TOTS3</c:v>
                </c:pt>
                <c:pt idx="16">
                  <c:v>Carteira</c:v>
                </c:pt>
              </c:strCache>
            </c:strRef>
          </c:cat>
          <c:val>
            <c:numRef>
              <c:f>Sheet1!$E$2:$E$18</c:f>
              <c:numCache>
                <c:formatCode>0.0%</c:formatCode>
                <c:ptCount val="17"/>
                <c:pt idx="16">
                  <c:v>-0.010018796806695183</c:v>
                </c:pt>
              </c:numCache>
            </c:numRef>
          </c:val>
        </c:ser>
        <c:dLbls>
          <c:showLegendKey val="0"/>
          <c:showVal val="0"/>
          <c:showCatName val="0"/>
          <c:showSerName val="0"/>
          <c:showPercent val="0"/>
          <c:showBubbleSize val="0"/>
        </c:dLbls>
        <c:gapWidth val="50"/>
        <c:overlap val="100"/>
        <c:axId val="260534992"/>
        <c:axId val="260530192"/>
      </c:barChart>
      <c:catAx>
        <c:axId val="260534992"/>
        <c:scaling>
          <c:orientation val="minMax"/>
        </c:scaling>
        <c:delete val="1"/>
        <c:axPos val="b"/>
        <c:numFmt formatCode="General" sourceLinked="0"/>
        <c:majorTickMark val="none"/>
        <c:minorTickMark val="none"/>
        <c:tickLblPos val="nextTo"/>
        <c:crossAx val="260530192"/>
        <c:crosses val="autoZero"/>
        <c:auto val="1"/>
        <c:lblAlgn val="ctr"/>
        <c:lblOffset val="100"/>
        <c:noMultiLvlLbl val="0"/>
      </c:catAx>
      <c:valAx>
        <c:axId val="260530192"/>
        <c:scaling>
          <c:orientation val="minMax"/>
        </c:scaling>
        <c:delete val="1"/>
        <c:axPos val="l"/>
        <c:numFmt formatCode="0.00%" sourceLinked="1"/>
        <c:majorTickMark val="none"/>
        <c:minorTickMark val="none"/>
        <c:tickLblPos val="nextTo"/>
        <c:crossAx val="260534992"/>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pt-B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lrMapOvr bg1="lt1" tx1="dk1" bg2="lt2" tx2="dk2" accent1="accent1" accent2="accent2" accent3="accent3" accent4="accent4" accent5="accent5" accent6="accent6" hlink="hlink" folHlink="folHlink"/>
  <c:chart>
    <c:autoTitleDeleted val="1"/>
    <c:plotArea>
      <c:layout/>
      <c:lineChart>
        <c:grouping val="standard"/>
        <c:varyColors val="0"/>
        <c:ser>
          <c:idx val="0"/>
          <c:order val="0"/>
          <c:tx>
            <c:v>Top Ações XP</c:v>
          </c:tx>
          <c:spPr>
            <a:ln w="22225" cap="rnd">
              <a:solidFill>
                <a:schemeClr val="accent4"/>
              </a:solidFill>
              <a:round/>
            </a:ln>
            <a:effectLst/>
          </c:spPr>
          <c:marker>
            <c:symbol val="none"/>
          </c:marker>
          <c:cat>
            <c:numRef>
              <c:f>'Charts Base 100'!$M$4:$M$10000</c:f>
              <c:numCache>
                <c:formatCode>m/d/yyyy</c:formatCode>
                <c:ptCount val="9997"/>
                <c:pt idx="0">
                  <c:v>45716</c:v>
                </c:pt>
                <c:pt idx="1">
                  <c:v>45721</c:v>
                </c:pt>
                <c:pt idx="2">
                  <c:v>45722</c:v>
                </c:pt>
                <c:pt idx="3">
                  <c:v>45723</c:v>
                </c:pt>
                <c:pt idx="4">
                  <c:v>45726</c:v>
                </c:pt>
                <c:pt idx="5">
                  <c:v>45727</c:v>
                </c:pt>
                <c:pt idx="6">
                  <c:v>45728</c:v>
                </c:pt>
                <c:pt idx="7">
                  <c:v>45729</c:v>
                </c:pt>
                <c:pt idx="8">
                  <c:v>45730</c:v>
                </c:pt>
                <c:pt idx="9">
                  <c:v>45733</c:v>
                </c:pt>
                <c:pt idx="10">
                  <c:v>45734</c:v>
                </c:pt>
                <c:pt idx="11">
                  <c:v>45735</c:v>
                </c:pt>
                <c:pt idx="12">
                  <c:v>45736</c:v>
                </c:pt>
                <c:pt idx="13">
                  <c:v>45737</c:v>
                </c:pt>
                <c:pt idx="14">
                  <c:v>45740</c:v>
                </c:pt>
                <c:pt idx="15">
                  <c:v>45741</c:v>
                </c:pt>
                <c:pt idx="16">
                  <c:v>45742</c:v>
                </c:pt>
                <c:pt idx="17">
                  <c:v>45743</c:v>
                </c:pt>
                <c:pt idx="18">
                  <c:v>45744</c:v>
                </c:pt>
                <c:pt idx="19">
                  <c:v>45747</c:v>
                </c:pt>
                <c:pt idx="20">
                  <c:v>45748</c:v>
                </c:pt>
                <c:pt idx="21">
                  <c:v>45749</c:v>
                </c:pt>
                <c:pt idx="22">
                  <c:v>45750</c:v>
                </c:pt>
                <c:pt idx="23">
                  <c:v>45751</c:v>
                </c:pt>
                <c:pt idx="24">
                  <c:v>45754</c:v>
                </c:pt>
                <c:pt idx="25">
                  <c:v>45755</c:v>
                </c:pt>
                <c:pt idx="26">
                  <c:v>45756</c:v>
                </c:pt>
                <c:pt idx="27">
                  <c:v>45757</c:v>
                </c:pt>
                <c:pt idx="28">
                  <c:v>45758</c:v>
                </c:pt>
                <c:pt idx="29">
                  <c:v>45761</c:v>
                </c:pt>
                <c:pt idx="30">
                  <c:v>45762</c:v>
                </c:pt>
                <c:pt idx="31">
                  <c:v>45763</c:v>
                </c:pt>
                <c:pt idx="32">
                  <c:v>45764</c:v>
                </c:pt>
                <c:pt idx="33">
                  <c:v>45769</c:v>
                </c:pt>
                <c:pt idx="34">
                  <c:v>45770</c:v>
                </c:pt>
                <c:pt idx="35">
                  <c:v>45771</c:v>
                </c:pt>
                <c:pt idx="36">
                  <c:v>45772</c:v>
                </c:pt>
                <c:pt idx="37">
                  <c:v>45775</c:v>
                </c:pt>
                <c:pt idx="38">
                  <c:v>45776</c:v>
                </c:pt>
                <c:pt idx="39">
                  <c:v>45777</c:v>
                </c:pt>
                <c:pt idx="40">
                  <c:v>45779</c:v>
                </c:pt>
                <c:pt idx="41">
                  <c:v>45782</c:v>
                </c:pt>
                <c:pt idx="42">
                  <c:v>45783</c:v>
                </c:pt>
                <c:pt idx="43">
                  <c:v>45784</c:v>
                </c:pt>
                <c:pt idx="44">
                  <c:v>45785</c:v>
                </c:pt>
                <c:pt idx="45">
                  <c:v>45786</c:v>
                </c:pt>
                <c:pt idx="46">
                  <c:v>45789</c:v>
                </c:pt>
                <c:pt idx="47">
                  <c:v>45790</c:v>
                </c:pt>
                <c:pt idx="48">
                  <c:v>45791</c:v>
                </c:pt>
                <c:pt idx="49">
                  <c:v>45792</c:v>
                </c:pt>
                <c:pt idx="50">
                  <c:v>45793</c:v>
                </c:pt>
                <c:pt idx="51">
                  <c:v>45796</c:v>
                </c:pt>
                <c:pt idx="52">
                  <c:v>45797</c:v>
                </c:pt>
                <c:pt idx="53">
                  <c:v>45798</c:v>
                </c:pt>
                <c:pt idx="54">
                  <c:v>45799</c:v>
                </c:pt>
                <c:pt idx="55">
                  <c:v>45800</c:v>
                </c:pt>
                <c:pt idx="56">
                  <c:v>45803</c:v>
                </c:pt>
                <c:pt idx="57">
                  <c:v>45804</c:v>
                </c:pt>
                <c:pt idx="58">
                  <c:v>45805</c:v>
                </c:pt>
                <c:pt idx="59">
                  <c:v>45806</c:v>
                </c:pt>
                <c:pt idx="60">
                  <c:v>45807</c:v>
                </c:pt>
                <c:pt idx="61">
                  <c:v>45810</c:v>
                </c:pt>
                <c:pt idx="62">
                  <c:v>45811</c:v>
                </c:pt>
                <c:pt idx="63">
                  <c:v>45812</c:v>
                </c:pt>
                <c:pt idx="64">
                  <c:v>45813</c:v>
                </c:pt>
                <c:pt idx="65">
                  <c:v>45814</c:v>
                </c:pt>
                <c:pt idx="66">
                  <c:v>45817</c:v>
                </c:pt>
                <c:pt idx="67">
                  <c:v>45818</c:v>
                </c:pt>
                <c:pt idx="68">
                  <c:v>45819</c:v>
                </c:pt>
                <c:pt idx="69">
                  <c:v>45820</c:v>
                </c:pt>
                <c:pt idx="70">
                  <c:v>45821</c:v>
                </c:pt>
                <c:pt idx="71">
                  <c:v>45824</c:v>
                </c:pt>
                <c:pt idx="72">
                  <c:v>45825</c:v>
                </c:pt>
                <c:pt idx="73">
                  <c:v>45826</c:v>
                </c:pt>
                <c:pt idx="74">
                  <c:v>45828</c:v>
                </c:pt>
                <c:pt idx="75">
                  <c:v>45831</c:v>
                </c:pt>
                <c:pt idx="76">
                  <c:v>45832</c:v>
                </c:pt>
                <c:pt idx="77">
                  <c:v>45833</c:v>
                </c:pt>
                <c:pt idx="78">
                  <c:v>45834</c:v>
                </c:pt>
                <c:pt idx="79">
                  <c:v>45835</c:v>
                </c:pt>
                <c:pt idx="80">
                  <c:v>45838</c:v>
                </c:pt>
                <c:pt idx="81">
                  <c:v>45839</c:v>
                </c:pt>
                <c:pt idx="82">
                  <c:v>45840</c:v>
                </c:pt>
                <c:pt idx="83">
                  <c:v>45841</c:v>
                </c:pt>
                <c:pt idx="84">
                  <c:v>45842</c:v>
                </c:pt>
                <c:pt idx="85">
                  <c:v>45845</c:v>
                </c:pt>
                <c:pt idx="86">
                  <c:v>45846</c:v>
                </c:pt>
                <c:pt idx="87">
                  <c:v>45847</c:v>
                </c:pt>
                <c:pt idx="88">
                  <c:v>45848</c:v>
                </c:pt>
                <c:pt idx="89">
                  <c:v>45849</c:v>
                </c:pt>
                <c:pt idx="90">
                  <c:v>45852</c:v>
                </c:pt>
                <c:pt idx="91">
                  <c:v>45853</c:v>
                </c:pt>
                <c:pt idx="92">
                  <c:v>45854</c:v>
                </c:pt>
                <c:pt idx="93">
                  <c:v>45855</c:v>
                </c:pt>
                <c:pt idx="94">
                  <c:v>45856</c:v>
                </c:pt>
                <c:pt idx="95">
                  <c:v>45859</c:v>
                </c:pt>
                <c:pt idx="96">
                  <c:v>45860</c:v>
                </c:pt>
                <c:pt idx="97">
                  <c:v>45861</c:v>
                </c:pt>
                <c:pt idx="98">
                  <c:v>45862</c:v>
                </c:pt>
                <c:pt idx="99">
                  <c:v>45863</c:v>
                </c:pt>
                <c:pt idx="100">
                  <c:v>45866</c:v>
                </c:pt>
                <c:pt idx="101">
                  <c:v>45867</c:v>
                </c:pt>
                <c:pt idx="102">
                  <c:v>45868</c:v>
                </c:pt>
                <c:pt idx="103">
                  <c:v>45869</c:v>
                </c:pt>
                <c:pt idx="104">
                  <c:v>45870</c:v>
                </c:pt>
                <c:pt idx="105">
                  <c:v>45873</c:v>
                </c:pt>
                <c:pt idx="106">
                  <c:v>45874</c:v>
                </c:pt>
                <c:pt idx="107">
                  <c:v>45875</c:v>
                </c:pt>
                <c:pt idx="108">
                  <c:v>45876</c:v>
                </c:pt>
                <c:pt idx="109">
                  <c:v>45877</c:v>
                </c:pt>
                <c:pt idx="110">
                  <c:v>45880</c:v>
                </c:pt>
                <c:pt idx="111">
                  <c:v>45881</c:v>
                </c:pt>
                <c:pt idx="112">
                  <c:v>45882</c:v>
                </c:pt>
                <c:pt idx="113">
                  <c:v>45883</c:v>
                </c:pt>
                <c:pt idx="114">
                  <c:v>45884</c:v>
                </c:pt>
                <c:pt idx="115">
                  <c:v>45887</c:v>
                </c:pt>
                <c:pt idx="116">
                  <c:v>45888</c:v>
                </c:pt>
                <c:pt idx="117">
                  <c:v>45889</c:v>
                </c:pt>
                <c:pt idx="118">
                  <c:v>45890</c:v>
                </c:pt>
                <c:pt idx="119">
                  <c:v>45891</c:v>
                </c:pt>
                <c:pt idx="120">
                  <c:v>45894</c:v>
                </c:pt>
                <c:pt idx="121">
                  <c:v>45895</c:v>
                </c:pt>
                <c:pt idx="122">
                  <c:v>45896</c:v>
                </c:pt>
                <c:pt idx="123">
                  <c:v>45897</c:v>
                </c:pt>
                <c:pt idx="124">
                  <c:v>45898</c:v>
                </c:pt>
                <c:pt idx="125">
                  <c:v>45901</c:v>
                </c:pt>
                <c:pt idx="126">
                  <c:v>45902</c:v>
                </c:pt>
                <c:pt idx="127">
                  <c:v>45903</c:v>
                </c:pt>
                <c:pt idx="128">
                  <c:v>45904</c:v>
                </c:pt>
                <c:pt idx="129">
                  <c:v>45905</c:v>
                </c:pt>
                <c:pt idx="130">
                  <c:v>45908</c:v>
                </c:pt>
                <c:pt idx="131">
                  <c:v>45909</c:v>
                </c:pt>
                <c:pt idx="132">
                  <c:v>45910</c:v>
                </c:pt>
                <c:pt idx="133">
                  <c:v>45911</c:v>
                </c:pt>
                <c:pt idx="134">
                  <c:v>45912</c:v>
                </c:pt>
                <c:pt idx="135">
                  <c:v>45915</c:v>
                </c:pt>
                <c:pt idx="136">
                  <c:v>45916</c:v>
                </c:pt>
                <c:pt idx="137">
                  <c:v>45917</c:v>
                </c:pt>
                <c:pt idx="138">
                  <c:v>45918</c:v>
                </c:pt>
                <c:pt idx="139">
                  <c:v>45919</c:v>
                </c:pt>
                <c:pt idx="140">
                  <c:v>45922</c:v>
                </c:pt>
                <c:pt idx="141">
                  <c:v>45923</c:v>
                </c:pt>
                <c:pt idx="142">
                  <c:v>45924</c:v>
                </c:pt>
                <c:pt idx="143">
                  <c:v>45925</c:v>
                </c:pt>
                <c:pt idx="144">
                  <c:v>45926</c:v>
                </c:pt>
                <c:pt idx="145">
                  <c:v>45929</c:v>
                </c:pt>
                <c:pt idx="146">
                  <c:v>45930</c:v>
                </c:pt>
                <c:pt idx="147">
                  <c:v>45931</c:v>
                </c:pt>
                <c:pt idx="148">
                  <c:v>45932</c:v>
                </c:pt>
                <c:pt idx="149">
                  <c:v>45933</c:v>
                </c:pt>
                <c:pt idx="150">
                  <c:v>45936</c:v>
                </c:pt>
                <c:pt idx="151">
                  <c:v>45937</c:v>
                </c:pt>
                <c:pt idx="152">
                  <c:v>45938</c:v>
                </c:pt>
                <c:pt idx="153">
                  <c:v>45939</c:v>
                </c:pt>
                <c:pt idx="154">
                  <c:v>45940</c:v>
                </c:pt>
                <c:pt idx="155">
                  <c:v>45943</c:v>
                </c:pt>
                <c:pt idx="156">
                  <c:v>45944</c:v>
                </c:pt>
                <c:pt idx="157">
                  <c:v>45945</c:v>
                </c:pt>
                <c:pt idx="158">
                  <c:v>45946</c:v>
                </c:pt>
                <c:pt idx="159">
                  <c:v>45947</c:v>
                </c:pt>
                <c:pt idx="160">
                  <c:v>45950</c:v>
                </c:pt>
                <c:pt idx="161">
                  <c:v>45951</c:v>
                </c:pt>
                <c:pt idx="162">
                  <c:v>45952</c:v>
                </c:pt>
                <c:pt idx="163">
                  <c:v>45953</c:v>
                </c:pt>
                <c:pt idx="164">
                  <c:v>45954</c:v>
                </c:pt>
                <c:pt idx="165">
                  <c:v>45957</c:v>
                </c:pt>
                <c:pt idx="166">
                  <c:v>45958</c:v>
                </c:pt>
                <c:pt idx="167">
                  <c:v>45959</c:v>
                </c:pt>
                <c:pt idx="168">
                  <c:v>45960</c:v>
                </c:pt>
                <c:pt idx="169">
                  <c:v>45961</c:v>
                </c:pt>
                <c:pt idx="170">
                  <c:v>45964</c:v>
                </c:pt>
                <c:pt idx="171">
                  <c:v>45965</c:v>
                </c:pt>
                <c:pt idx="172">
                  <c:v>45966</c:v>
                </c:pt>
                <c:pt idx="173">
                  <c:v>45967</c:v>
                </c:pt>
                <c:pt idx="174">
                  <c:v>45968</c:v>
                </c:pt>
                <c:pt idx="175">
                  <c:v>45971</c:v>
                </c:pt>
                <c:pt idx="176">
                  <c:v>45972</c:v>
                </c:pt>
                <c:pt idx="177">
                  <c:v>45973</c:v>
                </c:pt>
                <c:pt idx="178">
                  <c:v>45974</c:v>
                </c:pt>
                <c:pt idx="179">
                  <c:v>45975</c:v>
                </c:pt>
                <c:pt idx="180">
                  <c:v>45978</c:v>
                </c:pt>
                <c:pt idx="181">
                  <c:v>45979</c:v>
                </c:pt>
                <c:pt idx="182">
                  <c:v>45980</c:v>
                </c:pt>
                <c:pt idx="183">
                  <c:v>45982</c:v>
                </c:pt>
                <c:pt idx="184">
                  <c:v>45985</c:v>
                </c:pt>
                <c:pt idx="185">
                  <c:v>45986</c:v>
                </c:pt>
                <c:pt idx="186">
                  <c:v>45987</c:v>
                </c:pt>
                <c:pt idx="187">
                  <c:v>45988</c:v>
                </c:pt>
                <c:pt idx="188">
                  <c:v>45989</c:v>
                </c:pt>
                <c:pt idx="189">
                  <c:v>45992</c:v>
                </c:pt>
                <c:pt idx="190">
                  <c:v>45993</c:v>
                </c:pt>
                <c:pt idx="191">
                  <c:v>45994</c:v>
                </c:pt>
                <c:pt idx="192">
                  <c:v>45995</c:v>
                </c:pt>
                <c:pt idx="193">
                  <c:v>45996</c:v>
                </c:pt>
                <c:pt idx="194">
                  <c:v>45999</c:v>
                </c:pt>
                <c:pt idx="195">
                  <c:v>46000</c:v>
                </c:pt>
                <c:pt idx="196">
                  <c:v>46001</c:v>
                </c:pt>
                <c:pt idx="197">
                  <c:v>46002</c:v>
                </c:pt>
                <c:pt idx="198">
                  <c:v>46003</c:v>
                </c:pt>
                <c:pt idx="199">
                  <c:v>46006</c:v>
                </c:pt>
                <c:pt idx="200">
                  <c:v>46007</c:v>
                </c:pt>
                <c:pt idx="201">
                  <c:v>46008</c:v>
                </c:pt>
                <c:pt idx="202">
                  <c:v>46009</c:v>
                </c:pt>
                <c:pt idx="203">
                  <c:v>46010</c:v>
                </c:pt>
                <c:pt idx="204">
                  <c:v>46013</c:v>
                </c:pt>
                <c:pt idx="205">
                  <c:v>46014</c:v>
                </c:pt>
                <c:pt idx="206">
                  <c:v>46017</c:v>
                </c:pt>
                <c:pt idx="207">
                  <c:v>46020</c:v>
                </c:pt>
                <c:pt idx="208">
                  <c:v>46021</c:v>
                </c:pt>
                <c:pt idx="209">
                  <c:v>46024</c:v>
                </c:pt>
                <c:pt idx="210">
                  <c:v>46027</c:v>
                </c:pt>
                <c:pt idx="211">
                  <c:v>46028</c:v>
                </c:pt>
                <c:pt idx="212">
                  <c:v>46029</c:v>
                </c:pt>
                <c:pt idx="213">
                  <c:v>46030</c:v>
                </c:pt>
                <c:pt idx="214">
                  <c:v>46031</c:v>
                </c:pt>
                <c:pt idx="215">
                  <c:v>46034</c:v>
                </c:pt>
                <c:pt idx="216">
                  <c:v>46035</c:v>
                </c:pt>
                <c:pt idx="217">
                  <c:v>46036</c:v>
                </c:pt>
                <c:pt idx="218">
                  <c:v>46037</c:v>
                </c:pt>
                <c:pt idx="219">
                  <c:v>46038</c:v>
                </c:pt>
                <c:pt idx="220">
                  <c:v>46041</c:v>
                </c:pt>
                <c:pt idx="221">
                  <c:v>46042</c:v>
                </c:pt>
                <c:pt idx="222">
                  <c:v>46043</c:v>
                </c:pt>
                <c:pt idx="223">
                  <c:v>46044</c:v>
                </c:pt>
                <c:pt idx="224">
                  <c:v>46045</c:v>
                </c:pt>
                <c:pt idx="225">
                  <c:v>46048</c:v>
                </c:pt>
                <c:pt idx="226">
                  <c:v>46049</c:v>
                </c:pt>
                <c:pt idx="227">
                  <c:v>46050</c:v>
                </c:pt>
                <c:pt idx="228">
                  <c:v>46051</c:v>
                </c:pt>
                <c:pt idx="229">
                  <c:v>46052</c:v>
                </c:pt>
                <c:pt idx="230">
                  <c:v>46055</c:v>
                </c:pt>
                <c:pt idx="231">
                  <c:v>46056</c:v>
                </c:pt>
                <c:pt idx="232">
                  <c:v>46057</c:v>
                </c:pt>
                <c:pt idx="233">
                  <c:v>46058</c:v>
                </c:pt>
                <c:pt idx="234">
                  <c:v>46059</c:v>
                </c:pt>
                <c:pt idx="235">
                  <c:v>46062</c:v>
                </c:pt>
                <c:pt idx="236">
                  <c:v>46063</c:v>
                </c:pt>
                <c:pt idx="237">
                  <c:v>46064</c:v>
                </c:pt>
                <c:pt idx="238">
                  <c:v>46065</c:v>
                </c:pt>
                <c:pt idx="239">
                  <c:v>46066</c:v>
                </c:pt>
                <c:pt idx="240">
                  <c:v>46071</c:v>
                </c:pt>
                <c:pt idx="241">
                  <c:v>46072</c:v>
                </c:pt>
                <c:pt idx="242">
                  <c:v>46073</c:v>
                </c:pt>
                <c:pt idx="243">
                  <c:v>46076</c:v>
                </c:pt>
                <c:pt idx="244">
                  <c:v>46077</c:v>
                </c:pt>
                <c:pt idx="245">
                  <c:v>46078</c:v>
                </c:pt>
                <c:pt idx="246">
                  <c:v>46079</c:v>
                </c:pt>
                <c:pt idx="247">
                  <c:v>46080</c:v>
                </c:pt>
                <c:pt idx="248">
                  <c:v>46083</c:v>
                </c:pt>
                <c:pt idx="249">
                  <c:v>46084</c:v>
                </c:pt>
                <c:pt idx="250">
                  <c:v>46085</c:v>
                </c:pt>
                <c:pt idx="251">
                  <c:v>46086</c:v>
                </c:pt>
                <c:pt idx="252">
                  <c:v>46087</c:v>
                </c:pt>
                <c:pt idx="253">
                  <c:v>46090</c:v>
                </c:pt>
                <c:pt idx="254">
                  <c:v>46091</c:v>
                </c:pt>
                <c:pt idx="255">
                  <c:v>46092</c:v>
                </c:pt>
                <c:pt idx="256">
                  <c:v>46093</c:v>
                </c:pt>
                <c:pt idx="257">
                  <c:v>46094</c:v>
                </c:pt>
                <c:pt idx="258">
                  <c:v>46097</c:v>
                </c:pt>
                <c:pt idx="259">
                  <c:v>46098</c:v>
                </c:pt>
                <c:pt idx="260">
                  <c:v>46099</c:v>
                </c:pt>
                <c:pt idx="261">
                  <c:v>46100</c:v>
                </c:pt>
                <c:pt idx="262">
                  <c:v>46101</c:v>
                </c:pt>
                <c:pt idx="263">
                  <c:v>46104</c:v>
                </c:pt>
                <c:pt idx="264">
                  <c:v>46105</c:v>
                </c:pt>
                <c:pt idx="265">
                  <c:v>46106</c:v>
                </c:pt>
                <c:pt idx="266">
                  <c:v>46107</c:v>
                </c:pt>
                <c:pt idx="267">
                  <c:v>46108</c:v>
                </c:pt>
                <c:pt idx="268">
                  <c:v>46111</c:v>
                </c:pt>
                <c:pt idx="269">
                  <c:v>46112</c:v>
                </c:pt>
                <c:pt idx="270">
                  <c:v>46113</c:v>
                </c:pt>
                <c:pt idx="271">
                  <c:v>46114</c:v>
                </c:pt>
                <c:pt idx="272">
                  <c:v>46118</c:v>
                </c:pt>
                <c:pt idx="273">
                  <c:v>46119</c:v>
                </c:pt>
                <c:pt idx="274">
                  <c:v>46120</c:v>
                </c:pt>
                <c:pt idx="275">
                  <c:v>46121</c:v>
                </c:pt>
                <c:pt idx="276">
                  <c:v>46122</c:v>
                </c:pt>
                <c:pt idx="277">
                  <c:v>46125</c:v>
                </c:pt>
                <c:pt idx="278">
                  <c:v>46126</c:v>
                </c:pt>
                <c:pt idx="279">
                  <c:v>46127</c:v>
                </c:pt>
                <c:pt idx="280">
                  <c:v>46128</c:v>
                </c:pt>
                <c:pt idx="281">
                  <c:v>46129</c:v>
                </c:pt>
                <c:pt idx="282">
                  <c:v>46132</c:v>
                </c:pt>
                <c:pt idx="283">
                  <c:v>46134</c:v>
                </c:pt>
                <c:pt idx="284">
                  <c:v>46135</c:v>
                </c:pt>
                <c:pt idx="285">
                  <c:v>46136</c:v>
                </c:pt>
                <c:pt idx="286">
                  <c:v>46139</c:v>
                </c:pt>
                <c:pt idx="287">
                  <c:v>46140</c:v>
                </c:pt>
                <c:pt idx="288">
                  <c:v>46141</c:v>
                </c:pt>
                <c:pt idx="289">
                  <c:v>46142</c:v>
                </c:pt>
                <c:pt idx="290">
                  <c:v>46146</c:v>
                </c:pt>
                <c:pt idx="291">
                  <c:v>46147</c:v>
                </c:pt>
                <c:pt idx="292">
                  <c:v>46148</c:v>
                </c:pt>
                <c:pt idx="293">
                  <c:v>46149</c:v>
                </c:pt>
                <c:pt idx="294">
                  <c:v>46150</c:v>
                </c:pt>
                <c:pt idx="295">
                  <c:v>46153</c:v>
                </c:pt>
                <c:pt idx="296">
                  <c:v>46154</c:v>
                </c:pt>
                <c:pt idx="297">
                  <c:v>46155</c:v>
                </c:pt>
                <c:pt idx="298">
                  <c:v>46156</c:v>
                </c:pt>
                <c:pt idx="299">
                  <c:v>46157</c:v>
                </c:pt>
                <c:pt idx="300">
                  <c:v>46160</c:v>
                </c:pt>
                <c:pt idx="301">
                  <c:v>46161</c:v>
                </c:pt>
                <c:pt idx="302">
                  <c:v>46162</c:v>
                </c:pt>
                <c:pt idx="303">
                  <c:v>46163</c:v>
                </c:pt>
                <c:pt idx="304">
                  <c:v>46164</c:v>
                </c:pt>
                <c:pt idx="305">
                  <c:v>46167</c:v>
                </c:pt>
                <c:pt idx="306">
                  <c:v>46168</c:v>
                </c:pt>
                <c:pt idx="307">
                  <c:v>46169</c:v>
                </c:pt>
                <c:pt idx="308">
                  <c:v>46170</c:v>
                </c:pt>
                <c:pt idx="309">
                  <c:v>46171</c:v>
                </c:pt>
                <c:pt idx="310">
                  <c:v>46174</c:v>
                </c:pt>
                <c:pt idx="311">
                  <c:v>46175</c:v>
                </c:pt>
                <c:pt idx="312">
                  <c:v>46176</c:v>
                </c:pt>
                <c:pt idx="313">
                  <c:v>46178</c:v>
                </c:pt>
                <c:pt idx="314">
                  <c:v>46181</c:v>
                </c:pt>
                <c:pt idx="315">
                  <c:v>46182</c:v>
                </c:pt>
                <c:pt idx="316">
                  <c:v>46183</c:v>
                </c:pt>
                <c:pt idx="317">
                  <c:v>46184</c:v>
                </c:pt>
                <c:pt idx="318">
                  <c:v>46185</c:v>
                </c:pt>
                <c:pt idx="319">
                  <c:v>46188</c:v>
                </c:pt>
                <c:pt idx="320">
                  <c:v>46189</c:v>
                </c:pt>
                <c:pt idx="321">
                  <c:v>46190</c:v>
                </c:pt>
                <c:pt idx="322">
                  <c:v>46191</c:v>
                </c:pt>
                <c:pt idx="323">
                  <c:v>46192</c:v>
                </c:pt>
                <c:pt idx="324">
                  <c:v>46195</c:v>
                </c:pt>
                <c:pt idx="325">
                  <c:v>46196</c:v>
                </c:pt>
                <c:pt idx="326">
                  <c:v>46197</c:v>
                </c:pt>
                <c:pt idx="327">
                  <c:v>46198</c:v>
                </c:pt>
                <c:pt idx="328">
                  <c:v>46199</c:v>
                </c:pt>
                <c:pt idx="329">
                  <c:v>46202</c:v>
                </c:pt>
                <c:pt idx="330">
                  <c:v>46203</c:v>
                </c:pt>
              </c:numCache>
            </c:numRef>
          </c:cat>
          <c:val>
            <c:numRef>
              <c:f>'Charts Base 100'!$N$4:$N$10000</c:f>
              <c:numCache>
                <c:formatCode>0.0</c:formatCode>
                <c:ptCount val="9997"/>
                <c:pt idx="0" formatCode="General">
                  <c:v>100</c:v>
                </c:pt>
                <c:pt idx="1">
                  <c:v>99.925276546754816</c:v>
                </c:pt>
                <c:pt idx="2">
                  <c:v>100.3657370205059</c:v>
                </c:pt>
                <c:pt idx="3">
                  <c:v>101.52317693974339</c:v>
                </c:pt>
                <c:pt idx="4">
                  <c:v>101.0105231130281</c:v>
                </c:pt>
                <c:pt idx="5">
                  <c:v>100.343932042671</c:v>
                </c:pt>
                <c:pt idx="6">
                  <c:v>100.78495018970639</c:v>
                </c:pt>
                <c:pt idx="7">
                  <c:v>102.217468017622</c:v>
                </c:pt>
                <c:pt idx="8">
                  <c:v>103.6198584183245</c:v>
                </c:pt>
                <c:pt idx="9">
                  <c:v>104.6233952581786</c:v>
                </c:pt>
                <c:pt idx="10">
                  <c:v>105.73512029860569</c:v>
                </c:pt>
                <c:pt idx="11">
                  <c:v>106.6728572309411</c:v>
                </c:pt>
                <c:pt idx="12">
                  <c:v>106.31591104054159</c:v>
                </c:pt>
                <c:pt idx="13">
                  <c:v>106.4850273144301</c:v>
                </c:pt>
                <c:pt idx="14">
                  <c:v>106.0541853770779</c:v>
                </c:pt>
                <c:pt idx="15">
                  <c:v>106.64496127605361</c:v>
                </c:pt>
                <c:pt idx="16">
                  <c:v>107.07700149031371</c:v>
                </c:pt>
                <c:pt idx="17">
                  <c:v>107.8514661521759</c:v>
                </c:pt>
                <c:pt idx="18">
                  <c:v>106.86241344662599</c:v>
                </c:pt>
                <c:pt idx="19">
                  <c:v>105.16999541061</c:v>
                </c:pt>
                <c:pt idx="20">
                  <c:v>105.8889162201943</c:v>
                </c:pt>
                <c:pt idx="21">
                  <c:v>105.7102703380141</c:v>
                </c:pt>
                <c:pt idx="22">
                  <c:v>105.9759728402814</c:v>
                </c:pt>
                <c:pt idx="23">
                  <c:v>102.8404683036902</c:v>
                </c:pt>
                <c:pt idx="24">
                  <c:v>101.6097980905288</c:v>
                </c:pt>
                <c:pt idx="25">
                  <c:v>100.2950985827179</c:v>
                </c:pt>
                <c:pt idx="26">
                  <c:v>103.60409117459589</c:v>
                </c:pt>
                <c:pt idx="27">
                  <c:v>102.4164675510517</c:v>
                </c:pt>
                <c:pt idx="28">
                  <c:v>103.32213259009831</c:v>
                </c:pt>
                <c:pt idx="29">
                  <c:v>104.57572976915191</c:v>
                </c:pt>
                <c:pt idx="30">
                  <c:v>104.62195463483209</c:v>
                </c:pt>
                <c:pt idx="31">
                  <c:v>103.9433448134249</c:v>
                </c:pt>
                <c:pt idx="32">
                  <c:v>104.97261711026189</c:v>
                </c:pt>
                <c:pt idx="33">
                  <c:v>106.11296910655371</c:v>
                </c:pt>
                <c:pt idx="34">
                  <c:v>106.97070968042161</c:v>
                </c:pt>
                <c:pt idx="35">
                  <c:v>108.89857087445731</c:v>
                </c:pt>
                <c:pt idx="36">
                  <c:v>108.505184827596</c:v>
                </c:pt>
                <c:pt idx="37">
                  <c:v>108.9314633306339</c:v>
                </c:pt>
                <c:pt idx="38">
                  <c:v>108.6852765363482</c:v>
                </c:pt>
                <c:pt idx="39">
                  <c:v>108.8542280502689</c:v>
                </c:pt>
                <c:pt idx="40">
                  <c:v>109.5393698894534</c:v>
                </c:pt>
                <c:pt idx="41">
                  <c:v>107.83880638685881</c:v>
                </c:pt>
                <c:pt idx="42">
                  <c:v>107.2199244455542</c:v>
                </c:pt>
                <c:pt idx="43">
                  <c:v>107.3136350996656</c:v>
                </c:pt>
                <c:pt idx="44">
                  <c:v>108.7504970958769</c:v>
                </c:pt>
                <c:pt idx="45">
                  <c:v>109.4240225260131</c:v>
                </c:pt>
                <c:pt idx="46">
                  <c:v>109.5645507927769</c:v>
                </c:pt>
                <c:pt idx="47">
                  <c:v>111.5906640010728</c:v>
                </c:pt>
                <c:pt idx="48">
                  <c:v>111.5315987835904</c:v>
                </c:pt>
                <c:pt idx="49">
                  <c:v>112.2469048393358</c:v>
                </c:pt>
                <c:pt idx="50">
                  <c:v>112.2068887139574</c:v>
                </c:pt>
                <c:pt idx="51">
                  <c:v>112.3824788635317</c:v>
                </c:pt>
                <c:pt idx="52">
                  <c:v>113.04770532954591</c:v>
                </c:pt>
                <c:pt idx="53">
                  <c:v>111.09497377565491</c:v>
                </c:pt>
                <c:pt idx="54">
                  <c:v>111.0095661867624</c:v>
                </c:pt>
                <c:pt idx="55">
                  <c:v>111.2066488450339</c:v>
                </c:pt>
                <c:pt idx="56">
                  <c:v>111.3678672458669</c:v>
                </c:pt>
                <c:pt idx="57">
                  <c:v>111.8557496414638</c:v>
                </c:pt>
                <c:pt idx="58">
                  <c:v>111.34032661834711</c:v>
                </c:pt>
                <c:pt idx="59">
                  <c:v>110.95749893788761</c:v>
                </c:pt>
                <c:pt idx="60">
                  <c:v>110.217349910379</c:v>
                </c:pt>
                <c:pt idx="61">
                  <c:v>110.1017573820301</c:v>
                </c:pt>
                <c:pt idx="62">
                  <c:v>110.63654249743369</c:v>
                </c:pt>
                <c:pt idx="63">
                  <c:v>109.8571774014133</c:v>
                </c:pt>
                <c:pt idx="64">
                  <c:v>109.8456518611236</c:v>
                </c:pt>
                <c:pt idx="65">
                  <c:v>109.8238201171277</c:v>
                </c:pt>
                <c:pt idx="66">
                  <c:v>109.229733491885</c:v>
                </c:pt>
                <c:pt idx="67">
                  <c:v>110.0611122164392</c:v>
                </c:pt>
                <c:pt idx="68">
                  <c:v>110.7804470696334</c:v>
                </c:pt>
                <c:pt idx="69">
                  <c:v>111.1198406382987</c:v>
                </c:pt>
                <c:pt idx="70">
                  <c:v>110.7874557648173</c:v>
                </c:pt>
                <c:pt idx="71">
                  <c:v>112.5951898869464</c:v>
                </c:pt>
                <c:pt idx="72">
                  <c:v>112.4377392631019</c:v>
                </c:pt>
                <c:pt idx="73">
                  <c:v>111.6586251726937</c:v>
                </c:pt>
                <c:pt idx="74">
                  <c:v>110.265785157666</c:v>
                </c:pt>
                <c:pt idx="75">
                  <c:v>110.5107687248663</c:v>
                </c:pt>
                <c:pt idx="76">
                  <c:v>111.2779123480318</c:v>
                </c:pt>
                <c:pt idx="77">
                  <c:v>110.16522592211651</c:v>
                </c:pt>
                <c:pt idx="78">
                  <c:v>111.0330499701042</c:v>
                </c:pt>
                <c:pt idx="79">
                  <c:v>110.8509841595376</c:v>
                </c:pt>
                <c:pt idx="80">
                  <c:v>112.343042675595</c:v>
                </c:pt>
                <c:pt idx="81">
                  <c:v>112.43518022402471</c:v>
                </c:pt>
                <c:pt idx="82">
                  <c:v>110.80110355807309</c:v>
                </c:pt>
                <c:pt idx="83">
                  <c:v>112.34637876447201</c:v>
                </c:pt>
                <c:pt idx="84">
                  <c:v>112.5880972609083</c:v>
                </c:pt>
                <c:pt idx="85">
                  <c:v>111.46757947821349</c:v>
                </c:pt>
                <c:pt idx="86">
                  <c:v>111.6079063422204</c:v>
                </c:pt>
                <c:pt idx="87">
                  <c:v>110.56466646011221</c:v>
                </c:pt>
                <c:pt idx="88">
                  <c:v>109.5354862302939</c:v>
                </c:pt>
                <c:pt idx="89">
                  <c:v>108.7856131640299</c:v>
                </c:pt>
                <c:pt idx="90">
                  <c:v>107.6536098701598</c:v>
                </c:pt>
                <c:pt idx="91">
                  <c:v>108.3930476962163</c:v>
                </c:pt>
                <c:pt idx="92">
                  <c:v>108.39610309810109</c:v>
                </c:pt>
                <c:pt idx="93">
                  <c:v>108.65911293313989</c:v>
                </c:pt>
                <c:pt idx="94">
                  <c:v>106.17805049687441</c:v>
                </c:pt>
                <c:pt idx="95">
                  <c:v>105.9769414124714</c:v>
                </c:pt>
                <c:pt idx="96">
                  <c:v>105.5678336432436</c:v>
                </c:pt>
                <c:pt idx="97">
                  <c:v>106.5541200516101</c:v>
                </c:pt>
                <c:pt idx="98">
                  <c:v>104.9399268923692</c:v>
                </c:pt>
                <c:pt idx="99">
                  <c:v>104.760274656711</c:v>
                </c:pt>
                <c:pt idx="100">
                  <c:v>103.5616840828272</c:v>
                </c:pt>
                <c:pt idx="101">
                  <c:v>103.849188851848</c:v>
                </c:pt>
                <c:pt idx="102">
                  <c:v>104.9565144037109</c:v>
                </c:pt>
                <c:pt idx="103">
                  <c:v>103.94814339271031</c:v>
                </c:pt>
                <c:pt idx="104">
                  <c:v>103.784257387113</c:v>
                </c:pt>
                <c:pt idx="105">
                  <c:v>104.1538809964876</c:v>
                </c:pt>
                <c:pt idx="106">
                  <c:v>104.28309990697871</c:v>
                </c:pt>
                <c:pt idx="107">
                  <c:v>106.0344124883114</c:v>
                </c:pt>
                <c:pt idx="108">
                  <c:v>108.7271296700294</c:v>
                </c:pt>
                <c:pt idx="109">
                  <c:v>108.26941297365769</c:v>
                </c:pt>
                <c:pt idx="110">
                  <c:v>107.90418398115099</c:v>
                </c:pt>
                <c:pt idx="111">
                  <c:v>109.62465602566699</c:v>
                </c:pt>
                <c:pt idx="112">
                  <c:v>107.8723927402946</c:v>
                </c:pt>
                <c:pt idx="113">
                  <c:v>107.5553444602081</c:v>
                </c:pt>
                <c:pt idx="114">
                  <c:v>107.53106470757589</c:v>
                </c:pt>
                <c:pt idx="115">
                  <c:v>107.83342270834351</c:v>
                </c:pt>
                <c:pt idx="116">
                  <c:v>105.58423632684369</c:v>
                </c:pt>
                <c:pt idx="117">
                  <c:v>105.97522401517971</c:v>
                </c:pt>
                <c:pt idx="118">
                  <c:v>105.7830093231922</c:v>
                </c:pt>
                <c:pt idx="119">
                  <c:v>108.316840491451</c:v>
                </c:pt>
                <c:pt idx="120">
                  <c:v>108.54609941156041</c:v>
                </c:pt>
                <c:pt idx="121">
                  <c:v>107.96603335872589</c:v>
                </c:pt>
                <c:pt idx="122">
                  <c:v>109.369179577276</c:v>
                </c:pt>
                <c:pt idx="123">
                  <c:v>110.96697797529851</c:v>
                </c:pt>
                <c:pt idx="124">
                  <c:v>110.922125026476</c:v>
                </c:pt>
                <c:pt idx="125">
                  <c:v>111.104349725411</c:v>
                </c:pt>
                <c:pt idx="126">
                  <c:v>110.4596959049921</c:v>
                </c:pt>
                <c:pt idx="127">
                  <c:v>110.0901194733524</c:v>
                </c:pt>
                <c:pt idx="128">
                  <c:v>110.8500946822904</c:v>
                </c:pt>
                <c:pt idx="129">
                  <c:v>112.0958876586182</c:v>
                </c:pt>
                <c:pt idx="130">
                  <c:v>111.04243363185979</c:v>
                </c:pt>
                <c:pt idx="131">
                  <c:v>110.8953948100051</c:v>
                </c:pt>
                <c:pt idx="132">
                  <c:v>111.2982966111621</c:v>
                </c:pt>
                <c:pt idx="133">
                  <c:v>112.28201949920251</c:v>
                </c:pt>
                <c:pt idx="134">
                  <c:v>111.5532027851211</c:v>
                </c:pt>
                <c:pt idx="135">
                  <c:v>112.68948262516081</c:v>
                </c:pt>
                <c:pt idx="136">
                  <c:v>113.2122239331559</c:v>
                </c:pt>
                <c:pt idx="137">
                  <c:v>114.0767153996925</c:v>
                </c:pt>
                <c:pt idx="138">
                  <c:v>114.4610579812225</c:v>
                </c:pt>
                <c:pt idx="139">
                  <c:v>115.20631554186581</c:v>
                </c:pt>
                <c:pt idx="140">
                  <c:v>114.1803843856362</c:v>
                </c:pt>
                <c:pt idx="141">
                  <c:v>115.3367119595253</c:v>
                </c:pt>
                <c:pt idx="142">
                  <c:v>114.7673486625052</c:v>
                </c:pt>
                <c:pt idx="143">
                  <c:v>113.6725687674372</c:v>
                </c:pt>
                <c:pt idx="144">
                  <c:v>114.1978031555515</c:v>
                </c:pt>
                <c:pt idx="145">
                  <c:v>115.6563462053694</c:v>
                </c:pt>
                <c:pt idx="146">
                  <c:v>115.4232080204158</c:v>
                </c:pt>
                <c:pt idx="147">
                  <c:v>114.8578540182222</c:v>
                </c:pt>
                <c:pt idx="148">
                  <c:v>113.4953765922137</c:v>
                </c:pt>
                <c:pt idx="149">
                  <c:v>113.70559907803</c:v>
                </c:pt>
                <c:pt idx="150">
                  <c:v>112.3965118983693</c:v>
                </c:pt>
                <c:pt idx="151">
                  <c:v>110.50507967905131</c:v>
                </c:pt>
                <c:pt idx="152">
                  <c:v>110.7657567584414</c:v>
                </c:pt>
                <c:pt idx="153">
                  <c:v>110.3433782015816</c:v>
                </c:pt>
                <c:pt idx="154">
                  <c:v>109.77236045913629</c:v>
                </c:pt>
                <c:pt idx="155">
                  <c:v>110.2613741226881</c:v>
                </c:pt>
                <c:pt idx="156">
                  <c:v>109.8837714237854</c:v>
                </c:pt>
                <c:pt idx="157">
                  <c:v>110.62753917043899</c:v>
                </c:pt>
                <c:pt idx="158">
                  <c:v>110.50579786901891</c:v>
                </c:pt>
                <c:pt idx="159">
                  <c:v>111.6840129647463</c:v>
                </c:pt>
                <c:pt idx="160">
                  <c:v>113.2225017831837</c:v>
                </c:pt>
                <c:pt idx="161">
                  <c:v>112.94770305205979</c:v>
                </c:pt>
                <c:pt idx="162">
                  <c:v>114.0296538225162</c:v>
                </c:pt>
                <c:pt idx="163">
                  <c:v>114.2061846758628</c:v>
                </c:pt>
                <c:pt idx="164">
                  <c:v>114.7574361201121</c:v>
                </c:pt>
                <c:pt idx="165">
                  <c:v>115.4040821166187</c:v>
                </c:pt>
                <c:pt idx="166">
                  <c:v>115.35634272561011</c:v>
                </c:pt>
                <c:pt idx="167">
                  <c:v>116.0007644132309</c:v>
                </c:pt>
                <c:pt idx="168">
                  <c:v>116.4443524585548</c:v>
                </c:pt>
                <c:pt idx="169">
                  <c:v>117.47939322617761</c:v>
                </c:pt>
                <c:pt idx="170">
                  <c:v>118.2598438915529</c:v>
                </c:pt>
                <c:pt idx="171">
                  <c:v>118.6581781437477</c:v>
                </c:pt>
                <c:pt idx="172">
                  <c:v>120.567485985391</c:v>
                </c:pt>
                <c:pt idx="173">
                  <c:v>120.1355440382081</c:v>
                </c:pt>
                <c:pt idx="174">
                  <c:v>121.134510271396</c:v>
                </c:pt>
                <c:pt idx="175">
                  <c:v>121.9222528967943</c:v>
                </c:pt>
                <c:pt idx="176">
                  <c:v>123.9014788267761</c:v>
                </c:pt>
                <c:pt idx="177">
                  <c:v>123.0885073195499</c:v>
                </c:pt>
                <c:pt idx="178">
                  <c:v>122.928472130709</c:v>
                </c:pt>
                <c:pt idx="179">
                  <c:v>123.9762284522736</c:v>
                </c:pt>
                <c:pt idx="180">
                  <c:v>122.83180203730559</c:v>
                </c:pt>
                <c:pt idx="181">
                  <c:v>122.77885128019901</c:v>
                </c:pt>
                <c:pt idx="182">
                  <c:v>122.0043163673007</c:v>
                </c:pt>
                <c:pt idx="183">
                  <c:v>121.29022290365771</c:v>
                </c:pt>
                <c:pt idx="184">
                  <c:v>121.99821334644319</c:v>
                </c:pt>
                <c:pt idx="185">
                  <c:v>122.80850320919011</c:v>
                </c:pt>
                <c:pt idx="186">
                  <c:v>125.0856590158115</c:v>
                </c:pt>
                <c:pt idx="187">
                  <c:v>124.816101746817</c:v>
                </c:pt>
                <c:pt idx="188">
                  <c:v>125.5958197448717</c:v>
                </c:pt>
                <c:pt idx="189">
                  <c:v>125.7775624903708</c:v>
                </c:pt>
                <c:pt idx="190">
                  <c:v>127.9536884627512</c:v>
                </c:pt>
                <c:pt idx="191">
                  <c:v>128.8369476159784</c:v>
                </c:pt>
                <c:pt idx="192">
                  <c:v>131.464451127064</c:v>
                </c:pt>
                <c:pt idx="193">
                  <c:v>124.448279701372</c:v>
                </c:pt>
                <c:pt idx="194">
                  <c:v>125.3192274603451</c:v>
                </c:pt>
                <c:pt idx="195">
                  <c:v>125.1456570438867</c:v>
                </c:pt>
                <c:pt idx="196">
                  <c:v>125.9213770576734</c:v>
                </c:pt>
                <c:pt idx="197">
                  <c:v>126.6985270697222</c:v>
                </c:pt>
                <c:pt idx="198">
                  <c:v>128.08565668912951</c:v>
                </c:pt>
                <c:pt idx="199">
                  <c:v>129.2838041936995</c:v>
                </c:pt>
                <c:pt idx="200">
                  <c:v>125.1326039737794</c:v>
                </c:pt>
                <c:pt idx="201">
                  <c:v>123.7056199865217</c:v>
                </c:pt>
                <c:pt idx="202">
                  <c:v>124.21380691555569</c:v>
                </c:pt>
                <c:pt idx="203">
                  <c:v>124.2581731875502</c:v>
                </c:pt>
                <c:pt idx="204">
                  <c:v>123.8181374880475</c:v>
                </c:pt>
                <c:pt idx="205">
                  <c:v>126.1809172790327</c:v>
                </c:pt>
                <c:pt idx="206">
                  <c:v>126.6731331229079</c:v>
                </c:pt>
                <c:pt idx="207">
                  <c:v>125.4047195624705</c:v>
                </c:pt>
                <c:pt idx="208">
                  <c:v>126.50170057275371</c:v>
                </c:pt>
                <c:pt idx="209">
                  <c:v>125.4730749569853</c:v>
                </c:pt>
                <c:pt idx="210">
                  <c:v>128.24770537957059</c:v>
                </c:pt>
                <c:pt idx="211">
                  <c:v>129.86827574698981</c:v>
                </c:pt>
                <c:pt idx="212">
                  <c:v>128.01353080359559</c:v>
                </c:pt>
                <c:pt idx="213">
                  <c:v>129.18894814350861</c:v>
                </c:pt>
                <c:pt idx="214">
                  <c:v>130.0831177381877</c:v>
                </c:pt>
                <c:pt idx="215">
                  <c:v>130.03980301673079</c:v>
                </c:pt>
                <c:pt idx="216">
                  <c:v>128.64832677342631</c:v>
                </c:pt>
                <c:pt idx="217">
                  <c:v>130.4524596553259</c:v>
                </c:pt>
                <c:pt idx="218">
                  <c:v>130.727634344596</c:v>
                </c:pt>
                <c:pt idx="219">
                  <c:v>129.6607925484841</c:v>
                </c:pt>
                <c:pt idx="220">
                  <c:v>129.66276029423159</c:v>
                </c:pt>
                <c:pt idx="221">
                  <c:v>130.7169838563629</c:v>
                </c:pt>
                <c:pt idx="222">
                  <c:v>134.77318412283961</c:v>
                </c:pt>
                <c:pt idx="223">
                  <c:v>137.90755979513801</c:v>
                </c:pt>
                <c:pt idx="224">
                  <c:v>140.0791811145242</c:v>
                </c:pt>
                <c:pt idx="225">
                  <c:v>140.71589872173149</c:v>
                </c:pt>
                <c:pt idx="226">
                  <c:v>143.8023423695922</c:v>
                </c:pt>
                <c:pt idx="227">
                  <c:v>145.67659453187829</c:v>
                </c:pt>
                <c:pt idx="228">
                  <c:v>143.91252167548109</c:v>
                </c:pt>
                <c:pt idx="229">
                  <c:v>142.01012820075329</c:v>
                </c:pt>
                <c:pt idx="230">
                  <c:v>142.62937502101639</c:v>
                </c:pt>
                <c:pt idx="231">
                  <c:v>144.26361760406999</c:v>
                </c:pt>
                <c:pt idx="232">
                  <c:v>140.98368329333229</c:v>
                </c:pt>
                <c:pt idx="233">
                  <c:v>141.5836786875735</c:v>
                </c:pt>
                <c:pt idx="234">
                  <c:v>142.7415070719419</c:v>
                </c:pt>
                <c:pt idx="235">
                  <c:v>145.7693575219667</c:v>
                </c:pt>
                <c:pt idx="236">
                  <c:v>146.12302321310131</c:v>
                </c:pt>
                <c:pt idx="237">
                  <c:v>147.84112492452431</c:v>
                </c:pt>
                <c:pt idx="238">
                  <c:v>145.48379071960579</c:v>
                </c:pt>
                <c:pt idx="239">
                  <c:v>144.83526624174621</c:v>
                </c:pt>
                <c:pt idx="240">
                  <c:v>145.19762782822781</c:v>
                </c:pt>
                <c:pt idx="241">
                  <c:v>146.95593670214001</c:v>
                </c:pt>
                <c:pt idx="242">
                  <c:v>148.74008207532401</c:v>
                </c:pt>
                <c:pt idx="243">
                  <c:v>146.38650843047171</c:v>
                </c:pt>
                <c:pt idx="244">
                  <c:v>149.0293786154192</c:v>
                </c:pt>
                <c:pt idx="245">
                  <c:v>147.51058030552821</c:v>
                </c:pt>
                <c:pt idx="246">
                  <c:v>147.68464989923731</c:v>
                </c:pt>
                <c:pt idx="247">
                  <c:v>145.85212378075531</c:v>
                </c:pt>
                <c:pt idx="248">
                  <c:v>146.73955373058709</c:v>
                </c:pt>
                <c:pt idx="249">
                  <c:v>141.984356100317</c:v>
                </c:pt>
                <c:pt idx="250">
                  <c:v>144.71750657898281</c:v>
                </c:pt>
                <c:pt idx="251">
                  <c:v>140.37114895335171</c:v>
                </c:pt>
                <c:pt idx="252">
                  <c:v>139.5676698280916</c:v>
                </c:pt>
                <c:pt idx="253">
                  <c:v>140.04400612431081</c:v>
                </c:pt>
                <c:pt idx="254">
                  <c:v>142.83534600621579</c:v>
                </c:pt>
                <c:pt idx="255">
                  <c:v>143.54927739905841</c:v>
                </c:pt>
                <c:pt idx="256">
                  <c:v>140.04351372610409</c:v>
                </c:pt>
                <c:pt idx="257">
                  <c:v>138.1301701192377</c:v>
                </c:pt>
                <c:pt idx="258">
                  <c:v>140.27491453003199</c:v>
                </c:pt>
                <c:pt idx="259">
                  <c:v>141.2377071698036</c:v>
                </c:pt>
                <c:pt idx="260">
                  <c:v>141.01643992371359</c:v>
                </c:pt>
                <c:pt idx="261">
                  <c:v>141.0387294923039</c:v>
                </c:pt>
                <c:pt idx="262">
                  <c:v>136.77844254893731</c:v>
                </c:pt>
                <c:pt idx="263">
                  <c:v>142.311626449366</c:v>
                </c:pt>
                <c:pt idx="264">
                  <c:v>142.82035640964199</c:v>
                </c:pt>
                <c:pt idx="265">
                  <c:v>145.68803509357309</c:v>
                </c:pt>
                <c:pt idx="266">
                  <c:v>142.79252726769889</c:v>
                </c:pt>
                <c:pt idx="267">
                  <c:v>141.62294832894241</c:v>
                </c:pt>
                <c:pt idx="268">
                  <c:v>141.72881749994579</c:v>
                </c:pt>
                <c:pt idx="269">
                  <c:v>146.6683924517865</c:v>
                </c:pt>
                <c:pt idx="270">
                  <c:v>147.47912380807821</c:v>
                </c:pt>
                <c:pt idx="271">
                  <c:v>147.45329708010311</c:v>
                </c:pt>
                <c:pt idx="272">
                  <c:v>147.24422980090139</c:v>
                </c:pt>
                <c:pt idx="273">
                  <c:v>147.33314524424341</c:v>
                </c:pt>
                <c:pt idx="274">
                  <c:v>151.17413849234529</c:v>
                </c:pt>
                <c:pt idx="275">
                  <c:v>154.10471131843141</c:v>
                </c:pt>
                <c:pt idx="276">
                  <c:v>155.0982664961065</c:v>
                </c:pt>
                <c:pt idx="277">
                  <c:v>155.55639249569509</c:v>
                </c:pt>
                <c:pt idx="278">
                  <c:v>156.49999360240369</c:v>
                </c:pt>
                <c:pt idx="279">
                  <c:v>156.71259895255761</c:v>
                </c:pt>
                <c:pt idx="280">
                  <c:v>156.01115314257351</c:v>
                </c:pt>
                <c:pt idx="281">
                  <c:v>155.6173886901947</c:v>
                </c:pt>
                <c:pt idx="282">
                  <c:v>155.4342685759211</c:v>
                </c:pt>
                <c:pt idx="283">
                  <c:v>152.42845678159509</c:v>
                </c:pt>
                <c:pt idx="284">
                  <c:v>150.12545373397469</c:v>
                </c:pt>
                <c:pt idx="285">
                  <c:v>150.0633957026476</c:v>
                </c:pt>
                <c:pt idx="286">
                  <c:v>148.69827982938051</c:v>
                </c:pt>
                <c:pt idx="287">
                  <c:v>147.24792316374689</c:v>
                </c:pt>
                <c:pt idx="288">
                  <c:v>144.28715692674871</c:v>
                </c:pt>
                <c:pt idx="289">
                  <c:v>145.81765965162469</c:v>
                </c:pt>
                <c:pt idx="290">
                  <c:v>145.22686096781501</c:v>
                </c:pt>
                <c:pt idx="291">
                  <c:v>146.31476914165961</c:v>
                </c:pt>
                <c:pt idx="292">
                  <c:v>147.50588069127591</c:v>
                </c:pt>
                <c:pt idx="293">
                  <c:v>144.6564408791628</c:v>
                </c:pt>
                <c:pt idx="294">
                  <c:v>144.43171148401771</c:v>
                </c:pt>
                <c:pt idx="295">
                  <c:v>141.93398008808711</c:v>
                </c:pt>
                <c:pt idx="296">
                  <c:v>140.396641278917</c:v>
                </c:pt>
                <c:pt idx="297">
                  <c:v>137.00528185668321</c:v>
                </c:pt>
                <c:pt idx="298">
                  <c:v>138.9916759137144</c:v>
                </c:pt>
                <c:pt idx="299">
                  <c:v>137.88318030683681</c:v>
                </c:pt>
                <c:pt idx="300">
                  <c:v>137.63271807475169</c:v>
                </c:pt>
                <c:pt idx="301">
                  <c:v>135.46543663773571</c:v>
                </c:pt>
                <c:pt idx="302">
                  <c:v>138.83772092594091</c:v>
                </c:pt>
                <c:pt idx="303">
                  <c:v>138.92238177513781</c:v>
                </c:pt>
                <c:pt idx="304">
                  <c:v>137.76247963927759</c:v>
                </c:pt>
                <c:pt idx="305">
                  <c:v>139.533642563027</c:v>
                </c:pt>
                <c:pt idx="306">
                  <c:v>137.9721435151267</c:v>
                </c:pt>
                <c:pt idx="307">
                  <c:v>137.2079362198613</c:v>
                </c:pt>
                <c:pt idx="308">
                  <c:v>136.98683818727159</c:v>
                </c:pt>
                <c:pt idx="309">
                  <c:v>136.08309703157741</c:v>
                </c:pt>
                <c:pt idx="310">
                  <c:v>135.1267095281228</c:v>
                </c:pt>
                <c:pt idx="311">
                  <c:v>135.91728277434501</c:v>
                </c:pt>
                <c:pt idx="312">
                  <c:v>132.3277518502735</c:v>
                </c:pt>
                <c:pt idx="313">
                  <c:v>132.2782680655497</c:v>
                </c:pt>
                <c:pt idx="314">
                  <c:v>131.76669591768331</c:v>
                </c:pt>
                <c:pt idx="315">
                  <c:v>132.4617556512564</c:v>
                </c:pt>
                <c:pt idx="316">
                  <c:v>130.22669151561911</c:v>
                </c:pt>
                <c:pt idx="317">
                  <c:v>133.11474429840121</c:v>
                </c:pt>
                <c:pt idx="318">
                  <c:v>132.60660834744081</c:v>
                </c:pt>
                <c:pt idx="319">
                  <c:v>132.04617739494759</c:v>
                </c:pt>
                <c:pt idx="320">
                  <c:v>131.33142139997571</c:v>
                </c:pt>
                <c:pt idx="321">
                  <c:v>130.3021812676082</c:v>
                </c:pt>
                <c:pt idx="322">
                  <c:v>129.90006356682451</c:v>
                </c:pt>
                <c:pt idx="323">
                  <c:v>129.83561100338349</c:v>
                </c:pt>
                <c:pt idx="324">
                  <c:v>131.6105659998253</c:v>
                </c:pt>
                <c:pt idx="325">
                  <c:v>132.09363945788311</c:v>
                </c:pt>
                <c:pt idx="326">
                  <c:v>132.35052388180429</c:v>
                </c:pt>
                <c:pt idx="327">
                  <c:v>133.2961322664508</c:v>
                </c:pt>
                <c:pt idx="328">
                  <c:v>135.32084373277959</c:v>
                </c:pt>
                <c:pt idx="329">
                  <c:v>134.7053353104821</c:v>
                </c:pt>
                <c:pt idx="330">
                  <c:v>133.81821968402519</c:v>
                </c:pt>
              </c:numCache>
            </c:numRef>
          </c:val>
          <c:smooth val="0"/>
          <c:extLst>
            <c:ext xmlns:c16="http://schemas.microsoft.com/office/drawing/2014/chart" uri="{C3380CC4-5D6E-409C-BE32-E72D297353CC}">
              <c16:uniqueId val="{00000000-D80D-46EB-9484-5F5304E6E167}"/>
            </c:ext>
          </c:extLst>
        </c:ser>
        <c:ser>
          <c:idx val="1"/>
          <c:order val="1"/>
          <c:tx>
            <c:v>Ibovespa</c:v>
          </c:tx>
          <c:spPr>
            <a:ln w="22225" cap="rnd">
              <a:solidFill>
                <a:srgbClr val="7E7E7E"/>
              </a:solidFill>
              <a:round/>
            </a:ln>
            <a:effectLst/>
          </c:spPr>
          <c:marker>
            <c:symbol val="none"/>
          </c:marker>
          <c:cat>
            <c:numRef>
              <c:f>'Charts Base 100'!$M$4:$M$10000</c:f>
              <c:numCache>
                <c:formatCode>m/d/yyyy</c:formatCode>
                <c:ptCount val="9997"/>
                <c:pt idx="0">
                  <c:v>45716</c:v>
                </c:pt>
                <c:pt idx="1">
                  <c:v>45721</c:v>
                </c:pt>
                <c:pt idx="2">
                  <c:v>45722</c:v>
                </c:pt>
                <c:pt idx="3">
                  <c:v>45723</c:v>
                </c:pt>
                <c:pt idx="4">
                  <c:v>45726</c:v>
                </c:pt>
                <c:pt idx="5">
                  <c:v>45727</c:v>
                </c:pt>
                <c:pt idx="6">
                  <c:v>45728</c:v>
                </c:pt>
                <c:pt idx="7">
                  <c:v>45729</c:v>
                </c:pt>
                <c:pt idx="8">
                  <c:v>45730</c:v>
                </c:pt>
                <c:pt idx="9">
                  <c:v>45733</c:v>
                </c:pt>
                <c:pt idx="10">
                  <c:v>45734</c:v>
                </c:pt>
                <c:pt idx="11">
                  <c:v>45735</c:v>
                </c:pt>
                <c:pt idx="12">
                  <c:v>45736</c:v>
                </c:pt>
                <c:pt idx="13">
                  <c:v>45737</c:v>
                </c:pt>
                <c:pt idx="14">
                  <c:v>45740</c:v>
                </c:pt>
                <c:pt idx="15">
                  <c:v>45741</c:v>
                </c:pt>
                <c:pt idx="16">
                  <c:v>45742</c:v>
                </c:pt>
                <c:pt idx="17">
                  <c:v>45743</c:v>
                </c:pt>
                <c:pt idx="18">
                  <c:v>45744</c:v>
                </c:pt>
                <c:pt idx="19">
                  <c:v>45747</c:v>
                </c:pt>
                <c:pt idx="20">
                  <c:v>45748</c:v>
                </c:pt>
                <c:pt idx="21">
                  <c:v>45749</c:v>
                </c:pt>
                <c:pt idx="22">
                  <c:v>45750</c:v>
                </c:pt>
                <c:pt idx="23">
                  <c:v>45751</c:v>
                </c:pt>
                <c:pt idx="24">
                  <c:v>45754</c:v>
                </c:pt>
                <c:pt idx="25">
                  <c:v>45755</c:v>
                </c:pt>
                <c:pt idx="26">
                  <c:v>45756</c:v>
                </c:pt>
                <c:pt idx="27">
                  <c:v>45757</c:v>
                </c:pt>
                <c:pt idx="28">
                  <c:v>45758</c:v>
                </c:pt>
                <c:pt idx="29">
                  <c:v>45761</c:v>
                </c:pt>
                <c:pt idx="30">
                  <c:v>45762</c:v>
                </c:pt>
                <c:pt idx="31">
                  <c:v>45763</c:v>
                </c:pt>
                <c:pt idx="32">
                  <c:v>45764</c:v>
                </c:pt>
                <c:pt idx="33">
                  <c:v>45769</c:v>
                </c:pt>
                <c:pt idx="34">
                  <c:v>45770</c:v>
                </c:pt>
                <c:pt idx="35">
                  <c:v>45771</c:v>
                </c:pt>
                <c:pt idx="36">
                  <c:v>45772</c:v>
                </c:pt>
                <c:pt idx="37">
                  <c:v>45775</c:v>
                </c:pt>
                <c:pt idx="38">
                  <c:v>45776</c:v>
                </c:pt>
                <c:pt idx="39">
                  <c:v>45777</c:v>
                </c:pt>
                <c:pt idx="40">
                  <c:v>45779</c:v>
                </c:pt>
                <c:pt idx="41">
                  <c:v>45782</c:v>
                </c:pt>
                <c:pt idx="42">
                  <c:v>45783</c:v>
                </c:pt>
                <c:pt idx="43">
                  <c:v>45784</c:v>
                </c:pt>
                <c:pt idx="44">
                  <c:v>45785</c:v>
                </c:pt>
                <c:pt idx="45">
                  <c:v>45786</c:v>
                </c:pt>
                <c:pt idx="46">
                  <c:v>45789</c:v>
                </c:pt>
                <c:pt idx="47">
                  <c:v>45790</c:v>
                </c:pt>
                <c:pt idx="48">
                  <c:v>45791</c:v>
                </c:pt>
                <c:pt idx="49">
                  <c:v>45792</c:v>
                </c:pt>
                <c:pt idx="50">
                  <c:v>45793</c:v>
                </c:pt>
                <c:pt idx="51">
                  <c:v>45796</c:v>
                </c:pt>
                <c:pt idx="52">
                  <c:v>45797</c:v>
                </c:pt>
                <c:pt idx="53">
                  <c:v>45798</c:v>
                </c:pt>
                <c:pt idx="54">
                  <c:v>45799</c:v>
                </c:pt>
                <c:pt idx="55">
                  <c:v>45800</c:v>
                </c:pt>
                <c:pt idx="56">
                  <c:v>45803</c:v>
                </c:pt>
                <c:pt idx="57">
                  <c:v>45804</c:v>
                </c:pt>
                <c:pt idx="58">
                  <c:v>45805</c:v>
                </c:pt>
                <c:pt idx="59">
                  <c:v>45806</c:v>
                </c:pt>
                <c:pt idx="60">
                  <c:v>45807</c:v>
                </c:pt>
                <c:pt idx="61">
                  <c:v>45810</c:v>
                </c:pt>
                <c:pt idx="62">
                  <c:v>45811</c:v>
                </c:pt>
                <c:pt idx="63">
                  <c:v>45812</c:v>
                </c:pt>
                <c:pt idx="64">
                  <c:v>45813</c:v>
                </c:pt>
                <c:pt idx="65">
                  <c:v>45814</c:v>
                </c:pt>
                <c:pt idx="66">
                  <c:v>45817</c:v>
                </c:pt>
                <c:pt idx="67">
                  <c:v>45818</c:v>
                </c:pt>
                <c:pt idx="68">
                  <c:v>45819</c:v>
                </c:pt>
                <c:pt idx="69">
                  <c:v>45820</c:v>
                </c:pt>
                <c:pt idx="70">
                  <c:v>45821</c:v>
                </c:pt>
                <c:pt idx="71">
                  <c:v>45824</c:v>
                </c:pt>
                <c:pt idx="72">
                  <c:v>45825</c:v>
                </c:pt>
                <c:pt idx="73">
                  <c:v>45826</c:v>
                </c:pt>
                <c:pt idx="74">
                  <c:v>45828</c:v>
                </c:pt>
                <c:pt idx="75">
                  <c:v>45831</c:v>
                </c:pt>
                <c:pt idx="76">
                  <c:v>45832</c:v>
                </c:pt>
                <c:pt idx="77">
                  <c:v>45833</c:v>
                </c:pt>
                <c:pt idx="78">
                  <c:v>45834</c:v>
                </c:pt>
                <c:pt idx="79">
                  <c:v>45835</c:v>
                </c:pt>
                <c:pt idx="80">
                  <c:v>45838</c:v>
                </c:pt>
                <c:pt idx="81">
                  <c:v>45839</c:v>
                </c:pt>
                <c:pt idx="82">
                  <c:v>45840</c:v>
                </c:pt>
                <c:pt idx="83">
                  <c:v>45841</c:v>
                </c:pt>
                <c:pt idx="84">
                  <c:v>45842</c:v>
                </c:pt>
                <c:pt idx="85">
                  <c:v>45845</c:v>
                </c:pt>
                <c:pt idx="86">
                  <c:v>45846</c:v>
                </c:pt>
                <c:pt idx="87">
                  <c:v>45847</c:v>
                </c:pt>
                <c:pt idx="88">
                  <c:v>45848</c:v>
                </c:pt>
                <c:pt idx="89">
                  <c:v>45849</c:v>
                </c:pt>
                <c:pt idx="90">
                  <c:v>45852</c:v>
                </c:pt>
                <c:pt idx="91">
                  <c:v>45853</c:v>
                </c:pt>
                <c:pt idx="92">
                  <c:v>45854</c:v>
                </c:pt>
                <c:pt idx="93">
                  <c:v>45855</c:v>
                </c:pt>
                <c:pt idx="94">
                  <c:v>45856</c:v>
                </c:pt>
                <c:pt idx="95">
                  <c:v>45859</c:v>
                </c:pt>
                <c:pt idx="96">
                  <c:v>45860</c:v>
                </c:pt>
                <c:pt idx="97">
                  <c:v>45861</c:v>
                </c:pt>
                <c:pt idx="98">
                  <c:v>45862</c:v>
                </c:pt>
                <c:pt idx="99">
                  <c:v>45863</c:v>
                </c:pt>
                <c:pt idx="100">
                  <c:v>45866</c:v>
                </c:pt>
                <c:pt idx="101">
                  <c:v>45867</c:v>
                </c:pt>
                <c:pt idx="102">
                  <c:v>45868</c:v>
                </c:pt>
                <c:pt idx="103">
                  <c:v>45869</c:v>
                </c:pt>
                <c:pt idx="104">
                  <c:v>45870</c:v>
                </c:pt>
                <c:pt idx="105">
                  <c:v>45873</c:v>
                </c:pt>
                <c:pt idx="106">
                  <c:v>45874</c:v>
                </c:pt>
                <c:pt idx="107">
                  <c:v>45875</c:v>
                </c:pt>
                <c:pt idx="108">
                  <c:v>45876</c:v>
                </c:pt>
                <c:pt idx="109">
                  <c:v>45877</c:v>
                </c:pt>
                <c:pt idx="110">
                  <c:v>45880</c:v>
                </c:pt>
                <c:pt idx="111">
                  <c:v>45881</c:v>
                </c:pt>
                <c:pt idx="112">
                  <c:v>45882</c:v>
                </c:pt>
                <c:pt idx="113">
                  <c:v>45883</c:v>
                </c:pt>
                <c:pt idx="114">
                  <c:v>45884</c:v>
                </c:pt>
                <c:pt idx="115">
                  <c:v>45887</c:v>
                </c:pt>
                <c:pt idx="116">
                  <c:v>45888</c:v>
                </c:pt>
                <c:pt idx="117">
                  <c:v>45889</c:v>
                </c:pt>
                <c:pt idx="118">
                  <c:v>45890</c:v>
                </c:pt>
                <c:pt idx="119">
                  <c:v>45891</c:v>
                </c:pt>
                <c:pt idx="120">
                  <c:v>45894</c:v>
                </c:pt>
                <c:pt idx="121">
                  <c:v>45895</c:v>
                </c:pt>
                <c:pt idx="122">
                  <c:v>45896</c:v>
                </c:pt>
                <c:pt idx="123">
                  <c:v>45897</c:v>
                </c:pt>
                <c:pt idx="124">
                  <c:v>45898</c:v>
                </c:pt>
                <c:pt idx="125">
                  <c:v>45901</c:v>
                </c:pt>
                <c:pt idx="126">
                  <c:v>45902</c:v>
                </c:pt>
                <c:pt idx="127">
                  <c:v>45903</c:v>
                </c:pt>
                <c:pt idx="128">
                  <c:v>45904</c:v>
                </c:pt>
                <c:pt idx="129">
                  <c:v>45905</c:v>
                </c:pt>
                <c:pt idx="130">
                  <c:v>45908</c:v>
                </c:pt>
                <c:pt idx="131">
                  <c:v>45909</c:v>
                </c:pt>
                <c:pt idx="132">
                  <c:v>45910</c:v>
                </c:pt>
                <c:pt idx="133">
                  <c:v>45911</c:v>
                </c:pt>
                <c:pt idx="134">
                  <c:v>45912</c:v>
                </c:pt>
                <c:pt idx="135">
                  <c:v>45915</c:v>
                </c:pt>
                <c:pt idx="136">
                  <c:v>45916</c:v>
                </c:pt>
                <c:pt idx="137">
                  <c:v>45917</c:v>
                </c:pt>
                <c:pt idx="138">
                  <c:v>45918</c:v>
                </c:pt>
                <c:pt idx="139">
                  <c:v>45919</c:v>
                </c:pt>
                <c:pt idx="140">
                  <c:v>45922</c:v>
                </c:pt>
                <c:pt idx="141">
                  <c:v>45923</c:v>
                </c:pt>
                <c:pt idx="142">
                  <c:v>45924</c:v>
                </c:pt>
                <c:pt idx="143">
                  <c:v>45925</c:v>
                </c:pt>
                <c:pt idx="144">
                  <c:v>45926</c:v>
                </c:pt>
                <c:pt idx="145">
                  <c:v>45929</c:v>
                </c:pt>
                <c:pt idx="146">
                  <c:v>45930</c:v>
                </c:pt>
                <c:pt idx="147">
                  <c:v>45931</c:v>
                </c:pt>
                <c:pt idx="148">
                  <c:v>45932</c:v>
                </c:pt>
                <c:pt idx="149">
                  <c:v>45933</c:v>
                </c:pt>
                <c:pt idx="150">
                  <c:v>45936</c:v>
                </c:pt>
                <c:pt idx="151">
                  <c:v>45937</c:v>
                </c:pt>
                <c:pt idx="152">
                  <c:v>45938</c:v>
                </c:pt>
                <c:pt idx="153">
                  <c:v>45939</c:v>
                </c:pt>
                <c:pt idx="154">
                  <c:v>45940</c:v>
                </c:pt>
                <c:pt idx="155">
                  <c:v>45943</c:v>
                </c:pt>
                <c:pt idx="156">
                  <c:v>45944</c:v>
                </c:pt>
                <c:pt idx="157">
                  <c:v>45945</c:v>
                </c:pt>
                <c:pt idx="158">
                  <c:v>45946</c:v>
                </c:pt>
                <c:pt idx="159">
                  <c:v>45947</c:v>
                </c:pt>
                <c:pt idx="160">
                  <c:v>45950</c:v>
                </c:pt>
                <c:pt idx="161">
                  <c:v>45951</c:v>
                </c:pt>
                <c:pt idx="162">
                  <c:v>45952</c:v>
                </c:pt>
                <c:pt idx="163">
                  <c:v>45953</c:v>
                </c:pt>
                <c:pt idx="164">
                  <c:v>45954</c:v>
                </c:pt>
                <c:pt idx="165">
                  <c:v>45957</c:v>
                </c:pt>
                <c:pt idx="166">
                  <c:v>45958</c:v>
                </c:pt>
                <c:pt idx="167">
                  <c:v>45959</c:v>
                </c:pt>
                <c:pt idx="168">
                  <c:v>45960</c:v>
                </c:pt>
                <c:pt idx="169">
                  <c:v>45961</c:v>
                </c:pt>
                <c:pt idx="170">
                  <c:v>45964</c:v>
                </c:pt>
                <c:pt idx="171">
                  <c:v>45965</c:v>
                </c:pt>
                <c:pt idx="172">
                  <c:v>45966</c:v>
                </c:pt>
                <c:pt idx="173">
                  <c:v>45967</c:v>
                </c:pt>
                <c:pt idx="174">
                  <c:v>45968</c:v>
                </c:pt>
                <c:pt idx="175">
                  <c:v>45971</c:v>
                </c:pt>
                <c:pt idx="176">
                  <c:v>45972</c:v>
                </c:pt>
                <c:pt idx="177">
                  <c:v>45973</c:v>
                </c:pt>
                <c:pt idx="178">
                  <c:v>45974</c:v>
                </c:pt>
                <c:pt idx="179">
                  <c:v>45975</c:v>
                </c:pt>
                <c:pt idx="180">
                  <c:v>45978</c:v>
                </c:pt>
                <c:pt idx="181">
                  <c:v>45979</c:v>
                </c:pt>
                <c:pt idx="182">
                  <c:v>45980</c:v>
                </c:pt>
                <c:pt idx="183">
                  <c:v>45982</c:v>
                </c:pt>
                <c:pt idx="184">
                  <c:v>45985</c:v>
                </c:pt>
                <c:pt idx="185">
                  <c:v>45986</c:v>
                </c:pt>
                <c:pt idx="186">
                  <c:v>45987</c:v>
                </c:pt>
                <c:pt idx="187">
                  <c:v>45988</c:v>
                </c:pt>
                <c:pt idx="188">
                  <c:v>45989</c:v>
                </c:pt>
                <c:pt idx="189">
                  <c:v>45992</c:v>
                </c:pt>
                <c:pt idx="190">
                  <c:v>45993</c:v>
                </c:pt>
                <c:pt idx="191">
                  <c:v>45994</c:v>
                </c:pt>
                <c:pt idx="192">
                  <c:v>45995</c:v>
                </c:pt>
                <c:pt idx="193">
                  <c:v>45996</c:v>
                </c:pt>
                <c:pt idx="194">
                  <c:v>45999</c:v>
                </c:pt>
                <c:pt idx="195">
                  <c:v>46000</c:v>
                </c:pt>
                <c:pt idx="196">
                  <c:v>46001</c:v>
                </c:pt>
                <c:pt idx="197">
                  <c:v>46002</c:v>
                </c:pt>
                <c:pt idx="198">
                  <c:v>46003</c:v>
                </c:pt>
                <c:pt idx="199">
                  <c:v>46006</c:v>
                </c:pt>
                <c:pt idx="200">
                  <c:v>46007</c:v>
                </c:pt>
                <c:pt idx="201">
                  <c:v>46008</c:v>
                </c:pt>
                <c:pt idx="202">
                  <c:v>46009</c:v>
                </c:pt>
                <c:pt idx="203">
                  <c:v>46010</c:v>
                </c:pt>
                <c:pt idx="204">
                  <c:v>46013</c:v>
                </c:pt>
                <c:pt idx="205">
                  <c:v>46014</c:v>
                </c:pt>
                <c:pt idx="206">
                  <c:v>46017</c:v>
                </c:pt>
                <c:pt idx="207">
                  <c:v>46020</c:v>
                </c:pt>
                <c:pt idx="208">
                  <c:v>46021</c:v>
                </c:pt>
                <c:pt idx="209">
                  <c:v>46024</c:v>
                </c:pt>
                <c:pt idx="210">
                  <c:v>46027</c:v>
                </c:pt>
                <c:pt idx="211">
                  <c:v>46028</c:v>
                </c:pt>
                <c:pt idx="212">
                  <c:v>46029</c:v>
                </c:pt>
                <c:pt idx="213">
                  <c:v>46030</c:v>
                </c:pt>
                <c:pt idx="214">
                  <c:v>46031</c:v>
                </c:pt>
                <c:pt idx="215">
                  <c:v>46034</c:v>
                </c:pt>
                <c:pt idx="216">
                  <c:v>46035</c:v>
                </c:pt>
                <c:pt idx="217">
                  <c:v>46036</c:v>
                </c:pt>
                <c:pt idx="218">
                  <c:v>46037</c:v>
                </c:pt>
                <c:pt idx="219">
                  <c:v>46038</c:v>
                </c:pt>
                <c:pt idx="220">
                  <c:v>46041</c:v>
                </c:pt>
                <c:pt idx="221">
                  <c:v>46042</c:v>
                </c:pt>
                <c:pt idx="222">
                  <c:v>46043</c:v>
                </c:pt>
                <c:pt idx="223">
                  <c:v>46044</c:v>
                </c:pt>
                <c:pt idx="224">
                  <c:v>46045</c:v>
                </c:pt>
                <c:pt idx="225">
                  <c:v>46048</c:v>
                </c:pt>
                <c:pt idx="226">
                  <c:v>46049</c:v>
                </c:pt>
                <c:pt idx="227">
                  <c:v>46050</c:v>
                </c:pt>
                <c:pt idx="228">
                  <c:v>46051</c:v>
                </c:pt>
                <c:pt idx="229">
                  <c:v>46052</c:v>
                </c:pt>
                <c:pt idx="230">
                  <c:v>46055</c:v>
                </c:pt>
                <c:pt idx="231">
                  <c:v>46056</c:v>
                </c:pt>
                <c:pt idx="232">
                  <c:v>46057</c:v>
                </c:pt>
                <c:pt idx="233">
                  <c:v>46058</c:v>
                </c:pt>
                <c:pt idx="234">
                  <c:v>46059</c:v>
                </c:pt>
                <c:pt idx="235">
                  <c:v>46062</c:v>
                </c:pt>
                <c:pt idx="236">
                  <c:v>46063</c:v>
                </c:pt>
                <c:pt idx="237">
                  <c:v>46064</c:v>
                </c:pt>
                <c:pt idx="238">
                  <c:v>46065</c:v>
                </c:pt>
                <c:pt idx="239">
                  <c:v>46066</c:v>
                </c:pt>
                <c:pt idx="240">
                  <c:v>46071</c:v>
                </c:pt>
                <c:pt idx="241">
                  <c:v>46072</c:v>
                </c:pt>
                <c:pt idx="242">
                  <c:v>46073</c:v>
                </c:pt>
                <c:pt idx="243">
                  <c:v>46076</c:v>
                </c:pt>
                <c:pt idx="244">
                  <c:v>46077</c:v>
                </c:pt>
                <c:pt idx="245">
                  <c:v>46078</c:v>
                </c:pt>
                <c:pt idx="246">
                  <c:v>46079</c:v>
                </c:pt>
                <c:pt idx="247">
                  <c:v>46080</c:v>
                </c:pt>
                <c:pt idx="248">
                  <c:v>46083</c:v>
                </c:pt>
                <c:pt idx="249">
                  <c:v>46084</c:v>
                </c:pt>
                <c:pt idx="250">
                  <c:v>46085</c:v>
                </c:pt>
                <c:pt idx="251">
                  <c:v>46086</c:v>
                </c:pt>
                <c:pt idx="252">
                  <c:v>46087</c:v>
                </c:pt>
                <c:pt idx="253">
                  <c:v>46090</c:v>
                </c:pt>
                <c:pt idx="254">
                  <c:v>46091</c:v>
                </c:pt>
                <c:pt idx="255">
                  <c:v>46092</c:v>
                </c:pt>
                <c:pt idx="256">
                  <c:v>46093</c:v>
                </c:pt>
                <c:pt idx="257">
                  <c:v>46094</c:v>
                </c:pt>
                <c:pt idx="258">
                  <c:v>46097</c:v>
                </c:pt>
                <c:pt idx="259">
                  <c:v>46098</c:v>
                </c:pt>
                <c:pt idx="260">
                  <c:v>46099</c:v>
                </c:pt>
                <c:pt idx="261">
                  <c:v>46100</c:v>
                </c:pt>
                <c:pt idx="262">
                  <c:v>46101</c:v>
                </c:pt>
                <c:pt idx="263">
                  <c:v>46104</c:v>
                </c:pt>
                <c:pt idx="264">
                  <c:v>46105</c:v>
                </c:pt>
                <c:pt idx="265">
                  <c:v>46106</c:v>
                </c:pt>
                <c:pt idx="266">
                  <c:v>46107</c:v>
                </c:pt>
                <c:pt idx="267">
                  <c:v>46108</c:v>
                </c:pt>
                <c:pt idx="268">
                  <c:v>46111</c:v>
                </c:pt>
                <c:pt idx="269">
                  <c:v>46112</c:v>
                </c:pt>
                <c:pt idx="270">
                  <c:v>46113</c:v>
                </c:pt>
                <c:pt idx="271">
                  <c:v>46114</c:v>
                </c:pt>
                <c:pt idx="272">
                  <c:v>46118</c:v>
                </c:pt>
                <c:pt idx="273">
                  <c:v>46119</c:v>
                </c:pt>
                <c:pt idx="274">
                  <c:v>46120</c:v>
                </c:pt>
                <c:pt idx="275">
                  <c:v>46121</c:v>
                </c:pt>
                <c:pt idx="276">
                  <c:v>46122</c:v>
                </c:pt>
                <c:pt idx="277">
                  <c:v>46125</c:v>
                </c:pt>
                <c:pt idx="278">
                  <c:v>46126</c:v>
                </c:pt>
                <c:pt idx="279">
                  <c:v>46127</c:v>
                </c:pt>
                <c:pt idx="280">
                  <c:v>46128</c:v>
                </c:pt>
                <c:pt idx="281">
                  <c:v>46129</c:v>
                </c:pt>
                <c:pt idx="282">
                  <c:v>46132</c:v>
                </c:pt>
                <c:pt idx="283">
                  <c:v>46134</c:v>
                </c:pt>
                <c:pt idx="284">
                  <c:v>46135</c:v>
                </c:pt>
                <c:pt idx="285">
                  <c:v>46136</c:v>
                </c:pt>
                <c:pt idx="286">
                  <c:v>46139</c:v>
                </c:pt>
                <c:pt idx="287">
                  <c:v>46140</c:v>
                </c:pt>
                <c:pt idx="288">
                  <c:v>46141</c:v>
                </c:pt>
                <c:pt idx="289">
                  <c:v>46142</c:v>
                </c:pt>
                <c:pt idx="290">
                  <c:v>46146</c:v>
                </c:pt>
                <c:pt idx="291">
                  <c:v>46147</c:v>
                </c:pt>
                <c:pt idx="292">
                  <c:v>46148</c:v>
                </c:pt>
                <c:pt idx="293">
                  <c:v>46149</c:v>
                </c:pt>
                <c:pt idx="294">
                  <c:v>46150</c:v>
                </c:pt>
                <c:pt idx="295">
                  <c:v>46153</c:v>
                </c:pt>
                <c:pt idx="296">
                  <c:v>46154</c:v>
                </c:pt>
                <c:pt idx="297">
                  <c:v>46155</c:v>
                </c:pt>
                <c:pt idx="298">
                  <c:v>46156</c:v>
                </c:pt>
                <c:pt idx="299">
                  <c:v>46157</c:v>
                </c:pt>
                <c:pt idx="300">
                  <c:v>46160</c:v>
                </c:pt>
                <c:pt idx="301">
                  <c:v>46161</c:v>
                </c:pt>
                <c:pt idx="302">
                  <c:v>46162</c:v>
                </c:pt>
                <c:pt idx="303">
                  <c:v>46163</c:v>
                </c:pt>
                <c:pt idx="304">
                  <c:v>46164</c:v>
                </c:pt>
                <c:pt idx="305">
                  <c:v>46167</c:v>
                </c:pt>
                <c:pt idx="306">
                  <c:v>46168</c:v>
                </c:pt>
                <c:pt idx="307">
                  <c:v>46169</c:v>
                </c:pt>
                <c:pt idx="308">
                  <c:v>46170</c:v>
                </c:pt>
                <c:pt idx="309">
                  <c:v>46171</c:v>
                </c:pt>
                <c:pt idx="310">
                  <c:v>46174</c:v>
                </c:pt>
                <c:pt idx="311">
                  <c:v>46175</c:v>
                </c:pt>
                <c:pt idx="312">
                  <c:v>46176</c:v>
                </c:pt>
                <c:pt idx="313">
                  <c:v>46178</c:v>
                </c:pt>
                <c:pt idx="314">
                  <c:v>46181</c:v>
                </c:pt>
                <c:pt idx="315">
                  <c:v>46182</c:v>
                </c:pt>
                <c:pt idx="316">
                  <c:v>46183</c:v>
                </c:pt>
                <c:pt idx="317">
                  <c:v>46184</c:v>
                </c:pt>
                <c:pt idx="318">
                  <c:v>46185</c:v>
                </c:pt>
                <c:pt idx="319">
                  <c:v>46188</c:v>
                </c:pt>
                <c:pt idx="320">
                  <c:v>46189</c:v>
                </c:pt>
                <c:pt idx="321">
                  <c:v>46190</c:v>
                </c:pt>
                <c:pt idx="322">
                  <c:v>46191</c:v>
                </c:pt>
                <c:pt idx="323">
                  <c:v>46192</c:v>
                </c:pt>
                <c:pt idx="324">
                  <c:v>46195</c:v>
                </c:pt>
                <c:pt idx="325">
                  <c:v>46196</c:v>
                </c:pt>
                <c:pt idx="326">
                  <c:v>46197</c:v>
                </c:pt>
                <c:pt idx="327">
                  <c:v>46198</c:v>
                </c:pt>
                <c:pt idx="328">
                  <c:v>46199</c:v>
                </c:pt>
                <c:pt idx="329">
                  <c:v>46202</c:v>
                </c:pt>
                <c:pt idx="330">
                  <c:v>46203</c:v>
                </c:pt>
              </c:numCache>
            </c:numRef>
          </c:cat>
          <c:val>
            <c:numRef>
              <c:f>'Charts Base 100'!$O$4:$O$10000</c:f>
              <c:numCache>
                <c:formatCode>0.0</c:formatCode>
                <c:ptCount val="9997"/>
                <c:pt idx="0" formatCode="General">
                  <c:v>100</c:v>
                </c:pt>
                <c:pt idx="1">
                  <c:v>100.20176045278509</c:v>
                </c:pt>
                <c:pt idx="2">
                  <c:v>100.4547753570487</c:v>
                </c:pt>
                <c:pt idx="3">
                  <c:v>101.82048580327429</c:v>
                </c:pt>
                <c:pt idx="4">
                  <c:v>101.4008980033973</c:v>
                </c:pt>
                <c:pt idx="5">
                  <c:v>100.57676323171449</c:v>
                </c:pt>
                <c:pt idx="6">
                  <c:v>100.86678981090169</c:v>
                </c:pt>
                <c:pt idx="7">
                  <c:v>102.31110833150311</c:v>
                </c:pt>
                <c:pt idx="8">
                  <c:v>105.0146951414705</c:v>
                </c:pt>
                <c:pt idx="9">
                  <c:v>106.5431022330866</c:v>
                </c:pt>
                <c:pt idx="10">
                  <c:v>107.06490577413889</c:v>
                </c:pt>
                <c:pt idx="11">
                  <c:v>107.9067035431615</c:v>
                </c:pt>
                <c:pt idx="12">
                  <c:v>107.4559265870781</c:v>
                </c:pt>
                <c:pt idx="13">
                  <c:v>107.7735022303504</c:v>
                </c:pt>
                <c:pt idx="14">
                  <c:v>106.9400758588683</c:v>
                </c:pt>
                <c:pt idx="15">
                  <c:v>107.5477758019217</c:v>
                </c:pt>
                <c:pt idx="16">
                  <c:v>107.9158078451559</c:v>
                </c:pt>
                <c:pt idx="17">
                  <c:v>108.42812434522109</c:v>
                </c:pt>
                <c:pt idx="18">
                  <c:v>107.4129946728433</c:v>
                </c:pt>
                <c:pt idx="19">
                  <c:v>106.0753300370548</c:v>
                </c:pt>
                <c:pt idx="20">
                  <c:v>106.7982588470322</c:v>
                </c:pt>
                <c:pt idx="21">
                  <c:v>106.8333161100787</c:v>
                </c:pt>
                <c:pt idx="22">
                  <c:v>106.79285164083871</c:v>
                </c:pt>
                <c:pt idx="23">
                  <c:v>103.6294324330905</c:v>
                </c:pt>
                <c:pt idx="24">
                  <c:v>102.2711894689122</c:v>
                </c:pt>
                <c:pt idx="25">
                  <c:v>100.92248240601781</c:v>
                </c:pt>
                <c:pt idx="26">
                  <c:v>104.069118101771</c:v>
                </c:pt>
                <c:pt idx="27">
                  <c:v>102.8955100563042</c:v>
                </c:pt>
                <c:pt idx="28">
                  <c:v>103.97666627659861</c:v>
                </c:pt>
                <c:pt idx="29">
                  <c:v>105.4192746868075</c:v>
                </c:pt>
                <c:pt idx="30">
                  <c:v>105.2494688682139</c:v>
                </c:pt>
                <c:pt idx="31">
                  <c:v>104.493355773239</c:v>
                </c:pt>
                <c:pt idx="32">
                  <c:v>105.5789827107025</c:v>
                </c:pt>
                <c:pt idx="33">
                  <c:v>106.2421390907701</c:v>
                </c:pt>
                <c:pt idx="34">
                  <c:v>107.6686073162269</c:v>
                </c:pt>
                <c:pt idx="35">
                  <c:v>109.5939961770075</c:v>
                </c:pt>
                <c:pt idx="36">
                  <c:v>109.72335381312681</c:v>
                </c:pt>
                <c:pt idx="37">
                  <c:v>109.94860792535189</c:v>
                </c:pt>
                <c:pt idx="38">
                  <c:v>110.0113934069055</c:v>
                </c:pt>
                <c:pt idx="39">
                  <c:v>109.990204324804</c:v>
                </c:pt>
                <c:pt idx="40">
                  <c:v>110.0446916992626</c:v>
                </c:pt>
                <c:pt idx="41">
                  <c:v>108.7070189200914</c:v>
                </c:pt>
                <c:pt idx="42">
                  <c:v>108.7270434984494</c:v>
                </c:pt>
                <c:pt idx="43">
                  <c:v>108.6307072796712</c:v>
                </c:pt>
                <c:pt idx="44">
                  <c:v>110.9388514198273</c:v>
                </c:pt>
                <c:pt idx="45">
                  <c:v>111.16684985206319</c:v>
                </c:pt>
                <c:pt idx="46">
                  <c:v>111.2086254059375</c:v>
                </c:pt>
                <c:pt idx="47">
                  <c:v>113.1629802794141</c:v>
                </c:pt>
                <c:pt idx="48">
                  <c:v>112.7230177357177</c:v>
                </c:pt>
                <c:pt idx="49">
                  <c:v>113.4653196534274</c:v>
                </c:pt>
                <c:pt idx="50">
                  <c:v>113.3456200693344</c:v>
                </c:pt>
                <c:pt idx="51">
                  <c:v>113.7112742447847</c:v>
                </c:pt>
                <c:pt idx="52">
                  <c:v>114.096635406663</c:v>
                </c:pt>
                <c:pt idx="53">
                  <c:v>112.2819965522546</c:v>
                </c:pt>
                <c:pt idx="54">
                  <c:v>111.7863251266764</c:v>
                </c:pt>
                <c:pt idx="55">
                  <c:v>112.2355955569378</c:v>
                </c:pt>
                <c:pt idx="56">
                  <c:v>112.4895469502258</c:v>
                </c:pt>
                <c:pt idx="57">
                  <c:v>113.63376552708981</c:v>
                </c:pt>
                <c:pt idx="58">
                  <c:v>113.10166060676831</c:v>
                </c:pt>
                <c:pt idx="59">
                  <c:v>112.8132952776767</c:v>
                </c:pt>
                <c:pt idx="60">
                  <c:v>111.5860223394164</c:v>
                </c:pt>
                <c:pt idx="61">
                  <c:v>111.3906055818492</c:v>
                </c:pt>
                <c:pt idx="62">
                  <c:v>112.009185084352</c:v>
                </c:pt>
                <c:pt idx="63">
                  <c:v>111.5656313088313</c:v>
                </c:pt>
                <c:pt idx="64">
                  <c:v>110.9424915119485</c:v>
                </c:pt>
                <c:pt idx="65">
                  <c:v>110.8331503108044</c:v>
                </c:pt>
                <c:pt idx="66">
                  <c:v>110.5051999978176</c:v>
                </c:pt>
                <c:pt idx="67">
                  <c:v>111.1051148668936</c:v>
                </c:pt>
                <c:pt idx="68">
                  <c:v>111.6686125279919</c:v>
                </c:pt>
                <c:pt idx="69">
                  <c:v>112.21560355211101</c:v>
                </c:pt>
                <c:pt idx="70">
                  <c:v>111.73749740327879</c:v>
                </c:pt>
                <c:pt idx="71">
                  <c:v>113.4014185284272</c:v>
                </c:pt>
                <c:pt idx="72">
                  <c:v>113.06274338026449</c:v>
                </c:pt>
                <c:pt idx="73">
                  <c:v>112.962270323013</c:v>
                </c:pt>
                <c:pt idx="74">
                  <c:v>111.6586694575668</c:v>
                </c:pt>
                <c:pt idx="75">
                  <c:v>111.1982995965198</c:v>
                </c:pt>
                <c:pt idx="76">
                  <c:v>111.69839287897</c:v>
                </c:pt>
                <c:pt idx="77">
                  <c:v>110.5605017105583</c:v>
                </c:pt>
                <c:pt idx="78">
                  <c:v>111.65708964129951</c:v>
                </c:pt>
                <c:pt idx="79">
                  <c:v>111.4550523134984</c:v>
                </c:pt>
                <c:pt idx="80">
                  <c:v>113.0746164324182</c:v>
                </c:pt>
                <c:pt idx="81">
                  <c:v>113.6404431010034</c:v>
                </c:pt>
                <c:pt idx="82">
                  <c:v>113.2344954673524</c:v>
                </c:pt>
                <c:pt idx="83">
                  <c:v>114.76295141926541</c:v>
                </c:pt>
                <c:pt idx="84">
                  <c:v>115.0363247805827</c:v>
                </c:pt>
                <c:pt idx="85">
                  <c:v>113.5918026754107</c:v>
                </c:pt>
                <c:pt idx="86">
                  <c:v>113.4396435673913</c:v>
                </c:pt>
                <c:pt idx="87">
                  <c:v>111.95587035701971</c:v>
                </c:pt>
                <c:pt idx="88">
                  <c:v>111.3552714437868</c:v>
                </c:pt>
                <c:pt idx="89">
                  <c:v>110.90254007582629</c:v>
                </c:pt>
                <c:pt idx="90">
                  <c:v>110.17914709302811</c:v>
                </c:pt>
                <c:pt idx="91">
                  <c:v>110.1393340944139</c:v>
                </c:pt>
                <c:pt idx="92">
                  <c:v>110.3517868088436</c:v>
                </c:pt>
                <c:pt idx="93">
                  <c:v>110.39555749150909</c:v>
                </c:pt>
                <c:pt idx="94">
                  <c:v>108.6177267274538</c:v>
                </c:pt>
                <c:pt idx="95">
                  <c:v>109.2570962862998</c:v>
                </c:pt>
                <c:pt idx="96">
                  <c:v>109.1504179713384</c:v>
                </c:pt>
                <c:pt idx="97">
                  <c:v>110.2355644492154</c:v>
                </c:pt>
                <c:pt idx="98">
                  <c:v>108.96464297903189</c:v>
                </c:pt>
                <c:pt idx="99">
                  <c:v>108.7338513664881</c:v>
                </c:pt>
                <c:pt idx="100">
                  <c:v>107.59791460995351</c:v>
                </c:pt>
                <c:pt idx="101">
                  <c:v>108.08360224819261</c:v>
                </c:pt>
                <c:pt idx="102">
                  <c:v>109.1129746971252</c:v>
                </c:pt>
                <c:pt idx="103">
                  <c:v>108.3648502606982</c:v>
                </c:pt>
                <c:pt idx="104">
                  <c:v>107.84883666483201</c:v>
                </c:pt>
                <c:pt idx="105">
                  <c:v>108.28353858322571</c:v>
                </c:pt>
                <c:pt idx="106">
                  <c:v>108.4302009078406</c:v>
                </c:pt>
                <c:pt idx="107">
                  <c:v>109.5591343551487</c:v>
                </c:pt>
                <c:pt idx="108">
                  <c:v>111.17965939324139</c:v>
                </c:pt>
                <c:pt idx="109">
                  <c:v>110.6793625262207</c:v>
                </c:pt>
                <c:pt idx="110">
                  <c:v>110.44312299056941</c:v>
                </c:pt>
                <c:pt idx="111">
                  <c:v>112.30838925597899</c:v>
                </c:pt>
                <c:pt idx="112">
                  <c:v>111.3097173602834</c:v>
                </c:pt>
                <c:pt idx="113">
                  <c:v>111.03973164621991</c:v>
                </c:pt>
                <c:pt idx="114">
                  <c:v>111.0275084286048</c:v>
                </c:pt>
                <c:pt idx="115">
                  <c:v>111.8262684194158</c:v>
                </c:pt>
                <c:pt idx="116">
                  <c:v>109.4733356737416</c:v>
                </c:pt>
                <c:pt idx="117">
                  <c:v>109.66405369942071</c:v>
                </c:pt>
                <c:pt idx="118">
                  <c:v>109.5373345193356</c:v>
                </c:pt>
                <c:pt idx="119">
                  <c:v>112.3527462622076</c:v>
                </c:pt>
                <c:pt idx="120">
                  <c:v>112.3991798310558</c:v>
                </c:pt>
                <c:pt idx="121">
                  <c:v>112.1925170618121</c:v>
                </c:pt>
                <c:pt idx="122">
                  <c:v>113.36062018049159</c:v>
                </c:pt>
                <c:pt idx="123">
                  <c:v>114.8617632264213</c:v>
                </c:pt>
                <c:pt idx="124">
                  <c:v>115.1655602659596</c:v>
                </c:pt>
                <c:pt idx="125">
                  <c:v>115.05216366017051</c:v>
                </c:pt>
                <c:pt idx="126">
                  <c:v>114.280293119436</c:v>
                </c:pt>
                <c:pt idx="127">
                  <c:v>113.8963081892545</c:v>
                </c:pt>
                <c:pt idx="128">
                  <c:v>114.8162009995351</c:v>
                </c:pt>
                <c:pt idx="129">
                  <c:v>116.1573265730227</c:v>
                </c:pt>
                <c:pt idx="130">
                  <c:v>115.4663116803227</c:v>
                </c:pt>
                <c:pt idx="131">
                  <c:v>115.32519499940921</c:v>
                </c:pt>
                <c:pt idx="132">
                  <c:v>115.9199958240733</c:v>
                </c:pt>
                <c:pt idx="133">
                  <c:v>116.57320913371591</c:v>
                </c:pt>
                <c:pt idx="134">
                  <c:v>115.85719405575399</c:v>
                </c:pt>
                <c:pt idx="135">
                  <c:v>116.8954753654933</c:v>
                </c:pt>
                <c:pt idx="136">
                  <c:v>117.314989874925</c:v>
                </c:pt>
                <c:pt idx="137">
                  <c:v>118.56246654596541</c:v>
                </c:pt>
                <c:pt idx="138">
                  <c:v>118.48580474008401</c:v>
                </c:pt>
                <c:pt idx="139">
                  <c:v>118.78354310280309</c:v>
                </c:pt>
                <c:pt idx="140">
                  <c:v>118.1680173688584</c:v>
                </c:pt>
                <c:pt idx="141">
                  <c:v>119.23943410329829</c:v>
                </c:pt>
                <c:pt idx="142">
                  <c:v>119.2938400439287</c:v>
                </c:pt>
                <c:pt idx="143">
                  <c:v>118.32842572367601</c:v>
                </c:pt>
                <c:pt idx="144">
                  <c:v>118.44278324863809</c:v>
                </c:pt>
                <c:pt idx="145">
                  <c:v>119.16765832710971</c:v>
                </c:pt>
                <c:pt idx="146">
                  <c:v>119.08640365331701</c:v>
                </c:pt>
                <c:pt idx="147">
                  <c:v>118.5003488218032</c:v>
                </c:pt>
                <c:pt idx="148">
                  <c:v>117.2237025534961</c:v>
                </c:pt>
                <c:pt idx="149">
                  <c:v>117.4281096056982</c:v>
                </c:pt>
                <c:pt idx="150">
                  <c:v>116.9455571698455</c:v>
                </c:pt>
                <c:pt idx="151">
                  <c:v>115.11195237684581</c:v>
                </c:pt>
                <c:pt idx="152">
                  <c:v>115.75442456454689</c:v>
                </c:pt>
                <c:pt idx="153">
                  <c:v>115.3984040109743</c:v>
                </c:pt>
                <c:pt idx="154">
                  <c:v>114.561386407668</c:v>
                </c:pt>
                <c:pt idx="155">
                  <c:v>115.4596178196434</c:v>
                </c:pt>
                <c:pt idx="156">
                  <c:v>115.3778826862642</c:v>
                </c:pt>
                <c:pt idx="157">
                  <c:v>116.1276195124899</c:v>
                </c:pt>
                <c:pt idx="158">
                  <c:v>115.7989200082834</c:v>
                </c:pt>
                <c:pt idx="159">
                  <c:v>116.7749940166495</c:v>
                </c:pt>
                <c:pt idx="160">
                  <c:v>117.679471403249</c:v>
                </c:pt>
                <c:pt idx="161">
                  <c:v>117.3340535341101</c:v>
                </c:pt>
                <c:pt idx="162">
                  <c:v>117.9754589386615</c:v>
                </c:pt>
                <c:pt idx="163">
                  <c:v>118.6661725261971</c:v>
                </c:pt>
                <c:pt idx="164">
                  <c:v>119.0336263892509</c:v>
                </c:pt>
                <c:pt idx="165">
                  <c:v>119.68256442291229</c:v>
                </c:pt>
                <c:pt idx="166">
                  <c:v>120.05699716504409</c:v>
                </c:pt>
                <c:pt idx="167">
                  <c:v>121.03748488689941</c:v>
                </c:pt>
                <c:pt idx="168">
                  <c:v>121.1574287724771</c:v>
                </c:pt>
                <c:pt idx="169">
                  <c:v>121.7764968779492</c:v>
                </c:pt>
                <c:pt idx="170">
                  <c:v>122.5206473435593</c:v>
                </c:pt>
                <c:pt idx="171">
                  <c:v>122.72419934056521</c:v>
                </c:pt>
                <c:pt idx="172">
                  <c:v>124.8335309325175</c:v>
                </c:pt>
                <c:pt idx="173">
                  <c:v>124.8695165412056</c:v>
                </c:pt>
                <c:pt idx="174">
                  <c:v>125.4598303619351</c:v>
                </c:pt>
                <c:pt idx="175">
                  <c:v>126.4319711163983</c:v>
                </c:pt>
                <c:pt idx="176">
                  <c:v>128.46072393533211</c:v>
                </c:pt>
                <c:pt idx="177">
                  <c:v>128.36650499608751</c:v>
                </c:pt>
                <c:pt idx="178">
                  <c:v>127.9833832644851</c:v>
                </c:pt>
                <c:pt idx="179">
                  <c:v>128.45265384295601</c:v>
                </c:pt>
                <c:pt idx="180">
                  <c:v>127.8453529256609</c:v>
                </c:pt>
                <c:pt idx="181">
                  <c:v>127.4619624624254</c:v>
                </c:pt>
                <c:pt idx="182">
                  <c:v>126.53241974350141</c:v>
                </c:pt>
                <c:pt idx="183">
                  <c:v>126.0352173619528</c:v>
                </c:pt>
                <c:pt idx="184">
                  <c:v>126.4484614666118</c:v>
                </c:pt>
                <c:pt idx="185">
                  <c:v>126.9636281506646</c:v>
                </c:pt>
                <c:pt idx="186">
                  <c:v>129.11735746575971</c:v>
                </c:pt>
                <c:pt idx="187">
                  <c:v>128.95841491984999</c:v>
                </c:pt>
                <c:pt idx="188">
                  <c:v>129.53852508190411</c:v>
                </c:pt>
                <c:pt idx="189">
                  <c:v>129.1630174132398</c:v>
                </c:pt>
                <c:pt idx="190">
                  <c:v>131.18358613243799</c:v>
                </c:pt>
                <c:pt idx="191">
                  <c:v>131.72343540982271</c:v>
                </c:pt>
                <c:pt idx="192">
                  <c:v>133.92249893708501</c:v>
                </c:pt>
                <c:pt idx="193">
                  <c:v>128.15189428521009</c:v>
                </c:pt>
                <c:pt idx="194">
                  <c:v>128.8180800036873</c:v>
                </c:pt>
                <c:pt idx="195">
                  <c:v>128.65008201608009</c:v>
                </c:pt>
                <c:pt idx="196">
                  <c:v>129.54083780262539</c:v>
                </c:pt>
                <c:pt idx="197">
                  <c:v>129.63377823076701</c:v>
                </c:pt>
                <c:pt idx="198">
                  <c:v>130.9182095730514</c:v>
                </c:pt>
                <c:pt idx="199">
                  <c:v>132.3151010321005</c:v>
                </c:pt>
                <c:pt idx="200">
                  <c:v>129.13603838595219</c:v>
                </c:pt>
                <c:pt idx="201">
                  <c:v>128.11761064353161</c:v>
                </c:pt>
                <c:pt idx="202">
                  <c:v>128.60302140675469</c:v>
                </c:pt>
                <c:pt idx="203">
                  <c:v>129.05064687368611</c:v>
                </c:pt>
                <c:pt idx="204">
                  <c:v>128.7807995971306</c:v>
                </c:pt>
                <c:pt idx="205">
                  <c:v>130.66532496291299</c:v>
                </c:pt>
                <c:pt idx="206">
                  <c:v>131.02429342106689</c:v>
                </c:pt>
                <c:pt idx="207">
                  <c:v>130.69339520349871</c:v>
                </c:pt>
                <c:pt idx="208">
                  <c:v>131.2105570163427</c:v>
                </c:pt>
                <c:pt idx="209">
                  <c:v>130.73280103297179</c:v>
                </c:pt>
                <c:pt idx="210">
                  <c:v>131.8167422901912</c:v>
                </c:pt>
                <c:pt idx="211">
                  <c:v>133.2777628889595</c:v>
                </c:pt>
                <c:pt idx="212">
                  <c:v>131.90263869219231</c:v>
                </c:pt>
                <c:pt idx="213">
                  <c:v>132.68541322252469</c:v>
                </c:pt>
                <c:pt idx="214">
                  <c:v>133.0386975994692</c:v>
                </c:pt>
                <c:pt idx="215">
                  <c:v>132.8595757509278</c:v>
                </c:pt>
                <c:pt idx="216">
                  <c:v>131.9008552913543</c:v>
                </c:pt>
                <c:pt idx="217">
                  <c:v>134.48469365693191</c:v>
                </c:pt>
                <c:pt idx="218">
                  <c:v>134.82862128701441</c:v>
                </c:pt>
                <c:pt idx="219">
                  <c:v>134.20293261130851</c:v>
                </c:pt>
                <c:pt idx="220">
                  <c:v>134.24307134523551</c:v>
                </c:pt>
                <c:pt idx="221">
                  <c:v>135.40564510697919</c:v>
                </c:pt>
                <c:pt idx="222">
                  <c:v>139.91689189227711</c:v>
                </c:pt>
                <c:pt idx="223">
                  <c:v>142.98912964257309</c:v>
                </c:pt>
                <c:pt idx="224">
                  <c:v>145.6513562111902</c:v>
                </c:pt>
                <c:pt idx="225">
                  <c:v>145.53909153561321</c:v>
                </c:pt>
                <c:pt idx="226">
                  <c:v>148.14371181415109</c:v>
                </c:pt>
                <c:pt idx="227">
                  <c:v>150.40099238520409</c:v>
                </c:pt>
                <c:pt idx="228">
                  <c:v>149.13282337841429</c:v>
                </c:pt>
                <c:pt idx="229">
                  <c:v>147.69156676975379</c:v>
                </c:pt>
                <c:pt idx="230">
                  <c:v>148.85566334408509</c:v>
                </c:pt>
                <c:pt idx="231">
                  <c:v>151.20179636510329</c:v>
                </c:pt>
                <c:pt idx="232">
                  <c:v>147.97196787044601</c:v>
                </c:pt>
                <c:pt idx="233">
                  <c:v>148.31319189743181</c:v>
                </c:pt>
                <c:pt idx="234">
                  <c:v>148.9830095646474</c:v>
                </c:pt>
                <c:pt idx="235">
                  <c:v>151.6632981563626</c:v>
                </c:pt>
                <c:pt idx="236">
                  <c:v>151.409371193223</c:v>
                </c:pt>
                <c:pt idx="237">
                  <c:v>154.4792555058836</c:v>
                </c:pt>
                <c:pt idx="238">
                  <c:v>152.90538390797519</c:v>
                </c:pt>
                <c:pt idx="239">
                  <c:v>151.84501774402401</c:v>
                </c:pt>
                <c:pt idx="240">
                  <c:v>151.4802023370043</c:v>
                </c:pt>
                <c:pt idx="241">
                  <c:v>153.53079570866529</c:v>
                </c:pt>
                <c:pt idx="242">
                  <c:v>155.15947227296229</c:v>
                </c:pt>
                <c:pt idx="243">
                  <c:v>153.79062662435041</c:v>
                </c:pt>
                <c:pt idx="244">
                  <c:v>155.93796338393059</c:v>
                </c:pt>
                <c:pt idx="245">
                  <c:v>155.74012804166551</c:v>
                </c:pt>
                <c:pt idx="246">
                  <c:v>155.5426998685414</c:v>
                </c:pt>
                <c:pt idx="247">
                  <c:v>153.73646498520469</c:v>
                </c:pt>
                <c:pt idx="248">
                  <c:v>154.15995346545321</c:v>
                </c:pt>
                <c:pt idx="249">
                  <c:v>149.10930528882591</c:v>
                </c:pt>
                <c:pt idx="250">
                  <c:v>150.9509883175844</c:v>
                </c:pt>
                <c:pt idx="251">
                  <c:v>146.95861345552319</c:v>
                </c:pt>
                <c:pt idx="252">
                  <c:v>146.06363939667631</c:v>
                </c:pt>
                <c:pt idx="253">
                  <c:v>147.3263034766789</c:v>
                </c:pt>
                <c:pt idx="254">
                  <c:v>149.3879148452973</c:v>
                </c:pt>
                <c:pt idx="255">
                  <c:v>149.8132844469776</c:v>
                </c:pt>
                <c:pt idx="256">
                  <c:v>145.99822360247131</c:v>
                </c:pt>
                <c:pt idx="257">
                  <c:v>144.66989128339631</c:v>
                </c:pt>
                <c:pt idx="258">
                  <c:v>146.479456810307</c:v>
                </c:pt>
                <c:pt idx="259">
                  <c:v>146.9145496110761</c:v>
                </c:pt>
                <c:pt idx="260">
                  <c:v>146.28765571471251</c:v>
                </c:pt>
                <c:pt idx="261">
                  <c:v>146.80126701264641</c:v>
                </c:pt>
                <c:pt idx="262">
                  <c:v>143.50220347724081</c:v>
                </c:pt>
                <c:pt idx="263">
                  <c:v>148.1541353441626</c:v>
                </c:pt>
                <c:pt idx="264">
                  <c:v>148.62417954400149</c:v>
                </c:pt>
                <c:pt idx="265">
                  <c:v>150.9980896438239</c:v>
                </c:pt>
                <c:pt idx="266">
                  <c:v>148.80620858021021</c:v>
                </c:pt>
                <c:pt idx="267">
                  <c:v>147.84862005084889</c:v>
                </c:pt>
                <c:pt idx="268">
                  <c:v>148.62830009570919</c:v>
                </c:pt>
                <c:pt idx="269">
                  <c:v>152.6573527539984</c:v>
                </c:pt>
                <c:pt idx="270">
                  <c:v>153.0572498542131</c:v>
                </c:pt>
                <c:pt idx="271">
                  <c:v>153.13795892135681</c:v>
                </c:pt>
                <c:pt idx="272">
                  <c:v>153.2274954154791</c:v>
                </c:pt>
                <c:pt idx="273">
                  <c:v>153.30643736855049</c:v>
                </c:pt>
                <c:pt idx="274">
                  <c:v>156.51676246135051</c:v>
                </c:pt>
                <c:pt idx="275">
                  <c:v>158.9012182419267</c:v>
                </c:pt>
                <c:pt idx="276">
                  <c:v>160.68838132269551</c:v>
                </c:pt>
                <c:pt idx="277">
                  <c:v>161.23955804558491</c:v>
                </c:pt>
                <c:pt idx="278">
                  <c:v>161.77426884840921</c:v>
                </c:pt>
                <c:pt idx="279">
                  <c:v>161.0253056435516</c:v>
                </c:pt>
                <c:pt idx="280">
                  <c:v>160.27691247549151</c:v>
                </c:pt>
                <c:pt idx="281">
                  <c:v>159.39329029229779</c:v>
                </c:pt>
                <c:pt idx="282">
                  <c:v>159.71784481464809</c:v>
                </c:pt>
                <c:pt idx="283">
                  <c:v>157.0768643318122</c:v>
                </c:pt>
                <c:pt idx="284">
                  <c:v>155.84678192647851</c:v>
                </c:pt>
                <c:pt idx="285">
                  <c:v>155.3309719151828</c:v>
                </c:pt>
                <c:pt idx="286">
                  <c:v>154.38126618039271</c:v>
                </c:pt>
                <c:pt idx="287">
                  <c:v>153.59941999570191</c:v>
                </c:pt>
                <c:pt idx="288">
                  <c:v>150.44933964901529</c:v>
                </c:pt>
                <c:pt idx="289">
                  <c:v>152.53992517371259</c:v>
                </c:pt>
                <c:pt idx="290">
                  <c:v>151.14128288735691</c:v>
                </c:pt>
                <c:pt idx="291">
                  <c:v>152.08078496347159</c:v>
                </c:pt>
                <c:pt idx="292">
                  <c:v>152.84385250737611</c:v>
                </c:pt>
                <c:pt idx="293">
                  <c:v>149.2016431066387</c:v>
                </c:pt>
                <c:pt idx="294">
                  <c:v>149.92642860789931</c:v>
                </c:pt>
                <c:pt idx="295">
                  <c:v>148.1353567033762</c:v>
                </c:pt>
                <c:pt idx="296">
                  <c:v>146.85966321085931</c:v>
                </c:pt>
                <c:pt idx="297">
                  <c:v>144.21791725003831</c:v>
                </c:pt>
                <c:pt idx="298">
                  <c:v>145.25014802634121</c:v>
                </c:pt>
                <c:pt idx="299">
                  <c:v>144.36900957490809</c:v>
                </c:pt>
                <c:pt idx="300">
                  <c:v>144.11818524062349</c:v>
                </c:pt>
                <c:pt idx="301">
                  <c:v>141.92194746720031</c:v>
                </c:pt>
                <c:pt idx="302">
                  <c:v>144.42756049739461</c:v>
                </c:pt>
                <c:pt idx="303">
                  <c:v>144.66708181632291</c:v>
                </c:pt>
                <c:pt idx="304">
                  <c:v>143.49423110545851</c:v>
                </c:pt>
                <c:pt idx="305">
                  <c:v>144.80214796380011</c:v>
                </c:pt>
                <c:pt idx="306">
                  <c:v>143.8032073364713</c:v>
                </c:pt>
                <c:pt idx="307">
                  <c:v>143.11536836307181</c:v>
                </c:pt>
                <c:pt idx="308">
                  <c:v>142.5608365664599</c:v>
                </c:pt>
                <c:pt idx="309">
                  <c:v>141.52180606550101</c:v>
                </c:pt>
                <c:pt idx="310">
                  <c:v>140.2269837667364</c:v>
                </c:pt>
                <c:pt idx="311">
                  <c:v>141.85580691192419</c:v>
                </c:pt>
                <c:pt idx="312">
                  <c:v>138.70675263147311</c:v>
                </c:pt>
                <c:pt idx="313">
                  <c:v>137.6387398310525</c:v>
                </c:pt>
                <c:pt idx="314">
                  <c:v>137.35339569698769</c:v>
                </c:pt>
                <c:pt idx="315">
                  <c:v>138.28534885722689</c:v>
                </c:pt>
                <c:pt idx="316">
                  <c:v>137.3131185255526</c:v>
                </c:pt>
                <c:pt idx="317">
                  <c:v>139.65676781481039</c:v>
                </c:pt>
                <c:pt idx="318">
                  <c:v>139.35987636390459</c:v>
                </c:pt>
                <c:pt idx="319">
                  <c:v>138.77556421631459</c:v>
                </c:pt>
                <c:pt idx="320">
                  <c:v>138.15124362892271</c:v>
                </c:pt>
                <c:pt idx="321">
                  <c:v>137.178483977365</c:v>
                </c:pt>
                <c:pt idx="322">
                  <c:v>137.0348509911596</c:v>
                </c:pt>
                <c:pt idx="323">
                  <c:v>137.0805027952569</c:v>
                </c:pt>
                <c:pt idx="324">
                  <c:v>138.7391225781885</c:v>
                </c:pt>
                <c:pt idx="325">
                  <c:v>139.4626539984946</c:v>
                </c:pt>
                <c:pt idx="326">
                  <c:v>138.8501005992797</c:v>
                </c:pt>
                <c:pt idx="327">
                  <c:v>140.0582040143783</c:v>
                </c:pt>
                <c:pt idx="328">
                  <c:v>141.1208666122852</c:v>
                </c:pt>
                <c:pt idx="329">
                  <c:v>141.04774717793109</c:v>
                </c:pt>
                <c:pt idx="330">
                  <c:v>140.08582636890881</c:v>
                </c:pt>
              </c:numCache>
            </c:numRef>
          </c:val>
          <c:smooth val="0"/>
          <c:extLst>
            <c:ext xmlns:c16="http://schemas.microsoft.com/office/drawing/2014/chart" uri="{C3380CC4-5D6E-409C-BE32-E72D297353CC}">
              <c16:uniqueId val="{00000001-D80D-46EB-9484-5F5304E6E167}"/>
            </c:ext>
          </c:extLst>
        </c:ser>
        <c:dLbls>
          <c:showLegendKey val="0"/>
          <c:showVal val="0"/>
          <c:showCatName val="0"/>
          <c:showSerName val="0"/>
          <c:showPercent val="0"/>
          <c:showBubbleSize val="0"/>
        </c:dLbls>
        <c:smooth val="0"/>
        <c:axId val="466100159"/>
        <c:axId val="466101119"/>
      </c:lineChart>
      <c:dateAx>
        <c:axId val="466100159"/>
        <c:scaling>
          <c:orientation val="minMax"/>
        </c:scaling>
        <c:delete val="0"/>
        <c:axPos val="b"/>
        <c:numFmt formatCode="[$-416]mmm\-yy;@" sourceLinked="0"/>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1119"/>
        <c:crosses val="autoZero"/>
        <c:auto val="1"/>
        <c:lblOffset val="100"/>
        <c:baseTimeUnit val="days"/>
        <c:majorUnit val="2"/>
        <c:majorTimeUnit val="months"/>
      </c:dateAx>
      <c:valAx>
        <c:axId val="466101119"/>
        <c:scaling>
          <c:orientation val="minMax"/>
          <c:min val="80"/>
        </c:scaling>
        <c:delete val="0"/>
        <c:axPos val="l"/>
        <c:majorGridlines>
          <c:spPr>
            <a:ln w="6350" cap="flat" cmpd="sng" algn="ctr">
              <a:solidFill>
                <a:schemeClr val="tx1">
                  <a:lumMod val="15000"/>
                  <a:lumOff val="85000"/>
                </a:schemeClr>
              </a:solidFill>
              <a:prstDash val="dash"/>
              <a:round/>
            </a:ln>
            <a:effectLst/>
          </c:spPr>
        </c:majorGridlines>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crossAx val="466100159"/>
        <c:crosses val="autoZero"/>
        <c:crossBetween val="between"/>
      </c:valAx>
      <c:spPr>
        <a:noFill/>
        <a:ln>
          <a:noFill/>
        </a:ln>
        <a:effectLst/>
      </c:spPr>
    </c:plotArea>
    <c:legend>
      <c:legendPos val="t"/>
      <c:overlay val="0"/>
      <c:spPr>
        <a:noFill/>
        <a:ln>
          <a:noFill/>
        </a:ln>
        <a:effectLst/>
      </c:spPr>
      <c:txPr>
        <a:bodyPr rot="0" spcFirstLastPara="1" vertOverflow="ellipsis" vert="horz" wrap="square" anchor="ctr" anchorCtr="1"/>
        <a:lstStyle/>
        <a:p>
          <a:pPr>
            <a:defRPr sz="800" b="0" i="0" u="none" strike="noStrike" kern="1200" baseline="0">
              <a:solidFill>
                <a:schemeClr val="tx1">
                  <a:lumMod val="65000"/>
                  <a:lumOff val="35000"/>
                </a:schemeClr>
              </a:solidFill>
              <a:latin typeface="Roboto Condensed" pitchFamily="2" charset="0"/>
              <a:ea typeface="Roboto Condensed" pitchFamily="2" charset="0"/>
              <a:cs typeface="Roboto Light" panose="02000000000000000000" pitchFamily="2" charset="0"/>
            </a:defRPr>
          </a:pPr>
          <a:endParaRPr lang="pt-B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solidFill>
      <a:schemeClr val="bg1"/>
    </a:solidFill>
    <a:ln w="9525" cap="flat" cmpd="sng" algn="ctr">
      <a:noFill/>
      <a:round/>
    </a:ln>
    <a:effectLst/>
  </c:spPr>
  <c:txPr>
    <a:bodyPr/>
    <a:lstStyle/>
    <a:p>
      <a:pPr>
        <a:defRPr sz="800">
          <a:latin typeface="Roboto Condensed" pitchFamily="2" charset="0"/>
          <a:ea typeface="Roboto Condensed" pitchFamily="2" charset="0"/>
          <a:cs typeface="Roboto Light" panose="02000000000000000000" pitchFamily="2" charset="0"/>
        </a:defRPr>
      </a:pPr>
      <a:endParaRPr lang="pt-BR"/>
    </a:p>
  </c:txPr>
  <c:externalData r:id="rId4">
    <c:autoUpdate val="0"/>
  </c:externalData>
</c:chartSpace>
</file>

<file path=ppt/charts/chartEx1.xml><?xml version="1.0" encoding="utf-8"?>
<cx:chartSpace xmlns:a="http://schemas.openxmlformats.org/drawingml/2006/main" xmlns:r="http://schemas.openxmlformats.org/officeDocument/2006/relationships" xmlns:cx="http://schemas.microsoft.com/office/drawing/2014/chartex">
  <cx:chartData>
    <cx:externalData r:id="rId1" cx:autoUpdate="0"/>
    <cx:data id="0">
      <cx:strDim type="cat">
        <cx:f>'Desempenho ativo tables_last'!$C$42:$C$58</cx:f>
        <cx:lvl ptCount="17">
          <cx:pt idx="0">ITUB4</cx:pt>
          <cx:pt idx="1">EMBJ3</cx:pt>
          <cx:pt idx="2">CPLE3</cx:pt>
          <cx:pt idx="3">SBSP3</cx:pt>
          <cx:pt idx="4">ROXO34</cx:pt>
          <cx:pt idx="5">LREN3</cx:pt>
          <cx:pt idx="6">BPAC11</cx:pt>
          <cx:pt idx="7">RENT3</cx:pt>
          <cx:pt idx="8">ORVR3</cx:pt>
          <cx:pt idx="9">IGTI11</cx:pt>
          <cx:pt idx="10">VALE3</cx:pt>
          <cx:pt idx="11">PETR4</cx:pt>
          <cx:pt idx="12">GGBR4</cx:pt>
          <cx:pt idx="13">TOTS3</cx:pt>
          <cx:pt idx="14">B3SA3</cx:pt>
          <cx:pt idx="15">PRIO3</cx:pt>
          <cx:pt idx="16">Top Ações</cx:pt>
        </cx:lvl>
      </cx:strDim>
      <cx:numDim type="val">
        <cx:f>'Desempenho ativo tables_last'!$D$42:$D$58</cx:f>
        <cx:lvl ptCount="17" formatCode="0.0%">
          <cx:pt idx="0">0.0063429554589486299</cx:pt>
          <cx:pt idx="1">0.0059708939186142503</cx:pt>
          <cx:pt idx="2">0.0031593406593406481</cx:pt>
          <cx:pt idx="3">0.003023255813953496</cx:pt>
          <cx:pt idx="4">0.0016772438803263846</cx:pt>
          <cx:pt idx="5">0.00032381904664249286</cx:pt>
          <cx:pt idx="6">0.00031627906976744447</cx:pt>
          <cx:pt idx="7">0.0001005298367672713</cx:pt>
          <cx:pt idx="8">-0.00057730303778710801</cx:pt>
          <cx:pt idx="9">-0.0029683885890516514</cx:pt>
          <cx:pt idx="10">-0.002982371407872492</cx:pt>
          <cx:pt idx="11">-0.0042429923504119782</cx:pt>
          <cx:pt idx="12">-0.0043697848045674116</cx:pt>
          <cx:pt idx="13">-0.0063402554830612953</cx:pt>
          <cx:pt idx="14">-0.0079641129134741164</cx:pt>
          <cx:pt idx="15">-0.0081124497991967841</cx:pt>
          <cx:pt idx="16">-0.016643340701062222</cx:pt>
        </cx:lvl>
      </cx:numDim>
    </cx:data>
  </cx:chartData>
  <cx:chart>
    <cx:title pos="t" align="ctr" overlay="0">
      <cx:tx>
        <cx:txData>
          <cx:v/>
        </cx:txData>
      </cx:tx>
      <cx:txPr>
        <a:bodyPr spcFirstLastPara="1" vertOverflow="ellipsis" horzOverflow="overflow" wrap="square" lIns="0" tIns="0" rIns="0" bIns="0" anchor="ctr" anchorCtr="1"/>
        <a:lstStyle/>
        <a:p>
          <a:pPr algn="ctr" rtl="0">
            <a:defRPr>
              <a:latin typeface="Roboto Condensed" pitchFamily="2" charset="0"/>
              <a:ea typeface="Roboto Condensed" pitchFamily="2" charset="0"/>
              <a:cs typeface="Roboto Condensed" pitchFamily="2" charset="0"/>
            </a:defRPr>
          </a:pPr>
          <a:endParaRPr lang="en-US" sz="1400" b="0" i="0" u="none" strike="noStrike" baseline="0">
            <a:solidFill>
              <a:sysClr val="windowText" lastClr="000000">
                <a:lumMod val="65000"/>
                <a:lumOff val="35000"/>
              </a:sysClr>
            </a:solidFill>
            <a:latin typeface="Roboto Condensed" pitchFamily="2" charset="0"/>
            <a:ea typeface="Roboto Condensed" pitchFamily="2" charset="0"/>
          </a:endParaRPr>
        </a:p>
      </cx:txPr>
    </cx:title>
    <cx:plotArea>
      <cx:plotAreaRegion>
        <cx:series layoutId="waterfall" uniqueId="{00000001-0DF3-4D48-91AA-71CB1540F764}" formatIdx="1">
          <cx:tx>
            <cx:txData>
              <cx:f>'Desempenho ativo tables_last'!$D$41</cx:f>
              <cx:v>Contribuição</cx:v>
            </cx:txData>
          </cx:tx>
          <cx:spPr>
            <a:solidFill>
              <a:srgbClr val="7E7E7E"/>
            </a:solidFill>
          </cx:spPr>
          <cx:dataPt idx="16">
            <cx:spPr>
              <a:solidFill>
                <a:srgbClr val="FFC000"/>
              </a:solidFill>
            </cx:spPr>
          </cx:dataPt>
          <cx:dataLabels pos="outEnd">
            <cx:numFmt formatCode="0,0%" sourceLinked="0"/>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visibility seriesName="0" categoryName="0" value="1"/>
            <cx:separator>, </cx:separator>
          </cx:dataLabels>
          <cx:dataId val="0"/>
          <cx:layoutPr>
            <cx:subtotals>
              <cx:idx val="16"/>
            </cx:subtotals>
          </cx:layoutPr>
        </cx:series>
      </cx:plotAreaRegion>
      <cx:axis id="0">
        <cx:catScaling gapWidth="0.5"/>
        <cx:tickLabels/>
        <cx:txPr>
          <a:bodyPr vertOverflow="overflow" horzOverflow="overflow" wrap="square" lIns="0" tIns="0" rIns="0" bIns="0"/>
          <a:lstStyle/>
          <a:p>
            <a:pPr algn="ctr" rtl="0">
              <a:defRPr sz="900" b="0" i="0">
                <a:solidFill>
                  <a:srgbClr val="595959"/>
                </a:solidFill>
                <a:latin typeface="Roboto Condensed" pitchFamily="2" charset="0"/>
                <a:ea typeface="Roboto Condensed" pitchFamily="2" charset="0"/>
                <a:cs typeface="Roboto Condensed" pitchFamily="2" charset="0"/>
              </a:defRPr>
            </a:pPr>
            <a:endParaRPr lang="pt-BR" sz="900">
              <a:latin typeface="Roboto Condensed" pitchFamily="2" charset="0"/>
              <a:ea typeface="Roboto Condensed" pitchFamily="2" charset="0"/>
            </a:endParaRPr>
          </a:p>
        </cx:txPr>
      </cx:axis>
      <cx:axis id="1" hidden="1">
        <cx:valScaling/>
        <cx:tickLabels/>
        <cx:txPr>
          <a:bodyPr vertOverflow="overflow" horzOverflow="overflow" wrap="square" lIns="0" tIns="0" rIns="0" bIns="0"/>
          <a:lstStyle/>
          <a:p>
            <a:pPr algn="ctr" rtl="0">
              <a:defRPr sz="1400" b="0" i="0">
                <a:solidFill>
                  <a:srgbClr val="595959"/>
                </a:solidFill>
                <a:latin typeface="Roboto Condensed" pitchFamily="2" charset="0"/>
                <a:ea typeface="Roboto Condensed" pitchFamily="2" charset="0"/>
                <a:cs typeface="Roboto Condensed" pitchFamily="2" charset="0"/>
              </a:defRPr>
            </a:pPr>
            <a:endParaRPr lang="pt-BR" sz="1400">
              <a:latin typeface="Roboto Condensed" pitchFamily="2" charset="0"/>
              <a:ea typeface="Roboto Condensed" pitchFamily="2" charset="0"/>
            </a:endParaRPr>
          </a:p>
        </cx:txPr>
      </cx:axis>
    </cx:plotArea>
  </cx:chart>
</cx: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27">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solidFill>
        <a:schemeClr val="phClr"/>
      </a:solidFill>
    </cs:spPr>
  </cs:dataPoint>
  <cs:dataPoint3D>
    <cs:lnRef idx="0"/>
    <cs:fillRef idx="1">
      <cs:styleClr val="auto"/>
    </cs:fillRef>
    <cs:effectRef idx="0"/>
    <cs:fontRef idx="minor">
      <a:schemeClr val="tx1"/>
    </cs:fontRef>
    <cs:spPr>
      <a:solidFill>
        <a:schemeClr val="phClr"/>
      </a:solidFill>
    </cs:spPr>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solidFill>
        <a:schemeClr val="phClr"/>
      </a:solidFill>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395">
  <cs:axisTitle>
    <cs:lnRef idx="0"/>
    <cs:fillRef idx="0"/>
    <cs:effectRef idx="0"/>
    <cs:fontRef idx="minor">
      <a:schemeClr val="tx1">
        <a:lumMod val="65000"/>
        <a:lumOff val="35000"/>
      </a:schemeClr>
    </cs:fontRef>
    <cs:defRPr sz="9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cs:chartArea>
  <cs:dataLabel>
    <cs:lnRef idx="0"/>
    <cs:fillRef idx="0"/>
    <cs:effectRef idx="0"/>
    <cs:fontRef idx="minor">
      <a:schemeClr val="tx1">
        <a:lumMod val="65000"/>
        <a:lumOff val="35000"/>
      </a:schemeClr>
    </cs:fontRef>
    <cs:defRPr sz="9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tx1"/>
    </cs:fontRef>
    <cs:spPr>
      <a:solidFill>
        <a:schemeClr val="phClr"/>
      </a:solidFill>
    </cs:spPr>
  </cs:dataPoint>
  <cs:dataPoint3D>
    <cs:lnRef idx="0"/>
    <cs:fillRef idx="0">
      <cs:styleClr val="auto"/>
    </cs:fillRef>
    <cs:effectRef idx="0"/>
    <cs:fontRef idx="minor">
      <a:schemeClr val="tx1"/>
    </cs:fontRef>
    <cs:spPr>
      <a:solidFill>
        <a:schemeClr val="phClr"/>
      </a:solidFill>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fillRef idx="0">
      <cs:styleClr val="auto"/>
    </cs:fillRef>
    <cs:effectRef idx="0"/>
    <cs:fontRef idx="minor">
      <a:schemeClr val="tx1"/>
    </cs:fontRef>
    <cs:spPr>
      <a:solidFill>
        <a:schemeClr val="phClr"/>
      </a:solidFill>
      <a:ln w="9525">
        <a:solidFill>
          <a:schemeClr val="lt1"/>
        </a:solidFill>
      </a:ln>
    </cs:spPr>
  </cs:dataPointMarker>
  <cs:dataPointMarkerLayout symbol="circle" size="5"/>
  <cs:dataPointWireframe>
    <cs:lnRef idx="0">
      <cs:styleClr val="auto"/>
    </cs:lnRef>
    <cs:fillRef idx="0"/>
    <cs:effectRef idx="0"/>
    <cs:fontRef idx="minor">
      <a:schemeClr val="tx1"/>
    </cs:fontRef>
    <cs:spPr>
      <a:ln w="2857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15000"/>
            <a:lumOff val="8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cs:seriesAxis>
  <cs:seriesLine>
    <cs:lnRef idx="0"/>
    <cs:fillRef idx="0"/>
    <cs:effectRef idx="0"/>
    <cs:fontRef idx="minor">
      <a:schemeClr val="tx1"/>
    </cs:fontRef>
    <cs:spPr>
      <a:ln w="9525" cap="flat">
        <a:solidFill>
          <a:srgbClr val="D9D9D9"/>
        </a:solidFill>
        <a:round/>
      </a:ln>
    </cs:spPr>
  </cs:seriesLine>
  <cs:title>
    <cs:lnRef idx="0"/>
    <cs:fillRef idx="0"/>
    <cs:effectRef idx="0"/>
    <cs:fontRef idx="minor">
      <a:schemeClr val="tx1">
        <a:lumMod val="65000"/>
        <a:lumOff val="35000"/>
      </a:schemeClr>
    </cs:fontRef>
    <cs:defRPr sz="1400"/>
  </cs:title>
  <cs:trendline>
    <cs:lnRef idx="0">
      <cs:styleClr val="auto"/>
    </cs:lnRef>
    <cs:fillRef idx="0"/>
    <cs:effectRef idx="0"/>
    <cs:fontRef idx="minor">
      <a:schemeClr val="tx1"/>
    </cs:fontRef>
    <cs:spPr>
      <a:ln w="19050" cap="rnd">
        <a:solidFill>
          <a:schemeClr val="phClr"/>
        </a:solidFill>
        <a:prstDash val="sysDash"/>
      </a:ln>
    </cs:spPr>
  </cs:trendline>
  <cs:trendlineLabel>
    <cs:lnRef idx="0"/>
    <cs:fillRef idx="0"/>
    <cs:effectRef idx="0"/>
    <cs:fontRef idx="minor">
      <a:schemeClr val="tx1">
        <a:lumMod val="65000"/>
        <a:lumOff val="35000"/>
      </a:schemeClr>
    </cs:fontRef>
    <cs:defRPr sz="9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900"/>
  </cs:valueAxis>
  <cs:wall>
    <cs:lnRef idx="0"/>
    <cs:fillRef idx="0"/>
    <cs:effectRef idx="0"/>
    <cs:fontRef idx="minor">
      <a:schemeClr val="tx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ço Reservado para Cabeçalh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pt-BR"/>
          </a:p>
        </p:txBody>
      </p:sp>
      <p:sp>
        <p:nvSpPr>
          <p:cNvPr id="3" name="Espaço Reservado para Dat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EE3B1FA-7387-4CD0-BE7E-512DADC150D8}" type="datetimeFigureOut">
              <a:rPr lang="pt-BR" smtClean="0"/>
              <a:t>02/07/2026</a:t>
            </a:fld>
            <a:endParaRPr lang="pt-BR"/>
          </a:p>
        </p:txBody>
      </p:sp>
      <p:sp>
        <p:nvSpPr>
          <p:cNvPr id="4" name="Espaço Reservado para Imagem de Slide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pt-BR"/>
          </a:p>
        </p:txBody>
      </p:sp>
      <p:sp>
        <p:nvSpPr>
          <p:cNvPr id="5" name="Espaço Reservado para Anotaçõ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pt-BR"/>
              <a:t>Clique para editar os estilos de texto Mestres</a:t>
            </a:r>
          </a:p>
          <a:p>
            <a:pPr lvl="1"/>
            <a:r>
              <a:rPr lang="pt-BR"/>
              <a:t>Segundo nível</a:t>
            </a:r>
          </a:p>
          <a:p>
            <a:pPr lvl="2"/>
            <a:r>
              <a:rPr lang="pt-BR"/>
              <a:t>Terceiro nível</a:t>
            </a:r>
          </a:p>
          <a:p>
            <a:pPr lvl="3"/>
            <a:r>
              <a:rPr lang="pt-BR"/>
              <a:t>Quarto nível</a:t>
            </a:r>
          </a:p>
          <a:p>
            <a:pPr lvl="4"/>
            <a:r>
              <a:rPr lang="pt-BR"/>
              <a:t>Quinto nível</a:t>
            </a:r>
          </a:p>
        </p:txBody>
      </p:sp>
      <p:sp>
        <p:nvSpPr>
          <p:cNvPr id="6" name="Espaço Reservado para Rodapé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pt-BR"/>
          </a:p>
        </p:txBody>
      </p:sp>
      <p:sp>
        <p:nvSpPr>
          <p:cNvPr id="7" name="Espaço Reservado para Número de Slid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45A0273-8E8A-4A97-A786-FD3980DEB8D9}" type="slidenum">
              <a:rPr lang="pt-BR" smtClean="0"/>
              <a:t>‹#›</a:t>
            </a:fld>
            <a:endParaRPr lang="pt-BR"/>
          </a:p>
        </p:txBody>
      </p:sp>
    </p:spTree>
    <p:extLst>
      <p:ext uri="{BB962C8B-B14F-4D97-AF65-F5344CB8AC3E}">
        <p14:creationId xmlns:p14="http://schemas.microsoft.com/office/powerpoint/2010/main" val="201898496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CDF1A-2D71-636A-81A5-C05FB4745085}"/>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3472612D-2C06-BFCB-82FA-3CDED0E161FE}"/>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ABB3F00F-9204-4E3B-5556-250F477D5376}"/>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8E570600-B829-6198-9F9C-8C93DD4BA23C}"/>
              </a:ext>
            </a:extLst>
          </p:cNvPr>
          <p:cNvSpPr>
            <a:spLocks noGrp="1"/>
          </p:cNvSpPr>
          <p:nvPr>
            <p:ph type="sldNum" sz="quarter" idx="5"/>
          </p:nvPr>
        </p:nvSpPr>
        <p:spPr/>
        <p:txBody>
          <a:bodyPr/>
          <a:lstStyle/>
          <a:p>
            <a:fld id="{345A0273-8E8A-4A97-A786-FD3980DEB8D9}" type="slidenum">
              <a:rPr lang="pt-BR" smtClean="0"/>
              <a:t>1</a:t>
            </a:fld>
            <a:endParaRPr lang="pt-BR"/>
          </a:p>
        </p:txBody>
      </p:sp>
    </p:spTree>
    <p:extLst>
      <p:ext uri="{BB962C8B-B14F-4D97-AF65-F5344CB8AC3E}">
        <p14:creationId xmlns:p14="http://schemas.microsoft.com/office/powerpoint/2010/main" val="283323711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95035-5A00-E84B-C03E-B33C4A0CEC3A}"/>
            </a:ext>
          </a:extLst>
        </p:cNvPr>
        <p:cNvGrpSpPr/>
        <p:nvPr/>
      </p:nvGrpSpPr>
      <p:grpSpPr>
        <a:xfrm>
          <a:off x="0" y="0"/>
          <a:ext cx="0" cy="0"/>
          <a:chOff x="0" y="0"/>
          <a:chExt cx="0" cy="0"/>
        </a:xfrm>
      </p:grpSpPr>
      <p:sp>
        <p:nvSpPr>
          <p:cNvPr id="2" name="Espaço Reservado para Imagem de Slide 1">
            <a:extLst>
              <a:ext uri="{FF2B5EF4-FFF2-40B4-BE49-F238E27FC236}">
                <a16:creationId xmlns:a16="http://schemas.microsoft.com/office/drawing/2014/main" id="{CD1BF292-FA3C-F66A-AF3A-04FA37C75C15}"/>
              </a:ext>
            </a:extLst>
          </p:cNvPr>
          <p:cNvSpPr>
            <a:spLocks noGrp="1" noRot="1" noChangeAspect="1"/>
          </p:cNvSpPr>
          <p:nvPr>
            <p:ph type="sldImg"/>
          </p:nvPr>
        </p:nvSpPr>
        <p:spPr/>
      </p:sp>
      <p:sp>
        <p:nvSpPr>
          <p:cNvPr id="3" name="Espaço Reservado para Anotações 2">
            <a:extLst>
              <a:ext uri="{FF2B5EF4-FFF2-40B4-BE49-F238E27FC236}">
                <a16:creationId xmlns:a16="http://schemas.microsoft.com/office/drawing/2014/main" id="{3387BAC2-26AF-33DE-981A-96B77197544F}"/>
              </a:ext>
            </a:extLst>
          </p:cNvPr>
          <p:cNvSpPr>
            <a:spLocks noGrp="1"/>
          </p:cNvSpPr>
          <p:nvPr>
            <p:ph type="body" idx="1"/>
          </p:nvPr>
        </p:nvSpPr>
        <p:spPr/>
        <p:txBody>
          <a:bodyPr/>
          <a:lstStyle/>
          <a:p>
            <a:endParaRPr lang="pt-BR" dirty="0"/>
          </a:p>
        </p:txBody>
      </p:sp>
      <p:sp>
        <p:nvSpPr>
          <p:cNvPr id="4" name="Espaço Reservado para Número de Slide 3">
            <a:extLst>
              <a:ext uri="{FF2B5EF4-FFF2-40B4-BE49-F238E27FC236}">
                <a16:creationId xmlns:a16="http://schemas.microsoft.com/office/drawing/2014/main" id="{655456E1-D085-2841-1040-E3851316886A}"/>
              </a:ext>
            </a:extLst>
          </p:cNvPr>
          <p:cNvSpPr>
            <a:spLocks noGrp="1"/>
          </p:cNvSpPr>
          <p:nvPr>
            <p:ph type="sldNum" sz="quarter" idx="5"/>
          </p:nvPr>
        </p:nvSpPr>
        <p:spPr/>
        <p:txBody>
          <a:bodyPr/>
          <a:lstStyle/>
          <a:p>
            <a:fld id="{345A0273-8E8A-4A97-A786-FD3980DEB8D9}" type="slidenum">
              <a:rPr lang="pt-BR" smtClean="0"/>
              <a:t>2</a:t>
            </a:fld>
            <a:endParaRPr lang="pt-BR"/>
          </a:p>
        </p:txBody>
      </p:sp>
    </p:spTree>
    <p:extLst>
      <p:ext uri="{BB962C8B-B14F-4D97-AF65-F5344CB8AC3E}">
        <p14:creationId xmlns:p14="http://schemas.microsoft.com/office/powerpoint/2010/main" val="18449307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Capa">
    <p:bg>
      <p:bgPr>
        <a:solidFill>
          <a:schemeClr val="bg1"/>
        </a:solidFill>
        <a:effectLst/>
      </p:bgPr>
    </p:bg>
    <p:spTree>
      <p:nvGrpSpPr>
        <p:cNvPr id="1" name=""/>
        <p:cNvGrpSpPr/>
        <p:nvPr/>
      </p:nvGrpSpPr>
      <p:grpSpPr>
        <a:xfrm>
          <a:off x="0" y="0"/>
          <a:ext cx="0" cy="0"/>
          <a:chOff x="0" y="0"/>
          <a:chExt cx="0" cy="0"/>
        </a:xfrm>
      </p:grpSpPr>
      <p:sp>
        <p:nvSpPr>
          <p:cNvPr id="21" name="Rectangle 20">
            <a:extLst>
              <a:ext uri="{FF2B5EF4-FFF2-40B4-BE49-F238E27FC236}">
                <a16:creationId xmlns:a16="http://schemas.microsoft.com/office/drawing/2014/main" id="{D881781C-40FD-43E2-BC6E-3786CEF8438E}"/>
              </a:ext>
            </a:extLst>
          </p:cNvPr>
          <p:cNvSpPr/>
          <p:nvPr userDrawn="1"/>
        </p:nvSpPr>
        <p:spPr>
          <a:xfrm>
            <a:off x="1" y="2"/>
            <a:ext cx="6858000" cy="2133261"/>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pic>
        <p:nvPicPr>
          <p:cNvPr id="52" name="Picture 51" descr="A picture containing dark, night sky&#10;&#10;Description automatically generated">
            <a:extLst>
              <a:ext uri="{FF2B5EF4-FFF2-40B4-BE49-F238E27FC236}">
                <a16:creationId xmlns:a16="http://schemas.microsoft.com/office/drawing/2014/main" id="{5CCADE29-8500-4070-A119-2C944A23B7D8}"/>
              </a:ext>
            </a:extLst>
          </p:cNvPr>
          <p:cNvPicPr>
            <a:picLocks noChangeAspect="1"/>
          </p:cNvPicPr>
          <p:nvPr userDrawn="1"/>
        </p:nvPicPr>
        <p:blipFill rotWithShape="1">
          <a:blip r:embed="rId3">
            <a:alphaModFix amt="81000"/>
          </a:blip>
          <a:srcRect b="75849"/>
          <a:stretch/>
        </p:blipFill>
        <p:spPr>
          <a:xfrm>
            <a:off x="1938508" y="2"/>
            <a:ext cx="4919492" cy="2133261"/>
          </a:xfrm>
          <a:prstGeom prst="rect">
            <a:avLst/>
          </a:prstGeom>
        </p:spPr>
      </p:pic>
      <p:sp>
        <p:nvSpPr>
          <p:cNvPr id="14" name="Espaço Reservado para Conteúdo 14">
            <a:extLst>
              <a:ext uri="{FF2B5EF4-FFF2-40B4-BE49-F238E27FC236}">
                <a16:creationId xmlns:a16="http://schemas.microsoft.com/office/drawing/2014/main" id="{CE1411FD-E7CA-45C3-AC7A-87E2FAD1AC2B}"/>
              </a:ext>
            </a:extLst>
          </p:cNvPr>
          <p:cNvSpPr>
            <a:spLocks noGrp="1"/>
          </p:cNvSpPr>
          <p:nvPr>
            <p:ph sz="quarter" idx="22" hasCustomPrompt="1"/>
          </p:nvPr>
        </p:nvSpPr>
        <p:spPr>
          <a:xfrm>
            <a:off x="5693919" y="2353291"/>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49" name="Do not remove" hidden="1">
            <a:extLst>
              <a:ext uri="{FF2B5EF4-FFF2-40B4-BE49-F238E27FC236}">
                <a16:creationId xmlns:a16="http://schemas.microsoft.com/office/drawing/2014/main" id="{3AE5CB97-7DD5-4F37-94F8-D7A98741A96B}"/>
              </a:ext>
            </a:extLst>
          </p:cNvPr>
          <p:cNvSpPr/>
          <p:nvPr userDrawn="1">
            <p:custDataLst>
              <p:tags r:id="rId1"/>
            </p:custDataLst>
          </p:nvPr>
        </p:nvSpPr>
        <p:spPr>
          <a:xfrm>
            <a:off x="1" y="0"/>
            <a:ext cx="7144" cy="18344"/>
          </a:xfrm>
          <a:prstGeom prst="octagon">
            <a:avLst/>
          </a:prstGeom>
          <a:noFill/>
          <a:ln>
            <a:noFill/>
          </a:ln>
          <a:extLst>
            <a:ext uri="{909E8E84-426E-40DD-AFC4-6F175D3DCCD1}">
              <a14:hiddenFill xmlns:a14="http://schemas.microsoft.com/office/drawing/2010/main">
                <a:solidFill>
                  <a:schemeClr val="accent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BR" sz="1013" b="1">
              <a:solidFill>
                <a:schemeClr val="bg1"/>
              </a:solidFill>
              <a:latin typeface="Roboto" panose="02000000000000000000" pitchFamily="2" charset="0"/>
              <a:ea typeface="Roboto" panose="02000000000000000000" pitchFamily="2" charset="0"/>
              <a:cs typeface="Roboto" panose="02000000000000000000" pitchFamily="2" charset="0"/>
            </a:endParaRPr>
          </a:p>
        </p:txBody>
      </p:sp>
      <p:sp>
        <p:nvSpPr>
          <p:cNvPr id="15" name="Espaço Reservado para Texto 6">
            <a:extLst>
              <a:ext uri="{FF2B5EF4-FFF2-40B4-BE49-F238E27FC236}">
                <a16:creationId xmlns:a16="http://schemas.microsoft.com/office/drawing/2014/main" id="{89C55DDC-9BF1-4F19-9DFA-8D99FB29A854}"/>
              </a:ext>
            </a:extLst>
          </p:cNvPr>
          <p:cNvSpPr>
            <a:spLocks noGrp="1"/>
          </p:cNvSpPr>
          <p:nvPr>
            <p:ph type="body" sz="quarter" idx="16" hasCustomPrompt="1"/>
          </p:nvPr>
        </p:nvSpPr>
        <p:spPr>
          <a:xfrm>
            <a:off x="189311" y="272873"/>
            <a:ext cx="4688979" cy="756904"/>
          </a:xfrm>
          <a:prstGeom prst="rect">
            <a:avLst/>
          </a:prstGeom>
        </p:spPr>
        <p:txBody>
          <a:bodyPr vert="horz" lIns="0" tIns="0" rIns="0" bIns="0" rtlCol="0" anchor="ctr">
            <a:noAutofit/>
          </a:bodyPr>
          <a:lstStyle>
            <a:lvl1pPr>
              <a:defRPr lang="pt-BR" sz="1350" b="0" dirty="0">
                <a:solidFill>
                  <a:schemeClr val="accent3"/>
                </a:solidFill>
                <a:latin typeface="Roboto" panose="02000000000000000000" pitchFamily="2" charset="0"/>
                <a:ea typeface="Roboto" panose="02000000000000000000" pitchFamily="2" charset="0"/>
                <a:cs typeface="Roboto" panose="02000000000000000000" pitchFamily="2" charset="0"/>
              </a:defRPr>
            </a:lvl1pPr>
          </a:lstStyle>
          <a:p>
            <a:pPr lvl="0">
              <a:lnSpc>
                <a:spcPct val="100000"/>
              </a:lnSpc>
              <a:spcBef>
                <a:spcPts val="0"/>
              </a:spcBef>
            </a:pPr>
            <a:r>
              <a:rPr lang="pt-BR"/>
              <a:t>Clique Para Editar o Texto Mestre</a:t>
            </a:r>
          </a:p>
        </p:txBody>
      </p:sp>
      <p:sp>
        <p:nvSpPr>
          <p:cNvPr id="17" name="Espaço Reservado para Conteúdo 14">
            <a:extLst>
              <a:ext uri="{FF2B5EF4-FFF2-40B4-BE49-F238E27FC236}">
                <a16:creationId xmlns:a16="http://schemas.microsoft.com/office/drawing/2014/main" id="{1A0E7759-F94A-4604-94D3-8330DB779166}"/>
              </a:ext>
            </a:extLst>
          </p:cNvPr>
          <p:cNvSpPr>
            <a:spLocks noGrp="1"/>
          </p:cNvSpPr>
          <p:nvPr>
            <p:ph sz="quarter" idx="20"/>
          </p:nvPr>
        </p:nvSpPr>
        <p:spPr>
          <a:xfrm>
            <a:off x="189000" y="2198707"/>
            <a:ext cx="5388631" cy="1229580"/>
          </a:xfrm>
          <a:prstGeom prst="rect">
            <a:avLst/>
          </a:prstGeom>
          <a:solidFill>
            <a:schemeClr val="bg1">
              <a:lumMod val="95000"/>
            </a:schemeClr>
          </a:solidFill>
        </p:spPr>
        <p:txBody>
          <a:bodyPr lIns="36000" tIns="36000" rIns="36000" bIns="36000">
            <a:noAutofit/>
          </a:bodyPr>
          <a:lstStyle>
            <a:lvl1pPr marL="0" indent="0" algn="just">
              <a:lnSpc>
                <a:spcPct val="125000"/>
              </a:lnSpc>
              <a:spcBef>
                <a:spcPts val="338"/>
              </a:spcBef>
              <a:buFont typeface="Arial" panose="020B0604020202020204" pitchFamily="34" charset="0"/>
              <a:buNone/>
              <a:defRPr sz="563" b="0">
                <a:solidFill>
                  <a:schemeClr val="accent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19" name="CaixaDeTexto 9">
            <a:extLst>
              <a:ext uri="{FF2B5EF4-FFF2-40B4-BE49-F238E27FC236}">
                <a16:creationId xmlns:a16="http://schemas.microsoft.com/office/drawing/2014/main" id="{476F5366-F93B-420C-8A94-B09C103B395E}"/>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accent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accent1"/>
              </a:solidFill>
              <a:latin typeface="Roboto" panose="02000000000000000000" pitchFamily="2" charset="0"/>
              <a:ea typeface="Roboto" panose="02000000000000000000" pitchFamily="2" charset="0"/>
              <a:cs typeface="Roboto" panose="02000000000000000000" pitchFamily="2" charset="0"/>
            </a:endParaRPr>
          </a:p>
        </p:txBody>
      </p:sp>
      <p:sp>
        <p:nvSpPr>
          <p:cNvPr id="23" name="Date Placeholder 1">
            <a:extLst>
              <a:ext uri="{FF2B5EF4-FFF2-40B4-BE49-F238E27FC236}">
                <a16:creationId xmlns:a16="http://schemas.microsoft.com/office/drawing/2014/main" id="{841867EE-8B42-428C-9638-B3E3663F1E3C}"/>
              </a:ext>
            </a:extLst>
          </p:cNvPr>
          <p:cNvSpPr>
            <a:spLocks noGrp="1"/>
          </p:cNvSpPr>
          <p:nvPr>
            <p:ph type="dt" sz="half" idx="2"/>
          </p:nvPr>
        </p:nvSpPr>
        <p:spPr>
          <a:xfrm>
            <a:off x="4906862" y="440790"/>
            <a:ext cx="1761828" cy="304121"/>
          </a:xfrm>
          <a:prstGeom prst="rect">
            <a:avLst/>
          </a:prstGeom>
        </p:spPr>
        <p:txBody>
          <a:bodyPr vert="horz" lIns="0" tIns="0" rIns="0" bIns="0" rtlCol="0" anchor="ctr"/>
          <a:lstStyle>
            <a:lvl1pPr algn="r">
              <a:defRPr sz="619">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fld id="{DEF07EAB-FF36-413A-9F9A-0AF5F3187EB1}" type="datetime4">
              <a:rPr lang="pt-BR" smtClean="0"/>
              <a:pPr/>
              <a:t>2 de julho de 2026</a:t>
            </a:fld>
            <a:endParaRPr lang="en-US"/>
          </a:p>
        </p:txBody>
      </p:sp>
      <p:sp>
        <p:nvSpPr>
          <p:cNvPr id="25" name="Espaço Reservado para Texto 6">
            <a:extLst>
              <a:ext uri="{FF2B5EF4-FFF2-40B4-BE49-F238E27FC236}">
                <a16:creationId xmlns:a16="http://schemas.microsoft.com/office/drawing/2014/main" id="{57881405-3A2D-4B05-95E2-54097515C5EA}"/>
              </a:ext>
            </a:extLst>
          </p:cNvPr>
          <p:cNvSpPr>
            <a:spLocks noGrp="1"/>
          </p:cNvSpPr>
          <p:nvPr>
            <p:ph type="body" sz="quarter" idx="24" hasCustomPrompt="1"/>
          </p:nvPr>
        </p:nvSpPr>
        <p:spPr>
          <a:xfrm>
            <a:off x="189310" y="1606581"/>
            <a:ext cx="6479381" cy="292981"/>
          </a:xfrm>
          <a:prstGeom prst="rect">
            <a:avLst/>
          </a:prstGeom>
        </p:spPr>
        <p:txBody>
          <a:bodyPr vert="horz" lIns="0" tIns="0" rIns="0" bIns="0" rtlCol="0" anchor="t">
            <a:noAutofit/>
          </a:bodyPr>
          <a:lstStyle>
            <a:lvl1pPr>
              <a:defRPr lang="pt-BR" sz="67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26" name="Espaço Reservado para Conteúdo 14">
            <a:extLst>
              <a:ext uri="{FF2B5EF4-FFF2-40B4-BE49-F238E27FC236}">
                <a16:creationId xmlns:a16="http://schemas.microsoft.com/office/drawing/2014/main" id="{850F5579-F7F0-47FE-8562-80BD2CF75884}"/>
              </a:ext>
            </a:extLst>
          </p:cNvPr>
          <p:cNvSpPr>
            <a:spLocks noGrp="1"/>
          </p:cNvSpPr>
          <p:nvPr>
            <p:ph sz="quarter" idx="25" hasCustomPrompt="1"/>
          </p:nvPr>
        </p:nvSpPr>
        <p:spPr>
          <a:xfrm>
            <a:off x="5693919" y="266351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29" name="Espaço Reservado para Conteúdo 14">
            <a:extLst>
              <a:ext uri="{FF2B5EF4-FFF2-40B4-BE49-F238E27FC236}">
                <a16:creationId xmlns:a16="http://schemas.microsoft.com/office/drawing/2014/main" id="{3AED8A04-1CB7-4096-B4E7-A94A03362595}"/>
              </a:ext>
            </a:extLst>
          </p:cNvPr>
          <p:cNvSpPr>
            <a:spLocks noGrp="1"/>
          </p:cNvSpPr>
          <p:nvPr>
            <p:ph sz="quarter" idx="26" hasCustomPrompt="1"/>
          </p:nvPr>
        </p:nvSpPr>
        <p:spPr>
          <a:xfrm>
            <a:off x="5693919" y="293933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0" name="Espaço Reservado para Conteúdo 14">
            <a:extLst>
              <a:ext uri="{FF2B5EF4-FFF2-40B4-BE49-F238E27FC236}">
                <a16:creationId xmlns:a16="http://schemas.microsoft.com/office/drawing/2014/main" id="{938C4CF9-D21D-491A-995D-38D80E45D35E}"/>
              </a:ext>
            </a:extLst>
          </p:cNvPr>
          <p:cNvSpPr>
            <a:spLocks noGrp="1"/>
          </p:cNvSpPr>
          <p:nvPr>
            <p:ph sz="quarter" idx="27" hasCustomPrompt="1"/>
          </p:nvPr>
        </p:nvSpPr>
        <p:spPr>
          <a:xfrm>
            <a:off x="5693919" y="341533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1" name="Espaço Reservado para Conteúdo 14">
            <a:extLst>
              <a:ext uri="{FF2B5EF4-FFF2-40B4-BE49-F238E27FC236}">
                <a16:creationId xmlns:a16="http://schemas.microsoft.com/office/drawing/2014/main" id="{A0CEDDC6-9D7D-4AB6-8714-251BC13968E7}"/>
              </a:ext>
            </a:extLst>
          </p:cNvPr>
          <p:cNvSpPr>
            <a:spLocks noGrp="1"/>
          </p:cNvSpPr>
          <p:nvPr>
            <p:ph sz="quarter" idx="28" hasCustomPrompt="1"/>
          </p:nvPr>
        </p:nvSpPr>
        <p:spPr>
          <a:xfrm>
            <a:off x="5693919" y="372555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2" name="Espaço Reservado para Conteúdo 14">
            <a:extLst>
              <a:ext uri="{FF2B5EF4-FFF2-40B4-BE49-F238E27FC236}">
                <a16:creationId xmlns:a16="http://schemas.microsoft.com/office/drawing/2014/main" id="{193B6CB7-D834-4068-868A-9AFBE5866A58}"/>
              </a:ext>
            </a:extLst>
          </p:cNvPr>
          <p:cNvSpPr>
            <a:spLocks noGrp="1"/>
          </p:cNvSpPr>
          <p:nvPr>
            <p:ph sz="quarter" idx="29" hasCustomPrompt="1"/>
          </p:nvPr>
        </p:nvSpPr>
        <p:spPr>
          <a:xfrm>
            <a:off x="5693919" y="4001380"/>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33" name="Espaço Reservado para Conteúdo 14">
            <a:extLst>
              <a:ext uri="{FF2B5EF4-FFF2-40B4-BE49-F238E27FC236}">
                <a16:creationId xmlns:a16="http://schemas.microsoft.com/office/drawing/2014/main" id="{55476F42-1A4B-4330-A3B9-8BA77043864B}"/>
              </a:ext>
            </a:extLst>
          </p:cNvPr>
          <p:cNvSpPr>
            <a:spLocks noGrp="1"/>
          </p:cNvSpPr>
          <p:nvPr>
            <p:ph sz="quarter" idx="30" hasCustomPrompt="1"/>
          </p:nvPr>
        </p:nvSpPr>
        <p:spPr>
          <a:xfrm>
            <a:off x="5693919" y="4483765"/>
            <a:ext cx="1076736" cy="103875"/>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675" b="1">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Nome</a:t>
            </a:r>
          </a:p>
        </p:txBody>
      </p:sp>
      <p:sp>
        <p:nvSpPr>
          <p:cNvPr id="34" name="Espaço Reservado para Conteúdo 14">
            <a:extLst>
              <a:ext uri="{FF2B5EF4-FFF2-40B4-BE49-F238E27FC236}">
                <a16:creationId xmlns:a16="http://schemas.microsoft.com/office/drawing/2014/main" id="{195E6429-987B-4AC7-8E16-6188988765D4}"/>
              </a:ext>
            </a:extLst>
          </p:cNvPr>
          <p:cNvSpPr>
            <a:spLocks noGrp="1"/>
          </p:cNvSpPr>
          <p:nvPr>
            <p:ph sz="quarter" idx="31" hasCustomPrompt="1"/>
          </p:nvPr>
        </p:nvSpPr>
        <p:spPr>
          <a:xfrm>
            <a:off x="5693919" y="4793985"/>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accent6"/>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Setor</a:t>
            </a:r>
          </a:p>
        </p:txBody>
      </p:sp>
      <p:sp>
        <p:nvSpPr>
          <p:cNvPr id="35" name="Espaço Reservado para Conteúdo 14">
            <a:extLst>
              <a:ext uri="{FF2B5EF4-FFF2-40B4-BE49-F238E27FC236}">
                <a16:creationId xmlns:a16="http://schemas.microsoft.com/office/drawing/2014/main" id="{073C1B83-6366-4B50-BD4D-B74457EC8E9F}"/>
              </a:ext>
            </a:extLst>
          </p:cNvPr>
          <p:cNvSpPr>
            <a:spLocks noGrp="1"/>
          </p:cNvSpPr>
          <p:nvPr>
            <p:ph sz="quarter" idx="32" hasCustomPrompt="1"/>
          </p:nvPr>
        </p:nvSpPr>
        <p:spPr>
          <a:xfrm>
            <a:off x="5693919" y="5069808"/>
            <a:ext cx="1076736" cy="86627"/>
          </a:xfrm>
          <a:prstGeom prst="rect">
            <a:avLst/>
          </a:prstGeom>
        </p:spPr>
        <p:txBody>
          <a:bodyPr wrap="square" lIns="0" tIns="0" rIns="0" bIns="0">
            <a:spAutoFit/>
          </a:bodyPr>
          <a:lstStyle>
            <a:lvl1pPr marL="0" indent="0" algn="l">
              <a:lnSpc>
                <a:spcPct val="100000"/>
              </a:lnSpc>
              <a:spcBef>
                <a:spcPts val="0"/>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err="1"/>
              <a:t>email</a:t>
            </a:r>
            <a:endParaRPr lang="pt-BR"/>
          </a:p>
        </p:txBody>
      </p:sp>
      <p:sp>
        <p:nvSpPr>
          <p:cNvPr id="47" name="Espaço Reservado para Texto 6">
            <a:extLst>
              <a:ext uri="{FF2B5EF4-FFF2-40B4-BE49-F238E27FC236}">
                <a16:creationId xmlns:a16="http://schemas.microsoft.com/office/drawing/2014/main" id="{D059AF1D-7F11-404F-84BA-7DF8F070189F}"/>
              </a:ext>
            </a:extLst>
          </p:cNvPr>
          <p:cNvSpPr>
            <a:spLocks noGrp="1"/>
          </p:cNvSpPr>
          <p:nvPr>
            <p:ph type="body" sz="quarter" idx="17" hasCustomPrompt="1"/>
          </p:nvPr>
        </p:nvSpPr>
        <p:spPr>
          <a:xfrm>
            <a:off x="189002" y="1120198"/>
            <a:ext cx="6479381" cy="432841"/>
          </a:xfrm>
          <a:prstGeom prst="rect">
            <a:avLst/>
          </a:prstGeom>
        </p:spPr>
        <p:txBody>
          <a:bodyPr vert="horz" lIns="0" tIns="45720" rIns="91440" bIns="45720" rtlCol="0" anchor="t">
            <a:noAutofit/>
          </a:bodyPr>
          <a:lstStyle>
            <a:lvl1pPr>
              <a:defRPr lang="pt-BR" sz="1125" b="0" dirty="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
        <p:nvSpPr>
          <p:cNvPr id="48" name="Espaço Reservado para Texto 6">
            <a:extLst>
              <a:ext uri="{FF2B5EF4-FFF2-40B4-BE49-F238E27FC236}">
                <a16:creationId xmlns:a16="http://schemas.microsoft.com/office/drawing/2014/main" id="{1AF3A89E-9C88-4D78-958E-79CBB03E5A5D}"/>
              </a:ext>
            </a:extLst>
          </p:cNvPr>
          <p:cNvSpPr>
            <a:spLocks noGrp="1"/>
          </p:cNvSpPr>
          <p:nvPr>
            <p:ph type="body" sz="quarter" idx="19" hasCustomPrompt="1"/>
          </p:nvPr>
        </p:nvSpPr>
        <p:spPr>
          <a:xfrm>
            <a:off x="4906862" y="819937"/>
            <a:ext cx="1761828" cy="205246"/>
          </a:xfrm>
          <a:prstGeom prst="rect">
            <a:avLst/>
          </a:prstGeom>
        </p:spPr>
        <p:txBody>
          <a:bodyPr vert="horz" lIns="0" tIns="0" rIns="0" bIns="0" rtlCol="0" anchor="t">
            <a:noAutofit/>
          </a:bodyPr>
          <a:lstStyle>
            <a:lvl1pPr algn="r">
              <a:defRPr lang="pt-BR" sz="619" b="0">
                <a:solidFill>
                  <a:schemeClr val="bg1"/>
                </a:solidFill>
                <a:latin typeface="Roboto Light" panose="02000000000000000000" pitchFamily="2" charset="0"/>
                <a:ea typeface="Roboto Light" panose="02000000000000000000" pitchFamily="2" charset="0"/>
                <a:cs typeface="Roboto Light" panose="02000000000000000000" pitchFamily="2" charset="0"/>
              </a:defRPr>
            </a:lvl1pPr>
          </a:lstStyle>
          <a:p>
            <a:pPr lvl="0"/>
            <a:r>
              <a:rPr lang="pt-BR"/>
              <a:t>Sector / </a:t>
            </a:r>
            <a:r>
              <a:rPr lang="pt-BR" err="1"/>
              <a:t>Segment</a:t>
            </a:r>
            <a:endParaRPr lang="pt-BR"/>
          </a:p>
        </p:txBody>
      </p:sp>
      <p:sp>
        <p:nvSpPr>
          <p:cNvPr id="45" name="Text Placeholder 21">
            <a:extLst>
              <a:ext uri="{FF2B5EF4-FFF2-40B4-BE49-F238E27FC236}">
                <a16:creationId xmlns:a16="http://schemas.microsoft.com/office/drawing/2014/main" id="{A103342B-56B1-4527-AD7F-4D0449A0DCB5}"/>
              </a:ext>
            </a:extLst>
          </p:cNvPr>
          <p:cNvSpPr>
            <a:spLocks noGrp="1"/>
          </p:cNvSpPr>
          <p:nvPr>
            <p:ph type="body" sz="quarter" idx="18" hasCustomPrompt="1"/>
          </p:nvPr>
        </p:nvSpPr>
        <p:spPr>
          <a:xfrm>
            <a:off x="443360" y="9100896"/>
            <a:ext cx="5569316" cy="516182"/>
          </a:xfrm>
          <a:prstGeom prst="rect">
            <a:avLst/>
          </a:prstGeom>
        </p:spPr>
        <p:txBody>
          <a:bodyPr vert="horz" lIns="0" tIns="0" rIns="0" bIns="0" rtlCol="0" anchor="ctr" anchorCtr="0">
            <a:noAutofit/>
          </a:bodyPr>
          <a:lstStyle>
            <a:lvl1pPr>
              <a:lnSpc>
                <a:spcPct val="100000"/>
              </a:lnSpc>
              <a:spcBef>
                <a:spcPts val="0"/>
              </a:spcBef>
              <a:defRPr lang="pt-BR" sz="394" b="0" noProof="0" dirty="0">
                <a:solidFill>
                  <a:schemeClr val="tx1"/>
                </a:solidFill>
                <a:latin typeface="Roboto" panose="02000000000000000000" pitchFamily="2" charset="0"/>
                <a:ea typeface="Roboto" panose="02000000000000000000" pitchFamily="2" charset="0"/>
                <a:cs typeface="Roboto" panose="02000000000000000000" pitchFamily="2" charset="0"/>
              </a:defRPr>
            </a:lvl1pPr>
          </a:lstStyle>
          <a:p>
            <a:pPr lvl="0"/>
            <a:r>
              <a:rPr lang="pt-BR" noProof="0"/>
              <a:t>Fonte:  XXX, XXX, XXX | Notas: (1) XXX; (2) XXX; (3) XXX</a:t>
            </a:r>
          </a:p>
        </p:txBody>
      </p:sp>
      <p:sp>
        <p:nvSpPr>
          <p:cNvPr id="46" name="Freeform: Shape 45">
            <a:extLst>
              <a:ext uri="{FF2B5EF4-FFF2-40B4-BE49-F238E27FC236}">
                <a16:creationId xmlns:a16="http://schemas.microsoft.com/office/drawing/2014/main" id="{401B2D36-F7E1-4BF5-AB6E-AC161A1D4C46}"/>
              </a:ext>
            </a:extLst>
          </p:cNvPr>
          <p:cNvSpPr/>
          <p:nvPr userDrawn="1"/>
        </p:nvSpPr>
        <p:spPr>
          <a:xfrm>
            <a:off x="6389219" y="1203094"/>
            <a:ext cx="281109" cy="651148"/>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bg1"/>
          </a:solidFill>
          <a:ln w="6350" cap="flat">
            <a:noFill/>
            <a:prstDash val="solid"/>
            <a:miter/>
          </a:ln>
        </p:spPr>
        <p:txBody>
          <a:bodyPr rtlCol="0" anchor="ctr"/>
          <a:lstStyle/>
          <a:p>
            <a:endParaRPr lang="en-US" sz="1013">
              <a:solidFill>
                <a:schemeClr val="bg1"/>
              </a:solidFill>
            </a:endParaRPr>
          </a:p>
        </p:txBody>
      </p:sp>
      <p:sp>
        <p:nvSpPr>
          <p:cNvPr id="50" name="Espaço Reservado para Conteúdo 14">
            <a:extLst>
              <a:ext uri="{FF2B5EF4-FFF2-40B4-BE49-F238E27FC236}">
                <a16:creationId xmlns:a16="http://schemas.microsoft.com/office/drawing/2014/main" id="{5DD66D9C-1033-48E3-9084-861698E49C88}"/>
              </a:ext>
            </a:extLst>
          </p:cNvPr>
          <p:cNvSpPr>
            <a:spLocks noGrp="1"/>
          </p:cNvSpPr>
          <p:nvPr>
            <p:ph sz="quarter" idx="42"/>
          </p:nvPr>
        </p:nvSpPr>
        <p:spPr>
          <a:xfrm>
            <a:off x="188998" y="3483879"/>
            <a:ext cx="5388630" cy="3652738"/>
          </a:xfrm>
          <a:prstGeom prst="rect">
            <a:avLst/>
          </a:prstGeom>
        </p:spPr>
        <p:txBody>
          <a:bodyPr lIns="0">
            <a:noAutofit/>
          </a:bodyPr>
          <a:lstStyle>
            <a:lvl1pPr marL="0" indent="0" algn="just">
              <a:lnSpc>
                <a:spcPct val="125000"/>
              </a:lnSpc>
              <a:spcBef>
                <a:spcPts val="338"/>
              </a:spcBef>
              <a:buFont typeface="Arial" panose="020B0604020202020204" pitchFamily="34" charset="0"/>
              <a:buNone/>
              <a:defRPr sz="563" b="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endParaRPr lang="pt-BR"/>
          </a:p>
        </p:txBody>
      </p:sp>
      <p:sp>
        <p:nvSpPr>
          <p:cNvPr id="51" name="Espaço Reservado para Conteúdo 14">
            <a:extLst>
              <a:ext uri="{FF2B5EF4-FFF2-40B4-BE49-F238E27FC236}">
                <a16:creationId xmlns:a16="http://schemas.microsoft.com/office/drawing/2014/main" id="{1AAAB222-9B15-4258-ACBD-73305BB52F7E}"/>
              </a:ext>
            </a:extLst>
          </p:cNvPr>
          <p:cNvSpPr>
            <a:spLocks noGrp="1"/>
          </p:cNvSpPr>
          <p:nvPr>
            <p:ph sz="quarter" idx="43" hasCustomPrompt="1"/>
          </p:nvPr>
        </p:nvSpPr>
        <p:spPr>
          <a:xfrm>
            <a:off x="5693919" y="6115844"/>
            <a:ext cx="1076736" cy="2669960"/>
          </a:xfrm>
          <a:prstGeom prst="rect">
            <a:avLst/>
          </a:prstGeom>
          <a:ln>
            <a:noFill/>
          </a:ln>
        </p:spPr>
        <p:txBody>
          <a:bodyPr lIns="0">
            <a:noAutofit/>
          </a:bodyPr>
          <a:lstStyle>
            <a:lvl1pPr marL="0" indent="0" algn="just">
              <a:lnSpc>
                <a:spcPct val="100000"/>
              </a:lnSpc>
              <a:spcBef>
                <a:spcPts val="0"/>
              </a:spcBef>
              <a:buFont typeface="Arial" panose="020B0604020202020204" pitchFamily="34" charset="0"/>
              <a:buNone/>
              <a:defRPr sz="563" b="0">
                <a:solidFill>
                  <a:schemeClr val="tx2"/>
                </a:solidFill>
                <a:latin typeface="Roboto Light" panose="02000000000000000000" pitchFamily="2" charset="0"/>
                <a:ea typeface="Roboto Light" panose="02000000000000000000" pitchFamily="2" charset="0"/>
                <a:cs typeface="Roboto Light" panose="02000000000000000000" pitchFamily="2" charset="0"/>
              </a:defRPr>
            </a:lvl1pPr>
            <a:lvl2pPr marL="75938" indent="75938">
              <a:lnSpc>
                <a:spcPct val="100000"/>
              </a:lnSpc>
              <a:spcBef>
                <a:spcPts val="506"/>
              </a:spcBef>
              <a:defRPr sz="464" b="0">
                <a:solidFill>
                  <a:schemeClr val="accent6"/>
                </a:solidFill>
              </a:defRPr>
            </a:lvl2pPr>
            <a:lvl3pPr>
              <a:defRPr sz="506">
                <a:solidFill>
                  <a:schemeClr val="accent6"/>
                </a:solidFill>
              </a:defRPr>
            </a:lvl3pPr>
            <a:lvl4pPr>
              <a:defRPr sz="464">
                <a:solidFill>
                  <a:schemeClr val="accent6"/>
                </a:solidFill>
              </a:defRPr>
            </a:lvl4pPr>
            <a:lvl5pPr>
              <a:defRPr sz="464">
                <a:solidFill>
                  <a:schemeClr val="accent6"/>
                </a:solidFill>
              </a:defRPr>
            </a:lvl5pPr>
          </a:lstStyle>
          <a:p>
            <a:pPr lvl="0"/>
            <a:r>
              <a:rPr lang="pt-BR"/>
              <a:t>Clique para editar o texto mestre</a:t>
            </a:r>
          </a:p>
        </p:txBody>
      </p:sp>
      <p:sp>
        <p:nvSpPr>
          <p:cNvPr id="53" name="Espaço Reservado para Conteúdo 14">
            <a:extLst>
              <a:ext uri="{FF2B5EF4-FFF2-40B4-BE49-F238E27FC236}">
                <a16:creationId xmlns:a16="http://schemas.microsoft.com/office/drawing/2014/main" id="{BF881F3D-BE20-4A6F-BE22-461C15CBA88A}"/>
              </a:ext>
            </a:extLst>
          </p:cNvPr>
          <p:cNvSpPr>
            <a:spLocks noGrp="1"/>
          </p:cNvSpPr>
          <p:nvPr>
            <p:ph sz="quarter" idx="44" hasCustomPrompt="1"/>
          </p:nvPr>
        </p:nvSpPr>
        <p:spPr>
          <a:xfrm>
            <a:off x="5693919" y="5720865"/>
            <a:ext cx="1076736" cy="265586"/>
          </a:xfrm>
          <a:prstGeom prst="rect">
            <a:avLst/>
          </a:prstGeom>
          <a:solidFill>
            <a:schemeClr val="bg1"/>
          </a:solidFill>
          <a:effectLst>
            <a:outerShdw dist="12700" dir="5400000" algn="ctr" rotWithShape="0">
              <a:schemeClr val="tx2">
                <a:alpha val="70000"/>
              </a:schemeClr>
            </a:outerShdw>
          </a:effectLst>
        </p:spPr>
        <p:txBody>
          <a:bodyPr wrap="square" lIns="0" anchor="b">
            <a:spAutoFit/>
          </a:bodyPr>
          <a:lstStyle>
            <a:lvl1pPr>
              <a:defRPr lang="pt-BR" sz="563" b="1" dirty="0">
                <a:solidFill>
                  <a:schemeClr val="tx1"/>
                </a:solidFill>
                <a:latin typeface="Roboto Light" panose="02000000000000000000" pitchFamily="2" charset="0"/>
                <a:ea typeface="Roboto Light" panose="02000000000000000000" pitchFamily="2" charset="0"/>
                <a:cs typeface="Roboto Light" panose="02000000000000000000" pitchFamily="2" charset="0"/>
              </a:defRPr>
            </a:lvl1pPr>
          </a:lstStyle>
          <a:p>
            <a:pPr lvl="0">
              <a:lnSpc>
                <a:spcPct val="100000"/>
              </a:lnSpc>
              <a:spcBef>
                <a:spcPts val="0"/>
              </a:spcBef>
            </a:pPr>
            <a:r>
              <a:rPr lang="pt-BR"/>
              <a:t>Clique para editar o texto mestre</a:t>
            </a:r>
          </a:p>
        </p:txBody>
      </p:sp>
    </p:spTree>
    <p:extLst>
      <p:ext uri="{BB962C8B-B14F-4D97-AF65-F5344CB8AC3E}">
        <p14:creationId xmlns:p14="http://schemas.microsoft.com/office/powerpoint/2010/main" val="609853163"/>
      </p:ext>
    </p:extLst>
  </p:cSld>
  <p:clrMapOvr>
    <a:masterClrMapping/>
  </p:clrMapOvr>
  <p:extLst>
    <p:ext uri="{DCECCB84-F9BA-43D5-87BE-67443E8EF086}">
      <p15:sldGuideLst xmlns:p15="http://schemas.microsoft.com/office/powerpoint/2012/main">
        <p15:guide id="0" pos="1507" userDrawn="1">
          <p15:clr>
            <a:srgbClr val="FBAE40"/>
          </p15:clr>
        </p15:guide>
        <p15:guide id="1" pos="1427" userDrawn="1">
          <p15:clr>
            <a:srgbClr val="FBAE40"/>
          </p15:clr>
        </p15:guide>
        <p15:guide id="2" pos="2811" userDrawn="1">
          <p15:clr>
            <a:srgbClr val="FBAE40"/>
          </p15:clr>
        </p15:guide>
        <p15:guide id="3" pos="2891"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Blank">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4" name="Holder 4"/>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p:txBody>
          <a:bodyPr lIns="0" tIns="0" rIns="0" bIns="0"/>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p:txBody>
          <a:bodyPr lIns="0" tIns="0" rIns="0" bIns="0"/>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6" name="Group 35">
            <a:extLst>
              <a:ext uri="{FF2B5EF4-FFF2-40B4-BE49-F238E27FC236}">
                <a16:creationId xmlns:a16="http://schemas.microsoft.com/office/drawing/2014/main" id="{01297E8A-BBDE-4293-90C7-131F45678E37}"/>
              </a:ext>
            </a:extLst>
          </p:cNvPr>
          <p:cNvGrpSpPr/>
          <p:nvPr userDrawn="1"/>
        </p:nvGrpSpPr>
        <p:grpSpPr>
          <a:xfrm>
            <a:off x="-537166" y="0"/>
            <a:ext cx="478229" cy="2688431"/>
            <a:chOff x="-954966" y="304355"/>
            <a:chExt cx="850185" cy="1861222"/>
          </a:xfrm>
        </p:grpSpPr>
        <p:sp>
          <p:nvSpPr>
            <p:cNvPr id="37" name="Retângulo 13">
              <a:extLst>
                <a:ext uri="{FF2B5EF4-FFF2-40B4-BE49-F238E27FC236}">
                  <a16:creationId xmlns:a16="http://schemas.microsoft.com/office/drawing/2014/main" id="{3AA95D09-E6E1-455E-A12A-0B7004FA5266}"/>
                </a:ext>
              </a:extLst>
            </p:cNvPr>
            <p:cNvSpPr/>
            <p:nvPr userDrawn="1"/>
          </p:nvSpPr>
          <p:spPr>
            <a:xfrm>
              <a:off x="-954966" y="1885648"/>
              <a:ext cx="850185" cy="279929"/>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126 126 126</a:t>
              </a:r>
            </a:p>
          </p:txBody>
        </p:sp>
        <p:sp>
          <p:nvSpPr>
            <p:cNvPr id="38" name="Retângulo 14">
              <a:extLst>
                <a:ext uri="{FF2B5EF4-FFF2-40B4-BE49-F238E27FC236}">
                  <a16:creationId xmlns:a16="http://schemas.microsoft.com/office/drawing/2014/main" id="{F11F0483-491A-4BB4-9426-359C3667CEA5}"/>
                </a:ext>
              </a:extLst>
            </p:cNvPr>
            <p:cNvSpPr/>
            <p:nvPr userDrawn="1"/>
          </p:nvSpPr>
          <p:spPr>
            <a:xfrm>
              <a:off x="-954966" y="936873"/>
              <a:ext cx="850185" cy="279929"/>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255 188 0</a:t>
              </a:r>
            </a:p>
          </p:txBody>
        </p:sp>
        <p:sp>
          <p:nvSpPr>
            <p:cNvPr id="39" name="Retângulo 16">
              <a:extLst>
                <a:ext uri="{FF2B5EF4-FFF2-40B4-BE49-F238E27FC236}">
                  <a16:creationId xmlns:a16="http://schemas.microsoft.com/office/drawing/2014/main" id="{F132B67C-337F-4AD9-BDCC-DFFD7252F949}"/>
                </a:ext>
              </a:extLst>
            </p:cNvPr>
            <p:cNvSpPr/>
            <p:nvPr userDrawn="1"/>
          </p:nvSpPr>
          <p:spPr>
            <a:xfrm>
              <a:off x="-954966" y="1253132"/>
              <a:ext cx="850185" cy="27992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0 210 197</a:t>
              </a:r>
            </a:p>
          </p:txBody>
        </p:sp>
        <p:sp>
          <p:nvSpPr>
            <p:cNvPr id="40" name="Retângulo 18">
              <a:extLst>
                <a:ext uri="{FF2B5EF4-FFF2-40B4-BE49-F238E27FC236}">
                  <a16:creationId xmlns:a16="http://schemas.microsoft.com/office/drawing/2014/main" id="{FC03D85E-9A50-4C52-BEE1-98C62D9BC256}"/>
                </a:ext>
              </a:extLst>
            </p:cNvPr>
            <p:cNvSpPr/>
            <p:nvPr userDrawn="1"/>
          </p:nvSpPr>
          <p:spPr>
            <a:xfrm>
              <a:off x="-954966" y="304355"/>
              <a:ext cx="850185" cy="279929"/>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0 0 0</a:t>
              </a:r>
            </a:p>
          </p:txBody>
        </p:sp>
        <p:sp>
          <p:nvSpPr>
            <p:cNvPr id="41" name="Retângulo 19">
              <a:extLst>
                <a:ext uri="{FF2B5EF4-FFF2-40B4-BE49-F238E27FC236}">
                  <a16:creationId xmlns:a16="http://schemas.microsoft.com/office/drawing/2014/main" id="{311565C6-9EB7-4E68-9DA3-88F7E38F2249}"/>
                </a:ext>
              </a:extLst>
            </p:cNvPr>
            <p:cNvSpPr/>
            <p:nvPr userDrawn="1"/>
          </p:nvSpPr>
          <p:spPr>
            <a:xfrm>
              <a:off x="-954966" y="620614"/>
              <a:ext cx="850185" cy="279929"/>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50 52 54</a:t>
              </a:r>
            </a:p>
          </p:txBody>
        </p:sp>
        <p:sp>
          <p:nvSpPr>
            <p:cNvPr id="42" name="Retângulo 25">
              <a:extLst>
                <a:ext uri="{FF2B5EF4-FFF2-40B4-BE49-F238E27FC236}">
                  <a16:creationId xmlns:a16="http://schemas.microsoft.com/office/drawing/2014/main" id="{4098D990-3A3F-4006-8DF9-51A190E5F76D}"/>
                </a:ext>
              </a:extLst>
            </p:cNvPr>
            <p:cNvSpPr/>
            <p:nvPr userDrawn="1"/>
          </p:nvSpPr>
          <p:spPr>
            <a:xfrm>
              <a:off x="-954966" y="1569391"/>
              <a:ext cx="850185" cy="27992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pt-B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pt-BR" sz="506" b="1">
                  <a:latin typeface="Roboto" panose="02000000000000000000" pitchFamily="2" charset="0"/>
                  <a:ea typeface="Roboto" panose="02000000000000000000" pitchFamily="2" charset="0"/>
                  <a:cs typeface="Roboto" panose="02000000000000000000" pitchFamily="2" charset="0"/>
                </a:rPr>
                <a:t>64 64 64</a:t>
              </a:r>
            </a:p>
          </p:txBody>
        </p:sp>
      </p:grpSp>
      <p:sp>
        <p:nvSpPr>
          <p:cNvPr id="10" name="CaixaDeTexto 9">
            <a:extLst>
              <a:ext uri="{FF2B5EF4-FFF2-40B4-BE49-F238E27FC236}">
                <a16:creationId xmlns:a16="http://schemas.microsoft.com/office/drawing/2014/main" id="{814DD45A-D6F2-46EA-AA62-68E98F5F4987}"/>
              </a:ext>
            </a:extLst>
          </p:cNvPr>
          <p:cNvSpPr txBox="1"/>
          <p:nvPr userDrawn="1"/>
        </p:nvSpPr>
        <p:spPr>
          <a:xfrm>
            <a:off x="6634612" y="9192842"/>
            <a:ext cx="150436" cy="333424"/>
          </a:xfrm>
          <a:prstGeom prst="rect">
            <a:avLst/>
          </a:prstGeom>
        </p:spPr>
        <p:txBody>
          <a:bodyPr vert="horz" wrap="square" lIns="0" tIns="14466" rIns="0" bIns="14466" numCol="1" anchor="ctr" anchorCtr="0" compatLnSpc="1">
            <a:prstTxWarp prst="textNoShape">
              <a:avLst/>
            </a:prstTxWarp>
          </a:bodyPr>
          <a:lstStyle>
            <a:defPPr>
              <a:defRPr lang="pt-BR"/>
            </a:defPPr>
            <a:lvl1pPr algn="r">
              <a:defRPr sz="900" b="1">
                <a:solidFill>
                  <a:srgbClr val="606163"/>
                </a:solidFill>
              </a:defRPr>
            </a:lvl1pPr>
          </a:lstStyle>
          <a:p>
            <a:pPr lvl="0" algn="ctr"/>
            <a:fld id="{9B9BAEC2-C893-4510-BAEC-A634F6DBFF95}" type="slidenum">
              <a:rPr lang="en-US" altLang="pt-BR" sz="450" b="0" smtClean="0">
                <a:solidFill>
                  <a:schemeClr val="tx1"/>
                </a:solidFill>
                <a:latin typeface="Roboto" panose="02000000000000000000" pitchFamily="2" charset="0"/>
                <a:ea typeface="Roboto" panose="02000000000000000000" pitchFamily="2" charset="0"/>
                <a:cs typeface="Roboto" panose="02000000000000000000" pitchFamily="2" charset="0"/>
              </a:rPr>
              <a:pPr lvl="0" algn="ctr"/>
              <a:t>‹#›</a:t>
            </a:fld>
            <a:endParaRPr lang="en-US" altLang="pt-BR" sz="450" b="0">
              <a:solidFill>
                <a:schemeClr val="tx1"/>
              </a:solidFill>
              <a:latin typeface="Roboto" panose="02000000000000000000" pitchFamily="2" charset="0"/>
              <a:ea typeface="Roboto" panose="02000000000000000000" pitchFamily="2" charset="0"/>
              <a:cs typeface="Roboto" panose="02000000000000000000" pitchFamily="2" charset="0"/>
            </a:endParaRPr>
          </a:p>
        </p:txBody>
      </p:sp>
      <p:cxnSp>
        <p:nvCxnSpPr>
          <p:cNvPr id="8" name="Conector reto 7">
            <a:extLst>
              <a:ext uri="{FF2B5EF4-FFF2-40B4-BE49-F238E27FC236}">
                <a16:creationId xmlns:a16="http://schemas.microsoft.com/office/drawing/2014/main" id="{33FAAD83-C482-4B7E-8CB8-CB3E60BE9194}"/>
              </a:ext>
            </a:extLst>
          </p:cNvPr>
          <p:cNvCxnSpPr/>
          <p:nvPr userDrawn="1"/>
        </p:nvCxnSpPr>
        <p:spPr>
          <a:xfrm>
            <a:off x="1" y="9906000"/>
            <a:ext cx="6858000" cy="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
        <p:nvSpPr>
          <p:cNvPr id="3" name="CaixaDeTexto 2">
            <a:extLst>
              <a:ext uri="{FF2B5EF4-FFF2-40B4-BE49-F238E27FC236}">
                <a16:creationId xmlns:a16="http://schemas.microsoft.com/office/drawing/2014/main" id="{1D7C2553-B825-4B03-AF3B-B56FF4A570D3}"/>
              </a:ext>
            </a:extLst>
          </p:cNvPr>
          <p:cNvSpPr txBox="1"/>
          <p:nvPr userDrawn="1"/>
        </p:nvSpPr>
        <p:spPr>
          <a:xfrm>
            <a:off x="6085626" y="9192842"/>
            <a:ext cx="492868" cy="333424"/>
          </a:xfrm>
          <a:prstGeom prst="rect">
            <a:avLst/>
          </a:prstGeom>
        </p:spPr>
        <p:txBody>
          <a:bodyPr vert="horz" wrap="square" lIns="0" tIns="14466" rIns="0" bIns="14466" numCol="1" anchor="ctr" anchorCtr="0" compatLnSpc="1">
            <a:prstTxWarp prst="textNoShape">
              <a:avLst/>
            </a:prstTxWarp>
          </a:bodyPr>
          <a:lstStyle>
            <a:defPPr>
              <a:defRPr lang="pt-BR"/>
            </a:defPPr>
            <a:lvl1pPr lvl="0" algn="ctr">
              <a:defRPr sz="900" b="0">
                <a:latin typeface="Roboto Thin" panose="02000000000000000000" pitchFamily="2" charset="0"/>
                <a:ea typeface="Roboto Thin" panose="02000000000000000000" pitchFamily="2" charset="0"/>
                <a:cs typeface="Roboto Thin" panose="02000000000000000000" pitchFamily="2" charset="0"/>
              </a:defRPr>
            </a:lvl1pPr>
          </a:lstStyle>
          <a:p>
            <a:pPr lvl="0" algn="r"/>
            <a:r>
              <a:rPr lang="pt-BR" sz="450">
                <a:latin typeface="Roboto" panose="02000000000000000000" pitchFamily="2" charset="0"/>
                <a:ea typeface="Roboto" panose="02000000000000000000" pitchFamily="2" charset="0"/>
                <a:cs typeface="Roboto" panose="02000000000000000000" pitchFamily="2" charset="0"/>
              </a:rPr>
              <a:t>EQUITY RESEARCH</a:t>
            </a:r>
          </a:p>
        </p:txBody>
      </p:sp>
      <p:cxnSp>
        <p:nvCxnSpPr>
          <p:cNvPr id="33" name="Conector Reto 170">
            <a:extLst>
              <a:ext uri="{FF2B5EF4-FFF2-40B4-BE49-F238E27FC236}">
                <a16:creationId xmlns:a16="http://schemas.microsoft.com/office/drawing/2014/main" id="{F2D51BA9-75B3-4424-AA8F-E379994343EA}"/>
              </a:ext>
            </a:extLst>
          </p:cNvPr>
          <p:cNvCxnSpPr>
            <a:cxnSpLocks/>
          </p:cNvCxnSpPr>
          <p:nvPr userDrawn="1"/>
        </p:nvCxnSpPr>
        <p:spPr>
          <a:xfrm flipV="1">
            <a:off x="389245" y="9095908"/>
            <a:ext cx="0" cy="527292"/>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32" name="Date Placeholder 1">
            <a:extLst>
              <a:ext uri="{FF2B5EF4-FFF2-40B4-BE49-F238E27FC236}">
                <a16:creationId xmlns:a16="http://schemas.microsoft.com/office/drawing/2014/main" id="{4B83431C-0473-4242-B64D-3953534562FB}"/>
              </a:ext>
            </a:extLst>
          </p:cNvPr>
          <p:cNvSpPr>
            <a:spLocks noGrp="1"/>
          </p:cNvSpPr>
          <p:nvPr userDrawn="1">
            <p:ph type="dt" sz="half" idx="2"/>
          </p:nvPr>
        </p:nvSpPr>
        <p:spPr>
          <a:xfrm>
            <a:off x="4898827" y="499265"/>
            <a:ext cx="1769864" cy="304121"/>
          </a:xfrm>
          <a:prstGeom prst="rect">
            <a:avLst/>
          </a:prstGeom>
        </p:spPr>
        <p:txBody>
          <a:bodyPr vert="horz" lIns="91440" tIns="45720" rIns="91440" bIns="45720" rtlCol="0" anchor="ctr"/>
          <a:lstStyle>
            <a:lvl1pPr algn="r">
              <a:defRPr sz="619">
                <a:solidFill>
                  <a:schemeClr val="tx2"/>
                </a:solidFill>
                <a:latin typeface="+mn-lt"/>
                <a:ea typeface="Roboto Slab" pitchFamily="2" charset="0"/>
                <a:cs typeface="Roboto" panose="02000000000000000000" pitchFamily="2" charset="0"/>
              </a:defRPr>
            </a:lvl1pPr>
          </a:lstStyle>
          <a:p>
            <a:fld id="{5A4CF137-961F-40CC-9272-458A69979960}" type="datetime4">
              <a:rPr lang="pt-BR" smtClean="0"/>
              <a:pPr/>
              <a:t>2 de julho de 2026</a:t>
            </a:fld>
            <a:endParaRPr lang="en-US"/>
          </a:p>
        </p:txBody>
      </p:sp>
      <p:sp>
        <p:nvSpPr>
          <p:cNvPr id="15" name="Freeform: Shape 14">
            <a:extLst>
              <a:ext uri="{FF2B5EF4-FFF2-40B4-BE49-F238E27FC236}">
                <a16:creationId xmlns:a16="http://schemas.microsoft.com/office/drawing/2014/main" id="{2600E467-0AF0-45B5-9014-4BA6F4A1BFAB}"/>
              </a:ext>
            </a:extLst>
          </p:cNvPr>
          <p:cNvSpPr/>
          <p:nvPr userDrawn="1"/>
        </p:nvSpPr>
        <p:spPr>
          <a:xfrm>
            <a:off x="189311" y="9183353"/>
            <a:ext cx="152137" cy="352401"/>
          </a:xfrm>
          <a:custGeom>
            <a:avLst/>
            <a:gdLst>
              <a:gd name="connsiteX0" fmla="*/ 1430464 w 1964753"/>
              <a:gd name="connsiteY0" fmla="*/ 1369758 h 1772284"/>
              <a:gd name="connsiteX1" fmla="*/ 1653286 w 1964753"/>
              <a:gd name="connsiteY1" fmla="*/ 1369758 h 1772284"/>
              <a:gd name="connsiteX2" fmla="*/ 1795081 w 1964753"/>
              <a:gd name="connsiteY2" fmla="*/ 1253300 h 1772284"/>
              <a:gd name="connsiteX3" fmla="*/ 1653286 w 1964753"/>
              <a:gd name="connsiteY3" fmla="*/ 1136840 h 1772284"/>
              <a:gd name="connsiteX4" fmla="*/ 1430464 w 1964753"/>
              <a:gd name="connsiteY4" fmla="*/ 1136840 h 1772284"/>
              <a:gd name="connsiteX5" fmla="*/ 1430464 w 1964753"/>
              <a:gd name="connsiteY5" fmla="*/ 1369758 h 1772284"/>
              <a:gd name="connsiteX6" fmla="*/ 1430464 w 1964753"/>
              <a:gd name="connsiteY6" fmla="*/ 1772285 h 1772284"/>
              <a:gd name="connsiteX7" fmla="*/ 1726692 w 1964753"/>
              <a:gd name="connsiteY7" fmla="*/ 1772285 h 1772284"/>
              <a:gd name="connsiteX8" fmla="*/ 1964690 w 1964753"/>
              <a:gd name="connsiteY8" fmla="*/ 1534287 h 1772284"/>
              <a:gd name="connsiteX9" fmla="*/ 1964690 w 1964753"/>
              <a:gd name="connsiteY9" fmla="*/ 1369695 h 1772284"/>
              <a:gd name="connsiteX10" fmla="*/ 1959610 w 1964753"/>
              <a:gd name="connsiteY10" fmla="*/ 1369695 h 1772284"/>
              <a:gd name="connsiteX11" fmla="*/ 1658303 w 1964753"/>
              <a:gd name="connsiteY11" fmla="*/ 1549464 h 1772284"/>
              <a:gd name="connsiteX12" fmla="*/ 1438021 w 1964753"/>
              <a:gd name="connsiteY12" fmla="*/ 1549464 h 1772284"/>
              <a:gd name="connsiteX13" fmla="*/ 1430401 w 1964753"/>
              <a:gd name="connsiteY13" fmla="*/ 1557083 h 1772284"/>
              <a:gd name="connsiteX14" fmla="*/ 1430401 w 1964753"/>
              <a:gd name="connsiteY14" fmla="*/ 1772285 h 1772284"/>
              <a:gd name="connsiteX15" fmla="*/ 1012698 w 1964753"/>
              <a:gd name="connsiteY15" fmla="*/ 1253300 h 1772284"/>
              <a:gd name="connsiteX16" fmla="*/ 1240536 w 1964753"/>
              <a:gd name="connsiteY16" fmla="*/ 1473581 h 1772284"/>
              <a:gd name="connsiteX17" fmla="*/ 1240536 w 1964753"/>
              <a:gd name="connsiteY17" fmla="*/ 1033082 h 1772284"/>
              <a:gd name="connsiteX18" fmla="*/ 1012698 w 1964753"/>
              <a:gd name="connsiteY18" fmla="*/ 1253300 h 1772284"/>
              <a:gd name="connsiteX19" fmla="*/ 237998 w 1964753"/>
              <a:gd name="connsiteY19" fmla="*/ 1772285 h 1772284"/>
              <a:gd name="connsiteX20" fmla="*/ 1240599 w 1964753"/>
              <a:gd name="connsiteY20" fmla="*/ 1772285 h 1772284"/>
              <a:gd name="connsiteX21" fmla="*/ 1240599 w 1964753"/>
              <a:gd name="connsiteY21" fmla="*/ 1721676 h 1772284"/>
              <a:gd name="connsiteX22" fmla="*/ 1341882 w 1964753"/>
              <a:gd name="connsiteY22" fmla="*/ 1554607 h 1772284"/>
              <a:gd name="connsiteX23" fmla="*/ 1341882 w 1964753"/>
              <a:gd name="connsiteY23" fmla="*/ 1549527 h 1772284"/>
              <a:gd name="connsiteX24" fmla="*/ 1060831 w 1964753"/>
              <a:gd name="connsiteY24" fmla="*/ 1549527 h 1772284"/>
              <a:gd name="connsiteX25" fmla="*/ 1030478 w 1964753"/>
              <a:gd name="connsiteY25" fmla="*/ 1536890 h 1772284"/>
              <a:gd name="connsiteX26" fmla="*/ 883666 w 1964753"/>
              <a:gd name="connsiteY26" fmla="*/ 1384998 h 1772284"/>
              <a:gd name="connsiteX27" fmla="*/ 731774 w 1964753"/>
              <a:gd name="connsiteY27" fmla="*/ 1539431 h 1772284"/>
              <a:gd name="connsiteX28" fmla="*/ 703898 w 1964753"/>
              <a:gd name="connsiteY28" fmla="*/ 1549527 h 1772284"/>
              <a:gd name="connsiteX29" fmla="*/ 478599 w 1964753"/>
              <a:gd name="connsiteY29" fmla="*/ 1549527 h 1772284"/>
              <a:gd name="connsiteX30" fmla="*/ 473519 w 1964753"/>
              <a:gd name="connsiteY30" fmla="*/ 1534351 h 1772284"/>
              <a:gd name="connsiteX31" fmla="*/ 762127 w 1964753"/>
              <a:gd name="connsiteY31" fmla="*/ 1253300 h 1772284"/>
              <a:gd name="connsiteX32" fmla="*/ 468439 w 1964753"/>
              <a:gd name="connsiteY32" fmla="*/ 969708 h 1772284"/>
              <a:gd name="connsiteX33" fmla="*/ 476060 w 1964753"/>
              <a:gd name="connsiteY33" fmla="*/ 954532 h 1772284"/>
              <a:gd name="connsiteX34" fmla="*/ 703898 w 1964753"/>
              <a:gd name="connsiteY34" fmla="*/ 954532 h 1772284"/>
              <a:gd name="connsiteX35" fmla="*/ 729234 w 1964753"/>
              <a:gd name="connsiteY35" fmla="*/ 964628 h 1772284"/>
              <a:gd name="connsiteX36" fmla="*/ 888746 w 1964753"/>
              <a:gd name="connsiteY36" fmla="*/ 1124140 h 1772284"/>
              <a:gd name="connsiteX37" fmla="*/ 1038098 w 1964753"/>
              <a:gd name="connsiteY37" fmla="*/ 964628 h 1772284"/>
              <a:gd name="connsiteX38" fmla="*/ 1060894 w 1964753"/>
              <a:gd name="connsiteY38" fmla="*/ 954532 h 1772284"/>
              <a:gd name="connsiteX39" fmla="*/ 1655889 w 1964753"/>
              <a:gd name="connsiteY39" fmla="*/ 954532 h 1772284"/>
              <a:gd name="connsiteX40" fmla="*/ 1959674 w 1964753"/>
              <a:gd name="connsiteY40" fmla="*/ 1136840 h 1772284"/>
              <a:gd name="connsiteX41" fmla="*/ 1964754 w 1964753"/>
              <a:gd name="connsiteY41" fmla="*/ 1136840 h 1772284"/>
              <a:gd name="connsiteX42" fmla="*/ 1964754 w 1964753"/>
              <a:gd name="connsiteY42" fmla="*/ 237998 h 1772284"/>
              <a:gd name="connsiteX43" fmla="*/ 1726755 w 1964753"/>
              <a:gd name="connsiteY43" fmla="*/ 0 h 1772284"/>
              <a:gd name="connsiteX44" fmla="*/ 237998 w 1964753"/>
              <a:gd name="connsiteY44" fmla="*/ 0 h 1772284"/>
              <a:gd name="connsiteX45" fmla="*/ 0 w 1964753"/>
              <a:gd name="connsiteY45" fmla="*/ 237998 h 1772284"/>
              <a:gd name="connsiteX46" fmla="*/ 0 w 1964753"/>
              <a:gd name="connsiteY46" fmla="*/ 1534287 h 1772284"/>
              <a:gd name="connsiteX47" fmla="*/ 237998 w 1964753"/>
              <a:gd name="connsiteY47" fmla="*/ 1772285 h 1772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1964753" h="1772284">
                <a:moveTo>
                  <a:pt x="1430464" y="1369758"/>
                </a:moveTo>
                <a:lnTo>
                  <a:pt x="1653286" y="1369758"/>
                </a:lnTo>
                <a:cubicBezTo>
                  <a:pt x="1736852" y="1369758"/>
                  <a:pt x="1795081" y="1331785"/>
                  <a:pt x="1795081" y="1253300"/>
                </a:cubicBezTo>
                <a:cubicBezTo>
                  <a:pt x="1795081" y="1174814"/>
                  <a:pt x="1736852" y="1136840"/>
                  <a:pt x="1653286" y="1136840"/>
                </a:cubicBezTo>
                <a:lnTo>
                  <a:pt x="1430464" y="1136840"/>
                </a:lnTo>
                <a:lnTo>
                  <a:pt x="1430464" y="1369758"/>
                </a:lnTo>
                <a:close/>
                <a:moveTo>
                  <a:pt x="1430464" y="1772285"/>
                </a:moveTo>
                <a:lnTo>
                  <a:pt x="1726692" y="1772285"/>
                </a:lnTo>
                <a:cubicBezTo>
                  <a:pt x="1883664" y="1772285"/>
                  <a:pt x="1964690" y="1691259"/>
                  <a:pt x="1964690" y="1534287"/>
                </a:cubicBezTo>
                <a:lnTo>
                  <a:pt x="1964690" y="1369695"/>
                </a:lnTo>
                <a:lnTo>
                  <a:pt x="1959610" y="1369695"/>
                </a:lnTo>
                <a:cubicBezTo>
                  <a:pt x="1914017" y="1506410"/>
                  <a:pt x="1797558" y="1549464"/>
                  <a:pt x="1658303" y="1549464"/>
                </a:cubicBezTo>
                <a:lnTo>
                  <a:pt x="1438021" y="1549464"/>
                </a:lnTo>
                <a:cubicBezTo>
                  <a:pt x="1432941" y="1549464"/>
                  <a:pt x="1430401" y="1552003"/>
                  <a:pt x="1430401" y="1557083"/>
                </a:cubicBezTo>
                <a:lnTo>
                  <a:pt x="1430401" y="1772285"/>
                </a:lnTo>
                <a:close/>
                <a:moveTo>
                  <a:pt x="1012698" y="1253300"/>
                </a:moveTo>
                <a:lnTo>
                  <a:pt x="1240536" y="1473581"/>
                </a:lnTo>
                <a:lnTo>
                  <a:pt x="1240536" y="1033082"/>
                </a:lnTo>
                <a:lnTo>
                  <a:pt x="1012698" y="1253300"/>
                </a:lnTo>
                <a:close/>
                <a:moveTo>
                  <a:pt x="237998" y="1772285"/>
                </a:moveTo>
                <a:lnTo>
                  <a:pt x="1240599" y="1772285"/>
                </a:lnTo>
                <a:lnTo>
                  <a:pt x="1240599" y="1721676"/>
                </a:lnTo>
                <a:cubicBezTo>
                  <a:pt x="1240599" y="1633093"/>
                  <a:pt x="1270953" y="1582420"/>
                  <a:pt x="1341882" y="1554607"/>
                </a:cubicBezTo>
                <a:lnTo>
                  <a:pt x="1341882" y="1549527"/>
                </a:lnTo>
                <a:lnTo>
                  <a:pt x="1060831" y="1549527"/>
                </a:lnTo>
                <a:cubicBezTo>
                  <a:pt x="1045655" y="1549527"/>
                  <a:pt x="1040574" y="1546987"/>
                  <a:pt x="1030478" y="1536890"/>
                </a:cubicBezTo>
                <a:lnTo>
                  <a:pt x="883666" y="1384998"/>
                </a:lnTo>
                <a:lnTo>
                  <a:pt x="731774" y="1539431"/>
                </a:lnTo>
                <a:cubicBezTo>
                  <a:pt x="724154" y="1547051"/>
                  <a:pt x="719137" y="1549527"/>
                  <a:pt x="703898" y="1549527"/>
                </a:cubicBezTo>
                <a:lnTo>
                  <a:pt x="478599" y="1549527"/>
                </a:lnTo>
                <a:cubicBezTo>
                  <a:pt x="465963" y="1549527"/>
                  <a:pt x="465963" y="1541907"/>
                  <a:pt x="473519" y="1534351"/>
                </a:cubicBezTo>
                <a:lnTo>
                  <a:pt x="762127" y="1253300"/>
                </a:lnTo>
                <a:lnTo>
                  <a:pt x="468439" y="969708"/>
                </a:lnTo>
                <a:cubicBezTo>
                  <a:pt x="460819" y="962089"/>
                  <a:pt x="463360" y="954532"/>
                  <a:pt x="476060" y="954532"/>
                </a:cubicBezTo>
                <a:lnTo>
                  <a:pt x="703898" y="954532"/>
                </a:lnTo>
                <a:cubicBezTo>
                  <a:pt x="716534" y="954532"/>
                  <a:pt x="721614" y="957072"/>
                  <a:pt x="729234" y="964628"/>
                </a:cubicBezTo>
                <a:lnTo>
                  <a:pt x="888746" y="1124140"/>
                </a:lnTo>
                <a:lnTo>
                  <a:pt x="1038098" y="964628"/>
                </a:lnTo>
                <a:cubicBezTo>
                  <a:pt x="1045718" y="957008"/>
                  <a:pt x="1050735" y="954532"/>
                  <a:pt x="1060894" y="954532"/>
                </a:cubicBezTo>
                <a:lnTo>
                  <a:pt x="1655889" y="954532"/>
                </a:lnTo>
                <a:cubicBezTo>
                  <a:pt x="1792605" y="954532"/>
                  <a:pt x="1914144" y="1000125"/>
                  <a:pt x="1959674" y="1136840"/>
                </a:cubicBezTo>
                <a:lnTo>
                  <a:pt x="1964754" y="1136840"/>
                </a:lnTo>
                <a:lnTo>
                  <a:pt x="1964754" y="237998"/>
                </a:lnTo>
                <a:cubicBezTo>
                  <a:pt x="1964754" y="81026"/>
                  <a:pt x="1883728" y="0"/>
                  <a:pt x="1726755" y="0"/>
                </a:cubicBezTo>
                <a:lnTo>
                  <a:pt x="237998" y="0"/>
                </a:lnTo>
                <a:cubicBezTo>
                  <a:pt x="81026" y="0"/>
                  <a:pt x="0" y="81026"/>
                  <a:pt x="0" y="237998"/>
                </a:cubicBezTo>
                <a:lnTo>
                  <a:pt x="0" y="1534287"/>
                </a:lnTo>
                <a:cubicBezTo>
                  <a:pt x="0" y="1691259"/>
                  <a:pt x="81026" y="1772285"/>
                  <a:pt x="237998" y="1772285"/>
                </a:cubicBezTo>
                <a:close/>
              </a:path>
            </a:pathLst>
          </a:custGeom>
          <a:solidFill>
            <a:schemeClr val="tx1"/>
          </a:solidFill>
          <a:ln w="6350" cap="flat">
            <a:noFill/>
            <a:prstDash val="solid"/>
            <a:miter/>
          </a:ln>
        </p:spPr>
        <p:txBody>
          <a:bodyPr rtlCol="0" anchor="ctr"/>
          <a:lstStyle/>
          <a:p>
            <a:endParaRPr lang="en-US" sz="1013"/>
          </a:p>
        </p:txBody>
      </p:sp>
      <p:sp>
        <p:nvSpPr>
          <p:cNvPr id="16" name="Espaço Reservado para Texto 6">
            <a:extLst>
              <a:ext uri="{FF2B5EF4-FFF2-40B4-BE49-F238E27FC236}">
                <a16:creationId xmlns:a16="http://schemas.microsoft.com/office/drawing/2014/main" id="{3A52104E-97DC-4B15-AED8-B82C6576670F}"/>
              </a:ext>
            </a:extLst>
          </p:cNvPr>
          <p:cNvSpPr txBox="1">
            <a:spLocks/>
          </p:cNvSpPr>
          <p:nvPr userDrawn="1"/>
        </p:nvSpPr>
        <p:spPr>
          <a:xfrm>
            <a:off x="4906862" y="819937"/>
            <a:ext cx="1761828" cy="205246"/>
          </a:xfrm>
          <a:prstGeom prst="rect">
            <a:avLst/>
          </a:prstGeom>
        </p:spPr>
        <p:txBody>
          <a:bodyPr vert="horz" lIns="0" tIns="0" rIns="0" bIns="0" rtlCol="0" anchor="t">
            <a:noAutofit/>
          </a:bodyPr>
          <a:lstStyle>
            <a:lvl1pPr marL="0" indent="0" algn="r" defTabSz="685808" rtl="0" eaLnBrk="1" latinLnBrk="0" hangingPunct="1">
              <a:lnSpc>
                <a:spcPct val="90000"/>
              </a:lnSpc>
              <a:spcBef>
                <a:spcPts val="751"/>
              </a:spcBef>
              <a:buFont typeface="Arial" panose="020B0604020202020204" pitchFamily="34" charset="0"/>
              <a:buNone/>
              <a:defRPr lang="pt-BR" sz="1200" b="0" kern="1200">
                <a:solidFill>
                  <a:schemeClr val="bg2"/>
                </a:solidFill>
                <a:latin typeface="Roboto Light" panose="02000000000000000000" pitchFamily="2" charset="0"/>
                <a:ea typeface="Roboto Light" panose="02000000000000000000" pitchFamily="2" charset="0"/>
                <a:cs typeface="Roboto Light" panose="02000000000000000000" pitchFamily="2" charset="0"/>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a:lstStyle>
          <a:p>
            <a:r>
              <a:rPr lang="en-US" sz="619" err="1"/>
              <a:t>Estratégia</a:t>
            </a:r>
            <a:r>
              <a:rPr lang="en-US" sz="619"/>
              <a:t> | </a:t>
            </a:r>
            <a:r>
              <a:rPr lang="en-US" sz="619" err="1"/>
              <a:t>Carteira</a:t>
            </a:r>
            <a:r>
              <a:rPr lang="en-US" sz="619"/>
              <a:t> XP</a:t>
            </a:r>
          </a:p>
        </p:txBody>
      </p:sp>
    </p:spTree>
    <p:extLst>
      <p:ext uri="{BB962C8B-B14F-4D97-AF65-F5344CB8AC3E}">
        <p14:creationId xmlns:p14="http://schemas.microsoft.com/office/powerpoint/2010/main" val="1777323005"/>
      </p:ext>
    </p:extLst>
  </p:cSld>
  <p:clrMap bg1="lt1" tx1="dk1" bg2="lt2" tx2="dk2" accent1="accent1" accent2="accent2" accent3="accent3" accent4="accent4" accent5="accent5" accent6="accent6" hlink="hlink" folHlink="folHlink"/>
  <p:sldLayoutIdLst>
    <p:sldLayoutId id="2147483940" r:id="rId1"/>
  </p:sldLayoutIdLst>
  <p:hf sldNum="0" hdr="0" ftr="0"/>
  <p:txStyles>
    <p:titleStyle>
      <a:lvl1pPr algn="l" defTabSz="685808" rtl="0" eaLnBrk="1" latinLnBrk="0" hangingPunct="1">
        <a:lnSpc>
          <a:spcPct val="90000"/>
        </a:lnSpc>
        <a:spcBef>
          <a:spcPct val="0"/>
        </a:spcBef>
        <a:buNone/>
        <a:defRPr sz="2251" b="0" kern="1200">
          <a:solidFill>
            <a:schemeClr val="tx1"/>
          </a:solidFill>
          <a:latin typeface="+mj-lt"/>
          <a:ea typeface="+mj-ea"/>
          <a:cs typeface="+mj-cs"/>
        </a:defRPr>
      </a:lvl1pPr>
    </p:titleStyle>
    <p:bodyStyle>
      <a:lvl1pPr marL="0" indent="0" algn="l" defTabSz="685808" rtl="0" eaLnBrk="1" latinLnBrk="0" hangingPunct="1">
        <a:lnSpc>
          <a:spcPct val="90000"/>
        </a:lnSpc>
        <a:spcBef>
          <a:spcPts val="751"/>
        </a:spcBef>
        <a:buFont typeface="Arial" panose="020B0604020202020204" pitchFamily="34" charset="0"/>
        <a:buNone/>
        <a:defRPr sz="1200" kern="1200">
          <a:solidFill>
            <a:schemeClr val="tx2"/>
          </a:solidFill>
          <a:latin typeface="+mn-lt"/>
          <a:ea typeface="+mn-ea"/>
          <a:cs typeface="+mn-cs"/>
        </a:defRPr>
      </a:lvl1pPr>
      <a:lvl2pPr marL="404817" indent="-136925" algn="l" defTabSz="685808" rtl="0" eaLnBrk="1" latinLnBrk="0" hangingPunct="1">
        <a:lnSpc>
          <a:spcPct val="90000"/>
        </a:lnSpc>
        <a:spcBef>
          <a:spcPts val="375"/>
        </a:spcBef>
        <a:buFont typeface="Arial" panose="020B0604020202020204" pitchFamily="34" charset="0"/>
        <a:buChar char="•"/>
        <a:defRPr sz="1051" kern="1200">
          <a:solidFill>
            <a:schemeClr val="tx2"/>
          </a:solidFill>
          <a:latin typeface="+mn-lt"/>
          <a:ea typeface="+mn-ea"/>
          <a:cs typeface="+mn-cs"/>
        </a:defRPr>
      </a:lvl2pPr>
      <a:lvl3pPr marL="673902" indent="-138114" algn="l" defTabSz="685808" rtl="0" eaLnBrk="1" latinLnBrk="0" hangingPunct="1">
        <a:lnSpc>
          <a:spcPct val="90000"/>
        </a:lnSpc>
        <a:spcBef>
          <a:spcPts val="375"/>
        </a:spcBef>
        <a:buFont typeface="Arial" panose="020B0604020202020204" pitchFamily="34" charset="0"/>
        <a:buChar char="•"/>
        <a:defRPr sz="900" kern="1200">
          <a:solidFill>
            <a:schemeClr val="tx2"/>
          </a:solidFill>
          <a:latin typeface="+mn-lt"/>
          <a:ea typeface="+mn-ea"/>
          <a:cs typeface="+mn-cs"/>
        </a:defRPr>
      </a:lvl3pPr>
      <a:lvl4pPr marL="941797" indent="-138114"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4pPr>
      <a:lvl5pPr marL="1209690" indent="-130971" algn="l" defTabSz="685808" rtl="0" eaLnBrk="1" latinLnBrk="0" hangingPunct="1">
        <a:lnSpc>
          <a:spcPct val="90000"/>
        </a:lnSpc>
        <a:spcBef>
          <a:spcPts val="375"/>
        </a:spcBef>
        <a:buFont typeface="Arial" panose="020B0604020202020204" pitchFamily="34" charset="0"/>
        <a:buChar char="•"/>
        <a:defRPr sz="825" kern="1200">
          <a:solidFill>
            <a:schemeClr val="tx2"/>
          </a:solidFill>
          <a:latin typeface="+mn-lt"/>
          <a:ea typeface="+mn-ea"/>
          <a:cs typeface="+mn-cs"/>
        </a:defRPr>
      </a:lvl5pPr>
      <a:lvl6pPr marL="1885974"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6pPr>
      <a:lvl7pPr marL="2228879"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7pPr>
      <a:lvl8pPr marL="2571783"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8pPr>
      <a:lvl9pPr marL="2914687" indent="-171453" algn="l" defTabSz="685808" rtl="0" eaLnBrk="1" latinLnBrk="0" hangingPunct="1">
        <a:lnSpc>
          <a:spcPct val="90000"/>
        </a:lnSpc>
        <a:spcBef>
          <a:spcPts val="375"/>
        </a:spcBef>
        <a:buFont typeface="Arial" panose="020B0604020202020204" pitchFamily="34" charset="0"/>
        <a:buChar char="•"/>
        <a:defRPr sz="1351" kern="1200">
          <a:solidFill>
            <a:schemeClr val="tx1"/>
          </a:solidFill>
          <a:latin typeface="+mn-lt"/>
          <a:ea typeface="+mn-ea"/>
          <a:cs typeface="+mn-cs"/>
        </a:defRPr>
      </a:lvl9pPr>
    </p:bodyStyle>
    <p:otherStyle>
      <a:defPPr>
        <a:defRPr lang="pt-BR"/>
      </a:defPPr>
      <a:lvl1pPr marL="0" algn="l" defTabSz="685808" rtl="0" eaLnBrk="1" latinLnBrk="0" hangingPunct="1">
        <a:defRPr sz="1351" kern="1200">
          <a:solidFill>
            <a:schemeClr val="tx1"/>
          </a:solidFill>
          <a:latin typeface="+mn-lt"/>
          <a:ea typeface="+mn-ea"/>
          <a:cs typeface="+mn-cs"/>
        </a:defRPr>
      </a:lvl1pPr>
      <a:lvl2pPr marL="342905" algn="l" defTabSz="685808" rtl="0" eaLnBrk="1" latinLnBrk="0" hangingPunct="1">
        <a:defRPr sz="1351" kern="1200">
          <a:solidFill>
            <a:schemeClr val="tx1"/>
          </a:solidFill>
          <a:latin typeface="+mn-lt"/>
          <a:ea typeface="+mn-ea"/>
          <a:cs typeface="+mn-cs"/>
        </a:defRPr>
      </a:lvl2pPr>
      <a:lvl3pPr marL="685808" algn="l" defTabSz="685808" rtl="0" eaLnBrk="1" latinLnBrk="0" hangingPunct="1">
        <a:defRPr sz="1351" kern="1200">
          <a:solidFill>
            <a:schemeClr val="tx1"/>
          </a:solidFill>
          <a:latin typeface="+mn-lt"/>
          <a:ea typeface="+mn-ea"/>
          <a:cs typeface="+mn-cs"/>
        </a:defRPr>
      </a:lvl3pPr>
      <a:lvl4pPr marL="1028713" algn="l" defTabSz="685808" rtl="0" eaLnBrk="1" latinLnBrk="0" hangingPunct="1">
        <a:defRPr sz="1351" kern="1200">
          <a:solidFill>
            <a:schemeClr val="tx1"/>
          </a:solidFill>
          <a:latin typeface="+mn-lt"/>
          <a:ea typeface="+mn-ea"/>
          <a:cs typeface="+mn-cs"/>
        </a:defRPr>
      </a:lvl4pPr>
      <a:lvl5pPr marL="1371617" algn="l" defTabSz="685808" rtl="0" eaLnBrk="1" latinLnBrk="0" hangingPunct="1">
        <a:defRPr sz="1351" kern="1200">
          <a:solidFill>
            <a:schemeClr val="tx1"/>
          </a:solidFill>
          <a:latin typeface="+mn-lt"/>
          <a:ea typeface="+mn-ea"/>
          <a:cs typeface="+mn-cs"/>
        </a:defRPr>
      </a:lvl5pPr>
      <a:lvl6pPr marL="1714522" algn="l" defTabSz="685808" rtl="0" eaLnBrk="1" latinLnBrk="0" hangingPunct="1">
        <a:defRPr sz="1351" kern="1200">
          <a:solidFill>
            <a:schemeClr val="tx1"/>
          </a:solidFill>
          <a:latin typeface="+mn-lt"/>
          <a:ea typeface="+mn-ea"/>
          <a:cs typeface="+mn-cs"/>
        </a:defRPr>
      </a:lvl6pPr>
      <a:lvl7pPr marL="2057426" algn="l" defTabSz="685808" rtl="0" eaLnBrk="1" latinLnBrk="0" hangingPunct="1">
        <a:defRPr sz="1351" kern="1200">
          <a:solidFill>
            <a:schemeClr val="tx1"/>
          </a:solidFill>
          <a:latin typeface="+mn-lt"/>
          <a:ea typeface="+mn-ea"/>
          <a:cs typeface="+mn-cs"/>
        </a:defRPr>
      </a:lvl7pPr>
      <a:lvl8pPr marL="2400330" algn="l" defTabSz="685808" rtl="0" eaLnBrk="1" latinLnBrk="0" hangingPunct="1">
        <a:defRPr sz="1351" kern="1200">
          <a:solidFill>
            <a:schemeClr val="tx1"/>
          </a:solidFill>
          <a:latin typeface="+mn-lt"/>
          <a:ea typeface="+mn-ea"/>
          <a:cs typeface="+mn-cs"/>
        </a:defRPr>
      </a:lvl8pPr>
      <a:lvl9pPr marL="2743235" algn="l" defTabSz="685808" rtl="0" eaLnBrk="1" latinLnBrk="0" hangingPunct="1">
        <a:defRPr sz="1351"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5478" userDrawn="1">
          <p15:clr>
            <a:srgbClr val="F26B43"/>
          </p15:clr>
        </p15:guide>
        <p15:guide id="2" pos="119" userDrawn="1">
          <p15:clr>
            <a:srgbClr val="F26B43"/>
          </p15:clr>
        </p15:guide>
        <p15:guide id="3" pos="4201" userDrawn="1">
          <p15:clr>
            <a:srgbClr val="F26B43"/>
          </p15:clr>
        </p15:guide>
        <p15:guide id="4" orient="horz" pos="3283" userDrawn="1">
          <p15:clr>
            <a:srgbClr val="F26B43"/>
          </p15:clr>
        </p15:guide>
        <p15:guide id="5" orient="horz" pos="1057"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bg object 16"/>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17" name="bg object 17"/>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2" name="Holder 2"/>
          <p:cNvSpPr>
            <a:spLocks noGrp="1"/>
          </p:cNvSpPr>
          <p:nvPr>
            <p:ph type="title"/>
          </p:nvPr>
        </p:nvSpPr>
        <p:spPr>
          <a:xfrm>
            <a:off x="377443" y="768351"/>
            <a:ext cx="3808095" cy="1066164"/>
          </a:xfrm>
          <a:prstGeom prst="rect">
            <a:avLst/>
          </a:prstGeom>
        </p:spPr>
        <p:txBody>
          <a:bodyPr wrap="square" lIns="0" tIns="0" rIns="0" bIns="0">
            <a:spAutoFit/>
          </a:bodyPr>
          <a:lstStyle>
            <a:lvl1pPr>
              <a:defRPr sz="2400" b="1" i="0">
                <a:solidFill>
                  <a:srgbClr val="FFBB00"/>
                </a:solidFill>
                <a:latin typeface="Trebuchet MS"/>
                <a:cs typeface="Trebuchet MS"/>
              </a:defRPr>
            </a:lvl1pPr>
          </a:lstStyle>
          <a:p>
            <a:endParaRPr/>
          </a:p>
        </p:txBody>
      </p:sp>
      <p:sp>
        <p:nvSpPr>
          <p:cNvPr id="3" name="Holder 3"/>
          <p:cNvSpPr>
            <a:spLocks noGrp="1"/>
          </p:cNvSpPr>
          <p:nvPr>
            <p:ph type="body" idx="1"/>
          </p:nvPr>
        </p:nvSpPr>
        <p:spPr>
          <a:xfrm>
            <a:off x="377443" y="2996564"/>
            <a:ext cx="3759835" cy="4407534"/>
          </a:xfrm>
          <a:prstGeom prst="rect">
            <a:avLst/>
          </a:prstGeom>
        </p:spPr>
        <p:txBody>
          <a:bodyPr wrap="square" lIns="0" tIns="0" rIns="0" bIns="0">
            <a:spAutoFit/>
          </a:bodyPr>
          <a:lstStyle>
            <a:lvl1pPr>
              <a:defRPr sz="1000" b="0" i="0">
                <a:solidFill>
                  <a:srgbClr val="17181A"/>
                </a:solidFill>
                <a:latin typeface="Trebuchet MS"/>
                <a:cs typeface="Trebuchet MS"/>
              </a:defRPr>
            </a:lvl1pPr>
          </a:lstStyle>
          <a:p>
            <a:endParaRPr/>
          </a:p>
        </p:txBody>
      </p:sp>
      <p:sp>
        <p:nvSpPr>
          <p:cNvPr id="4" name="Holder 4"/>
          <p:cNvSpPr>
            <a:spLocks noGrp="1"/>
          </p:cNvSpPr>
          <p:nvPr>
            <p:ph type="ftr" sz="quarter" idx="5"/>
          </p:nvPr>
        </p:nvSpPr>
        <p:spPr>
          <a:xfrm>
            <a:off x="2331720" y="9212580"/>
            <a:ext cx="2194560" cy="49530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342900" y="9212580"/>
            <a:ext cx="1577340" cy="49530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7/2/2026</a:t>
            </a:fld>
            <a:endParaRPr lang="en-US"/>
          </a:p>
        </p:txBody>
      </p:sp>
      <p:sp>
        <p:nvSpPr>
          <p:cNvPr id="6" name="Holder 6"/>
          <p:cNvSpPr>
            <a:spLocks noGrp="1"/>
          </p:cNvSpPr>
          <p:nvPr>
            <p:ph type="sldNum" sz="quarter" idx="7"/>
          </p:nvPr>
        </p:nvSpPr>
        <p:spPr>
          <a:xfrm>
            <a:off x="6335903" y="9577590"/>
            <a:ext cx="146685" cy="145415"/>
          </a:xfrm>
          <a:prstGeom prst="rect">
            <a:avLst/>
          </a:prstGeom>
        </p:spPr>
        <p:txBody>
          <a:bodyPr wrap="square" lIns="0" tIns="0" rIns="0" bIns="0">
            <a:spAutoFit/>
          </a:bodyPr>
          <a:lstStyle>
            <a:lvl1pPr>
              <a:defRPr sz="800" b="0" i="0">
                <a:solidFill>
                  <a:srgbClr val="17181A"/>
                </a:solidFill>
                <a:latin typeface="Arial"/>
                <a:cs typeface="Arial"/>
              </a:defRPr>
            </a:lvl1pPr>
          </a:lstStyle>
          <a:p>
            <a:pPr marL="38100">
              <a:lnSpc>
                <a:spcPct val="100000"/>
              </a:lnSpc>
              <a:spcBef>
                <a:spcPts val="45"/>
              </a:spcBef>
            </a:pPr>
            <a:fld id="{81D60167-4931-47E6-BA6A-407CBD079E47}" type="slidenum">
              <a:rPr spc="-50" dirty="0"/>
              <a:t>‹#›</a:t>
            </a:fld>
            <a:endParaRPr spc="-50"/>
          </a:p>
        </p:txBody>
      </p:sp>
    </p:spTree>
  </p:cSld>
  <p:clrMap bg1="lt1" tx1="dk1" bg2="lt2" tx2="dk2" accent1="accent1" accent2="accent2" accent3="accent3" accent4="accent4" accent5="accent5" accent6="accent6" hlink="hlink" folHlink="folHlink"/>
  <p:sldLayoutIdLst>
    <p:sldLayoutId id="2147483665" r:id="rId1"/>
    <p:sldLayoutId id="2147483662" r:id="rId2"/>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2.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2.jpg"/><Relationship Id="rId4" Type="http://schemas.openxmlformats.org/officeDocument/2006/relationships/chart" Target="../charts/chart1.xml"/><Relationship Id="rId5" Type="http://schemas.openxmlformats.org/officeDocument/2006/relationships/chart" Target="../charts/chart2.xml"/><Relationship Id="rId6" Type="http://schemas.microsoft.com/office/2014/relationships/chartEx" Target="../charts/chartEx1.xml"/><Relationship Id="rId7"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D4419-C5BC-5400-BF83-5C8D60906025}"/>
            </a:ext>
          </a:extLst>
        </p:cNvPr>
        <p:cNvGrpSpPr/>
        <p:nvPr/>
      </p:nvGrpSpPr>
      <p:grpSpPr>
        <a:xfrm>
          <a:off x="0" y="0"/>
          <a:ext cx="0" cy="0"/>
          <a:chOff x="0" y="0"/>
          <a:chExt cx="0" cy="0"/>
        </a:xfrm>
      </p:grpSpPr>
      <p:sp>
        <p:nvSpPr>
          <p:cNvPr id="2" name="object 2">
            <a:extLst>
              <a:ext uri="{FF2B5EF4-FFF2-40B4-BE49-F238E27FC236}">
                <a16:creationId xmlns:a16="http://schemas.microsoft.com/office/drawing/2014/main" id="{3878753D-4385-BB72-BB0C-E08970CF29B1}"/>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3" name="object 3">
            <a:extLst>
              <a:ext uri="{FF2B5EF4-FFF2-40B4-BE49-F238E27FC236}">
                <a16:creationId xmlns:a16="http://schemas.microsoft.com/office/drawing/2014/main" id="{9F62409C-EC29-F1C2-7635-45424A7C02BA}"/>
              </a:ext>
            </a:extLst>
          </p:cNvPr>
          <p:cNvGrpSpPr/>
          <p:nvPr/>
        </p:nvGrpSpPr>
        <p:grpSpPr>
          <a:xfrm>
            <a:off x="0" y="0"/>
            <a:ext cx="6857999" cy="1234433"/>
            <a:chOff x="0" y="0"/>
            <a:chExt cx="6857999" cy="1517058"/>
          </a:xfrm>
        </p:grpSpPr>
        <p:pic>
          <p:nvPicPr>
            <p:cNvPr id="4" name="object 4">
              <a:extLst>
                <a:ext uri="{FF2B5EF4-FFF2-40B4-BE49-F238E27FC236}">
                  <a16:creationId xmlns:a16="http://schemas.microsoft.com/office/drawing/2014/main" id="{A6A906E3-A81A-D608-FCC6-70FFB0F75C4C}"/>
                </a:ext>
              </a:extLst>
            </p:cNvPr>
            <p:cNvPicPr/>
            <p:nvPr/>
          </p:nvPicPr>
          <p:blipFill>
            <a:blip r:embed="rId3" cstate="print"/>
            <a:stretch>
              <a:fillRect/>
            </a:stretch>
          </p:blipFill>
          <p:spPr>
            <a:xfrm>
              <a:off x="0" y="0"/>
              <a:ext cx="6857999" cy="1517058"/>
            </a:xfrm>
            <a:prstGeom prst="rect">
              <a:avLst/>
            </a:prstGeom>
          </p:spPr>
        </p:pic>
        <p:sp>
          <p:nvSpPr>
            <p:cNvPr id="5" name="object 5">
              <a:extLst>
                <a:ext uri="{FF2B5EF4-FFF2-40B4-BE49-F238E27FC236}">
                  <a16:creationId xmlns:a16="http://schemas.microsoft.com/office/drawing/2014/main" id="{C78468A7-C827-2915-29E4-58672CE5D187}"/>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7" name="object 7">
            <a:extLst>
              <a:ext uri="{FF2B5EF4-FFF2-40B4-BE49-F238E27FC236}">
                <a16:creationId xmlns:a16="http://schemas.microsoft.com/office/drawing/2014/main" id="{3E991D63-D8FA-C038-3440-2CF7C224E177}"/>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Julho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14" name="object 14">
            <a:extLst>
              <a:ext uri="{FF2B5EF4-FFF2-40B4-BE49-F238E27FC236}">
                <a16:creationId xmlns:a16="http://schemas.microsoft.com/office/drawing/2014/main" id="{2C0F188C-CB88-21FD-66FA-CAC1339BB4D8}"/>
              </a:ext>
            </a:extLst>
          </p:cNvPr>
          <p:cNvSpPr txBox="1">
            <a:spLocks noGrp="1"/>
          </p:cNvSpPr>
          <p:nvPr>
            <p:ph type="sldNum" sz="quarter" idx="7"/>
          </p:nvPr>
        </p:nvSpPr>
        <p:spPr>
          <a:xfrm>
            <a:off x="65931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1</a:t>
            </a:fld>
            <a:endParaRPr spc="-50">
              <a:latin typeface="Roboto Condensed" pitchFamily="2" charset="0"/>
              <a:ea typeface="Roboto Condensed" pitchFamily="2" charset="0"/>
            </a:endParaRPr>
          </a:p>
        </p:txBody>
      </p:sp>
      <p:sp>
        <p:nvSpPr>
          <p:cNvPr id="8" name="object 8">
            <a:extLst>
              <a:ext uri="{FF2B5EF4-FFF2-40B4-BE49-F238E27FC236}">
                <a16:creationId xmlns:a16="http://schemas.microsoft.com/office/drawing/2014/main" id="{14B5839D-E281-7630-229F-77C7012913A7}"/>
              </a:ext>
            </a:extLst>
          </p:cNvPr>
          <p:cNvSpPr txBox="1">
            <a:spLocks noGrp="1"/>
          </p:cNvSpPr>
          <p:nvPr>
            <p:ph type="title"/>
          </p:nvPr>
        </p:nvSpPr>
        <p:spPr>
          <a:xfrm>
            <a:off x="128607" y="49869"/>
            <a:ext cx="4806808"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10" name="CaixaDeTexto 9">
            <a:extLst>
              <a:ext uri="{FF2B5EF4-FFF2-40B4-BE49-F238E27FC236}">
                <a16:creationId xmlns:a16="http://schemas.microsoft.com/office/drawing/2014/main" id="{B3E855C4-87C5-C53D-A7AA-76FF5687FB19}"/>
              </a:ext>
            </a:extLst>
          </p:cNvPr>
          <p:cNvSpPr txBox="1"/>
          <p:nvPr/>
        </p:nvSpPr>
        <p:spPr>
          <a:xfrm>
            <a:off x="1148557" y="2936179"/>
            <a:ext cx="4560886" cy="5032147"/>
          </a:xfrm>
          <a:prstGeom prst="rect">
            <a:avLst/>
          </a:prstGeom>
          <a:noFill/>
        </p:spPr>
        <p:txBody>
          <a:bodyPr wrap="square">
            <a:spAutoFit/>
          </a:bodyPr>
          <a:lstStyle/>
          <a:p>
            <a:pPr algn="just"/>
            <a:r>
              <a:rPr lang="pt-BR" sz="1050" b="1" dirty="0">
                <a:latin typeface="Roboto Condensed" pitchFamily="2" charset="0"/>
                <a:ea typeface="Roboto Condensed" pitchFamily="2" charset="0"/>
              </a:rPr>
              <a:t>Comentários do Analista – Desempenho mensal e perspectivas</a:t>
            </a:r>
          </a:p>
          <a:p>
            <a:pPr algn="just"/>
            <a:endParaRPr lang="pt-BR" sz="105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 bolsa brasileira viveu um semestre de duas metades. No começo do ano, o mercado foi impulsionado por uma forte entrada de capital estrangeiro, em especial para nomes ligados a valor e </a:t>
            </a:r>
            <a:r>
              <a:rPr lang="pt-BR" sz="1000" i="1" dirty="0">
                <a:latin typeface="Roboto Condensed" pitchFamily="2" charset="0"/>
                <a:ea typeface="Roboto Condensed" pitchFamily="2" charset="0"/>
              </a:rPr>
              <a:t>commodities</a:t>
            </a:r>
            <a:r>
              <a:rPr lang="pt-BR" sz="1000" dirty="0">
                <a:latin typeface="Roboto Condensed" pitchFamily="2" charset="0"/>
                <a:ea typeface="Roboto Condensed" pitchFamily="2" charset="0"/>
              </a:rPr>
              <a:t>, o que levou o Ibovespa a renovar máximas. Esse movimento foi favorecido pela rotação global para fora de ativos americanos e pelo interesse em mercados emergentes. Ao longo dos meses, porém, esse ímpeto perdeu força. A volta do apetite global pelo tema de inteligência artificial, somada à piora do pano de fundo doméstico, reduziu o momentum do mercado local.</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Em junho, as ações globais também perderam tração com o arrefecimento do trade de IA. Já o Brasil seguiu pressionado com saídas de fluxo estrangeiro e a abertura da curva de juros.</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Olhando para o segundo semestre, nosso modelo quantitativo indica que o Brasil já entrou em um regime de inflação alta e pode migrar para um cenário de juros em alta, combinação que historicamente costuma ser mais negativa para a Bolsa ao olhar para esse fator isoladamente.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Além do macro, a eleição presidencial deve adicionar volatilidade aos ativos locais. O mercado já começou a precificar o efeito das eleições, com impacto tanto em ações quanto em câmbio. Mais do que o resultado eleitoral em si, o ponto central para os investidores será a sinalização sobre a trajetória fiscal. Uma perspectiva crível de estabilização da dívida e de melhora estrutural das contas públicas será muito relevante para uma alta sustentável das ações brasileiras durante os próximos meses. </a:t>
            </a:r>
          </a:p>
          <a:p>
            <a:pPr algn="just"/>
            <a:endParaRPr lang="pt-BR" sz="1000" dirty="0">
              <a:latin typeface="Roboto Condensed" pitchFamily="2" charset="0"/>
              <a:ea typeface="Roboto Condensed" pitchFamily="2" charset="0"/>
            </a:endParaRPr>
          </a:p>
          <a:p>
            <a:pPr algn="just"/>
            <a:r>
              <a:rPr lang="pt-BR" sz="1000" dirty="0">
                <a:latin typeface="Roboto Condensed" pitchFamily="2" charset="0"/>
                <a:ea typeface="Roboto Condensed" pitchFamily="2" charset="0"/>
              </a:rPr>
              <a:t>Por outro lado, dois fatores sustentam uma visão mais construtiva: (i) preço, à medida que o nosso índice de sentimento segue em pessimismo extremo, indicando condições sobrevendidas; (</a:t>
            </a:r>
            <a:r>
              <a:rPr lang="pt-BR" sz="1000" dirty="0" err="1">
                <a:latin typeface="Roboto Condensed" pitchFamily="2" charset="0"/>
                <a:ea typeface="Roboto Condensed" pitchFamily="2" charset="0"/>
              </a:rPr>
              <a:t>ii</a:t>
            </a:r>
            <a:r>
              <a:rPr lang="pt-BR" sz="1000" dirty="0">
                <a:latin typeface="Roboto Condensed" pitchFamily="2" charset="0"/>
                <a:ea typeface="Roboto Condensed" pitchFamily="2" charset="0"/>
              </a:rPr>
              <a:t>) </a:t>
            </a:r>
            <a:r>
              <a:rPr lang="pt-BR" sz="1000" dirty="0" err="1">
                <a:latin typeface="Roboto Condensed" pitchFamily="2" charset="0"/>
                <a:ea typeface="Roboto Condensed" pitchFamily="2" charset="0"/>
              </a:rPr>
              <a:t>valuation</a:t>
            </a:r>
            <a:r>
              <a:rPr lang="pt-BR" sz="1000" dirty="0">
                <a:latin typeface="Roboto Condensed" pitchFamily="2" charset="0"/>
                <a:ea typeface="Roboto Condensed" pitchFamily="2" charset="0"/>
              </a:rPr>
              <a:t>, com a Bolsa brasileira permanecendo significativamente descontada tanto em relação à sua média histórica quanto a outros mercados globais. Além disso, caso o trade de IA continue perdendo força, o Brasil pode voltar a atrair capital estrangeiro.</a:t>
            </a:r>
          </a:p>
        </p:txBody>
      </p:sp>
      <p:graphicFrame>
        <p:nvGraphicFramePr>
          <p:cNvPr id="11" name="Tabela 10">
            <a:extLst>
              <a:ext uri="{FF2B5EF4-FFF2-40B4-BE49-F238E27FC236}">
                <a16:creationId xmlns:a16="http://schemas.microsoft.com/office/drawing/2014/main" id="{C95A109B-D0ED-1C53-8E41-2054C486835F}"/>
              </a:ext>
            </a:extLst>
          </p:cNvPr>
          <p:cNvGraphicFramePr>
            <a:graphicFrameLocks noGrp="1"/>
          </p:cNvGraphicFramePr>
          <p:nvPr>
            <p:extLst>
              <p:ext uri="{D42A27DB-BD31-4B8C-83A1-F6EECF244321}">
                <p14:modId xmlns:p14="http://schemas.microsoft.com/office/powerpoint/2010/main" val="4172640912"/>
              </p:ext>
            </p:extLst>
          </p:nvPr>
        </p:nvGraphicFramePr>
        <p:xfrm>
          <a:off x="1148556" y="1562271"/>
          <a:ext cx="4560888" cy="836535"/>
        </p:xfrm>
        <a:graphic>
          <a:graphicData uri="http://schemas.openxmlformats.org/drawingml/2006/table">
            <a:tbl>
              <a:tblPr firstRow="1" bandRow="1">
                <a:tableStyleId>{5C22544A-7EE6-4342-B048-85BDC9FD1C3A}</a:tableStyleId>
              </a:tblPr>
              <a:tblGrid>
                <a:gridCol w="1474788">
                  <a:extLst>
                    <a:ext uri="{9D8B030D-6E8A-4147-A177-3AD203B41FA5}">
                      <a16:colId xmlns:a16="http://schemas.microsoft.com/office/drawing/2014/main" val="812542690"/>
                    </a:ext>
                  </a:extLst>
                </a:gridCol>
                <a:gridCol w="876300">
                  <a:extLst>
                    <a:ext uri="{9D8B030D-6E8A-4147-A177-3AD203B41FA5}">
                      <a16:colId xmlns:a16="http://schemas.microsoft.com/office/drawing/2014/main" val="4249182816"/>
                    </a:ext>
                  </a:extLst>
                </a:gridCol>
                <a:gridCol w="1079500">
                  <a:extLst>
                    <a:ext uri="{9D8B030D-6E8A-4147-A177-3AD203B41FA5}">
                      <a16:colId xmlns:a16="http://schemas.microsoft.com/office/drawing/2014/main" val="2534495382"/>
                    </a:ext>
                  </a:extLst>
                </a:gridCol>
                <a:gridCol w="1130300">
                  <a:extLst>
                    <a:ext uri="{9D8B030D-6E8A-4147-A177-3AD203B41FA5}">
                      <a16:colId xmlns:a16="http://schemas.microsoft.com/office/drawing/2014/main" val="4210503825"/>
                    </a:ext>
                  </a:extLst>
                </a:gridCol>
              </a:tblGrid>
              <a:tr h="278845">
                <a:tc>
                  <a:txBody>
                    <a:bodyPr/>
                    <a:lstStyle/>
                    <a:p>
                      <a:r>
                        <a:rPr lang="pt-BR" sz="1000" b="1" dirty="0">
                          <a:solidFill>
                            <a:schemeClr val="tx1"/>
                          </a:solidFill>
                          <a:latin typeface="Roboto Condensed" pitchFamily="2" charset="0"/>
                          <a:ea typeface="Roboto Condensed" pitchFamily="2" charset="0"/>
                        </a:rPr>
                        <a:t>Desempenho</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Junho 2026</a:t>
                      </a:r>
                    </a:p>
                  </a:txBody>
                  <a:tcPr>
                    <a:lnL w="12700" cmpd="sng">
                      <a:noFill/>
                    </a:lnL>
                    <a:lnR w="12700" cmpd="sng">
                      <a:noFill/>
                    </a:lnR>
                    <a:lnT w="12700" cmpd="sng">
                      <a:noFill/>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Acumulado 2026</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Últimos 12 meses</a:t>
                      </a:r>
                    </a:p>
                  </a:txBody>
                  <a:tcPr>
                    <a:lnL w="12700" cmpd="sng">
                      <a:noFill/>
                    </a:lnL>
                    <a:lnR w="12700" cmpd="sng">
                      <a:noFill/>
                    </a:lnR>
                    <a:lnT w="3175" cap="flat" cmpd="sng" algn="ctr">
                      <a:no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017708980"/>
                  </a:ext>
                </a:extLst>
              </a:tr>
              <a:tr h="278845">
                <a:tc>
                  <a:txBody>
                    <a:bodyPr/>
                    <a:lstStyle/>
                    <a:p>
                      <a:r>
                        <a:rPr lang="pt-BR" sz="1000" b="1" dirty="0">
                          <a:solidFill>
                            <a:schemeClr val="tx1"/>
                          </a:solidFill>
                          <a:latin typeface="Roboto Condensed" pitchFamily="2" charset="0"/>
                          <a:ea typeface="Roboto Condensed" pitchFamily="2" charset="0"/>
                        </a:rPr>
                        <a:t>Carteira Top Ações XP</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-1,7%</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5,8%</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19,1%</a:t>
                      </a:r>
                    </a:p>
                  </a:txBody>
                  <a:tcPr>
                    <a:lnL w="12700" cmpd="sng">
                      <a:noFill/>
                    </a:lnL>
                    <a:lnR w="12700" cmpd="sng">
                      <a:noFill/>
                    </a:lnR>
                    <a:lnT w="12700"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63241228"/>
                  </a:ext>
                </a:extLst>
              </a:tr>
              <a:tr h="278845">
                <a:tc>
                  <a:txBody>
                    <a:bodyPr/>
                    <a:lstStyle/>
                    <a:p>
                      <a:pPr marL="0" marR="0" lvl="0" indent="0" defTabSz="914400" eaLnBrk="1" fontAlgn="auto" latinLnBrk="0" hangingPunct="1">
                        <a:lnSpc>
                          <a:spcPct val="100000"/>
                        </a:lnSpc>
                        <a:spcBef>
                          <a:spcPts val="0"/>
                        </a:spcBef>
                        <a:spcAft>
                          <a:spcPts val="0"/>
                        </a:spcAft>
                        <a:buClrTx/>
                        <a:buSzTx/>
                        <a:buFontTx/>
                        <a:buNone/>
                        <a:tabLst/>
                        <a:defRPr/>
                      </a:pPr>
                      <a:r>
                        <a:rPr lang="pt-BR" sz="1000" b="1" dirty="0">
                          <a:solidFill>
                            <a:schemeClr val="tx1"/>
                          </a:solidFill>
                          <a:latin typeface="Roboto Condensed" pitchFamily="2" charset="0"/>
                          <a:ea typeface="Roboto Condensed" pitchFamily="2" charset="0"/>
                        </a:rPr>
                        <a:t>Ibovespa</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-1,0%</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6,8%</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r>
                        <a:rPr lang="pt-BR" sz="1000" dirty="0">
                          <a:solidFill>
                            <a:schemeClr val="tx1"/>
                          </a:solidFill>
                          <a:latin typeface="Roboto Condensed" pitchFamily="2" charset="0"/>
                          <a:ea typeface="Roboto Condensed" pitchFamily="2" charset="0"/>
                        </a:rPr>
                        <a:t>23,9%</a:t>
                      </a:r>
                    </a:p>
                  </a:txBody>
                  <a:tcPr>
                    <a:lnL w="12700" cmpd="sng">
                      <a:noFill/>
                    </a:lnL>
                    <a:lnR w="12700" cmpd="sng">
                      <a:noFill/>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45925921"/>
                  </a:ext>
                </a:extLst>
              </a:tr>
            </a:tbl>
          </a:graphicData>
        </a:graphic>
      </p:graphicFrame>
      <p:sp>
        <p:nvSpPr>
          <p:cNvPr id="12" name="CaixaDeTexto 11">
            <a:extLst>
              <a:ext uri="{FF2B5EF4-FFF2-40B4-BE49-F238E27FC236}">
                <a16:creationId xmlns:a16="http://schemas.microsoft.com/office/drawing/2014/main" id="{1038F5CA-AE18-A836-5FB3-1FCF1CE76F61}"/>
              </a:ext>
            </a:extLst>
          </p:cNvPr>
          <p:cNvSpPr txBox="1"/>
          <p:nvPr/>
        </p:nvSpPr>
        <p:spPr>
          <a:xfrm>
            <a:off x="1148556" y="2398807"/>
            <a:ext cx="4560887" cy="461665"/>
          </a:xfrm>
          <a:prstGeom prst="rect">
            <a:avLst/>
          </a:prstGeom>
          <a:noFill/>
        </p:spPr>
        <p:txBody>
          <a:bodyPr wrap="square" rtlCol="0">
            <a:spAutoFit/>
          </a:bodyPr>
          <a:lstStyle/>
          <a:p>
            <a:pPr algn="just"/>
            <a:r>
              <a:rPr lang="pt-BR" sz="800" dirty="0">
                <a:latin typeface="Roboto Condensed" pitchFamily="2" charset="0"/>
                <a:ea typeface="Roboto Condensed" pitchFamily="2" charset="0"/>
              </a:rPr>
              <a:t>*Rentabilidade bruta calculada com base no preço de fechamento  dos ativos que compõem a carteira no dia anterior ao rebalanceamento, adicionalmente ao fluxo do pagamento de proventos. Os desempenhos anteriores não são necessariamente indicativos de resultados futuros.</a:t>
            </a:r>
          </a:p>
        </p:txBody>
      </p:sp>
      <p:sp>
        <p:nvSpPr>
          <p:cNvPr id="6" name="CaixaDeTexto 5">
            <a:extLst>
              <a:ext uri="{FF2B5EF4-FFF2-40B4-BE49-F238E27FC236}">
                <a16:creationId xmlns:a16="http://schemas.microsoft.com/office/drawing/2014/main" id="{6A952A99-2373-50CC-826A-CA815EC87307}"/>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Tree>
    <p:extLst>
      <p:ext uri="{BB962C8B-B14F-4D97-AF65-F5344CB8AC3E}">
        <p14:creationId xmlns:p14="http://schemas.microsoft.com/office/powerpoint/2010/main" val="69594637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D6A4BF-2BAE-5F88-9660-016E97C4B5F6}"/>
            </a:ext>
          </a:extLst>
        </p:cNvPr>
        <p:cNvGrpSpPr/>
        <p:nvPr/>
      </p:nvGrpSpPr>
      <p:grpSpPr>
        <a:xfrm>
          <a:off x="0" y="0"/>
          <a:ext cx="0" cy="0"/>
          <a:chOff x="0" y="0"/>
          <a:chExt cx="0" cy="0"/>
        </a:xfrm>
      </p:grpSpPr>
      <p:sp>
        <p:nvSpPr>
          <p:cNvPr id="14" name="object 14">
            <a:extLst>
              <a:ext uri="{FF2B5EF4-FFF2-40B4-BE49-F238E27FC236}">
                <a16:creationId xmlns:a16="http://schemas.microsoft.com/office/drawing/2014/main" id="{0BA6389C-DDD5-A7AF-47DF-6EB28EEA1785}"/>
              </a:ext>
            </a:extLst>
          </p:cNvPr>
          <p:cNvSpPr txBox="1">
            <a:spLocks noGrp="1"/>
          </p:cNvSpPr>
          <p:nvPr>
            <p:ph type="sldNum" sz="quarter" idx="7"/>
          </p:nvPr>
        </p:nvSpPr>
        <p:spPr>
          <a:xfrm>
            <a:off x="6529683" y="9450327"/>
            <a:ext cx="146685" cy="128881"/>
          </a:xfrm>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latin typeface="Roboto Condensed" pitchFamily="2" charset="0"/>
                <a:ea typeface="Roboto Condensed" pitchFamily="2" charset="0"/>
              </a:rPr>
              <a:t>2</a:t>
            </a:fld>
            <a:endParaRPr spc="-50" dirty="0">
              <a:latin typeface="Roboto Condensed" pitchFamily="2" charset="0"/>
              <a:ea typeface="Roboto Condensed" pitchFamily="2" charset="0"/>
            </a:endParaRPr>
          </a:p>
        </p:txBody>
      </p:sp>
      <p:sp>
        <p:nvSpPr>
          <p:cNvPr id="3" name="object 2">
            <a:extLst>
              <a:ext uri="{FF2B5EF4-FFF2-40B4-BE49-F238E27FC236}">
                <a16:creationId xmlns:a16="http://schemas.microsoft.com/office/drawing/2014/main" id="{C7368201-D206-ADF2-4EAB-3BEDD7F83F72}"/>
              </a:ext>
            </a:extLst>
          </p:cNvPr>
          <p:cNvSpPr txBox="1"/>
          <p:nvPr/>
        </p:nvSpPr>
        <p:spPr>
          <a:xfrm>
            <a:off x="390143" y="424017"/>
            <a:ext cx="1326515" cy="179070"/>
          </a:xfrm>
          <a:prstGeom prst="rect">
            <a:avLst/>
          </a:prstGeom>
        </p:spPr>
        <p:txBody>
          <a:bodyPr vert="horz" wrap="square" lIns="0" tIns="0" rIns="0" bIns="0" rtlCol="0">
            <a:spAutoFit/>
          </a:bodyPr>
          <a:lstStyle/>
          <a:p>
            <a:pPr>
              <a:lnSpc>
                <a:spcPts val="1355"/>
              </a:lnSpc>
            </a:pPr>
            <a:r>
              <a:rPr sz="1200" spc="-20">
                <a:solidFill>
                  <a:srgbClr val="3E3E3E"/>
                </a:solidFill>
                <a:latin typeface="Roboto Condensed" pitchFamily="2" charset="0"/>
                <a:ea typeface="Roboto Condensed" pitchFamily="2" charset="0"/>
                <a:cs typeface="Trebuchet MS"/>
              </a:rPr>
              <a:t>Estratégia</a:t>
            </a:r>
            <a:r>
              <a:rPr sz="1200" spc="-2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de</a:t>
            </a:r>
            <a:r>
              <a:rPr sz="1200" spc="-45">
                <a:solidFill>
                  <a:srgbClr val="3E3E3E"/>
                </a:solidFill>
                <a:latin typeface="Roboto Condensed" pitchFamily="2" charset="0"/>
                <a:ea typeface="Roboto Condensed" pitchFamily="2" charset="0"/>
                <a:cs typeface="Trebuchet MS"/>
              </a:rPr>
              <a:t> </a:t>
            </a:r>
            <a:r>
              <a:rPr sz="1200" spc="-20">
                <a:solidFill>
                  <a:srgbClr val="3E3E3E"/>
                </a:solidFill>
                <a:latin typeface="Roboto Condensed" pitchFamily="2" charset="0"/>
                <a:ea typeface="Roboto Condensed" pitchFamily="2" charset="0"/>
                <a:cs typeface="Trebuchet MS"/>
              </a:rPr>
              <a:t>Ações</a:t>
            </a:r>
            <a:endParaRPr sz="1200">
              <a:latin typeface="Roboto Condensed" pitchFamily="2" charset="0"/>
              <a:ea typeface="Roboto Condensed" pitchFamily="2" charset="0"/>
              <a:cs typeface="Trebuchet MS"/>
            </a:endParaRPr>
          </a:p>
        </p:txBody>
      </p:sp>
      <p:grpSp>
        <p:nvGrpSpPr>
          <p:cNvPr id="5" name="object 3">
            <a:extLst>
              <a:ext uri="{FF2B5EF4-FFF2-40B4-BE49-F238E27FC236}">
                <a16:creationId xmlns:a16="http://schemas.microsoft.com/office/drawing/2014/main" id="{2B0270B9-A927-4C64-D18C-0C64BBBDD38F}"/>
              </a:ext>
            </a:extLst>
          </p:cNvPr>
          <p:cNvGrpSpPr/>
          <p:nvPr/>
        </p:nvGrpSpPr>
        <p:grpSpPr>
          <a:xfrm>
            <a:off x="0" y="0"/>
            <a:ext cx="6857999" cy="1234433"/>
            <a:chOff x="0" y="0"/>
            <a:chExt cx="6857999" cy="1517058"/>
          </a:xfrm>
        </p:grpSpPr>
        <p:pic>
          <p:nvPicPr>
            <p:cNvPr id="20" name="object 4">
              <a:extLst>
                <a:ext uri="{FF2B5EF4-FFF2-40B4-BE49-F238E27FC236}">
                  <a16:creationId xmlns:a16="http://schemas.microsoft.com/office/drawing/2014/main" id="{8FBE80AC-46B4-E62D-A2D9-5FD336B2334B}"/>
                </a:ext>
              </a:extLst>
            </p:cNvPr>
            <p:cNvPicPr/>
            <p:nvPr/>
          </p:nvPicPr>
          <p:blipFill>
            <a:blip r:embed="rId3" cstate="print"/>
            <a:stretch>
              <a:fillRect/>
            </a:stretch>
          </p:blipFill>
          <p:spPr>
            <a:xfrm>
              <a:off x="0" y="0"/>
              <a:ext cx="6857999" cy="1517058"/>
            </a:xfrm>
            <a:prstGeom prst="rect">
              <a:avLst/>
            </a:prstGeom>
          </p:spPr>
        </p:pic>
        <p:sp>
          <p:nvSpPr>
            <p:cNvPr id="21" name="object 5">
              <a:extLst>
                <a:ext uri="{FF2B5EF4-FFF2-40B4-BE49-F238E27FC236}">
                  <a16:creationId xmlns:a16="http://schemas.microsoft.com/office/drawing/2014/main" id="{60713F52-BB5F-109E-8217-9DB1682A7BEA}"/>
                </a:ext>
              </a:extLst>
            </p:cNvPr>
            <p:cNvSpPr/>
            <p:nvPr/>
          </p:nvSpPr>
          <p:spPr>
            <a:xfrm>
              <a:off x="6377733" y="937686"/>
              <a:ext cx="351660" cy="420301"/>
            </a:xfrm>
            <a:custGeom>
              <a:avLst/>
              <a:gdLst/>
              <a:ahLst/>
              <a:cxnLst/>
              <a:rect l="l" t="t" r="r" b="b"/>
              <a:pathLst>
                <a:path w="379730" h="341630">
                  <a:moveTo>
                    <a:pt x="333514" y="0"/>
                  </a:moveTo>
                  <a:lnTo>
                    <a:pt x="45961" y="0"/>
                  </a:lnTo>
                  <a:lnTo>
                    <a:pt x="25990" y="2913"/>
                  </a:lnTo>
                  <a:lnTo>
                    <a:pt x="11612" y="11588"/>
                  </a:lnTo>
                  <a:lnTo>
                    <a:pt x="2918" y="25931"/>
                  </a:lnTo>
                  <a:lnTo>
                    <a:pt x="0" y="45847"/>
                  </a:lnTo>
                  <a:lnTo>
                    <a:pt x="74" y="296037"/>
                  </a:lnTo>
                  <a:lnTo>
                    <a:pt x="2918" y="315444"/>
                  </a:lnTo>
                  <a:lnTo>
                    <a:pt x="11612" y="329787"/>
                  </a:lnTo>
                  <a:lnTo>
                    <a:pt x="25990" y="338462"/>
                  </a:lnTo>
                  <a:lnTo>
                    <a:pt x="45961" y="341375"/>
                  </a:lnTo>
                  <a:lnTo>
                    <a:pt x="239610" y="341375"/>
                  </a:lnTo>
                  <a:lnTo>
                    <a:pt x="239610" y="331597"/>
                  </a:lnTo>
                  <a:lnTo>
                    <a:pt x="240741" y="320147"/>
                  </a:lnTo>
                  <a:lnTo>
                    <a:pt x="244255" y="311150"/>
                  </a:lnTo>
                  <a:lnTo>
                    <a:pt x="250337" y="304343"/>
                  </a:lnTo>
                  <a:lnTo>
                    <a:pt x="259168" y="299466"/>
                  </a:lnTo>
                  <a:lnTo>
                    <a:pt x="259168" y="298450"/>
                  </a:lnTo>
                  <a:lnTo>
                    <a:pt x="89992" y="298450"/>
                  </a:lnTo>
                  <a:lnTo>
                    <a:pt x="89992" y="297052"/>
                  </a:lnTo>
                  <a:lnTo>
                    <a:pt x="91452" y="295528"/>
                  </a:lnTo>
                  <a:lnTo>
                    <a:pt x="147193" y="241426"/>
                  </a:lnTo>
                  <a:lnTo>
                    <a:pt x="90474" y="186817"/>
                  </a:lnTo>
                  <a:lnTo>
                    <a:pt x="89001" y="185293"/>
                  </a:lnTo>
                  <a:lnTo>
                    <a:pt x="89496" y="183896"/>
                  </a:lnTo>
                  <a:lnTo>
                    <a:pt x="379476" y="183896"/>
                  </a:lnTo>
                  <a:lnTo>
                    <a:pt x="379476" y="45847"/>
                  </a:lnTo>
                  <a:lnTo>
                    <a:pt x="376557" y="25931"/>
                  </a:lnTo>
                  <a:lnTo>
                    <a:pt x="367863" y="11588"/>
                  </a:lnTo>
                  <a:lnTo>
                    <a:pt x="353485" y="2913"/>
                  </a:lnTo>
                  <a:lnTo>
                    <a:pt x="333514" y="0"/>
                  </a:lnTo>
                  <a:close/>
                </a:path>
                <a:path w="379730" h="341630">
                  <a:moveTo>
                    <a:pt x="379463" y="263778"/>
                  </a:moveTo>
                  <a:lnTo>
                    <a:pt x="378485" y="263778"/>
                  </a:lnTo>
                  <a:lnTo>
                    <a:pt x="369455" y="280340"/>
                  </a:lnTo>
                  <a:lnTo>
                    <a:pt x="356165" y="291020"/>
                  </a:lnTo>
                  <a:lnTo>
                    <a:pt x="339484" y="296747"/>
                  </a:lnTo>
                  <a:lnTo>
                    <a:pt x="320281" y="298450"/>
                  </a:lnTo>
                  <a:lnTo>
                    <a:pt x="276758" y="298450"/>
                  </a:lnTo>
                  <a:lnTo>
                    <a:pt x="276275" y="298958"/>
                  </a:lnTo>
                  <a:lnTo>
                    <a:pt x="276275" y="341375"/>
                  </a:lnTo>
                  <a:lnTo>
                    <a:pt x="333502" y="341375"/>
                  </a:lnTo>
                  <a:lnTo>
                    <a:pt x="353472" y="338462"/>
                  </a:lnTo>
                  <a:lnTo>
                    <a:pt x="367850" y="329787"/>
                  </a:lnTo>
                  <a:lnTo>
                    <a:pt x="376544" y="315444"/>
                  </a:lnTo>
                  <a:lnTo>
                    <a:pt x="379239" y="297052"/>
                  </a:lnTo>
                  <a:lnTo>
                    <a:pt x="379314" y="296545"/>
                  </a:lnTo>
                  <a:lnTo>
                    <a:pt x="379388" y="296037"/>
                  </a:lnTo>
                  <a:lnTo>
                    <a:pt x="379463" y="263778"/>
                  </a:lnTo>
                  <a:close/>
                </a:path>
                <a:path w="379730" h="341630">
                  <a:moveTo>
                    <a:pt x="170675" y="266826"/>
                  </a:moveTo>
                  <a:lnTo>
                    <a:pt x="141338" y="296545"/>
                  </a:lnTo>
                  <a:lnTo>
                    <a:pt x="139865" y="297942"/>
                  </a:lnTo>
                  <a:lnTo>
                    <a:pt x="138899" y="298450"/>
                  </a:lnTo>
                  <a:lnTo>
                    <a:pt x="201955" y="298450"/>
                  </a:lnTo>
                  <a:lnTo>
                    <a:pt x="200977" y="297942"/>
                  </a:lnTo>
                  <a:lnTo>
                    <a:pt x="199034" y="296037"/>
                  </a:lnTo>
                  <a:lnTo>
                    <a:pt x="170675" y="266826"/>
                  </a:lnTo>
                  <a:close/>
                </a:path>
                <a:path w="379730" h="341630">
                  <a:moveTo>
                    <a:pt x="239598" y="199009"/>
                  </a:moveTo>
                  <a:lnTo>
                    <a:pt x="195592" y="241426"/>
                  </a:lnTo>
                  <a:lnTo>
                    <a:pt x="239598" y="283845"/>
                  </a:lnTo>
                  <a:lnTo>
                    <a:pt x="239598" y="199009"/>
                  </a:lnTo>
                  <a:close/>
                </a:path>
                <a:path w="379730" h="341630">
                  <a:moveTo>
                    <a:pt x="319316" y="218948"/>
                  </a:moveTo>
                  <a:lnTo>
                    <a:pt x="276288" y="218948"/>
                  </a:lnTo>
                  <a:lnTo>
                    <a:pt x="276288" y="263778"/>
                  </a:lnTo>
                  <a:lnTo>
                    <a:pt x="319316" y="263778"/>
                  </a:lnTo>
                  <a:lnTo>
                    <a:pt x="330406" y="262411"/>
                  </a:lnTo>
                  <a:lnTo>
                    <a:pt x="339066" y="258270"/>
                  </a:lnTo>
                  <a:lnTo>
                    <a:pt x="344699" y="251295"/>
                  </a:lnTo>
                  <a:lnTo>
                    <a:pt x="346710" y="241426"/>
                  </a:lnTo>
                  <a:lnTo>
                    <a:pt x="344699" y="231538"/>
                  </a:lnTo>
                  <a:lnTo>
                    <a:pt x="339066" y="224520"/>
                  </a:lnTo>
                  <a:lnTo>
                    <a:pt x="330406" y="220335"/>
                  </a:lnTo>
                  <a:lnTo>
                    <a:pt x="319316" y="218948"/>
                  </a:lnTo>
                  <a:close/>
                </a:path>
                <a:path w="379730" h="341630">
                  <a:moveTo>
                    <a:pt x="379476" y="183896"/>
                  </a:moveTo>
                  <a:lnTo>
                    <a:pt x="319824" y="183896"/>
                  </a:lnTo>
                  <a:lnTo>
                    <a:pt x="340232" y="185800"/>
                  </a:lnTo>
                  <a:lnTo>
                    <a:pt x="339251" y="185800"/>
                  </a:lnTo>
                  <a:lnTo>
                    <a:pt x="355761" y="191563"/>
                  </a:lnTo>
                  <a:lnTo>
                    <a:pt x="369330" y="202380"/>
                  </a:lnTo>
                  <a:lnTo>
                    <a:pt x="378498" y="218948"/>
                  </a:lnTo>
                  <a:lnTo>
                    <a:pt x="379476" y="218948"/>
                  </a:lnTo>
                  <a:lnTo>
                    <a:pt x="379476" y="183896"/>
                  </a:lnTo>
                  <a:close/>
                </a:path>
                <a:path w="379730" h="341630">
                  <a:moveTo>
                    <a:pt x="202946" y="183896"/>
                  </a:moveTo>
                  <a:lnTo>
                    <a:pt x="138391" y="183896"/>
                  </a:lnTo>
                  <a:lnTo>
                    <a:pt x="139369" y="184403"/>
                  </a:lnTo>
                  <a:lnTo>
                    <a:pt x="140843" y="185800"/>
                  </a:lnTo>
                  <a:lnTo>
                    <a:pt x="171653" y="216535"/>
                  </a:lnTo>
                  <a:lnTo>
                    <a:pt x="200494" y="185800"/>
                  </a:lnTo>
                  <a:lnTo>
                    <a:pt x="201845" y="184403"/>
                  </a:lnTo>
                  <a:lnTo>
                    <a:pt x="201642" y="184403"/>
                  </a:lnTo>
                  <a:lnTo>
                    <a:pt x="202946" y="183896"/>
                  </a:lnTo>
                  <a:close/>
                </a:path>
              </a:pathLst>
            </a:custGeom>
            <a:solidFill>
              <a:srgbClr val="FFFFFF"/>
            </a:solidFill>
          </p:spPr>
          <p:txBody>
            <a:bodyPr wrap="square" lIns="0" tIns="0" rIns="0" bIns="0" rtlCol="0"/>
            <a:lstStyle/>
            <a:p>
              <a:endParaRPr>
                <a:latin typeface="Roboto Condensed" pitchFamily="2" charset="0"/>
                <a:ea typeface="Roboto Condensed" pitchFamily="2" charset="0"/>
              </a:endParaRPr>
            </a:p>
          </p:txBody>
        </p:sp>
      </p:grpSp>
      <p:sp>
        <p:nvSpPr>
          <p:cNvPr id="22" name="object 7">
            <a:extLst>
              <a:ext uri="{FF2B5EF4-FFF2-40B4-BE49-F238E27FC236}">
                <a16:creationId xmlns:a16="http://schemas.microsoft.com/office/drawing/2014/main" id="{EF5DAC11-C07D-A59E-9D98-784704C0183C}"/>
              </a:ext>
            </a:extLst>
          </p:cNvPr>
          <p:cNvSpPr txBox="1"/>
          <p:nvPr/>
        </p:nvSpPr>
        <p:spPr>
          <a:xfrm>
            <a:off x="5137144" y="228963"/>
            <a:ext cx="1601659" cy="404598"/>
          </a:xfrm>
          <a:prstGeom prst="rect">
            <a:avLst/>
          </a:prstGeom>
        </p:spPr>
        <p:txBody>
          <a:bodyPr vert="horz" wrap="square" lIns="0" tIns="45085" rIns="0" bIns="0" rtlCol="0">
            <a:spAutoFit/>
          </a:bodyPr>
          <a:lstStyle/>
          <a:p>
            <a:pPr marL="35560" marR="5080" indent="-22860" algn="r">
              <a:lnSpc>
                <a:spcPts val="1180"/>
              </a:lnSpc>
              <a:spcBef>
                <a:spcPts val="355"/>
              </a:spcBef>
            </a:pPr>
            <a:r>
              <a:rPr lang="pt-BR" sz="1200" dirty="0">
                <a:solidFill>
                  <a:srgbClr val="FFBB00"/>
                </a:solidFill>
                <a:latin typeface="Roboto Condensed" pitchFamily="2" charset="0"/>
                <a:ea typeface="Roboto Condensed" pitchFamily="2" charset="0"/>
                <a:cs typeface="Trebuchet MS"/>
              </a:rPr>
              <a:t>Junho de 2026</a:t>
            </a:r>
            <a:endParaRPr lang="pt-BR" sz="1200" spc="-20" dirty="0">
              <a:solidFill>
                <a:srgbClr val="FFBB00"/>
              </a:solidFill>
              <a:latin typeface="Roboto Condensed" pitchFamily="2" charset="0"/>
              <a:ea typeface="Roboto Condensed" pitchFamily="2" charset="0"/>
              <a:cs typeface="Trebuchet MS"/>
            </a:endParaRPr>
          </a:p>
          <a:p>
            <a:pPr marL="35560" marR="5080" indent="-22860" algn="r">
              <a:lnSpc>
                <a:spcPts val="1180"/>
              </a:lnSpc>
              <a:spcBef>
                <a:spcPts val="355"/>
              </a:spcBef>
            </a:pPr>
            <a:r>
              <a:rPr lang="pt-BR" sz="1200" spc="-20" dirty="0">
                <a:solidFill>
                  <a:srgbClr val="FFFFFF"/>
                </a:solidFill>
                <a:latin typeface="Roboto Condensed" pitchFamily="2" charset="0"/>
                <a:ea typeface="Roboto Condensed" pitchFamily="2" charset="0"/>
                <a:cs typeface="Trebuchet MS"/>
              </a:rPr>
              <a:t>Carteira Top Ações XP</a:t>
            </a:r>
            <a:endParaRPr sz="1200" dirty="0">
              <a:latin typeface="Roboto Condensed" pitchFamily="2" charset="0"/>
              <a:ea typeface="Roboto Condensed" pitchFamily="2" charset="0"/>
              <a:cs typeface="Trebuchet MS"/>
            </a:endParaRPr>
          </a:p>
        </p:txBody>
      </p:sp>
      <p:sp>
        <p:nvSpPr>
          <p:cNvPr id="23" name="object 8">
            <a:extLst>
              <a:ext uri="{FF2B5EF4-FFF2-40B4-BE49-F238E27FC236}">
                <a16:creationId xmlns:a16="http://schemas.microsoft.com/office/drawing/2014/main" id="{EBBE76EB-5497-13B3-F317-6F901F5BAFB4}"/>
              </a:ext>
            </a:extLst>
          </p:cNvPr>
          <p:cNvSpPr txBox="1">
            <a:spLocks noGrp="1"/>
          </p:cNvSpPr>
          <p:nvPr>
            <p:ph type="title"/>
          </p:nvPr>
        </p:nvSpPr>
        <p:spPr>
          <a:xfrm>
            <a:off x="128607" y="49869"/>
            <a:ext cx="4879931" cy="1033424"/>
          </a:xfrm>
          <a:prstGeom prst="rect">
            <a:avLst/>
          </a:prstGeom>
        </p:spPr>
        <p:txBody>
          <a:bodyPr vert="horz" wrap="square" lIns="0" tIns="168275" rIns="0" bIns="0" rtlCol="0">
            <a:spAutoFit/>
          </a:bodyPr>
          <a:lstStyle/>
          <a:p>
            <a:pPr marL="12700">
              <a:lnSpc>
                <a:spcPct val="100000"/>
              </a:lnSpc>
              <a:spcBef>
                <a:spcPts val="1325"/>
              </a:spcBef>
            </a:pPr>
            <a:r>
              <a:rPr lang="pt-BR" spc="95" dirty="0">
                <a:latin typeface="Roboto Condensed" pitchFamily="2" charset="0"/>
                <a:ea typeface="Roboto Condensed" pitchFamily="2" charset="0"/>
              </a:rPr>
              <a:t>Top Ações XP</a:t>
            </a:r>
            <a:endParaRPr spc="-10" dirty="0">
              <a:latin typeface="Roboto Condensed" pitchFamily="2" charset="0"/>
              <a:ea typeface="Roboto Condensed" pitchFamily="2" charset="0"/>
            </a:endParaRPr>
          </a:p>
          <a:p>
            <a:pPr marL="12700" marR="1805305">
              <a:lnSpc>
                <a:spcPct val="141200"/>
              </a:lnSpc>
              <a:spcBef>
                <a:spcPts val="20"/>
              </a:spcBef>
            </a:pPr>
            <a:r>
              <a:rPr lang="pt-BR" sz="1200" b="0" spc="-60" dirty="0">
                <a:solidFill>
                  <a:srgbClr val="FFFFFF"/>
                </a:solidFill>
                <a:latin typeface="Roboto Condensed" pitchFamily="2" charset="0"/>
                <a:ea typeface="Roboto Condensed" pitchFamily="2" charset="0"/>
              </a:rPr>
              <a:t>Research XP</a:t>
            </a:r>
            <a:br>
              <a:rPr lang="pt-BR" sz="1200" b="0" spc="-60" dirty="0">
                <a:solidFill>
                  <a:srgbClr val="FFFFFF"/>
                </a:solidFill>
                <a:latin typeface="Roboto Condensed" pitchFamily="2" charset="0"/>
                <a:ea typeface="Roboto Condensed" pitchFamily="2" charset="0"/>
              </a:rPr>
            </a:br>
            <a:r>
              <a:rPr lang="pt-BR" sz="1200" b="0" spc="-60" dirty="0">
                <a:solidFill>
                  <a:srgbClr val="FFFFFF"/>
                </a:solidFill>
                <a:latin typeface="Roboto Condensed" pitchFamily="2" charset="0"/>
                <a:ea typeface="Roboto Condensed" pitchFamily="2" charset="0"/>
              </a:rPr>
              <a:t>Fernando Ferreira, Raphael Figueredo e Caio Souza</a:t>
            </a:r>
            <a:endParaRPr sz="1200" dirty="0">
              <a:latin typeface="Roboto Condensed" pitchFamily="2" charset="0"/>
              <a:ea typeface="Roboto Condensed" pitchFamily="2" charset="0"/>
            </a:endParaRPr>
          </a:p>
        </p:txBody>
      </p:sp>
      <p:sp>
        <p:nvSpPr>
          <p:cNvPr id="6" name="CaixaDeTexto 5">
            <a:extLst>
              <a:ext uri="{FF2B5EF4-FFF2-40B4-BE49-F238E27FC236}">
                <a16:creationId xmlns:a16="http://schemas.microsoft.com/office/drawing/2014/main" id="{995636A9-4EF6-69E2-79C5-270402FB8256}"/>
              </a:ext>
            </a:extLst>
          </p:cNvPr>
          <p:cNvSpPr txBox="1"/>
          <p:nvPr/>
        </p:nvSpPr>
        <p:spPr>
          <a:xfrm>
            <a:off x="145144" y="6657546"/>
            <a:ext cx="3242021" cy="246221"/>
          </a:xfrm>
          <a:prstGeom prst="rect">
            <a:avLst/>
          </a:prstGeom>
          <a:noFill/>
        </p:spPr>
        <p:txBody>
          <a:bodyPr wrap="square" rtlCol="0">
            <a:spAutoFit/>
          </a:bodyPr>
          <a:lstStyle/>
          <a:p>
            <a:r>
              <a:rPr lang="pt-BR" sz="1000" b="1" dirty="0">
                <a:latin typeface="Roboto Condensed" pitchFamily="2" charset="0"/>
                <a:ea typeface="Roboto Condensed" pitchFamily="2" charset="0"/>
              </a:rPr>
              <a:t>Performance desde o início vs. Ibovespa (100 = fev. 2025)</a:t>
            </a:r>
          </a:p>
        </p:txBody>
      </p:sp>
      <p:cxnSp>
        <p:nvCxnSpPr>
          <p:cNvPr id="7" name="Conector reto 6">
            <a:extLst>
              <a:ext uri="{FF2B5EF4-FFF2-40B4-BE49-F238E27FC236}">
                <a16:creationId xmlns:a16="http://schemas.microsoft.com/office/drawing/2014/main" id="{4F619E79-AE5F-48FC-CC81-EDD0F81D7738}"/>
              </a:ext>
            </a:extLst>
          </p:cNvPr>
          <p:cNvCxnSpPr>
            <a:cxnSpLocks/>
          </p:cNvCxnSpPr>
          <p:nvPr/>
        </p:nvCxnSpPr>
        <p:spPr>
          <a:xfrm>
            <a:off x="211289" y="6903767"/>
            <a:ext cx="2922949"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9" name="CaixaDeTexto 8">
            <a:extLst>
              <a:ext uri="{FF2B5EF4-FFF2-40B4-BE49-F238E27FC236}">
                <a16:creationId xmlns:a16="http://schemas.microsoft.com/office/drawing/2014/main" id="{8AE66083-AD2C-CA43-DB5A-1DE32D1B3FB0}"/>
              </a:ext>
            </a:extLst>
          </p:cNvPr>
          <p:cNvSpPr txBox="1"/>
          <p:nvPr/>
        </p:nvSpPr>
        <p:spPr>
          <a:xfrm>
            <a:off x="141307" y="4220863"/>
            <a:ext cx="3132745" cy="2662267"/>
          </a:xfrm>
          <a:prstGeom prst="rect">
            <a:avLst/>
          </a:prstGeom>
          <a:noFill/>
        </p:spPr>
        <p:txBody>
          <a:bodyPr wrap="square">
            <a:spAutoFit/>
          </a:bodyPr>
          <a:lstStyle/>
          <a:p>
            <a:pPr algn="just"/>
            <a:r>
              <a:rPr lang="pt-BR" sz="1100" b="1" dirty="0">
                <a:latin typeface="Roboto Condensed" pitchFamily="2" charset="0"/>
                <a:ea typeface="Roboto Condensed" pitchFamily="2" charset="0"/>
              </a:rPr>
              <a:t>Alterações na Carteira – Julho</a:t>
            </a:r>
          </a:p>
          <a:p>
            <a:pPr algn="just"/>
            <a:endParaRPr lang="pt-BR" sz="700" dirty="0">
              <a:latin typeface="Roboto Condensed" pitchFamily="2" charset="0"/>
              <a:ea typeface="Roboto Condensed" pitchFamily="2" charset="0"/>
            </a:endParaRPr>
          </a:p>
          <a:p>
            <a:pPr algn="just"/>
            <a:r>
              <a:rPr lang="pt-BR" sz="800" dirty="0">
                <a:latin typeface="Roboto Condensed" pitchFamily="2" charset="0"/>
                <a:ea typeface="Roboto Condensed" pitchFamily="2" charset="0"/>
              </a:rPr>
              <a:t>Estamos adicionando RDOR3. Vemos a RDOR como líder de mercado, com posicionamento forte tanto em hospitais quanto em saúde suplementar, sustentando ganhos contínuos de </a:t>
            </a:r>
            <a:r>
              <a:rPr lang="pt-BR" sz="800" dirty="0" err="1">
                <a:latin typeface="Roboto Condensed" pitchFamily="2" charset="0"/>
                <a:ea typeface="Roboto Condensed" pitchFamily="2" charset="0"/>
              </a:rPr>
              <a:t>market</a:t>
            </a:r>
            <a:r>
              <a:rPr lang="pt-BR" sz="800" dirty="0">
                <a:latin typeface="Roboto Condensed" pitchFamily="2" charset="0"/>
                <a:ea typeface="Roboto Condensed" pitchFamily="2" charset="0"/>
              </a:rPr>
              <a:t> </a:t>
            </a:r>
            <a:r>
              <a:rPr lang="pt-BR" sz="800" dirty="0" err="1">
                <a:latin typeface="Roboto Condensed" pitchFamily="2" charset="0"/>
                <a:ea typeface="Roboto Condensed" pitchFamily="2" charset="0"/>
              </a:rPr>
              <a:t>share</a:t>
            </a:r>
            <a:r>
              <a:rPr lang="pt-BR" sz="800" dirty="0">
                <a:latin typeface="Roboto Condensed" pitchFamily="2" charset="0"/>
                <a:ea typeface="Roboto Condensed" pitchFamily="2" charset="0"/>
              </a:rPr>
              <a:t>. A maturação de ativos deve permitir uma expansão gradual de margem, enquanto a SulAmérica adiciona resiliência, com o excesso de provisionamento de IBNR sustentando a estabilidade do MLR no curto prazo. Estamos aumentando ORVR3 para 5,0%, de 2,5%,. Em nossa visão, o mercado ainda não precificou integralmente a criação de valor da transação com a Vital. A transação consolidou a </a:t>
            </a:r>
            <a:r>
              <a:rPr lang="pt-BR" sz="800" dirty="0" err="1">
                <a:latin typeface="Roboto Condensed" pitchFamily="2" charset="0"/>
                <a:ea typeface="Roboto Condensed" pitchFamily="2" charset="0"/>
              </a:rPr>
              <a:t>Orizon</a:t>
            </a:r>
            <a:r>
              <a:rPr lang="pt-BR" sz="800" dirty="0">
                <a:latin typeface="Roboto Condensed" pitchFamily="2" charset="0"/>
                <a:ea typeface="Roboto Condensed" pitchFamily="2" charset="0"/>
              </a:rPr>
              <a:t> como a maior plataforma de valorização de resíduos e economia circular da América Latina. Também acreditamos que a companhia segue bem posicionada para buscar novas oportunidades de crescimento inorgânico. Estamos removendo CPLE3, após a forte performance da ação nos últimos meses. Os papéis reagiram positivamente à contratação das usinas hidrelétricas Foz do Areia e Segredo no LRCAP. Com esse evento agora majoritariamente refletido no preço da ação, vemos uma relação risco-retorno mais equilibrada. </a:t>
            </a:r>
          </a:p>
          <a:p>
            <a:pPr algn="just"/>
            <a:endParaRPr lang="pt-BR" sz="700" dirty="0">
              <a:latin typeface="Roboto Condensed" pitchFamily="2" charset="0"/>
              <a:ea typeface="Roboto Condensed" pitchFamily="2" charset="0"/>
            </a:endParaRPr>
          </a:p>
          <a:p>
            <a:pPr algn="just"/>
            <a:r>
              <a:rPr lang="pt-BR" sz="700" dirty="0">
                <a:latin typeface="Roboto Condensed" pitchFamily="2" charset="0"/>
                <a:ea typeface="Roboto Condensed" pitchFamily="2" charset="0"/>
              </a:rPr>
              <a:t>.</a:t>
            </a:r>
          </a:p>
          <a:p>
            <a:pPr algn="just"/>
            <a:endParaRPr lang="pt-BR" sz="700" dirty="0">
              <a:latin typeface="Roboto Condensed" pitchFamily="2" charset="0"/>
              <a:ea typeface="Roboto Condensed" pitchFamily="2" charset="0"/>
            </a:endParaRPr>
          </a:p>
        </p:txBody>
      </p:sp>
      <p:sp>
        <p:nvSpPr>
          <p:cNvPr id="25" name="CaixaDeTexto 24">
            <a:extLst>
              <a:ext uri="{FF2B5EF4-FFF2-40B4-BE49-F238E27FC236}">
                <a16:creationId xmlns:a16="http://schemas.microsoft.com/office/drawing/2014/main" id="{FFE38AAF-1768-8A4D-6ED7-783C40E512A2}"/>
              </a:ext>
            </a:extLst>
          </p:cNvPr>
          <p:cNvSpPr txBox="1"/>
          <p:nvPr/>
        </p:nvSpPr>
        <p:spPr>
          <a:xfrm>
            <a:off x="150173" y="1264764"/>
            <a:ext cx="6392209" cy="246221"/>
          </a:xfrm>
          <a:prstGeom prst="rect">
            <a:avLst/>
          </a:prstGeom>
          <a:noFill/>
        </p:spPr>
        <p:txBody>
          <a:bodyPr wrap="square" rtlCol="0">
            <a:spAutoFit/>
          </a:bodyPr>
          <a:lstStyle/>
          <a:p>
            <a:r>
              <a:rPr lang="pt-BR" sz="1000" b="1" dirty="0">
                <a:latin typeface="Roboto Condensed" pitchFamily="2" charset="0"/>
                <a:ea typeface="Roboto Condensed" pitchFamily="2" charset="0"/>
              </a:rPr>
              <a:t>Decomposição do retorno da carteira (Junho/26)</a:t>
            </a:r>
          </a:p>
        </p:txBody>
      </p:sp>
      <p:cxnSp>
        <p:nvCxnSpPr>
          <p:cNvPr id="26" name="Conector reto 25">
            <a:extLst>
              <a:ext uri="{FF2B5EF4-FFF2-40B4-BE49-F238E27FC236}">
                <a16:creationId xmlns:a16="http://schemas.microsoft.com/office/drawing/2014/main" id="{68C30B80-8A37-D7BF-7855-4A73C0D39B5E}"/>
              </a:ext>
            </a:extLst>
          </p:cNvPr>
          <p:cNvCxnSpPr>
            <a:cxnSpLocks/>
          </p:cNvCxnSpPr>
          <p:nvPr/>
        </p:nvCxnSpPr>
        <p:spPr>
          <a:xfrm>
            <a:off x="229019" y="1510985"/>
            <a:ext cx="6161414" cy="0"/>
          </a:xfrm>
          <a:prstGeom prst="line">
            <a:avLst/>
          </a:prstGeom>
          <a:ln>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graphicFrame>
        <p:nvGraphicFramePr>
          <p:cNvPr id="46" name="Gráfico 45">
            <a:extLst>
              <a:ext uri="{FF2B5EF4-FFF2-40B4-BE49-F238E27FC236}">
                <a16:creationId xmlns:a16="http://schemas.microsoft.com/office/drawing/2014/main" id="{6889935D-08C8-1BBC-2CA1-FB1B5C85B627}"/>
              </a:ext>
            </a:extLst>
          </p:cNvPr>
          <p:cNvGraphicFramePr>
            <a:graphicFrameLocks/>
          </p:cNvGraphicFramePr>
          <p:nvPr>
            <p:extLst>
              <p:ext uri="{D42A27DB-BD31-4B8C-83A1-F6EECF244321}">
                <p14:modId xmlns:p14="http://schemas.microsoft.com/office/powerpoint/2010/main" val="2429042318"/>
              </p:ext>
            </p:extLst>
          </p:nvPr>
        </p:nvGraphicFramePr>
        <p:xfrm>
          <a:off x="5930182" y="3482702"/>
          <a:ext cx="728297" cy="678914"/>
        </p:xfrm>
        <a:graphic>
          <a:graphicData uri="http://schemas.openxmlformats.org/drawingml/2006/chart">
            <c:chart xmlns:c="http://schemas.openxmlformats.org/drawingml/2006/chart" xmlns:r="http://schemas.openxmlformats.org/officeDocument/2006/relationships" r:id="rId4"/>
          </a:graphicData>
        </a:graphic>
      </p:graphicFrame>
      <p:sp>
        <p:nvSpPr>
          <p:cNvPr id="8" name="CaixaDeTexto 7">
            <a:extLst>
              <a:ext uri="{FF2B5EF4-FFF2-40B4-BE49-F238E27FC236}">
                <a16:creationId xmlns:a16="http://schemas.microsoft.com/office/drawing/2014/main" id="{BB5FB993-204E-8B87-A1F8-4C34D22983CA}"/>
              </a:ext>
            </a:extLst>
          </p:cNvPr>
          <p:cNvSpPr txBox="1"/>
          <p:nvPr/>
        </p:nvSpPr>
        <p:spPr>
          <a:xfrm>
            <a:off x="5795164" y="9175449"/>
            <a:ext cx="952548" cy="215444"/>
          </a:xfrm>
          <a:prstGeom prst="rect">
            <a:avLst/>
          </a:prstGeom>
          <a:noFill/>
        </p:spPr>
        <p:txBody>
          <a:bodyPr wrap="square" rtlCol="0">
            <a:spAutoFit/>
          </a:bodyPr>
          <a:lstStyle/>
          <a:p>
            <a:r>
              <a:rPr lang="pt-BR" sz="800" dirty="0">
                <a:latin typeface="Roboto Condensed" pitchFamily="2" charset="0"/>
                <a:ea typeface="Roboto Condensed" pitchFamily="2" charset="0"/>
              </a:rPr>
              <a:t>Fonte: </a:t>
            </a:r>
            <a:r>
              <a:rPr lang="pt-BR" sz="800" dirty="0" err="1">
                <a:latin typeface="Roboto Condensed" pitchFamily="2" charset="0"/>
                <a:ea typeface="Roboto Condensed" pitchFamily="2" charset="0"/>
              </a:rPr>
              <a:t>Research</a:t>
            </a:r>
            <a:r>
              <a:rPr lang="pt-BR" sz="800" dirty="0">
                <a:latin typeface="Roboto Condensed" pitchFamily="2" charset="0"/>
                <a:ea typeface="Roboto Condensed" pitchFamily="2" charset="0"/>
              </a:rPr>
              <a:t> XP</a:t>
            </a:r>
          </a:p>
        </p:txBody>
      </p:sp>
      <p:sp>
        <p:nvSpPr>
          <p:cNvPr id="10" name="CaixaDeTexto 9">
            <a:extLst>
              <a:ext uri="{FF2B5EF4-FFF2-40B4-BE49-F238E27FC236}">
                <a16:creationId xmlns:a16="http://schemas.microsoft.com/office/drawing/2014/main" id="{513887DD-F3F6-0C18-4BAB-21BF4DA9D0EF}"/>
              </a:ext>
            </a:extLst>
          </p:cNvPr>
          <p:cNvSpPr txBox="1"/>
          <p:nvPr/>
        </p:nvSpPr>
        <p:spPr>
          <a:xfrm>
            <a:off x="3428999" y="4227950"/>
            <a:ext cx="3132745" cy="430887"/>
          </a:xfrm>
          <a:prstGeom prst="rect">
            <a:avLst/>
          </a:prstGeom>
          <a:noFill/>
        </p:spPr>
        <p:txBody>
          <a:bodyPr wrap="square">
            <a:spAutoFit/>
          </a:bodyPr>
          <a:lstStyle/>
          <a:p>
            <a:pPr algn="just"/>
            <a:r>
              <a:rPr lang="pt-BR" sz="1100" b="1" dirty="0">
                <a:latin typeface="Roboto Condensed" pitchFamily="2" charset="0"/>
                <a:ea typeface="Roboto Condensed" pitchFamily="2" charset="0"/>
              </a:rPr>
              <a:t>Composição da Carteira – Julho de 26</a:t>
            </a:r>
          </a:p>
          <a:p>
            <a:pPr algn="just"/>
            <a:endParaRPr lang="pt-BR" sz="1100" dirty="0">
              <a:latin typeface="Roboto Condensed" pitchFamily="2" charset="0"/>
              <a:ea typeface="Roboto Condensed" pitchFamily="2" charset="0"/>
            </a:endParaRPr>
          </a:p>
        </p:txBody>
      </p:sp>
      <p:graphicFrame>
        <p:nvGraphicFramePr>
          <p:cNvPr id="11" name="Chart 10">
            <a:extLst>
              <a:ext uri="{FF2B5EF4-FFF2-40B4-BE49-F238E27FC236}">
                <a16:creationId xmlns:a16="http://schemas.microsoft.com/office/drawing/2014/main" id="{FED6ADC2-5398-DF99-DF70-23A51436000C}"/>
              </a:ext>
            </a:extLst>
          </p:cNvPr>
          <p:cNvGraphicFramePr>
            <a:graphicFrameLocks/>
          </p:cNvGraphicFramePr>
          <p:nvPr>
            <p:extLst>
              <p:ext uri="{D42A27DB-BD31-4B8C-83A1-F6EECF244321}">
                <p14:modId xmlns:p14="http://schemas.microsoft.com/office/powerpoint/2010/main" val="3713992383"/>
              </p:ext>
            </p:extLst>
          </p:nvPr>
        </p:nvGraphicFramePr>
        <p:xfrm>
          <a:off x="199520" y="7024849"/>
          <a:ext cx="2922949" cy="2258322"/>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13" name="Table 12">
            <a:extLst>
              <a:ext uri="{FF2B5EF4-FFF2-40B4-BE49-F238E27FC236}">
                <a16:creationId xmlns:a16="http://schemas.microsoft.com/office/drawing/2014/main" id="{4E8C9BF4-C108-9E0C-8C9D-7108133BF41C}"/>
              </a:ext>
            </a:extLst>
          </p:cNvPr>
          <p:cNvGraphicFramePr>
            <a:graphicFrameLocks noGrp="1"/>
          </p:cNvGraphicFramePr>
          <p:nvPr>
            <p:extLst>
              <p:ext uri="{D42A27DB-BD31-4B8C-83A1-F6EECF244321}">
                <p14:modId xmlns:p14="http://schemas.microsoft.com/office/powerpoint/2010/main" val="919832647"/>
              </p:ext>
            </p:extLst>
          </p:nvPr>
        </p:nvGraphicFramePr>
        <p:xfrm>
          <a:off x="3470837" y="4518275"/>
          <a:ext cx="3217711" cy="4632738"/>
        </p:xfrm>
        <a:graphic>
          <a:graphicData uri="http://schemas.openxmlformats.org/drawingml/2006/table">
            <a:tbl>
              <a:tblPr/>
              <a:tblGrid>
                <a:gridCol w="917994">
                  <a:extLst>
                    <a:ext uri="{9D8B030D-6E8A-4147-A177-3AD203B41FA5}">
                      <a16:colId xmlns:a16="http://schemas.microsoft.com/office/drawing/2014/main" val="1363450678"/>
                    </a:ext>
                  </a:extLst>
                </a:gridCol>
                <a:gridCol w="1277621">
                  <a:extLst>
                    <a:ext uri="{9D8B030D-6E8A-4147-A177-3AD203B41FA5}">
                      <a16:colId xmlns:a16="http://schemas.microsoft.com/office/drawing/2014/main" val="2854111778"/>
                    </a:ext>
                  </a:extLst>
                </a:gridCol>
                <a:gridCol w="511048">
                  <a:extLst>
                    <a:ext uri="{9D8B030D-6E8A-4147-A177-3AD203B41FA5}">
                      <a16:colId xmlns:a16="http://schemas.microsoft.com/office/drawing/2014/main" val="162076156"/>
                    </a:ext>
                  </a:extLst>
                </a:gridCol>
                <a:gridCol w="511048">
                  <a:extLst>
                    <a:ext uri="{9D8B030D-6E8A-4147-A177-3AD203B41FA5}">
                      <a16:colId xmlns:a16="http://schemas.microsoft.com/office/drawing/2014/main" val="3981928813"/>
                    </a:ext>
                  </a:extLst>
                </a:gridCol>
              </a:tblGrid>
              <a:tr h="272514">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Setor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Companhia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a:solidFill>
                            <a:srgbClr val="000000"/>
                          </a:solidFill>
                          <a:effectLst/>
                          <a:latin typeface="Roboto Condensed" pitchFamily="2" charset="0"/>
                          <a:ea typeface="Roboto Condensed" pitchFamily="2" charset="0"/>
                        </a:rPr>
                        <a:t>Ticker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tc>
                  <a:txBody>
                    <a:bodyPr/>
                    <a:lstStyle/>
                    <a:p>
                      <a:pPr algn="ctr" fontAlgn="ctr">
                        <a:buNone/>
                      </a:pPr>
                      <a:r>
                        <a:rPr lang="pt-BR" sz="900" b="1" i="0" u="none" strike="noStrike" dirty="0">
                          <a:solidFill>
                            <a:srgbClr val="000000"/>
                          </a:solidFill>
                          <a:effectLst/>
                          <a:latin typeface="Roboto Condensed" pitchFamily="2" charset="0"/>
                          <a:ea typeface="Roboto Condensed" pitchFamily="2" charset="0"/>
                        </a:rPr>
                        <a:t>Peso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FBC00"/>
                    </a:solidFill>
                  </a:tcPr>
                </a:tc>
                <a:extLst>
                  <a:ext uri="{0D108BD9-81ED-4DB2-BD59-A6C34878D82A}">
                    <a16:rowId xmlns:a16="http://schemas.microsoft.com/office/drawing/2014/main" val="302963081"/>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Energia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Petrobras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PETR4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3362251"/>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PRIO3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071276165"/>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Materiais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Gerdau</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GGBR4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180974509"/>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VALE3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108413687"/>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Cons. Disc.</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Lojas Renner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LREN3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46331192"/>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Industriais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Localiza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RENT3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639288782"/>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Embraer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EMBJ3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2131738115"/>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Tec. Info.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TOTVS</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TOTS3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6783727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Imobiliário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Iguatemi</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IGTI11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8140356"/>
                  </a:ext>
                </a:extLst>
              </a:tr>
              <a:tr h="272514">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Saúde</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Rede D'Or</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RDOR3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506036600"/>
                  </a:ext>
                </a:extLst>
              </a:tr>
              <a:tr h="272514">
                <a:tc rowSpan="2">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Utilidade Pública</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Sabesp</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SBSP3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3619695986"/>
                  </a:ext>
                </a:extLst>
              </a:tr>
              <a:tr h="272514">
                <a:tc vMerge="1">
                  <a:txBody>
                    <a:bodyPr/>
                    <a:lstStyle/>
                    <a:p>
                      <a:endParaRPr lang="pt-BR"/>
                    </a:p>
                  </a:txBody>
                  <a:tcPr/>
                </a:tc>
                <a:tc>
                  <a:txBody>
                    <a:bodyPr/>
                    <a:lstStyle/>
                    <a:p>
                      <a:pPr algn="ctr" fontAlgn="ctr">
                        <a:buNone/>
                      </a:pPr>
                      <a:r>
                        <a:rPr lang="pt-BR" sz="900" b="0" i="0" u="none" strike="noStrike" dirty="0" err="1">
                          <a:solidFill>
                            <a:srgbClr val="000000"/>
                          </a:solidFill>
                          <a:effectLst/>
                          <a:latin typeface="Roboto Condensed" pitchFamily="2" charset="0"/>
                          <a:ea typeface="Roboto Condensed" pitchFamily="2" charset="0"/>
                        </a:rPr>
                        <a:t>Orizon</a:t>
                      </a:r>
                      <a:endParaRPr lang="pt-BR" sz="900" b="0" i="0" u="none" strike="noStrike" dirty="0">
                        <a:solidFill>
                          <a:srgbClr val="000000"/>
                        </a:solidFill>
                        <a:effectLst/>
                        <a:latin typeface="Roboto Condensed" pitchFamily="2" charset="0"/>
                        <a:ea typeface="Roboto Condensed" pitchFamily="2" charset="0"/>
                      </a:endParaRP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ORVR3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936126723"/>
                  </a:ext>
                </a:extLst>
              </a:tr>
              <a:tr h="272514">
                <a:tc rowSpan="4">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Financeiro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B3SA3</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7,5%</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528312067"/>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Itaú Unibanco</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ITUB4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10,0%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439244425"/>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BTG Pactual</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BPAC11</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906025285"/>
                  </a:ext>
                </a:extLst>
              </a:tr>
              <a:tr h="272514">
                <a:tc vMerge="1">
                  <a:txBody>
                    <a:bodyPr/>
                    <a:lstStyle/>
                    <a:p>
                      <a:endParaRPr lang="pt-BR"/>
                    </a:p>
                  </a:txBody>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Nubank</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ROXO34</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tc>
                  <a:txBody>
                    <a:bodyPr/>
                    <a:lstStyle/>
                    <a:p>
                      <a:pPr algn="ctr" fontAlgn="ctr">
                        <a:buNone/>
                      </a:pPr>
                      <a:r>
                        <a:rPr lang="pt-BR" sz="900" b="0" i="0" u="none" strike="noStrike" dirty="0">
                          <a:solidFill>
                            <a:srgbClr val="000000"/>
                          </a:solidFill>
                          <a:effectLst/>
                          <a:latin typeface="Roboto Condensed" pitchFamily="2" charset="0"/>
                          <a:ea typeface="Roboto Condensed" pitchFamily="2" charset="0"/>
                        </a:rPr>
                        <a:t>5,0%</a:t>
                      </a:r>
                    </a:p>
                  </a:txBody>
                  <a:tcPr marL="4409" marR="4409" marT="4409" marB="0"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noFill/>
                  </a:tcPr>
                </a:tc>
                <a:extLst>
                  <a:ext uri="{0D108BD9-81ED-4DB2-BD59-A6C34878D82A}">
                    <a16:rowId xmlns:a16="http://schemas.microsoft.com/office/drawing/2014/main" val="1816452979"/>
                  </a:ext>
                </a:extLst>
              </a:tr>
            </a:tbl>
          </a:graphicData>
        </a:graphic>
      </p:graphicFrame>
      <mc:AlternateContent xmlns:mc="http://schemas.openxmlformats.org/markup-compatibility/2006">
        <mc:Choice xmlns:cx1="http://schemas.microsoft.com/office/drawing/2015/9/8/chartex" Requires="cx1">
          <p:graphicFrame>
            <p:nvGraphicFramePr>
              <p:cNvPr id="4" name="Chart 3">
                <a:extLst>
                  <a:ext uri="{FF2B5EF4-FFF2-40B4-BE49-F238E27FC236}">
                    <a16:creationId xmlns:a16="http://schemas.microsoft.com/office/drawing/2014/main" id="{3777E7EA-7C7D-A56D-D3DC-7DC78FEC9DB4}"/>
                  </a:ext>
                </a:extLst>
              </p:cNvPr>
              <p:cNvGraphicFramePr/>
              <p:nvPr>
                <p:extLst>
                  <p:ext uri="{D42A27DB-BD31-4B8C-83A1-F6EECF244321}">
                    <p14:modId xmlns:p14="http://schemas.microsoft.com/office/powerpoint/2010/main" val="2067184380"/>
                  </p:ext>
                </p:extLst>
              </p:nvPr>
            </p:nvGraphicFramePr>
            <p:xfrm>
              <a:off x="229019" y="1577319"/>
              <a:ext cx="6148714" cy="2366991"/>
            </p:xfrm>
            <a:graphic>
              <a:graphicData uri="http://schemas.microsoft.com/office/drawing/2014/chartex">
                <cx:chart xmlns:cx="http://schemas.microsoft.com/office/drawing/2014/chartex" xmlns:r="http://schemas.openxmlformats.org/officeDocument/2006/relationships" r:id="rId6"/>
              </a:graphicData>
            </a:graphic>
          </p:graphicFrame>
        </mc:Choice>
        <mc:Fallback>
          <p:pic>
            <p:nvPicPr>
              <p:cNvPr id="4" name="Chart 3">
                <a:extLst>
                  <a:ext uri="{FF2B5EF4-FFF2-40B4-BE49-F238E27FC236}">
                    <a16:creationId xmlns:a16="http://schemas.microsoft.com/office/drawing/2014/main" id="{3777E7EA-7C7D-A56D-D3DC-7DC78FEC9DB4}"/>
                  </a:ext>
                </a:extLst>
              </p:cNvPr>
              <p:cNvPicPr>
                <a:picLocks noGrp="1" noRot="1" noChangeAspect="1" noMove="1" noResize="1" noEditPoints="1" noAdjustHandles="1" noChangeArrowheads="1" noChangeShapeType="1"/>
              </p:cNvPicPr>
              <p:nvPr/>
            </p:nvPicPr>
            <p:blipFill>
              <a:blip r:embed="rId7"/>
              <a:stretch>
                <a:fillRect/>
              </a:stretch>
            </p:blipFill>
            <p:spPr>
              <a:xfrm>
                <a:off x="229019" y="1577319"/>
                <a:ext cx="6148714" cy="2366991"/>
              </a:xfrm>
              <a:prstGeom prst="rect">
                <a:avLst/>
              </a:prstGeom>
            </p:spPr>
          </p:pic>
        </mc:Fallback>
      </mc:AlternateContent>
    </p:spTree>
    <p:extLst>
      <p:ext uri="{BB962C8B-B14F-4D97-AF65-F5344CB8AC3E}">
        <p14:creationId xmlns:p14="http://schemas.microsoft.com/office/powerpoint/2010/main" val="9291630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object 2"/>
          <p:cNvSpPr/>
          <p:nvPr/>
        </p:nvSpPr>
        <p:spPr>
          <a:xfrm>
            <a:off x="740663" y="9547859"/>
            <a:ext cx="0" cy="202565"/>
          </a:xfrm>
          <a:custGeom>
            <a:avLst/>
            <a:gdLst/>
            <a:ahLst/>
            <a:cxnLst/>
            <a:rect l="l" t="t" r="r" b="b"/>
            <a:pathLst>
              <a:path h="202565">
                <a:moveTo>
                  <a:pt x="0" y="202031"/>
                </a:moveTo>
                <a:lnTo>
                  <a:pt x="0" y="0"/>
                </a:lnTo>
              </a:path>
            </a:pathLst>
          </a:custGeom>
          <a:ln w="6350">
            <a:solidFill>
              <a:srgbClr val="74797B"/>
            </a:solidFill>
          </a:ln>
        </p:spPr>
        <p:txBody>
          <a:bodyPr wrap="square" lIns="0" tIns="0" rIns="0" bIns="0" rtlCol="0"/>
          <a:lstStyle/>
          <a:p>
            <a:endParaRPr/>
          </a:p>
        </p:txBody>
      </p:sp>
      <p:sp>
        <p:nvSpPr>
          <p:cNvPr id="3" name="object 3"/>
          <p:cNvSpPr/>
          <p:nvPr/>
        </p:nvSpPr>
        <p:spPr>
          <a:xfrm>
            <a:off x="368808" y="9526523"/>
            <a:ext cx="269875" cy="243840"/>
          </a:xfrm>
          <a:custGeom>
            <a:avLst/>
            <a:gdLst/>
            <a:ahLst/>
            <a:cxnLst/>
            <a:rect l="l" t="t" r="r" b="b"/>
            <a:pathLst>
              <a:path w="269875" h="243840">
                <a:moveTo>
                  <a:pt x="237070" y="0"/>
                </a:moveTo>
                <a:lnTo>
                  <a:pt x="32677" y="0"/>
                </a:lnTo>
                <a:lnTo>
                  <a:pt x="18479" y="2079"/>
                </a:lnTo>
                <a:lnTo>
                  <a:pt x="8256" y="8274"/>
                </a:lnTo>
                <a:lnTo>
                  <a:pt x="2075" y="18516"/>
                </a:lnTo>
                <a:lnTo>
                  <a:pt x="0" y="32740"/>
                </a:lnTo>
                <a:lnTo>
                  <a:pt x="51" y="211454"/>
                </a:lnTo>
                <a:lnTo>
                  <a:pt x="2075" y="225323"/>
                </a:lnTo>
                <a:lnTo>
                  <a:pt x="8256" y="235565"/>
                </a:lnTo>
                <a:lnTo>
                  <a:pt x="18479" y="241760"/>
                </a:lnTo>
                <a:lnTo>
                  <a:pt x="32677" y="243839"/>
                </a:lnTo>
                <a:lnTo>
                  <a:pt x="170332" y="243839"/>
                </a:lnTo>
                <a:lnTo>
                  <a:pt x="170332" y="236880"/>
                </a:lnTo>
                <a:lnTo>
                  <a:pt x="171135" y="228682"/>
                </a:lnTo>
                <a:lnTo>
                  <a:pt x="173631" y="222248"/>
                </a:lnTo>
                <a:lnTo>
                  <a:pt x="177951" y="217383"/>
                </a:lnTo>
                <a:lnTo>
                  <a:pt x="184226" y="213893"/>
                </a:lnTo>
                <a:lnTo>
                  <a:pt x="184226" y="213194"/>
                </a:lnTo>
                <a:lnTo>
                  <a:pt x="63969" y="213194"/>
                </a:lnTo>
                <a:lnTo>
                  <a:pt x="63969" y="212140"/>
                </a:lnTo>
                <a:lnTo>
                  <a:pt x="65011" y="211099"/>
                </a:lnTo>
                <a:lnTo>
                  <a:pt x="104635" y="172440"/>
                </a:lnTo>
                <a:lnTo>
                  <a:pt x="64312" y="133413"/>
                </a:lnTo>
                <a:lnTo>
                  <a:pt x="63271" y="132372"/>
                </a:lnTo>
                <a:lnTo>
                  <a:pt x="63501" y="131673"/>
                </a:lnTo>
                <a:lnTo>
                  <a:pt x="63614" y="131330"/>
                </a:lnTo>
                <a:lnTo>
                  <a:pt x="269748" y="131330"/>
                </a:lnTo>
                <a:lnTo>
                  <a:pt x="269748" y="32740"/>
                </a:lnTo>
                <a:lnTo>
                  <a:pt x="267672" y="18516"/>
                </a:lnTo>
                <a:lnTo>
                  <a:pt x="261491" y="8274"/>
                </a:lnTo>
                <a:lnTo>
                  <a:pt x="251268" y="2079"/>
                </a:lnTo>
                <a:lnTo>
                  <a:pt x="237070" y="0"/>
                </a:lnTo>
                <a:close/>
              </a:path>
              <a:path w="269875" h="243840">
                <a:moveTo>
                  <a:pt x="269735" y="188455"/>
                </a:moveTo>
                <a:lnTo>
                  <a:pt x="269029" y="188455"/>
                </a:lnTo>
                <a:lnTo>
                  <a:pt x="262627" y="200248"/>
                </a:lnTo>
                <a:lnTo>
                  <a:pt x="253184" y="207870"/>
                </a:lnTo>
                <a:lnTo>
                  <a:pt x="241326" y="211963"/>
                </a:lnTo>
                <a:lnTo>
                  <a:pt x="227530" y="213194"/>
                </a:lnTo>
                <a:lnTo>
                  <a:pt x="196723" y="213194"/>
                </a:lnTo>
                <a:lnTo>
                  <a:pt x="196380" y="213537"/>
                </a:lnTo>
                <a:lnTo>
                  <a:pt x="196380" y="243839"/>
                </a:lnTo>
                <a:lnTo>
                  <a:pt x="237058" y="243839"/>
                </a:lnTo>
                <a:lnTo>
                  <a:pt x="269327" y="213893"/>
                </a:lnTo>
                <a:lnTo>
                  <a:pt x="269429" y="213194"/>
                </a:lnTo>
                <a:lnTo>
                  <a:pt x="269479" y="212851"/>
                </a:lnTo>
                <a:lnTo>
                  <a:pt x="269583" y="212140"/>
                </a:lnTo>
                <a:lnTo>
                  <a:pt x="269683" y="211454"/>
                </a:lnTo>
                <a:lnTo>
                  <a:pt x="269735" y="188455"/>
                </a:lnTo>
                <a:close/>
              </a:path>
              <a:path w="269875" h="243840">
                <a:moveTo>
                  <a:pt x="121323" y="190550"/>
                </a:moveTo>
                <a:lnTo>
                  <a:pt x="100469" y="211797"/>
                </a:lnTo>
                <a:lnTo>
                  <a:pt x="99415" y="212851"/>
                </a:lnTo>
                <a:lnTo>
                  <a:pt x="98729" y="213194"/>
                </a:lnTo>
                <a:lnTo>
                  <a:pt x="143560" y="213194"/>
                </a:lnTo>
                <a:lnTo>
                  <a:pt x="142887" y="212851"/>
                </a:lnTo>
                <a:lnTo>
                  <a:pt x="141478" y="211454"/>
                </a:lnTo>
                <a:lnTo>
                  <a:pt x="121323" y="190550"/>
                </a:lnTo>
                <a:close/>
              </a:path>
              <a:path w="269875" h="243840">
                <a:moveTo>
                  <a:pt x="170319" y="142138"/>
                </a:moveTo>
                <a:lnTo>
                  <a:pt x="139039" y="172440"/>
                </a:lnTo>
                <a:lnTo>
                  <a:pt x="170319" y="202742"/>
                </a:lnTo>
                <a:lnTo>
                  <a:pt x="170319" y="142138"/>
                </a:lnTo>
                <a:close/>
              </a:path>
              <a:path w="269875" h="243840">
                <a:moveTo>
                  <a:pt x="238455" y="156413"/>
                </a:moveTo>
                <a:lnTo>
                  <a:pt x="196392" y="156413"/>
                </a:lnTo>
                <a:lnTo>
                  <a:pt x="196392" y="188455"/>
                </a:lnTo>
                <a:lnTo>
                  <a:pt x="238455" y="188455"/>
                </a:lnTo>
                <a:lnTo>
                  <a:pt x="246456" y="183235"/>
                </a:lnTo>
                <a:lnTo>
                  <a:pt x="246456" y="161632"/>
                </a:lnTo>
                <a:lnTo>
                  <a:pt x="238455" y="156413"/>
                </a:lnTo>
                <a:close/>
              </a:path>
              <a:path w="269875" h="243840">
                <a:moveTo>
                  <a:pt x="269748" y="131330"/>
                </a:moveTo>
                <a:lnTo>
                  <a:pt x="227342" y="131330"/>
                </a:lnTo>
                <a:lnTo>
                  <a:pt x="242071" y="132714"/>
                </a:lnTo>
                <a:lnTo>
                  <a:pt x="241212" y="132714"/>
                </a:lnTo>
                <a:lnTo>
                  <a:pt x="252891" y="136818"/>
                </a:lnTo>
                <a:lnTo>
                  <a:pt x="262536" y="144559"/>
                </a:lnTo>
                <a:lnTo>
                  <a:pt x="269049" y="156413"/>
                </a:lnTo>
                <a:lnTo>
                  <a:pt x="269748" y="156413"/>
                </a:lnTo>
                <a:lnTo>
                  <a:pt x="269748" y="131330"/>
                </a:lnTo>
                <a:close/>
              </a:path>
              <a:path w="269875" h="243840">
                <a:moveTo>
                  <a:pt x="144259" y="131330"/>
                </a:moveTo>
                <a:lnTo>
                  <a:pt x="98374" y="131330"/>
                </a:lnTo>
                <a:lnTo>
                  <a:pt x="99072" y="131673"/>
                </a:lnTo>
                <a:lnTo>
                  <a:pt x="122021" y="154660"/>
                </a:lnTo>
                <a:lnTo>
                  <a:pt x="142519" y="132714"/>
                </a:lnTo>
                <a:lnTo>
                  <a:pt x="143573" y="131673"/>
                </a:lnTo>
                <a:lnTo>
                  <a:pt x="144259" y="131330"/>
                </a:lnTo>
                <a:close/>
              </a:path>
            </a:pathLst>
          </a:custGeom>
          <a:solidFill>
            <a:srgbClr val="17181A"/>
          </a:solidFill>
        </p:spPr>
        <p:txBody>
          <a:bodyPr wrap="square" lIns="0" tIns="0" rIns="0" bIns="0" rtlCol="0"/>
          <a:lstStyle/>
          <a:p>
            <a:endParaRPr/>
          </a:p>
        </p:txBody>
      </p:sp>
      <p:sp>
        <p:nvSpPr>
          <p:cNvPr id="4" name="object 4"/>
          <p:cNvSpPr txBox="1"/>
          <p:nvPr/>
        </p:nvSpPr>
        <p:spPr>
          <a:xfrm>
            <a:off x="377443" y="400304"/>
            <a:ext cx="1351915" cy="208279"/>
          </a:xfrm>
          <a:prstGeom prst="rect">
            <a:avLst/>
          </a:prstGeom>
        </p:spPr>
        <p:txBody>
          <a:bodyPr vert="horz" wrap="square" lIns="0" tIns="12700" rIns="0" bIns="0" rtlCol="0">
            <a:spAutoFit/>
          </a:bodyPr>
          <a:lstStyle/>
          <a:p>
            <a:pPr marL="12700">
              <a:lnSpc>
                <a:spcPct val="100000"/>
              </a:lnSpc>
              <a:spcBef>
                <a:spcPts val="100"/>
              </a:spcBef>
            </a:pPr>
            <a:r>
              <a:rPr sz="1200" spc="-20">
                <a:solidFill>
                  <a:srgbClr val="3E3E3E"/>
                </a:solidFill>
                <a:latin typeface="Trebuchet MS"/>
                <a:cs typeface="Trebuchet MS"/>
              </a:rPr>
              <a:t>Estratégia</a:t>
            </a:r>
            <a:r>
              <a:rPr sz="1200" spc="-25">
                <a:solidFill>
                  <a:srgbClr val="3E3E3E"/>
                </a:solidFill>
                <a:latin typeface="Trebuchet MS"/>
                <a:cs typeface="Trebuchet MS"/>
              </a:rPr>
              <a:t> </a:t>
            </a:r>
            <a:r>
              <a:rPr sz="1200" spc="-20">
                <a:solidFill>
                  <a:srgbClr val="3E3E3E"/>
                </a:solidFill>
                <a:latin typeface="Trebuchet MS"/>
                <a:cs typeface="Trebuchet MS"/>
              </a:rPr>
              <a:t>de</a:t>
            </a:r>
            <a:r>
              <a:rPr sz="1200" spc="-45">
                <a:solidFill>
                  <a:srgbClr val="3E3E3E"/>
                </a:solidFill>
                <a:latin typeface="Trebuchet MS"/>
                <a:cs typeface="Trebuchet MS"/>
              </a:rPr>
              <a:t> </a:t>
            </a:r>
            <a:r>
              <a:rPr sz="1200" spc="-20">
                <a:solidFill>
                  <a:srgbClr val="3E3E3E"/>
                </a:solidFill>
                <a:latin typeface="Trebuchet MS"/>
                <a:cs typeface="Trebuchet MS"/>
              </a:rPr>
              <a:t>Ações</a:t>
            </a:r>
            <a:endParaRPr sz="1200">
              <a:latin typeface="Trebuchet MS"/>
              <a:cs typeface="Trebuchet MS"/>
            </a:endParaRPr>
          </a:p>
        </p:txBody>
      </p:sp>
      <p:sp>
        <p:nvSpPr>
          <p:cNvPr id="5" name="object 5"/>
          <p:cNvSpPr txBox="1"/>
          <p:nvPr/>
        </p:nvSpPr>
        <p:spPr>
          <a:xfrm>
            <a:off x="377443" y="760602"/>
            <a:ext cx="6036945" cy="6796091"/>
          </a:xfrm>
          <a:prstGeom prst="rect">
            <a:avLst/>
          </a:prstGeom>
        </p:spPr>
        <p:txBody>
          <a:bodyPr vert="horz" wrap="square" lIns="0" tIns="12065" rIns="0" bIns="0" rtlCol="0">
            <a:spAutoFit/>
          </a:bodyPr>
          <a:lstStyle/>
          <a:p>
            <a:pPr marL="12700">
              <a:lnSpc>
                <a:spcPct val="100000"/>
              </a:lnSpc>
              <a:spcBef>
                <a:spcPts val="95"/>
              </a:spcBef>
            </a:pPr>
            <a:r>
              <a:rPr sz="1900" b="1" spc="-10" dirty="0">
                <a:solidFill>
                  <a:srgbClr val="17181A"/>
                </a:solidFill>
                <a:latin typeface="Trebuchet MS" panose="020B0603020202020204" pitchFamily="34" charset="0"/>
                <a:cs typeface="Trebuchet MS"/>
              </a:rPr>
              <a:t>Disclaimer</a:t>
            </a:r>
            <a:endParaRPr lang="pt-BR" sz="1900" b="1" spc="-10" dirty="0">
              <a:solidFill>
                <a:srgbClr val="17181A"/>
              </a:solidFill>
              <a:latin typeface="Trebuchet MS" panose="020B0603020202020204" pitchFamily="34" charset="0"/>
              <a:cs typeface="Trebuchet MS"/>
            </a:endParaRPr>
          </a:p>
          <a:p>
            <a:pPr marL="12700">
              <a:lnSpc>
                <a:spcPct val="100000"/>
              </a:lnSpc>
              <a:spcBef>
                <a:spcPts val="95"/>
              </a:spcBef>
            </a:pPr>
            <a:endParaRPr lang="pt-BR" sz="1900" b="1" spc="-10" dirty="0">
              <a:solidFill>
                <a:srgbClr val="17181A"/>
              </a:solidFill>
              <a:latin typeface="Trebuchet MS" panose="020B0603020202020204" pitchFamily="34" charset="0"/>
              <a:cs typeface="Trebuchet MS"/>
            </a:endParaRPr>
          </a:p>
          <a:p>
            <a:pPr marL="457200" lvl="0" indent="-457200">
              <a:buFont typeface="+mj-lt"/>
              <a:buAutoNum type="arabicPeriod"/>
            </a:pPr>
            <a:r>
              <a:rPr lang="pt-BR" sz="600" dirty="0">
                <a:latin typeface="Trebuchet MS" panose="020B0603020202020204" pitchFamily="34" charset="0"/>
              </a:rPr>
              <a:t>Este relatório de análise foi elaborado pela XP Investimentos CCTVM S.A. (“XP Investimentos ou XP”) de acordo com todas as exigências previstas na Resolução CVM 20/2021, tem como objetivo fornecer informações que possam auxiliar o investidor a tomar sua própria decisão de investimento, não constituindo qualquer tipo de oferta ou solicitação de compra e/ou venda de qualquer produto. As informações contidas neste relatório são consideradas válidas na data de sua divulgação e foram obtidas de fontes públicas. A XP Investimentos não se responsabiliza por qualquer decisão tomada pelo cliente com base no presente relatório. </a:t>
            </a:r>
          </a:p>
          <a:p>
            <a:pPr marL="457200" lvl="0" indent="-457200">
              <a:buFont typeface="+mj-lt"/>
              <a:buAutoNum type="arabicPeriod"/>
            </a:pPr>
            <a:r>
              <a:rPr lang="pt-BR" sz="600" dirty="0">
                <a:latin typeface="Trebuchet MS" panose="020B0603020202020204" pitchFamily="34" charset="0"/>
              </a:rPr>
              <a:t>Este relatório foi elaborado considerando a classificação de risco dos produtos de modo a gerar resultados de alocação para cada perfil de investidor. </a:t>
            </a:r>
          </a:p>
          <a:p>
            <a:pPr marL="457200" lvl="0" indent="-457200">
              <a:buFont typeface="+mj-lt"/>
              <a:buAutoNum type="arabicPeriod"/>
            </a:pPr>
            <a:r>
              <a:rPr lang="pt-BR" sz="600" dirty="0">
                <a:latin typeface="Trebuchet MS" panose="020B0603020202020204" pitchFamily="34" charset="0"/>
              </a:rPr>
              <a:t>O(s) signatário(s) deste relatório declara(m) que as recomendações refletem única e exclusivamente suas análises e opiniões pessoais, que foram produzidas de forma independente, inclusive em relação à XP Investimentos e que estão sujeitas a modificações sem aviso prévio em decorrência de alterações nas condições de mercado, e que sua(s) remuneração(es) é(são) indiretamente influenciada por receitas provenientes dos negócios e operações financeiras realizadas pela XP Investimentos. </a:t>
            </a:r>
          </a:p>
          <a:p>
            <a:pPr marL="457200" lvl="0" indent="-457200">
              <a:buFont typeface="+mj-lt"/>
              <a:buAutoNum type="arabicPeriod"/>
            </a:pPr>
            <a:r>
              <a:rPr lang="pt-BR" sz="600" dirty="0">
                <a:latin typeface="Trebuchet MS" panose="020B0603020202020204" pitchFamily="34" charset="0"/>
              </a:rPr>
              <a:t>O analista responsável pelo conteúdo deste relatório e pelo cumprimento da Resolução CVM nº 20/2021 está indicado acima, sendo que, caso constem a indicação de mais um analista no relatório, o responsável será o primeiro analista credenciado a ser mencionado no relatório.  </a:t>
            </a:r>
          </a:p>
          <a:p>
            <a:pPr marL="457200" lvl="0" indent="-457200">
              <a:buFont typeface="+mj-lt"/>
              <a:buAutoNum type="arabicPeriod"/>
            </a:pPr>
            <a:r>
              <a:rPr lang="pt-BR" sz="600" dirty="0">
                <a:latin typeface="Trebuchet MS" panose="020B0603020202020204" pitchFamily="34" charset="0"/>
              </a:rPr>
              <a:t>Os analistas da XP Investimentos estão obrigados ao cumprimento de todas as regras previstas no Código de Conduta da APIMEC Brasil para o Analista de Valores Mobiliários e na Política de Conduta dos Analistas de Valores Mobiliários da XP Investimentos.  </a:t>
            </a:r>
          </a:p>
          <a:p>
            <a:pPr marL="457200" lvl="0" indent="-457200">
              <a:buFont typeface="+mj-lt"/>
              <a:buAutoNum type="arabicPeriod"/>
            </a:pPr>
            <a:r>
              <a:rPr lang="pt-BR" sz="600" dirty="0">
                <a:latin typeface="Trebuchet MS" panose="020B0603020202020204" pitchFamily="34" charset="0"/>
              </a:rPr>
              <a:t>O atendimento de nossos clientes é realizado por empregados da XP Investimentos ou por assessores de investimento que desempenham suas atividades por meio da XP, em conformidade com a Resolução CVM nº 178/2023, os quais encontram-se registrados na Associação Nacional das Corretoras e Distribuidoras de Títulos e Valores Mobiliários – ANCORD. O assessor de investimento não pode realizar consultoria, administração ou gestão de patrimônio de clientes, devendo atuar como intermediário e solicitar autorização prévia do cliente para a realização de qualquer operação no mercado de capitais. </a:t>
            </a:r>
          </a:p>
          <a:p>
            <a:pPr marL="457200" lvl="0" indent="-457200">
              <a:buFont typeface="+mj-lt"/>
              <a:buAutoNum type="arabicPeriod"/>
            </a:pPr>
            <a:r>
              <a:rPr lang="pt-BR" sz="600" dirty="0">
                <a:latin typeface="Trebuchet MS" panose="020B0603020202020204" pitchFamily="34" charset="0"/>
              </a:rPr>
              <a:t>Para fins de verificação da adequação do perfil do investidor aos serviços e produtos de investimento oferecidos pela XP Investimentos, utilizamos a metodologia de adequação dos produtos por portfólio, nos termos das Regras e Procedimentos ANBIMA de </a:t>
            </a:r>
            <a:r>
              <a:rPr lang="pt-BR" sz="600" dirty="0" err="1">
                <a:latin typeface="Trebuchet MS" panose="020B0603020202020204" pitchFamily="34" charset="0"/>
              </a:rPr>
              <a:t>Suitability</a:t>
            </a:r>
            <a:r>
              <a:rPr lang="pt-BR" sz="600" dirty="0">
                <a:latin typeface="Trebuchet MS" panose="020B0603020202020204" pitchFamily="34" charset="0"/>
              </a:rPr>
              <a:t> nº 01 e do Código ANBIMA de Distribuição de Produtos de Investimento. Essa metodologia consiste em atribuir uma pontuação máxima de risco para cada perfil de investidor (conservador, moderado e agressivo), bem como uma pontuação de risco para cada um dos produtos oferecidos pela XP Investimentos, de modo que todos os clientes possam ter acesso a todos os produtos, desde que dentro das quantidades e limites da pontuação de risco definidas para o seu perfil. Antes de aplicar nos produtos e/ou contratar os serviços objeto deste material, é importante que você verifique se a sua pontuação de risco atual comporta a aplicação nos produtos e/ou a contratação dos serviços em questão, bem como se há limitações de volume, concentração e/ou quantidade para a aplicação desejada. Você pode consultar essas informações diretamente no momento da transmissão da sua ordem ou, ainda, consultando o risco geral da sua carteira na tela de carteira (Visão Risco). Caso a sua pontuação de risco atual não comporte a aplicação/contratação pretendida, ou caso existam limitações em relação à quantidade e/ou volume financeiro para a referida aplicação/contratação, isto significa que, com base na composição atual da sua carteira, esta aplicação/contratação não está adequada ao seu perfil. Em caso de dúvidas sobre o processo de adequação dos produtos oferecidos pela XP Investimentos ao seu perfil de investidor, consulte o FAQ. As condições de mercado, mudanças climáticas e o cenário macroeconômico podem afetar o desempenho do investimento.</a:t>
            </a:r>
          </a:p>
          <a:p>
            <a:pPr marL="457200" lvl="0" indent="-457200">
              <a:buFont typeface="+mj-lt"/>
              <a:buAutoNum type="arabicPeriod"/>
            </a:pPr>
            <a:r>
              <a:rPr lang="pt-BR" sz="600" dirty="0">
                <a:latin typeface="Trebuchet MS" panose="020B0603020202020204" pitchFamily="34" charset="0"/>
              </a:rPr>
              <a:t>A rentabilidade de produtos financeiros pode apresentar variações e seu preço ou valor pode aumentar ou diminuir num curto espaço de tempo. Os desempenhos anteriores não são necessariamente indicativos de resultados futuros. A rentabilidade divulgada não é líquida de impostos. As informações presentes neste material são baseadas em simulações e os resultados reais poderão ser significativamente diferentes. </a:t>
            </a:r>
          </a:p>
          <a:p>
            <a:pPr marL="457200" lvl="0" indent="-457200">
              <a:buFont typeface="+mj-lt"/>
              <a:buAutoNum type="arabicPeriod"/>
            </a:pPr>
            <a:r>
              <a:rPr lang="pt-BR" sz="600" dirty="0">
                <a:latin typeface="Trebuchet MS" panose="020B0603020202020204" pitchFamily="34" charset="0"/>
              </a:rPr>
              <a:t>Este relatório é destinado à circulação exclusiva para a rede de relacionamento da XP Investimentos, incluindo assessores de investimentos da XP e clientes da XP, podendo também ser divulgado no site da XP. Fica proibida sua reprodução ou redistribuição para qualquer pessoa, no todo ou em parte, qualquer que seja o propósito, sem o prévio consentimento expresso da XP Investimentos. </a:t>
            </a:r>
          </a:p>
          <a:p>
            <a:pPr marL="457200" lvl="0" indent="-457200">
              <a:buFont typeface="+mj-lt"/>
              <a:buAutoNum type="arabicPeriod"/>
            </a:pPr>
            <a:r>
              <a:rPr lang="pt-BR" sz="600" dirty="0">
                <a:latin typeface="Trebuchet MS" panose="020B0603020202020204" pitchFamily="34" charset="0"/>
              </a:rPr>
              <a:t>SAC. 0800 77 20202. A Ouvidoria da XP Investimentos tem a missão de servir de canal de contato sempre que os clientes que não se sentirem satisfeitos com as soluções dadas pela empresa aos seus problemas. O contato pode ser realizado por meio do telefone: 0800 722 3710. </a:t>
            </a:r>
          </a:p>
          <a:p>
            <a:pPr marL="457200" lvl="0" indent="-457200">
              <a:buFont typeface="+mj-lt"/>
              <a:buAutoNum type="arabicPeriod"/>
            </a:pPr>
            <a:r>
              <a:rPr lang="pt-BR" sz="600" dirty="0">
                <a:latin typeface="Trebuchet MS" panose="020B0603020202020204" pitchFamily="34" charset="0"/>
              </a:rPr>
              <a:t>O custo da operação e a política de cobrança estão definidos nas tabelas de custos operacionais disponibilizadas no site da XP Investimentos: www.xpi.com.br. </a:t>
            </a:r>
          </a:p>
          <a:p>
            <a:pPr marL="457200" lvl="0" indent="-457200">
              <a:buFont typeface="+mj-lt"/>
              <a:buAutoNum type="arabicPeriod"/>
            </a:pPr>
            <a:r>
              <a:rPr lang="pt-BR" sz="600" dirty="0">
                <a:latin typeface="Trebuchet MS" panose="020B0603020202020204" pitchFamily="34" charset="0"/>
              </a:rPr>
              <a:t>A XP Investimentos se exime de qualquer responsabilidade por quaisquer prejuízos, diretos ou indiretos, que venham a decorrer da utilização deste relatório ou seu conteúdo. </a:t>
            </a:r>
          </a:p>
          <a:p>
            <a:pPr marL="457200" lvl="0" indent="-457200">
              <a:buFont typeface="+mj-lt"/>
              <a:buAutoNum type="arabicPeriod"/>
            </a:pPr>
            <a:r>
              <a:rPr lang="pt-BR" sz="600" dirty="0">
                <a:latin typeface="Trebuchet MS" panose="020B0603020202020204" pitchFamily="34" charset="0"/>
              </a:rPr>
              <a:t>A Avaliação Técnica e a Avaliação de Fundamentos seguem diferentes metodologias de análise. A Análise Técnica é executada seguindo conceitos como tendência, suporte, resistência, </a:t>
            </a:r>
            <a:r>
              <a:rPr lang="pt-BR" sz="600" dirty="0" err="1">
                <a:latin typeface="Trebuchet MS" panose="020B0603020202020204" pitchFamily="34" charset="0"/>
              </a:rPr>
              <a:t>candles</a:t>
            </a:r>
            <a:r>
              <a:rPr lang="pt-BR" sz="600" dirty="0">
                <a:latin typeface="Trebuchet MS" panose="020B0603020202020204" pitchFamily="34" charset="0"/>
              </a:rPr>
              <a:t>, volumes, médias móveis entre outros. Já a Análise Fundamentalista utiliza como informação os resultados divulgados pelas companhias emissoras e suas projeções. Desta forma, as opiniões dos Analistas Fundamentalistas, que buscam os melhores retornos dadas as condições de mercado, o cenário macroeconômico e os eventos específicos da empresa e do setor, podem divergir das opiniões dos Analistas Técnicos, que visam identificar os movimentos mais prováveis dos preços dos ativos, com utilização de “</a:t>
            </a:r>
            <a:r>
              <a:rPr lang="pt-BR" sz="600" dirty="0" err="1">
                <a:latin typeface="Trebuchet MS" panose="020B0603020202020204" pitchFamily="34" charset="0"/>
              </a:rPr>
              <a:t>stops</a:t>
            </a:r>
            <a:r>
              <a:rPr lang="pt-BR" sz="600" dirty="0">
                <a:latin typeface="Trebuchet MS" panose="020B0603020202020204" pitchFamily="34" charset="0"/>
              </a:rPr>
              <a:t>” para limitar as possíveis perdas.  </a:t>
            </a:r>
          </a:p>
          <a:p>
            <a:pPr marL="457200" lvl="0" indent="-457200">
              <a:buFont typeface="+mj-lt"/>
              <a:buAutoNum type="arabicPeriod"/>
            </a:pPr>
            <a:r>
              <a:rPr lang="pt-BR" sz="600" dirty="0">
                <a:latin typeface="Trebuchet MS" panose="020B0603020202020204" pitchFamily="34" charset="0"/>
              </a:rPr>
              <a:t>Ação é uma fração do capital de uma empresa que é negociada no mercado. É um título de renda variável, ou seja, um investimento no qual a rentabilidade não é preestabelecida, varia conforme as cotações de mercado. O investimento em ações é um investimento de alto risco e os desempenhos anteriores não são necessariamente indicativos de resultados futuros e nenhuma declaração ou garantia, de forma expressa ou implícita, é feita neste material em relação a desempenhos. As condições de mercado, o cenário macroeconômico, os eventos específicos da empresa e do setor podem afetar o desempenho do investimento, podendo resultar até mesmo em significativas perdas patrimoniais. A duração recomendada para o investimento é de médio-longo prazo. Não há quaisquer garantias sobre o patrimônio do cliente neste tipo de produto.</a:t>
            </a:r>
          </a:p>
          <a:p>
            <a:pPr marL="457200" lvl="0" indent="-457200">
              <a:buFont typeface="+mj-lt"/>
              <a:buAutoNum type="arabicPeriod"/>
            </a:pPr>
            <a:r>
              <a:rPr lang="pt-BR" sz="600" dirty="0">
                <a:latin typeface="Trebuchet MS" panose="020B0603020202020204" pitchFamily="34" charset="0"/>
              </a:rPr>
              <a:t>O investimento em opções é preferencialmente indicado para investidores de perfil agressivo, de acordo com a política de </a:t>
            </a:r>
            <a:r>
              <a:rPr lang="pt-BR" sz="600" dirty="0" err="1">
                <a:latin typeface="Trebuchet MS" panose="020B0603020202020204" pitchFamily="34" charset="0"/>
              </a:rPr>
              <a:t>suitability</a:t>
            </a:r>
            <a:r>
              <a:rPr lang="pt-BR" sz="600" dirty="0">
                <a:latin typeface="Trebuchet MS" panose="020B0603020202020204" pitchFamily="34" charset="0"/>
              </a:rPr>
              <a:t> praticada pela XP Investimentos. No mercado de opções, são negociados direitos de compra ou venda de um bem por preço fixado em data futura, devendo o adquirente do direito negociado pagar um prêmio ao vendedor tal como num acordo seguro. As operações com esses derivativos são consideradas de risco muito alto por apresentarem altas relações de risco e retorno e algumas posições apresentarem a possibilidade de perdas superiores ao capital investido. A duração recomendada para o investimento é de curto prazo e o patrimônio do cliente não está garantido neste tipo de produto.  </a:t>
            </a:r>
          </a:p>
          <a:p>
            <a:pPr marL="457200" lvl="0" indent="-457200">
              <a:buFont typeface="+mj-lt"/>
              <a:buAutoNum type="arabicPeriod"/>
            </a:pPr>
            <a:r>
              <a:rPr lang="pt-BR" sz="600" dirty="0">
                <a:latin typeface="Trebuchet MS" panose="020B0603020202020204" pitchFamily="34" charset="0"/>
              </a:rPr>
              <a:t>O investimento em termos são contratos para compra ou a venda de uma determinada quantidade de ações, a um preço fixado, para liquidação em prazo determinado. O prazo do contrato a Termo é livremente escolhido pelos investidores, obedecendo o prazo mínimo de 16 dias e máximo de 999 dias corridos. O preço será o valor da ação adicionado de uma parcela correspondente aos juros – que são fixados livremente em mercado, em função do prazo do contrato. Toda transação a termo requer um depósito de garantia. Essas garantias são prestadas em duas formas: cobertura ou margem. </a:t>
            </a:r>
          </a:p>
          <a:p>
            <a:pPr marL="457200" lvl="0" indent="-457200">
              <a:buFont typeface="+mj-lt"/>
              <a:buAutoNum type="arabicPeriod"/>
            </a:pPr>
            <a:r>
              <a:rPr lang="pt-BR" sz="600" dirty="0">
                <a:latin typeface="Trebuchet MS" panose="020B0603020202020204" pitchFamily="34" charset="0"/>
              </a:rPr>
              <a:t>O investimento em Mercados Futuros embute riscos de perdas patrimoniais significativos. Commodity é um objeto ou determinante de preço de um contrato futuro ou outro instrumento derivativo, podendo consubstanciar um índice, uma taxa, um valor mobiliário ou produto físico. É um investimento de risco muito alto, que contempla a possibilidade de oscilação de preço devido à utilização de alavancagem financeira. A duração recomendada para o investimento é de curto prazo e o patrimônio do cliente não está garantido neste tipo de produto. As condições de mercado, mudanças climáticas e o cenário macroeconômico podem afetar o desempenho do investimento. </a:t>
            </a:r>
          </a:p>
          <a:p>
            <a:pPr marL="457200" indent="-457200">
              <a:buFont typeface="+mj-lt"/>
              <a:buAutoNum type="arabicPeriod"/>
            </a:pPr>
            <a:r>
              <a:rPr lang="pt-BR" sz="600" dirty="0">
                <a:latin typeface="Trebuchet MS" panose="020B0603020202020204" pitchFamily="34" charset="0"/>
              </a:rPr>
              <a:t>ESTA INSTITUIÇÃO É ADERENTE AO CÓDIGO ANBIMA DE DISTRIBUIÇÃO DE PRODUTOS DE INVESTIMENTO.</a:t>
            </a:r>
            <a:endParaRPr lang="pt-BR" sz="600" dirty="0">
              <a:effectLst/>
              <a:latin typeface="Trebuchet MS" panose="020B0603020202020204" pitchFamily="34" charset="0"/>
              <a:ea typeface="Calibri" panose="020F0502020204030204" pitchFamily="34" charset="0"/>
              <a:cs typeface="Times New Roman" panose="02020603050405020304" pitchFamily="18" charset="0"/>
            </a:endParaRPr>
          </a:p>
        </p:txBody>
      </p:sp>
      <p:sp>
        <p:nvSpPr>
          <p:cNvPr id="6" name="object 6"/>
          <p:cNvSpPr/>
          <p:nvPr/>
        </p:nvSpPr>
        <p:spPr>
          <a:xfrm>
            <a:off x="390143" y="734568"/>
            <a:ext cx="6099810" cy="0"/>
          </a:xfrm>
          <a:custGeom>
            <a:avLst/>
            <a:gdLst/>
            <a:ahLst/>
            <a:cxnLst/>
            <a:rect l="l" t="t" r="r" b="b"/>
            <a:pathLst>
              <a:path w="6099810">
                <a:moveTo>
                  <a:pt x="0" y="0"/>
                </a:moveTo>
                <a:lnTo>
                  <a:pt x="6099556" y="0"/>
                </a:lnTo>
              </a:path>
            </a:pathLst>
          </a:custGeom>
          <a:ln w="6350">
            <a:solidFill>
              <a:srgbClr val="000000"/>
            </a:solidFill>
          </a:ln>
        </p:spPr>
        <p:txBody>
          <a:bodyPr wrap="square" lIns="0" tIns="0" rIns="0" bIns="0" rtlCol="0"/>
          <a:lstStyle/>
          <a:p>
            <a:endParaRPr/>
          </a:p>
        </p:txBody>
      </p:sp>
      <p:sp>
        <p:nvSpPr>
          <p:cNvPr id="7" name="object 7"/>
          <p:cNvSpPr txBox="1"/>
          <p:nvPr/>
        </p:nvSpPr>
        <p:spPr>
          <a:xfrm>
            <a:off x="5127752" y="419481"/>
            <a:ext cx="1376045" cy="197490"/>
          </a:xfrm>
          <a:prstGeom prst="rect">
            <a:avLst/>
          </a:prstGeom>
          <a:noFill/>
        </p:spPr>
        <p:txBody>
          <a:bodyPr vert="horz" wrap="square" lIns="0" tIns="12700" rIns="0" bIns="0" rtlCol="0">
            <a:spAutoFit/>
          </a:bodyPr>
          <a:lstStyle/>
          <a:p>
            <a:pPr marL="12700">
              <a:lnSpc>
                <a:spcPct val="100000"/>
              </a:lnSpc>
              <a:spcBef>
                <a:spcPts val="100"/>
              </a:spcBef>
            </a:pPr>
            <a:r>
              <a:rPr lang="pt-BR" sz="1200" dirty="0">
                <a:solidFill>
                  <a:srgbClr val="74797B"/>
                </a:solidFill>
                <a:latin typeface="Trebuchet MS"/>
                <a:cs typeface="Trebuchet MS"/>
              </a:rPr>
              <a:t>1 de Junho de 2026</a:t>
            </a:r>
            <a:endParaRPr sz="1200" dirty="0">
              <a:latin typeface="Trebuchet MS"/>
              <a:cs typeface="Trebuchet MS"/>
            </a:endParaRPr>
          </a:p>
        </p:txBody>
      </p:sp>
      <p:sp>
        <p:nvSpPr>
          <p:cNvPr id="8" name="object 8"/>
          <p:cNvSpPr txBox="1">
            <a:spLocks noGrp="1"/>
          </p:cNvSpPr>
          <p:nvPr>
            <p:ph type="sldNum" sz="quarter" idx="7"/>
          </p:nvPr>
        </p:nvSpPr>
        <p:spPr>
          <a:prstGeom prst="rect">
            <a:avLst/>
          </a:prstGeom>
        </p:spPr>
        <p:txBody>
          <a:bodyPr vert="horz" wrap="square" lIns="0" tIns="5715" rIns="0" bIns="0" rtlCol="0">
            <a:spAutoFit/>
          </a:bodyPr>
          <a:lstStyle/>
          <a:p>
            <a:pPr marL="38100">
              <a:lnSpc>
                <a:spcPct val="100000"/>
              </a:lnSpc>
              <a:spcBef>
                <a:spcPts val="45"/>
              </a:spcBef>
            </a:pPr>
            <a:fld id="{81D60167-4931-47E6-BA6A-407CBD079E47}" type="slidenum">
              <a:rPr spc="-50" dirty="0"/>
              <a:t>3</a:t>
            </a:fld>
            <a:endParaRPr spc="-50"/>
          </a:p>
        </p:txBody>
      </p:sp>
    </p:spTree>
    <p:extLst>
      <p:ext uri="{BB962C8B-B14F-4D97-AF65-F5344CB8AC3E}">
        <p14:creationId xmlns:p14="http://schemas.microsoft.com/office/powerpoint/2010/main" val="178299910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M_SLIDE_TYPE" val="6"/>
</p:tagLst>
</file>

<file path=ppt/theme/theme1.xml><?xml version="1.0" encoding="utf-8"?>
<a:theme xmlns:a="http://schemas.openxmlformats.org/drawingml/2006/main" name="3_Template DGA 16-9">
  <a:themeElements>
    <a:clrScheme name="XP Expert">
      <a:dk1>
        <a:srgbClr val="18191A"/>
      </a:dk1>
      <a:lt1>
        <a:srgbClr val="FFFFFF"/>
      </a:lt1>
      <a:dk2>
        <a:srgbClr val="74797C"/>
      </a:dk2>
      <a:lt2>
        <a:srgbClr val="3F3F3F"/>
      </a:lt2>
      <a:accent1>
        <a:srgbClr val="000000"/>
      </a:accent1>
      <a:accent2>
        <a:srgbClr val="323436"/>
      </a:accent2>
      <a:accent3>
        <a:srgbClr val="FFBC00"/>
      </a:accent3>
      <a:accent4>
        <a:srgbClr val="00D2C5"/>
      </a:accent4>
      <a:accent5>
        <a:srgbClr val="404040"/>
      </a:accent5>
      <a:accent6>
        <a:srgbClr val="7E7E7E"/>
      </a:accent6>
      <a:hlink>
        <a:srgbClr val="ABAAA8"/>
      </a:hlink>
      <a:folHlink>
        <a:srgbClr val="D8D7D6"/>
      </a:folHlink>
    </a:clrScheme>
    <a:fontScheme name="Custom 7">
      <a:majorFont>
        <a:latin typeface="Roboto Light"/>
        <a:ea typeface=""/>
        <a:cs typeface=""/>
      </a:majorFont>
      <a:minorFont>
        <a:latin typeface="Roboto Light"/>
        <a:ea typeface=""/>
        <a:cs typeface=""/>
      </a:minorFont>
    </a:fontScheme>
    <a:fmtScheme name="Escritório">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bg1">
            <a:lumMod val="95000"/>
          </a:schemeClr>
        </a:solidFill>
        <a:ln>
          <a:noFill/>
        </a:ln>
      </a:spPr>
      <a:bodyPr rtlCol="0" anchor="ctr"/>
      <a:lstStyle>
        <a:defPPr algn="ctr">
          <a:defRPr sz="1000" dirty="0">
            <a:solidFill>
              <a:schemeClr val="tx1"/>
            </a:solidFill>
            <a:latin typeface="Roboto" panose="02000000000000000000" pitchFamily="2" charset="0"/>
            <a:ea typeface="Roboto" panose="02000000000000000000" pitchFamily="2" charset="0"/>
            <a:cs typeface="Roboto" panose="02000000000000000000" pitchFamily="2" charset="0"/>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lgn="l">
          <a:defRPr dirty="0" err="1" smtClean="0">
            <a:latin typeface="Roboto" panose="02000000000000000000" pitchFamily="2" charset="0"/>
            <a:ea typeface="Roboto" panose="02000000000000000000" pitchFamily="2" charset="0"/>
            <a:cs typeface="Roboto" panose="02000000000000000000" pitchFamily="2" charset="0"/>
          </a:defRPr>
        </a:defPPr>
      </a:lstStyle>
    </a:txDef>
  </a:objectDefaults>
  <a:extraClrSchemeLst/>
  <a:extLst>
    <a:ext uri="{05A4C25C-085E-4340-85A3-A5531E510DB2}">
      <thm15:themeFamily xmlns:thm15="http://schemas.microsoft.com/office/thememl/2012/main" name="Template DGA 16-9" id="{20AC8966-54B3-4AEB-9F15-2FAC00677CE9}" vid="{A89D11F2-817A-467C-A0C0-7C8864D6590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ABAAA8"/>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Tema do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Tahoma"/>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Tahoma"/>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Override>
</file>

<file path=docProps/app.xml><?xml version="1.0" encoding="utf-8"?>
<Properties xmlns="http://schemas.openxmlformats.org/officeDocument/2006/extended-properties" xmlns:vt="http://schemas.openxmlformats.org/officeDocument/2006/docPropsVTypes">
  <Template>Office Theme</Template>
  <TotalTime>2727</TotalTime>
  <Words>2363</Words>
  <Application>Microsoft Office PowerPoint</Application>
  <PresentationFormat>A4 Paper (210x297 mm)</PresentationFormat>
  <Paragraphs>132</Paragraphs>
  <Slides>3</Slides>
  <Notes>2</Notes>
  <HiddenSlides>0</HiddenSlides>
  <MMClips>0</MMClips>
  <ScaleCrop>false</ScaleCrop>
  <HeadingPairs>
    <vt:vector size="6" baseType="variant">
      <vt:variant>
        <vt:lpstr>Fonts Used</vt:lpstr>
      </vt:variant>
      <vt:variant>
        <vt:i4>7</vt:i4>
      </vt:variant>
      <vt:variant>
        <vt:lpstr>Theme</vt:lpstr>
      </vt:variant>
      <vt:variant>
        <vt:i4>2</vt:i4>
      </vt:variant>
      <vt:variant>
        <vt:lpstr>Slide Titles</vt:lpstr>
      </vt:variant>
      <vt:variant>
        <vt:i4>3</vt:i4>
      </vt:variant>
    </vt:vector>
  </HeadingPairs>
  <TitlesOfParts>
    <vt:vector size="12" baseType="lpstr">
      <vt:lpstr>Aptos</vt:lpstr>
      <vt:lpstr>Arial</vt:lpstr>
      <vt:lpstr>Calibri</vt:lpstr>
      <vt:lpstr>Roboto</vt:lpstr>
      <vt:lpstr>Roboto Condensed</vt:lpstr>
      <vt:lpstr>Roboto Light</vt:lpstr>
      <vt:lpstr>Trebuchet MS</vt:lpstr>
      <vt:lpstr>3_Template DGA 16-9</vt:lpstr>
      <vt:lpstr>Office Theme</vt:lpstr>
      <vt:lpstr>Top Ações XP Research XP Fernando Ferreira, Raphael Figueredo e Caio Souza</vt:lpstr>
      <vt:lpstr>Top Ações XP Research XP Fernando Ferreira, Raphael Figueredo e Caio Souza</vt:lpstr>
      <vt:lpstr>PowerPoint Presentation</vt:lpstr>
    </vt:vector>
  </TitlesOfParts>
  <Company>XP Inc.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Joao Faia</dc:creator>
  <cp:lastModifiedBy>Caio Souza</cp:lastModifiedBy>
  <cp:revision>18</cp:revision>
  <dcterms:created xsi:type="dcterms:W3CDTF">2025-05-08T16:00:11Z</dcterms:created>
  <dcterms:modified xsi:type="dcterms:W3CDTF">2026-07-02T22:26:41Z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e6a9157b-bcf3-4eac-b03e-7cf007ba9fdf_Enabled">
    <vt:lpwstr>true</vt:lpwstr>
  </property>
  <property fmtid="{D5CDD505-2E9C-101B-9397-08002B2CF9AE}" pid="3" name="MSIP_Label_e6a9157b-bcf3-4eac-b03e-7cf007ba9fdf_SetDate">
    <vt:lpwstr>2025-05-08T16:01:18Z</vt:lpwstr>
  </property>
  <property fmtid="{D5CDD505-2E9C-101B-9397-08002B2CF9AE}" pid="4" name="MSIP_Label_e6a9157b-bcf3-4eac-b03e-7cf007ba9fdf_Method">
    <vt:lpwstr>Standard</vt:lpwstr>
  </property>
  <property fmtid="{D5CDD505-2E9C-101B-9397-08002B2CF9AE}" pid="5" name="MSIP_Label_e6a9157b-bcf3-4eac-b03e-7cf007ba9fdf_Name">
    <vt:lpwstr>Publica</vt:lpwstr>
  </property>
  <property fmtid="{D5CDD505-2E9C-101B-9397-08002B2CF9AE}" pid="6" name="MSIP_Label_e6a9157b-bcf3-4eac-b03e-7cf007ba9fdf_SiteId">
    <vt:lpwstr>cf56e405-d2b0-4266-b210-aa04636b6161</vt:lpwstr>
  </property>
  <property fmtid="{D5CDD505-2E9C-101B-9397-08002B2CF9AE}" pid="7" name="MSIP_Label_e6a9157b-bcf3-4eac-b03e-7cf007ba9fdf_ActionId">
    <vt:lpwstr>c403dce8-7fdd-447e-8d9c-9aeac315da6b</vt:lpwstr>
  </property>
  <property fmtid="{D5CDD505-2E9C-101B-9397-08002B2CF9AE}" pid="8" name="MSIP_Label_e6a9157b-bcf3-4eac-b03e-7cf007ba9fdf_ContentBits">
    <vt:lpwstr>2</vt:lpwstr>
  </property>
  <property fmtid="{D5CDD505-2E9C-101B-9397-08002B2CF9AE}" pid="9" name="ClassificationContentMarkingFooterLocations">
    <vt:lpwstr>Tema do Office:8</vt:lpwstr>
  </property>
  <property fmtid="{D5CDD505-2E9C-101B-9397-08002B2CF9AE}" pid="10" name="ClassificationContentMarkingFooterText">
    <vt:lpwstr>[ CLASSIFICAÇÃO: PÚBLICA ]</vt:lpwstr>
  </property>
</Properties>
</file>