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Ex1.xml" ContentType="application/vnd.ms-office.chartex+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media/image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3" r:id="rId1"/>
    <p:sldMasterId id="2147483648" r:id="rId2"/>
  </p:sldMasterIdLst>
  <p:notesMasterIdLst>
    <p:notesMasterId r:id="rId6"/>
  </p:notesMasterIdLst>
  <p:sldIdLst>
    <p:sldId id="269" r:id="rId3"/>
    <p:sldId id="273" r:id="rId4"/>
    <p:sldId id="267" r:id="rId5"/>
  </p:sldIdLst>
  <p:sldSz cx="6858000" cy="9906000" type="A4"/>
  <p:notesSz cx="6858000" cy="9144000"/>
  <p:defaultTextStyle>
    <a:defPPr>
      <a:defRPr lang="en-US"/>
    </a:defPPr>
    <a:lvl1pPr marL="0" algn="l" defTabSz="473926" rtl="0" eaLnBrk="1" latinLnBrk="0" hangingPunct="1">
      <a:defRPr sz="1865" kern="1200">
        <a:solidFill>
          <a:schemeClr val="tx1"/>
        </a:solidFill>
        <a:latin typeface="+mn-lt"/>
        <a:ea typeface="+mn-ea"/>
        <a:cs typeface="+mn-cs"/>
      </a:defRPr>
    </a:lvl1pPr>
    <a:lvl2pPr marL="473926" algn="l" defTabSz="473926" rtl="0" eaLnBrk="1" latinLnBrk="0" hangingPunct="1">
      <a:defRPr sz="1865" kern="1200">
        <a:solidFill>
          <a:schemeClr val="tx1"/>
        </a:solidFill>
        <a:latin typeface="+mn-lt"/>
        <a:ea typeface="+mn-ea"/>
        <a:cs typeface="+mn-cs"/>
      </a:defRPr>
    </a:lvl2pPr>
    <a:lvl3pPr marL="947852" algn="l" defTabSz="473926" rtl="0" eaLnBrk="1" latinLnBrk="0" hangingPunct="1">
      <a:defRPr sz="1865" kern="1200">
        <a:solidFill>
          <a:schemeClr val="tx1"/>
        </a:solidFill>
        <a:latin typeface="+mn-lt"/>
        <a:ea typeface="+mn-ea"/>
        <a:cs typeface="+mn-cs"/>
      </a:defRPr>
    </a:lvl3pPr>
    <a:lvl4pPr marL="1421777" algn="l" defTabSz="473926" rtl="0" eaLnBrk="1" latinLnBrk="0" hangingPunct="1">
      <a:defRPr sz="1865" kern="1200">
        <a:solidFill>
          <a:schemeClr val="tx1"/>
        </a:solidFill>
        <a:latin typeface="+mn-lt"/>
        <a:ea typeface="+mn-ea"/>
        <a:cs typeface="+mn-cs"/>
      </a:defRPr>
    </a:lvl4pPr>
    <a:lvl5pPr marL="1895703" algn="l" defTabSz="473926" rtl="0" eaLnBrk="1" latinLnBrk="0" hangingPunct="1">
      <a:defRPr sz="1865" kern="1200">
        <a:solidFill>
          <a:schemeClr val="tx1"/>
        </a:solidFill>
        <a:latin typeface="+mn-lt"/>
        <a:ea typeface="+mn-ea"/>
        <a:cs typeface="+mn-cs"/>
      </a:defRPr>
    </a:lvl5pPr>
    <a:lvl6pPr marL="2369629" algn="l" defTabSz="473926" rtl="0" eaLnBrk="1" latinLnBrk="0" hangingPunct="1">
      <a:defRPr sz="1865" kern="1200">
        <a:solidFill>
          <a:schemeClr val="tx1"/>
        </a:solidFill>
        <a:latin typeface="+mn-lt"/>
        <a:ea typeface="+mn-ea"/>
        <a:cs typeface="+mn-cs"/>
      </a:defRPr>
    </a:lvl6pPr>
    <a:lvl7pPr marL="2843555" algn="l" defTabSz="473926" rtl="0" eaLnBrk="1" latinLnBrk="0" hangingPunct="1">
      <a:defRPr sz="1865" kern="1200">
        <a:solidFill>
          <a:schemeClr val="tx1"/>
        </a:solidFill>
        <a:latin typeface="+mn-lt"/>
        <a:ea typeface="+mn-ea"/>
        <a:cs typeface="+mn-cs"/>
      </a:defRPr>
    </a:lvl7pPr>
    <a:lvl8pPr marL="3317480" algn="l" defTabSz="473926" rtl="0" eaLnBrk="1" latinLnBrk="0" hangingPunct="1">
      <a:defRPr sz="1865" kern="1200">
        <a:solidFill>
          <a:schemeClr val="tx1"/>
        </a:solidFill>
        <a:latin typeface="+mn-lt"/>
        <a:ea typeface="+mn-ea"/>
        <a:cs typeface="+mn-cs"/>
      </a:defRPr>
    </a:lvl8pPr>
    <a:lvl9pPr marL="3791405" algn="l" defTabSz="473926" rtl="0" eaLnBrk="1" latinLnBrk="0" hangingPunct="1">
      <a:defRPr sz="1865"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A6A6A6"/>
    <a:srgbClr val="CC3333"/>
    <a:srgbClr val="0B844C"/>
    <a:srgbClr val="B6DA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8CCD8F-60A7-44EF-9BE2-EECB5075B632}" v="1" dt="2026-05-15T18:09:43.330"/>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8" autoAdjust="0"/>
    <p:restoredTop sz="96126" autoAdjust="0"/>
  </p:normalViewPr>
  <p:slideViewPr>
    <p:cSldViewPr snapToGrid="0">
      <p:cViewPr>
        <p:scale>
          <a:sx n="98" d="100"/>
          <a:sy n="98" d="100"/>
        </p:scale>
        <p:origin x="2820" y="-93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xpcorretora-my.sharepoint.com/personal/joao_faia_xpi_com_br/Documents/CVP/Estudo%20Carteiras%20Automatizadas/Gr&#225;fico%20Desomposi&#231;&#227;o%20dos%20resultados%20de%20carteira.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_rels/chartEx1.xml.rels><?xml version='1.0' encoding='UTF-8' standalone='yes'?>
<Relationships xmlns="http://schemas.openxmlformats.org/package/2006/relationships"><Relationship Id="rId1" Type="http://schemas.openxmlformats.org/officeDocument/2006/relationships/oleObject" Target="file:///\\xpdocs\Research\Equities\Estrategia\Carteiras\Carteiras%20de%20A&#231;&#245;es%20XP\Charts%20L&#226;mina%20Carteiras.xlsm" TargetMode="External"/><Relationship Id="rId2" Type="http://schemas.microsoft.com/office/2011/relationships/chartStyle" Target="style3.xml"/><Relationship Id="rId3" Type="http://schemas.microsoft.com/office/2011/relationships/chartColorStyle" Target="colors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showLegendKey val="0"/>
          <c:showVal val="0"/>
          <c:showCatName val="0"/>
          <c:showSerName val="0"/>
          <c:showPercent val="0"/>
          <c:showBubbleSize val="0"/>
        </c:dLbls>
        <c:gapWidth val="50"/>
        <c:overlap val="-27"/>
        <c:axId val="260534992"/>
        <c:axId val="260530192"/>
      </c:barChart>
      <c:catAx>
        <c:axId val="260534992"/>
        <c:scaling>
          <c:orientation val="minMax"/>
        </c:scaling>
        <c:delete val="1"/>
        <c:axPos val="b"/>
        <c:numFmt formatCode="General" sourceLinked="0"/>
        <c:majorTickMark val="none"/>
        <c:minorTickMark val="none"/>
        <c:tickLblPos val="nextTo"/>
        <c:crossAx val="260530192"/>
        <c:crosses val="autoZero"/>
        <c:auto val="1"/>
        <c:lblAlgn val="ctr"/>
        <c:lblOffset val="100"/>
        <c:noMultiLvlLbl val="0"/>
      </c:catAx>
      <c:valAx>
        <c:axId val="260530192"/>
        <c:scaling>
          <c:orientation val="minMax"/>
        </c:scaling>
        <c:delete val="1"/>
        <c:axPos val="l"/>
        <c:numFmt formatCode="0.00%" sourceLinked="1"/>
        <c:majorTickMark val="none"/>
        <c:minorTickMark val="none"/>
        <c:tickLblPos val="nextTo"/>
        <c:crossAx val="2605349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Top Ações XP</c:v>
                </c:pt>
              </c:strCache>
            </c:strRef>
          </c:tx>
          <c:spPr>
            <a:ln w="22225" cap="rnd">
              <a:solidFill>
                <a:schemeClr val="accent4"/>
              </a:solidFill>
              <a:round/>
            </a:ln>
            <a:effectLst/>
          </c:spPr>
          <c:marker>
            <c:symbol val="none"/>
          </c:marker>
          <c:cat>
            <c:numRef>
              <c:f>Sheet1!$A$2:$A$349</c:f>
              <c:numCache>
                <c:formatCode>yyyy\-mm\-dd</c:formatCode>
                <c:ptCount val="348"/>
                <c:pt idx="0">
                  <c:v>45716.0</c:v>
                </c:pt>
                <c:pt idx="1">
                  <c:v>45719.0</c:v>
                </c:pt>
                <c:pt idx="2">
                  <c:v>45720.0</c:v>
                </c:pt>
                <c:pt idx="3">
                  <c:v>45721.0</c:v>
                </c:pt>
                <c:pt idx="4">
                  <c:v>45722.0</c:v>
                </c:pt>
                <c:pt idx="5">
                  <c:v>45723.0</c:v>
                </c:pt>
                <c:pt idx="6">
                  <c:v>45726.0</c:v>
                </c:pt>
                <c:pt idx="7">
                  <c:v>45727.0</c:v>
                </c:pt>
                <c:pt idx="8">
                  <c:v>45728.0</c:v>
                </c:pt>
                <c:pt idx="9">
                  <c:v>45729.0</c:v>
                </c:pt>
                <c:pt idx="10">
                  <c:v>45730.0</c:v>
                </c:pt>
                <c:pt idx="11">
                  <c:v>45733.0</c:v>
                </c:pt>
                <c:pt idx="12">
                  <c:v>45734.0</c:v>
                </c:pt>
                <c:pt idx="13">
                  <c:v>45735.0</c:v>
                </c:pt>
                <c:pt idx="14">
                  <c:v>45736.0</c:v>
                </c:pt>
                <c:pt idx="15">
                  <c:v>45737.0</c:v>
                </c:pt>
                <c:pt idx="16">
                  <c:v>45740.0</c:v>
                </c:pt>
                <c:pt idx="17">
                  <c:v>45741.0</c:v>
                </c:pt>
                <c:pt idx="18">
                  <c:v>45742.0</c:v>
                </c:pt>
                <c:pt idx="19">
                  <c:v>45743.0</c:v>
                </c:pt>
                <c:pt idx="20">
                  <c:v>45744.0</c:v>
                </c:pt>
                <c:pt idx="21">
                  <c:v>45747.0</c:v>
                </c:pt>
                <c:pt idx="22">
                  <c:v>45748.0</c:v>
                </c:pt>
                <c:pt idx="23">
                  <c:v>45749.0</c:v>
                </c:pt>
                <c:pt idx="24">
                  <c:v>45750.0</c:v>
                </c:pt>
                <c:pt idx="25">
                  <c:v>45751.0</c:v>
                </c:pt>
                <c:pt idx="26">
                  <c:v>45754.0</c:v>
                </c:pt>
                <c:pt idx="27">
                  <c:v>45755.0</c:v>
                </c:pt>
                <c:pt idx="28">
                  <c:v>45756.0</c:v>
                </c:pt>
                <c:pt idx="29">
                  <c:v>45757.0</c:v>
                </c:pt>
                <c:pt idx="30">
                  <c:v>45758.0</c:v>
                </c:pt>
                <c:pt idx="31">
                  <c:v>45761.0</c:v>
                </c:pt>
                <c:pt idx="32">
                  <c:v>45762.0</c:v>
                </c:pt>
                <c:pt idx="33">
                  <c:v>45763.0</c:v>
                </c:pt>
                <c:pt idx="34">
                  <c:v>45764.0</c:v>
                </c:pt>
                <c:pt idx="35">
                  <c:v>45765.0</c:v>
                </c:pt>
                <c:pt idx="36">
                  <c:v>45768.0</c:v>
                </c:pt>
                <c:pt idx="37">
                  <c:v>45769.0</c:v>
                </c:pt>
                <c:pt idx="38">
                  <c:v>45770.0</c:v>
                </c:pt>
                <c:pt idx="39">
                  <c:v>45771.0</c:v>
                </c:pt>
                <c:pt idx="40">
                  <c:v>45772.0</c:v>
                </c:pt>
                <c:pt idx="41">
                  <c:v>45775.0</c:v>
                </c:pt>
                <c:pt idx="42">
                  <c:v>45776.0</c:v>
                </c:pt>
                <c:pt idx="43">
                  <c:v>45777.0</c:v>
                </c:pt>
                <c:pt idx="44">
                  <c:v>45778.0</c:v>
                </c:pt>
                <c:pt idx="45">
                  <c:v>45779.0</c:v>
                </c:pt>
                <c:pt idx="46">
                  <c:v>45782.0</c:v>
                </c:pt>
                <c:pt idx="47">
                  <c:v>45783.0</c:v>
                </c:pt>
                <c:pt idx="48">
                  <c:v>45784.0</c:v>
                </c:pt>
                <c:pt idx="49">
                  <c:v>45785.0</c:v>
                </c:pt>
                <c:pt idx="50">
                  <c:v>45786.0</c:v>
                </c:pt>
                <c:pt idx="51">
                  <c:v>45789.0</c:v>
                </c:pt>
                <c:pt idx="52">
                  <c:v>45790.0</c:v>
                </c:pt>
                <c:pt idx="53">
                  <c:v>45791.0</c:v>
                </c:pt>
                <c:pt idx="54">
                  <c:v>45792.0</c:v>
                </c:pt>
                <c:pt idx="55">
                  <c:v>45793.0</c:v>
                </c:pt>
                <c:pt idx="56">
                  <c:v>45796.0</c:v>
                </c:pt>
                <c:pt idx="57">
                  <c:v>45797.0</c:v>
                </c:pt>
                <c:pt idx="58">
                  <c:v>45798.0</c:v>
                </c:pt>
                <c:pt idx="59">
                  <c:v>45799.0</c:v>
                </c:pt>
                <c:pt idx="60">
                  <c:v>45800.0</c:v>
                </c:pt>
                <c:pt idx="61">
                  <c:v>45803.0</c:v>
                </c:pt>
                <c:pt idx="62">
                  <c:v>45804.0</c:v>
                </c:pt>
                <c:pt idx="63">
                  <c:v>45805.0</c:v>
                </c:pt>
                <c:pt idx="64">
                  <c:v>45806.0</c:v>
                </c:pt>
                <c:pt idx="65">
                  <c:v>45807.0</c:v>
                </c:pt>
                <c:pt idx="66">
                  <c:v>45810.0</c:v>
                </c:pt>
                <c:pt idx="67">
                  <c:v>45811.0</c:v>
                </c:pt>
                <c:pt idx="68">
                  <c:v>45812.0</c:v>
                </c:pt>
                <c:pt idx="69">
                  <c:v>45813.0</c:v>
                </c:pt>
                <c:pt idx="70">
                  <c:v>45814.0</c:v>
                </c:pt>
                <c:pt idx="71">
                  <c:v>45817.0</c:v>
                </c:pt>
                <c:pt idx="72">
                  <c:v>45818.0</c:v>
                </c:pt>
                <c:pt idx="73">
                  <c:v>45819.0</c:v>
                </c:pt>
                <c:pt idx="74">
                  <c:v>45820.0</c:v>
                </c:pt>
                <c:pt idx="75">
                  <c:v>45821.0</c:v>
                </c:pt>
                <c:pt idx="76">
                  <c:v>45824.0</c:v>
                </c:pt>
                <c:pt idx="77">
                  <c:v>45825.0</c:v>
                </c:pt>
                <c:pt idx="78">
                  <c:v>45826.0</c:v>
                </c:pt>
                <c:pt idx="79">
                  <c:v>45827.0</c:v>
                </c:pt>
                <c:pt idx="80">
                  <c:v>45828.0</c:v>
                </c:pt>
                <c:pt idx="81">
                  <c:v>45831.0</c:v>
                </c:pt>
                <c:pt idx="82">
                  <c:v>45832.0</c:v>
                </c:pt>
                <c:pt idx="83">
                  <c:v>45833.0</c:v>
                </c:pt>
                <c:pt idx="84">
                  <c:v>45834.0</c:v>
                </c:pt>
                <c:pt idx="85">
                  <c:v>45835.0</c:v>
                </c:pt>
                <c:pt idx="86">
                  <c:v>45838.0</c:v>
                </c:pt>
                <c:pt idx="87">
                  <c:v>45839.0</c:v>
                </c:pt>
                <c:pt idx="88">
                  <c:v>45840.0</c:v>
                </c:pt>
                <c:pt idx="89">
                  <c:v>45841.0</c:v>
                </c:pt>
                <c:pt idx="90">
                  <c:v>45842.0</c:v>
                </c:pt>
                <c:pt idx="91">
                  <c:v>45845.0</c:v>
                </c:pt>
                <c:pt idx="92">
                  <c:v>45846.0</c:v>
                </c:pt>
                <c:pt idx="93">
                  <c:v>45847.0</c:v>
                </c:pt>
                <c:pt idx="94">
                  <c:v>45848.0</c:v>
                </c:pt>
                <c:pt idx="95">
                  <c:v>45849.0</c:v>
                </c:pt>
                <c:pt idx="96">
                  <c:v>45852.0</c:v>
                </c:pt>
                <c:pt idx="97">
                  <c:v>45853.0</c:v>
                </c:pt>
                <c:pt idx="98">
                  <c:v>45854.0</c:v>
                </c:pt>
                <c:pt idx="99">
                  <c:v>45855.0</c:v>
                </c:pt>
                <c:pt idx="100">
                  <c:v>45856.0</c:v>
                </c:pt>
                <c:pt idx="101">
                  <c:v>45859.0</c:v>
                </c:pt>
                <c:pt idx="102">
                  <c:v>45860.0</c:v>
                </c:pt>
                <c:pt idx="103">
                  <c:v>45861.0</c:v>
                </c:pt>
                <c:pt idx="104">
                  <c:v>45862.0</c:v>
                </c:pt>
                <c:pt idx="105">
                  <c:v>45863.0</c:v>
                </c:pt>
                <c:pt idx="106">
                  <c:v>45866.0</c:v>
                </c:pt>
                <c:pt idx="107">
                  <c:v>45867.0</c:v>
                </c:pt>
                <c:pt idx="108">
                  <c:v>45868.0</c:v>
                </c:pt>
                <c:pt idx="109">
                  <c:v>45869.0</c:v>
                </c:pt>
                <c:pt idx="110">
                  <c:v>45870.0</c:v>
                </c:pt>
                <c:pt idx="111">
                  <c:v>45873.0</c:v>
                </c:pt>
                <c:pt idx="112">
                  <c:v>45874.0</c:v>
                </c:pt>
                <c:pt idx="113">
                  <c:v>45875.0</c:v>
                </c:pt>
                <c:pt idx="114">
                  <c:v>45876.0</c:v>
                </c:pt>
                <c:pt idx="115">
                  <c:v>45877.0</c:v>
                </c:pt>
                <c:pt idx="116">
                  <c:v>45880.0</c:v>
                </c:pt>
                <c:pt idx="117">
                  <c:v>45881.0</c:v>
                </c:pt>
                <c:pt idx="118">
                  <c:v>45882.0</c:v>
                </c:pt>
                <c:pt idx="119">
                  <c:v>45883.0</c:v>
                </c:pt>
                <c:pt idx="120">
                  <c:v>45884.0</c:v>
                </c:pt>
                <c:pt idx="121">
                  <c:v>45887.0</c:v>
                </c:pt>
                <c:pt idx="122">
                  <c:v>45888.0</c:v>
                </c:pt>
                <c:pt idx="123">
                  <c:v>45889.0</c:v>
                </c:pt>
                <c:pt idx="124">
                  <c:v>45890.0</c:v>
                </c:pt>
                <c:pt idx="125">
                  <c:v>45891.0</c:v>
                </c:pt>
                <c:pt idx="126">
                  <c:v>45894.0</c:v>
                </c:pt>
                <c:pt idx="127">
                  <c:v>45895.0</c:v>
                </c:pt>
                <c:pt idx="128">
                  <c:v>45896.0</c:v>
                </c:pt>
                <c:pt idx="129">
                  <c:v>45897.0</c:v>
                </c:pt>
                <c:pt idx="130">
                  <c:v>45898.0</c:v>
                </c:pt>
                <c:pt idx="131">
                  <c:v>45901.0</c:v>
                </c:pt>
                <c:pt idx="132">
                  <c:v>45902.0</c:v>
                </c:pt>
                <c:pt idx="133">
                  <c:v>45903.0</c:v>
                </c:pt>
                <c:pt idx="134">
                  <c:v>45904.0</c:v>
                </c:pt>
                <c:pt idx="135">
                  <c:v>45905.0</c:v>
                </c:pt>
                <c:pt idx="136">
                  <c:v>45908.0</c:v>
                </c:pt>
                <c:pt idx="137">
                  <c:v>45909.0</c:v>
                </c:pt>
                <c:pt idx="138">
                  <c:v>45910.0</c:v>
                </c:pt>
                <c:pt idx="139">
                  <c:v>45911.0</c:v>
                </c:pt>
                <c:pt idx="140">
                  <c:v>45912.0</c:v>
                </c:pt>
                <c:pt idx="141">
                  <c:v>45915.0</c:v>
                </c:pt>
                <c:pt idx="142">
                  <c:v>45916.0</c:v>
                </c:pt>
                <c:pt idx="143">
                  <c:v>45917.0</c:v>
                </c:pt>
                <c:pt idx="144">
                  <c:v>45918.0</c:v>
                </c:pt>
                <c:pt idx="145">
                  <c:v>45919.0</c:v>
                </c:pt>
                <c:pt idx="146">
                  <c:v>45922.0</c:v>
                </c:pt>
                <c:pt idx="147">
                  <c:v>45923.0</c:v>
                </c:pt>
                <c:pt idx="148">
                  <c:v>45924.0</c:v>
                </c:pt>
                <c:pt idx="149">
                  <c:v>45925.0</c:v>
                </c:pt>
                <c:pt idx="150">
                  <c:v>45926.0</c:v>
                </c:pt>
                <c:pt idx="151">
                  <c:v>45929.0</c:v>
                </c:pt>
                <c:pt idx="152">
                  <c:v>45930.0</c:v>
                </c:pt>
                <c:pt idx="153">
                  <c:v>45931.0</c:v>
                </c:pt>
                <c:pt idx="154">
                  <c:v>45932.0</c:v>
                </c:pt>
                <c:pt idx="155">
                  <c:v>45933.0</c:v>
                </c:pt>
                <c:pt idx="156">
                  <c:v>45936.0</c:v>
                </c:pt>
                <c:pt idx="157">
                  <c:v>45937.0</c:v>
                </c:pt>
                <c:pt idx="158">
                  <c:v>45938.0</c:v>
                </c:pt>
                <c:pt idx="159">
                  <c:v>45939.0</c:v>
                </c:pt>
                <c:pt idx="160">
                  <c:v>45940.0</c:v>
                </c:pt>
                <c:pt idx="161">
                  <c:v>45943.0</c:v>
                </c:pt>
                <c:pt idx="162">
                  <c:v>45944.0</c:v>
                </c:pt>
                <c:pt idx="163">
                  <c:v>45945.0</c:v>
                </c:pt>
                <c:pt idx="164">
                  <c:v>45946.0</c:v>
                </c:pt>
                <c:pt idx="165">
                  <c:v>45947.0</c:v>
                </c:pt>
                <c:pt idx="166">
                  <c:v>45950.0</c:v>
                </c:pt>
                <c:pt idx="167">
                  <c:v>45951.0</c:v>
                </c:pt>
                <c:pt idx="168">
                  <c:v>45952.0</c:v>
                </c:pt>
                <c:pt idx="169">
                  <c:v>45953.0</c:v>
                </c:pt>
                <c:pt idx="170">
                  <c:v>45954.0</c:v>
                </c:pt>
                <c:pt idx="171">
                  <c:v>45957.0</c:v>
                </c:pt>
                <c:pt idx="172">
                  <c:v>45958.0</c:v>
                </c:pt>
                <c:pt idx="173">
                  <c:v>45959.0</c:v>
                </c:pt>
                <c:pt idx="174">
                  <c:v>45960.0</c:v>
                </c:pt>
                <c:pt idx="175">
                  <c:v>45961.0</c:v>
                </c:pt>
                <c:pt idx="176">
                  <c:v>45964.0</c:v>
                </c:pt>
                <c:pt idx="177">
                  <c:v>45965.0</c:v>
                </c:pt>
                <c:pt idx="178">
                  <c:v>45966.0</c:v>
                </c:pt>
                <c:pt idx="179">
                  <c:v>45967.0</c:v>
                </c:pt>
                <c:pt idx="180">
                  <c:v>45968.0</c:v>
                </c:pt>
                <c:pt idx="181">
                  <c:v>45971.0</c:v>
                </c:pt>
                <c:pt idx="182">
                  <c:v>45972.0</c:v>
                </c:pt>
                <c:pt idx="183">
                  <c:v>45973.0</c:v>
                </c:pt>
                <c:pt idx="184">
                  <c:v>45974.0</c:v>
                </c:pt>
                <c:pt idx="185">
                  <c:v>45975.0</c:v>
                </c:pt>
                <c:pt idx="186">
                  <c:v>45978.0</c:v>
                </c:pt>
                <c:pt idx="187">
                  <c:v>45979.0</c:v>
                </c:pt>
                <c:pt idx="188">
                  <c:v>45980.0</c:v>
                </c:pt>
                <c:pt idx="189">
                  <c:v>45981.0</c:v>
                </c:pt>
                <c:pt idx="190">
                  <c:v>45982.0</c:v>
                </c:pt>
                <c:pt idx="191">
                  <c:v>45985.0</c:v>
                </c:pt>
                <c:pt idx="192">
                  <c:v>45986.0</c:v>
                </c:pt>
                <c:pt idx="193">
                  <c:v>45987.0</c:v>
                </c:pt>
                <c:pt idx="194">
                  <c:v>45988.0</c:v>
                </c:pt>
                <c:pt idx="195">
                  <c:v>45989.0</c:v>
                </c:pt>
                <c:pt idx="196">
                  <c:v>45992.0</c:v>
                </c:pt>
                <c:pt idx="197">
                  <c:v>45993.0</c:v>
                </c:pt>
                <c:pt idx="198">
                  <c:v>45994.0</c:v>
                </c:pt>
                <c:pt idx="199">
                  <c:v>45995.0</c:v>
                </c:pt>
                <c:pt idx="200">
                  <c:v>45996.0</c:v>
                </c:pt>
                <c:pt idx="201">
                  <c:v>45999.0</c:v>
                </c:pt>
                <c:pt idx="202">
                  <c:v>46000.0</c:v>
                </c:pt>
                <c:pt idx="203">
                  <c:v>46001.0</c:v>
                </c:pt>
                <c:pt idx="204">
                  <c:v>46002.0</c:v>
                </c:pt>
                <c:pt idx="205">
                  <c:v>46003.0</c:v>
                </c:pt>
                <c:pt idx="206">
                  <c:v>46006.0</c:v>
                </c:pt>
                <c:pt idx="207">
                  <c:v>46007.0</c:v>
                </c:pt>
                <c:pt idx="208">
                  <c:v>46008.0</c:v>
                </c:pt>
                <c:pt idx="209">
                  <c:v>46009.0</c:v>
                </c:pt>
                <c:pt idx="210">
                  <c:v>46010.0</c:v>
                </c:pt>
                <c:pt idx="211">
                  <c:v>46013.0</c:v>
                </c:pt>
                <c:pt idx="212">
                  <c:v>46014.0</c:v>
                </c:pt>
                <c:pt idx="213">
                  <c:v>46015.0</c:v>
                </c:pt>
                <c:pt idx="214">
                  <c:v>46016.0</c:v>
                </c:pt>
                <c:pt idx="215">
                  <c:v>46017.0</c:v>
                </c:pt>
                <c:pt idx="216">
                  <c:v>46020.0</c:v>
                </c:pt>
                <c:pt idx="217">
                  <c:v>46021.0</c:v>
                </c:pt>
                <c:pt idx="218">
                  <c:v>46022.0</c:v>
                </c:pt>
                <c:pt idx="219">
                  <c:v>46023.0</c:v>
                </c:pt>
                <c:pt idx="220">
                  <c:v>46024.0</c:v>
                </c:pt>
                <c:pt idx="221">
                  <c:v>46027.0</c:v>
                </c:pt>
                <c:pt idx="222">
                  <c:v>46028.0</c:v>
                </c:pt>
                <c:pt idx="223">
                  <c:v>46029.0</c:v>
                </c:pt>
                <c:pt idx="224">
                  <c:v>46030.0</c:v>
                </c:pt>
                <c:pt idx="225">
                  <c:v>46031.0</c:v>
                </c:pt>
                <c:pt idx="226">
                  <c:v>46034.0</c:v>
                </c:pt>
                <c:pt idx="227">
                  <c:v>46035.0</c:v>
                </c:pt>
                <c:pt idx="228">
                  <c:v>46036.0</c:v>
                </c:pt>
                <c:pt idx="229">
                  <c:v>46037.0</c:v>
                </c:pt>
                <c:pt idx="230">
                  <c:v>46038.0</c:v>
                </c:pt>
                <c:pt idx="231">
                  <c:v>46041.0</c:v>
                </c:pt>
                <c:pt idx="232">
                  <c:v>46042.0</c:v>
                </c:pt>
                <c:pt idx="233">
                  <c:v>46043.0</c:v>
                </c:pt>
                <c:pt idx="234">
                  <c:v>46044.0</c:v>
                </c:pt>
                <c:pt idx="235">
                  <c:v>46045.0</c:v>
                </c:pt>
                <c:pt idx="236">
                  <c:v>46048.0</c:v>
                </c:pt>
                <c:pt idx="237">
                  <c:v>46049.0</c:v>
                </c:pt>
                <c:pt idx="238">
                  <c:v>46050.0</c:v>
                </c:pt>
                <c:pt idx="239">
                  <c:v>46051.0</c:v>
                </c:pt>
                <c:pt idx="240">
                  <c:v>46052.0</c:v>
                </c:pt>
                <c:pt idx="241">
                  <c:v>46055.0</c:v>
                </c:pt>
                <c:pt idx="242">
                  <c:v>46056.0</c:v>
                </c:pt>
                <c:pt idx="243">
                  <c:v>46057.0</c:v>
                </c:pt>
                <c:pt idx="244">
                  <c:v>46058.0</c:v>
                </c:pt>
                <c:pt idx="245">
                  <c:v>46059.0</c:v>
                </c:pt>
                <c:pt idx="246">
                  <c:v>46062.0</c:v>
                </c:pt>
                <c:pt idx="247">
                  <c:v>46063.0</c:v>
                </c:pt>
                <c:pt idx="248">
                  <c:v>46064.0</c:v>
                </c:pt>
                <c:pt idx="249">
                  <c:v>46065.0</c:v>
                </c:pt>
                <c:pt idx="250">
                  <c:v>46066.0</c:v>
                </c:pt>
                <c:pt idx="251">
                  <c:v>46069.0</c:v>
                </c:pt>
                <c:pt idx="252">
                  <c:v>46070.0</c:v>
                </c:pt>
                <c:pt idx="253">
                  <c:v>46071.0</c:v>
                </c:pt>
                <c:pt idx="254">
                  <c:v>46072.0</c:v>
                </c:pt>
                <c:pt idx="255">
                  <c:v>46073.0</c:v>
                </c:pt>
                <c:pt idx="256">
                  <c:v>46076.0</c:v>
                </c:pt>
                <c:pt idx="257">
                  <c:v>46077.0</c:v>
                </c:pt>
                <c:pt idx="258">
                  <c:v>46078.0</c:v>
                </c:pt>
                <c:pt idx="259">
                  <c:v>46079.0</c:v>
                </c:pt>
                <c:pt idx="260">
                  <c:v>46080.0</c:v>
                </c:pt>
                <c:pt idx="261">
                  <c:v>46083.0</c:v>
                </c:pt>
                <c:pt idx="262">
                  <c:v>46084.0</c:v>
                </c:pt>
                <c:pt idx="263">
                  <c:v>46085.0</c:v>
                </c:pt>
                <c:pt idx="264">
                  <c:v>46086.0</c:v>
                </c:pt>
                <c:pt idx="265">
                  <c:v>46087.0</c:v>
                </c:pt>
                <c:pt idx="266">
                  <c:v>46090.0</c:v>
                </c:pt>
                <c:pt idx="267">
                  <c:v>46091.0</c:v>
                </c:pt>
                <c:pt idx="268">
                  <c:v>46092.0</c:v>
                </c:pt>
                <c:pt idx="269">
                  <c:v>46093.0</c:v>
                </c:pt>
                <c:pt idx="270">
                  <c:v>46094.0</c:v>
                </c:pt>
                <c:pt idx="271">
                  <c:v>46097.0</c:v>
                </c:pt>
                <c:pt idx="272">
                  <c:v>46098.0</c:v>
                </c:pt>
                <c:pt idx="273">
                  <c:v>46099.0</c:v>
                </c:pt>
                <c:pt idx="274">
                  <c:v>46100.0</c:v>
                </c:pt>
                <c:pt idx="275">
                  <c:v>46101.0</c:v>
                </c:pt>
                <c:pt idx="276">
                  <c:v>46104.0</c:v>
                </c:pt>
                <c:pt idx="277">
                  <c:v>46105.0</c:v>
                </c:pt>
                <c:pt idx="278">
                  <c:v>46106.0</c:v>
                </c:pt>
                <c:pt idx="279">
                  <c:v>46107.0</c:v>
                </c:pt>
                <c:pt idx="280">
                  <c:v>46108.0</c:v>
                </c:pt>
                <c:pt idx="281">
                  <c:v>46111.0</c:v>
                </c:pt>
                <c:pt idx="282">
                  <c:v>46112.0</c:v>
                </c:pt>
                <c:pt idx="283">
                  <c:v>46113.0</c:v>
                </c:pt>
                <c:pt idx="284">
                  <c:v>46114.0</c:v>
                </c:pt>
                <c:pt idx="285">
                  <c:v>46115.0</c:v>
                </c:pt>
                <c:pt idx="286">
                  <c:v>46118.0</c:v>
                </c:pt>
                <c:pt idx="287">
                  <c:v>46119.0</c:v>
                </c:pt>
                <c:pt idx="288">
                  <c:v>46120.0</c:v>
                </c:pt>
                <c:pt idx="289">
                  <c:v>46121.0</c:v>
                </c:pt>
                <c:pt idx="290">
                  <c:v>46122.0</c:v>
                </c:pt>
                <c:pt idx="291">
                  <c:v>46125.0</c:v>
                </c:pt>
                <c:pt idx="292">
                  <c:v>46126.0</c:v>
                </c:pt>
                <c:pt idx="293">
                  <c:v>46127.0</c:v>
                </c:pt>
                <c:pt idx="294">
                  <c:v>46128.0</c:v>
                </c:pt>
                <c:pt idx="295">
                  <c:v>46129.0</c:v>
                </c:pt>
                <c:pt idx="296">
                  <c:v>46132.0</c:v>
                </c:pt>
                <c:pt idx="297">
                  <c:v>46133.0</c:v>
                </c:pt>
                <c:pt idx="298">
                  <c:v>46134.0</c:v>
                </c:pt>
                <c:pt idx="299">
                  <c:v>46135.0</c:v>
                </c:pt>
                <c:pt idx="300">
                  <c:v>46136.0</c:v>
                </c:pt>
                <c:pt idx="301">
                  <c:v>46139.0</c:v>
                </c:pt>
                <c:pt idx="302">
                  <c:v>46140.0</c:v>
                </c:pt>
                <c:pt idx="303">
                  <c:v>46141.0</c:v>
                </c:pt>
                <c:pt idx="304">
                  <c:v>46142.0</c:v>
                </c:pt>
                <c:pt idx="305">
                  <c:v>46143.0</c:v>
                </c:pt>
                <c:pt idx="306">
                  <c:v>46146.0</c:v>
                </c:pt>
                <c:pt idx="307">
                  <c:v>46147.0</c:v>
                </c:pt>
                <c:pt idx="308">
                  <c:v>46148.0</c:v>
                </c:pt>
                <c:pt idx="309">
                  <c:v>46149.0</c:v>
                </c:pt>
                <c:pt idx="310">
                  <c:v>46150.0</c:v>
                </c:pt>
                <c:pt idx="311">
                  <c:v>46153.0</c:v>
                </c:pt>
                <c:pt idx="312">
                  <c:v>46154.0</c:v>
                </c:pt>
                <c:pt idx="313">
                  <c:v>46155.0</c:v>
                </c:pt>
                <c:pt idx="314">
                  <c:v>46156.0</c:v>
                </c:pt>
                <c:pt idx="315">
                  <c:v>46157.0</c:v>
                </c:pt>
                <c:pt idx="316">
                  <c:v>46160.0</c:v>
                </c:pt>
                <c:pt idx="317">
                  <c:v>46161.0</c:v>
                </c:pt>
                <c:pt idx="318">
                  <c:v>46162.0</c:v>
                </c:pt>
                <c:pt idx="319">
                  <c:v>46163.0</c:v>
                </c:pt>
                <c:pt idx="320">
                  <c:v>46164.0</c:v>
                </c:pt>
                <c:pt idx="321">
                  <c:v>46167.0</c:v>
                </c:pt>
                <c:pt idx="322">
                  <c:v>46168.0</c:v>
                </c:pt>
                <c:pt idx="323">
                  <c:v>46169.0</c:v>
                </c:pt>
                <c:pt idx="324">
                  <c:v>46170.0</c:v>
                </c:pt>
                <c:pt idx="325">
                  <c:v>46171.0</c:v>
                </c:pt>
                <c:pt idx="326">
                  <c:v>46174.0</c:v>
                </c:pt>
                <c:pt idx="327">
                  <c:v>46175.0</c:v>
                </c:pt>
                <c:pt idx="328">
                  <c:v>46176.0</c:v>
                </c:pt>
                <c:pt idx="329">
                  <c:v>46177.0</c:v>
                </c:pt>
                <c:pt idx="330">
                  <c:v>46178.0</c:v>
                </c:pt>
                <c:pt idx="331">
                  <c:v>46181.0</c:v>
                </c:pt>
                <c:pt idx="332">
                  <c:v>46182.0</c:v>
                </c:pt>
                <c:pt idx="333">
                  <c:v>46183.0</c:v>
                </c:pt>
                <c:pt idx="334">
                  <c:v>46184.0</c:v>
                </c:pt>
                <c:pt idx="335">
                  <c:v>46185.0</c:v>
                </c:pt>
                <c:pt idx="336">
                  <c:v>46188.0</c:v>
                </c:pt>
                <c:pt idx="337">
                  <c:v>46189.0</c:v>
                </c:pt>
                <c:pt idx="338">
                  <c:v>46190.0</c:v>
                </c:pt>
                <c:pt idx="339">
                  <c:v>46191.0</c:v>
                </c:pt>
                <c:pt idx="340">
                  <c:v>46192.0</c:v>
                </c:pt>
                <c:pt idx="341">
                  <c:v>46195.0</c:v>
                </c:pt>
                <c:pt idx="342">
                  <c:v>46196.0</c:v>
                </c:pt>
                <c:pt idx="343">
                  <c:v>46197.0</c:v>
                </c:pt>
                <c:pt idx="344">
                  <c:v>46198.0</c:v>
                </c:pt>
                <c:pt idx="345">
                  <c:v>46199.0</c:v>
                </c:pt>
                <c:pt idx="346">
                  <c:v>46202.0</c:v>
                </c:pt>
                <c:pt idx="347">
                  <c:v>46203.0</c:v>
                </c:pt>
              </c:numCache>
            </c:numRef>
          </c:cat>
          <c:val>
            <c:numRef>
              <c:f>Sheet1!$B$2:$B$349</c:f>
              <c:numCache>
                <c:formatCode>[$-416]mmm\-yy;@</c:formatCode>
                <c:ptCount val="348"/>
                <c:pt idx="0">
                  <c:v>100.44014261127126</c:v>
                </c:pt>
                <c:pt idx="1">
                  <c:v>101.40816457539594</c:v>
                </c:pt>
                <c:pt idx="2">
                  <c:v>101.83760866557876</c:v>
                </c:pt>
                <c:pt idx="3">
                  <c:v>100.43889665277783</c:v>
                </c:pt>
                <c:pt idx="4">
                  <c:v>101.49942237836393</c:v>
                </c:pt>
                <c:pt idx="5">
                  <c:v>102.05869640564367</c:v>
                </c:pt>
                <c:pt idx="6">
                  <c:v>101.51712340393874</c:v>
                </c:pt>
                <c:pt idx="7">
                  <c:v>102.22696149923671</c:v>
                </c:pt>
                <c:pt idx="8">
                  <c:v>102.69825808753083</c:v>
                </c:pt>
                <c:pt idx="9">
                  <c:v>103.0921528879714</c:v>
                </c:pt>
                <c:pt idx="10">
                  <c:v>103.1862393902228</c:v>
                </c:pt>
                <c:pt idx="11">
                  <c:v>103.86869696211463</c:v>
                </c:pt>
                <c:pt idx="12">
                  <c:v>103.08957839000973</c:v>
                </c:pt>
                <c:pt idx="13">
                  <c:v>102.96669464064819</c:v>
                </c:pt>
                <c:pt idx="14">
                  <c:v>102.48241010489272</c:v>
                </c:pt>
                <c:pt idx="15">
                  <c:v>103.21898278563846</c:v>
                </c:pt>
                <c:pt idx="16">
                  <c:v>103.32601500612179</c:v>
                </c:pt>
                <c:pt idx="17">
                  <c:v>103.05560831809801</c:v>
                </c:pt>
                <c:pt idx="18">
                  <c:v>102.23106110847908</c:v>
                </c:pt>
                <c:pt idx="19">
                  <c:v>102.0031763528035</c:v>
                </c:pt>
                <c:pt idx="20">
                  <c:v>102.07351406964358</c:v>
                </c:pt>
                <c:pt idx="21">
                  <c:v>101.82530885073655</c:v>
                </c:pt>
                <c:pt idx="22">
                  <c:v>103.33585695935726</c:v>
                </c:pt>
                <c:pt idx="23">
                  <c:v>104.54219639181628</c:v>
                </c:pt>
                <c:pt idx="24">
                  <c:v>101.48718202606335</c:v>
                </c:pt>
                <c:pt idx="25">
                  <c:v>99.43925739270416</c:v>
                </c:pt>
                <c:pt idx="26">
                  <c:v>99.3077496696235</c:v>
                </c:pt>
                <c:pt idx="27">
                  <c:v>98.90613974266213</c:v>
                </c:pt>
                <c:pt idx="28">
                  <c:v>99.19792007232977</c:v>
                </c:pt>
                <c:pt idx="29">
                  <c:v>99.4945755433521</c:v>
                </c:pt>
                <c:pt idx="30">
                  <c:v>101.87212043671184</c:v>
                </c:pt>
                <c:pt idx="31">
                  <c:v>100.68712066525762</c:v>
                </c:pt>
                <c:pt idx="32">
                  <c:v>100.32931336757636</c:v>
                </c:pt>
                <c:pt idx="33">
                  <c:v>102.64395955580825</c:v>
                </c:pt>
                <c:pt idx="34">
                  <c:v>103.43572764959615</c:v>
                </c:pt>
                <c:pt idx="35">
                  <c:v>104.25221795258078</c:v>
                </c:pt>
                <c:pt idx="36">
                  <c:v>103.72531993616039</c:v>
                </c:pt>
                <c:pt idx="37">
                  <c:v>101.9071367599878</c:v>
                </c:pt>
                <c:pt idx="38">
                  <c:v>102.1560054205556</c:v>
                </c:pt>
                <c:pt idx="39">
                  <c:v>102.3397999050185</c:v>
                </c:pt>
                <c:pt idx="40">
                  <c:v>101.01952718487306</c:v>
                </c:pt>
                <c:pt idx="41">
                  <c:v>100.3209273235191</c:v>
                </c:pt>
                <c:pt idx="42">
                  <c:v>100.30161750357482</c:v>
                </c:pt>
                <c:pt idx="43">
                  <c:v>99.3194371988236</c:v>
                </c:pt>
                <c:pt idx="44">
                  <c:v>99.27166756423598</c:v>
                </c:pt>
                <c:pt idx="45">
                  <c:v>99.43549691774524</c:v>
                </c:pt>
                <c:pt idx="46">
                  <c:v>99.53408210271138</c:v>
                </c:pt>
                <c:pt idx="47">
                  <c:v>99.03947652162068</c:v>
                </c:pt>
                <c:pt idx="48">
                  <c:v>99.74574968790296</c:v>
                </c:pt>
                <c:pt idx="49">
                  <c:v>100.78338841318744</c:v>
                </c:pt>
                <c:pt idx="50">
                  <c:v>101.19955641854463</c:v>
                </c:pt>
                <c:pt idx="51">
                  <c:v>100.34942625573417</c:v>
                </c:pt>
                <c:pt idx="52">
                  <c:v>101.21726566734985</c:v>
                </c:pt>
                <c:pt idx="53">
                  <c:v>100.71969776353062</c:v>
                </c:pt>
                <c:pt idx="54">
                  <c:v>101.75416629154397</c:v>
                </c:pt>
                <c:pt idx="55">
                  <c:v>100.61557160581145</c:v>
                </c:pt>
                <c:pt idx="56">
                  <c:v>101.68804699270821</c:v>
                </c:pt>
                <c:pt idx="57">
                  <c:v>101.7266174722303</c:v>
                </c:pt>
                <c:pt idx="58">
                  <c:v>100.39031243516851</c:v>
                </c:pt>
                <c:pt idx="59">
                  <c:v>100.10390949592576</c:v>
                </c:pt>
                <c:pt idx="60">
                  <c:v>100.2235461874177</c:v>
                </c:pt>
                <c:pt idx="61">
                  <c:v>100.58442158431318</c:v>
                </c:pt>
                <c:pt idx="62">
                  <c:v>99.55805116848789</c:v>
                </c:pt>
                <c:pt idx="63">
                  <c:v>98.40505907177393</c:v>
                </c:pt>
                <c:pt idx="64">
                  <c:v>98.68014351240794</c:v>
                </c:pt>
                <c:pt idx="65">
                  <c:v>98.23270348755672</c:v>
                </c:pt>
                <c:pt idx="66">
                  <c:v>98.5461209918435</c:v>
                </c:pt>
                <c:pt idx="67">
                  <c:v>99.42857339477465</c:v>
                </c:pt>
                <c:pt idx="68">
                  <c:v>97.68492820646787</c:v>
                </c:pt>
                <c:pt idx="69">
                  <c:v>98.01688789727638</c:v>
                </c:pt>
                <c:pt idx="70">
                  <c:v>99.39609495985233</c:v>
                </c:pt>
                <c:pt idx="71">
                  <c:v>99.13042954559057</c:v>
                </c:pt>
                <c:pt idx="72">
                  <c:v>98.30576742621805</c:v>
                </c:pt>
                <c:pt idx="73">
                  <c:v>99.17819986062158</c:v>
                </c:pt>
                <c:pt idx="74">
                  <c:v>99.51420684216112</c:v>
                </c:pt>
                <c:pt idx="75">
                  <c:v>100.55459939159563</c:v>
                </c:pt>
                <c:pt idx="76">
                  <c:v>100.23308884952378</c:v>
                </c:pt>
                <c:pt idx="77">
                  <c:v>98.65942925325618</c:v>
                </c:pt>
                <c:pt idx="78">
                  <c:v>98.59923531896875</c:v>
                </c:pt>
                <c:pt idx="79">
                  <c:v>98.1748533954838</c:v>
                </c:pt>
                <c:pt idx="80">
                  <c:v>99.07104863572009</c:v>
                </c:pt>
                <c:pt idx="81">
                  <c:v>99.34150876763104</c:v>
                </c:pt>
                <c:pt idx="82">
                  <c:v>97.61899241634262</c:v>
                </c:pt>
                <c:pt idx="83">
                  <c:v>96.39418703961067</c:v>
                </c:pt>
                <c:pt idx="84">
                  <c:v>97.38913693449427</c:v>
                </c:pt>
                <c:pt idx="85">
                  <c:v>98.17578942866541</c:v>
                </c:pt>
                <c:pt idx="86">
                  <c:v>97.54327452570277</c:v>
                </c:pt>
                <c:pt idx="87">
                  <c:v>97.60067515685188</c:v>
                </c:pt>
                <c:pt idx="88">
                  <c:v>98.13760663843253</c:v>
                </c:pt>
                <c:pt idx="89">
                  <c:v>98.70213808746587</c:v>
                </c:pt>
                <c:pt idx="90">
                  <c:v>99.71271613094672</c:v>
                </c:pt>
                <c:pt idx="91">
                  <c:v>100.0538674245522</c:v>
                </c:pt>
                <c:pt idx="92">
                  <c:v>100.00953238239924</c:v>
                </c:pt>
                <c:pt idx="93">
                  <c:v>99.78477808873595</c:v>
                </c:pt>
                <c:pt idx="94">
                  <c:v>101.00346662735909</c:v>
                </c:pt>
                <c:pt idx="95">
                  <c:v>98.56328377612013</c:v>
                </c:pt>
                <c:pt idx="96">
                  <c:v>98.47209218069128</c:v>
                </c:pt>
                <c:pt idx="97">
                  <c:v>98.56692091809607</c:v>
                </c:pt>
                <c:pt idx="98">
                  <c:v>97.08064622927233</c:v>
                </c:pt>
                <c:pt idx="99">
                  <c:v>97.49430198402065</c:v>
                </c:pt>
                <c:pt idx="100">
                  <c:v>96.85434050047131</c:v>
                </c:pt>
                <c:pt idx="101">
                  <c:v>97.83129984638906</c:v>
                </c:pt>
                <c:pt idx="102">
                  <c:v>97.75484342115045</c:v>
                </c:pt>
                <c:pt idx="103">
                  <c:v>98.53303900026256</c:v>
                </c:pt>
                <c:pt idx="104">
                  <c:v>99.91321883298184</c:v>
                </c:pt>
                <c:pt idx="105">
                  <c:v>100.39402376342963</c:v>
                </c:pt>
                <c:pt idx="106">
                  <c:v>99.48717131557545</c:v>
                </c:pt>
                <c:pt idx="107">
                  <c:v>97.88965556983837</c:v>
                </c:pt>
                <c:pt idx="108">
                  <c:v>99.83640920397859</c:v>
                </c:pt>
                <c:pt idx="109">
                  <c:v>99.77408990715793</c:v>
                </c:pt>
                <c:pt idx="110">
                  <c:v>99.0782440101882</c:v>
                </c:pt>
                <c:pt idx="111">
                  <c:v>99.29491108527628</c:v>
                </c:pt>
                <c:pt idx="112">
                  <c:v>99.14542015047657</c:v>
                </c:pt>
                <c:pt idx="113">
                  <c:v>100.13425343351365</c:v>
                </c:pt>
                <c:pt idx="114">
                  <c:v>100.2317050909794</c:v>
                </c:pt>
                <c:pt idx="115">
                  <c:v>100.30700370034802</c:v>
                </c:pt>
                <c:pt idx="116">
                  <c:v>99.57873704462791</c:v>
                </c:pt>
                <c:pt idx="117">
                  <c:v>100.15283326738162</c:v>
                </c:pt>
                <c:pt idx="118">
                  <c:v>99.07393347123022</c:v>
                </c:pt>
                <c:pt idx="119">
                  <c:v>99.85907297791103</c:v>
                </c:pt>
                <c:pt idx="120">
                  <c:v>101.5929572822558</c:v>
                </c:pt>
                <c:pt idx="121">
                  <c:v>99.95004205771309</c:v>
                </c:pt>
                <c:pt idx="122">
                  <c:v>97.29851521357494</c:v>
                </c:pt>
                <c:pt idx="123">
                  <c:v>98.01712957907954</c:v>
                </c:pt>
                <c:pt idx="124">
                  <c:v>100.8230537905061</c:v>
                </c:pt>
                <c:pt idx="125">
                  <c:v>99.77346832412167</c:v>
                </c:pt>
                <c:pt idx="126">
                  <c:v>98.46068361470277</c:v>
                </c:pt>
                <c:pt idx="127">
                  <c:v>99.1576531471979</c:v>
                </c:pt>
                <c:pt idx="128">
                  <c:v>98.30014396106223</c:v>
                </c:pt>
                <c:pt idx="129">
                  <c:v>97.81195789033045</c:v>
                </c:pt>
                <c:pt idx="130">
                  <c:v>97.49609450415086</c:v>
                </c:pt>
                <c:pt idx="131">
                  <c:v>98.12514154334997</c:v>
                </c:pt>
                <c:pt idx="132">
                  <c:v>97.7465427609009</c:v>
                </c:pt>
                <c:pt idx="133">
                  <c:v>98.10397364257202</c:v>
                </c:pt>
                <c:pt idx="134">
                  <c:v>97.9723312708047</c:v>
                </c:pt>
                <c:pt idx="135">
                  <c:v>97.12081630056704</c:v>
                </c:pt>
                <c:pt idx="136">
                  <c:v>96.83740913085724</c:v>
                </c:pt>
                <c:pt idx="137">
                  <c:v>95.8831349229851</c:v>
                </c:pt>
                <c:pt idx="138">
                  <c:v>95.94753625389977</c:v>
                </c:pt>
                <c:pt idx="139">
                  <c:v>94.81895062389934</c:v>
                </c:pt>
                <c:pt idx="140">
                  <c:v>93.7359439246409</c:v>
                </c:pt>
                <c:pt idx="141">
                  <c:v>95.29445209221346</c:v>
                </c:pt>
                <c:pt idx="142">
                  <c:v>95.29587899099535</c:v>
                </c:pt>
                <c:pt idx="143">
                  <c:v>95.29655346852566</c:v>
                </c:pt>
                <c:pt idx="144">
                  <c:v>95.88995563631633</c:v>
                </c:pt>
                <c:pt idx="145">
                  <c:v>95.50357405735804</c:v>
                </c:pt>
                <c:pt idx="146">
                  <c:v>95.32079081347301</c:v>
                </c:pt>
                <c:pt idx="147">
                  <c:v>95.82376393827813</c:v>
                </c:pt>
                <c:pt idx="148">
                  <c:v>96.17894183563733</c:v>
                </c:pt>
                <c:pt idx="149">
                  <c:v>95.01014994357006</c:v>
                </c:pt>
                <c:pt idx="150">
                  <c:v>95.93809208923962</c:v>
                </c:pt>
                <c:pt idx="151">
                  <c:v>95.3725577229115</c:v>
                </c:pt>
                <c:pt idx="152">
                  <c:v>94.32185080040854</c:v>
                </c:pt>
                <c:pt idx="153">
                  <c:v>93.44416468366747</c:v>
                </c:pt>
                <c:pt idx="154">
                  <c:v>93.0987951642595</c:v>
                </c:pt>
                <c:pt idx="155">
                  <c:v>94.82115106519295</c:v>
                </c:pt>
                <c:pt idx="156">
                  <c:v>93.6519214119785</c:v>
                </c:pt>
                <c:pt idx="157">
                  <c:v>93.87301812880906</c:v>
                </c:pt>
                <c:pt idx="158">
                  <c:v>91.72181766773065</c:v>
                </c:pt>
                <c:pt idx="159">
                  <c:v>91.77526981681262</c:v>
                </c:pt>
                <c:pt idx="160">
                  <c:v>92.73847243620476</c:v>
                </c:pt>
                <c:pt idx="161">
                  <c:v>92.55268977500025</c:v>
                </c:pt>
                <c:pt idx="162">
                  <c:v>91.96748798755127</c:v>
                </c:pt>
                <c:pt idx="163">
                  <c:v>92.25687488137447</c:v>
                </c:pt>
                <c:pt idx="164">
                  <c:v>93.022760943846</c:v>
                </c:pt>
                <c:pt idx="165">
                  <c:v>93.7576624557629</c:v>
                </c:pt>
                <c:pt idx="166">
                  <c:v>95.84819696903159</c:v>
                </c:pt>
                <c:pt idx="167">
                  <c:v>96.12623746318103</c:v>
                </c:pt>
                <c:pt idx="168">
                  <c:v>95.55750551249012</c:v>
                </c:pt>
                <c:pt idx="169">
                  <c:v>95.48241918723993</c:v>
                </c:pt>
                <c:pt idx="170">
                  <c:v>95.46356293699557</c:v>
                </c:pt>
                <c:pt idx="171">
                  <c:v>95.63502611332171</c:v>
                </c:pt>
                <c:pt idx="172">
                  <c:v>95.66081831126417</c:v>
                </c:pt>
                <c:pt idx="173">
                  <c:v>95.90127376705499</c:v>
                </c:pt>
                <c:pt idx="174">
                  <c:v>94.19621139136098</c:v>
                </c:pt>
                <c:pt idx="175">
                  <c:v>95.11235606791075</c:v>
                </c:pt>
                <c:pt idx="176">
                  <c:v>94.5681106156414</c:v>
                </c:pt>
                <c:pt idx="177">
                  <c:v>93.40447406688244</c:v>
                </c:pt>
                <c:pt idx="178">
                  <c:v>94.11577367949295</c:v>
                </c:pt>
                <c:pt idx="179">
                  <c:v>95.53603586380648</c:v>
                </c:pt>
                <c:pt idx="180">
                  <c:v>96.11147899002165</c:v>
                </c:pt>
                <c:pt idx="181">
                  <c:v>96.33952773748948</c:v>
                </c:pt>
                <c:pt idx="182">
                  <c:v>95.40942515049682</c:v>
                </c:pt>
                <c:pt idx="183">
                  <c:v>98.48039128438613</c:v>
                </c:pt>
                <c:pt idx="184">
                  <c:v>99.49304986649294</c:v>
                </c:pt>
                <c:pt idx="185">
                  <c:v>98.30587478047315</c:v>
                </c:pt>
                <c:pt idx="186">
                  <c:v>97.52178544429373</c:v>
                </c:pt>
                <c:pt idx="187">
                  <c:v>97.67360460335101</c:v>
                </c:pt>
                <c:pt idx="188">
                  <c:v>96.06179063375096</c:v>
                </c:pt>
                <c:pt idx="189">
                  <c:v>96.29761603551121</c:v>
                </c:pt>
                <c:pt idx="190">
                  <c:v>95.86911214467915</c:v>
                </c:pt>
                <c:pt idx="191">
                  <c:v>97.21980982268178</c:v>
                </c:pt>
                <c:pt idx="192">
                  <c:v>98.30708713617278</c:v>
                </c:pt>
                <c:pt idx="193">
                  <c:v>95.43414707721618</c:v>
                </c:pt>
                <c:pt idx="194">
                  <c:v>95.53518592347524</c:v>
                </c:pt>
                <c:pt idx="195">
                  <c:v>93.89273139381541</c:v>
                </c:pt>
                <c:pt idx="196">
                  <c:v>95.09512340133763</c:v>
                </c:pt>
                <c:pt idx="197">
                  <c:v>95.32802700743963</c:v>
                </c:pt>
                <c:pt idx="198">
                  <c:v>95.9602863309723</c:v>
                </c:pt>
                <c:pt idx="199">
                  <c:v>94.8935560892751</c:v>
                </c:pt>
                <c:pt idx="200">
                  <c:v>96.85906094371875</c:v>
                </c:pt>
                <c:pt idx="201">
                  <c:v>99.06946288346066</c:v>
                </c:pt>
                <c:pt idx="202">
                  <c:v>97.96855531303548</c:v>
                </c:pt>
                <c:pt idx="203">
                  <c:v>98.42910219399236</c:v>
                </c:pt>
                <c:pt idx="204">
                  <c:v>97.75916156646247</c:v>
                </c:pt>
                <c:pt idx="205">
                  <c:v>97.79247111347986</c:v>
                </c:pt>
                <c:pt idx="206">
                  <c:v>96.48967915110728</c:v>
                </c:pt>
                <c:pt idx="207">
                  <c:v>98.52933594653139</c:v>
                </c:pt>
                <c:pt idx="208">
                  <c:v>97.53803479805975</c:v>
                </c:pt>
                <c:pt idx="209">
                  <c:v>97.27888385098454</c:v>
                </c:pt>
                <c:pt idx="210">
                  <c:v>97.8738718791914</c:v>
                </c:pt>
                <c:pt idx="211">
                  <c:v>97.23542422271258</c:v>
                </c:pt>
                <c:pt idx="212">
                  <c:v>97.03779937535154</c:v>
                </c:pt>
                <c:pt idx="213">
                  <c:v>96.49438398126388</c:v>
                </c:pt>
                <c:pt idx="214">
                  <c:v>96.410620265093</c:v>
                </c:pt>
                <c:pt idx="215">
                  <c:v>95.22708648078775</c:v>
                </c:pt>
                <c:pt idx="216">
                  <c:v>94.82543112079395</c:v>
                </c:pt>
                <c:pt idx="217">
                  <c:v>94.66652056086794</c:v>
                </c:pt>
                <c:pt idx="218">
                  <c:v>94.37580099759543</c:v>
                </c:pt>
                <c:pt idx="219">
                  <c:v>94.4912782371118</c:v>
                </c:pt>
                <c:pt idx="220">
                  <c:v>94.2433213670814</c:v>
                </c:pt>
                <c:pt idx="221">
                  <c:v>95.0807039529536</c:v>
                </c:pt>
                <c:pt idx="222">
                  <c:v>94.7997257178025</c:v>
                </c:pt>
                <c:pt idx="223">
                  <c:v>94.7141077665019</c:v>
                </c:pt>
                <c:pt idx="224">
                  <c:v>94.07833034907642</c:v>
                </c:pt>
                <c:pt idx="225">
                  <c:v>93.58990733960329</c:v>
                </c:pt>
                <c:pt idx="226">
                  <c:v>92.3442798896385</c:v>
                </c:pt>
                <c:pt idx="227">
                  <c:v>92.92666147686916</c:v>
                </c:pt>
                <c:pt idx="228">
                  <c:v>91.81454323812149</c:v>
                </c:pt>
                <c:pt idx="229">
                  <c:v>91.11634685433457</c:v>
                </c:pt>
                <c:pt idx="230">
                  <c:v>91.53108032594756</c:v>
                </c:pt>
                <c:pt idx="231">
                  <c:v>91.99132670019203</c:v>
                </c:pt>
                <c:pt idx="232">
                  <c:v>91.64164354166213</c:v>
                </c:pt>
                <c:pt idx="233">
                  <c:v>89.66109131395964</c:v>
                </c:pt>
                <c:pt idx="234">
                  <c:v>90.1296284515084</c:v>
                </c:pt>
                <c:pt idx="235">
                  <c:v>90.44104416778411</c:v>
                </c:pt>
                <c:pt idx="236">
                  <c:v>89.09019924349224</c:v>
                </c:pt>
                <c:pt idx="237">
                  <c:v>89.89856298925439</c:v>
                </c:pt>
                <c:pt idx="238">
                  <c:v>89.25919561676673</c:v>
                </c:pt>
                <c:pt idx="239">
                  <c:v>88.20700203516573</c:v>
                </c:pt>
                <c:pt idx="240">
                  <c:v>88.3528115455722</c:v>
                </c:pt>
                <c:pt idx="241">
                  <c:v>88.23237122418894</c:v>
                </c:pt>
                <c:pt idx="242">
                  <c:v>88.48196860374166</c:v>
                </c:pt>
                <c:pt idx="243">
                  <c:v>86.97218054279989</c:v>
                </c:pt>
                <c:pt idx="244">
                  <c:v>88.75811350455852</c:v>
                </c:pt>
                <c:pt idx="245">
                  <c:v>88.22296911380536</c:v>
                </c:pt>
                <c:pt idx="246">
                  <c:v>86.78173642346177</c:v>
                </c:pt>
                <c:pt idx="247">
                  <c:v>87.42455166197132</c:v>
                </c:pt>
                <c:pt idx="248">
                  <c:v>87.13580188094748</c:v>
                </c:pt>
                <c:pt idx="249">
                  <c:v>87.49945821328822</c:v>
                </c:pt>
                <c:pt idx="250">
                  <c:v>87.22508679768829</c:v>
                </c:pt>
                <c:pt idx="251">
                  <c:v>87.22010241035686</c:v>
                </c:pt>
                <c:pt idx="252">
                  <c:v>87.5082341304093</c:v>
                </c:pt>
                <c:pt idx="253">
                  <c:v>86.84201804164464</c:v>
                </c:pt>
                <c:pt idx="254">
                  <c:v>87.54249753099097</c:v>
                </c:pt>
                <c:pt idx="255">
                  <c:v>87.14252451861125</c:v>
                </c:pt>
                <c:pt idx="256">
                  <c:v>86.36115596719407</c:v>
                </c:pt>
                <c:pt idx="257">
                  <c:v>86.48615135972535</c:v>
                </c:pt>
                <c:pt idx="258">
                  <c:v>86.9614320316431</c:v>
                </c:pt>
                <c:pt idx="259">
                  <c:v>86.79447714730584</c:v>
                </c:pt>
                <c:pt idx="260">
                  <c:v>86.02307234015768</c:v>
                </c:pt>
                <c:pt idx="261">
                  <c:v>86.66116062822725</c:v>
                </c:pt>
                <c:pt idx="262">
                  <c:v>85.0350838262651</c:v>
                </c:pt>
                <c:pt idx="263">
                  <c:v>84.12184907612685</c:v>
                </c:pt>
                <c:pt idx="264">
                  <c:v>84.20889431053006</c:v>
                </c:pt>
                <c:pt idx="265">
                  <c:v>82.9986732698719</c:v>
                </c:pt>
                <c:pt idx="266">
                  <c:v>83.07403082854414</c:v>
                </c:pt>
                <c:pt idx="267">
                  <c:v>83.07374054310749</c:v>
                </c:pt>
                <c:pt idx="268">
                  <c:v>83.94486322382242</c:v>
                </c:pt>
                <c:pt idx="269">
                  <c:v>83.15051868118088</c:v>
                </c:pt>
                <c:pt idx="270">
                  <c:v>82.62792001943549</c:v>
                </c:pt>
                <c:pt idx="271">
                  <c:v>82.9803279769967</c:v>
                </c:pt>
                <c:pt idx="272">
                  <c:v>80.78689241364727</c:v>
                </c:pt>
                <c:pt idx="273">
                  <c:v>83.59023516957731</c:v>
                </c:pt>
                <c:pt idx="274">
                  <c:v>82.9979851432114</c:v>
                </c:pt>
                <c:pt idx="275">
                  <c:v>82.3814607068031</c:v>
                </c:pt>
                <c:pt idx="276">
                  <c:v>83.21123994746085</c:v>
                </c:pt>
                <c:pt idx="277">
                  <c:v>83.22470766536154</c:v>
                </c:pt>
                <c:pt idx="278">
                  <c:v>81.64562579732792</c:v>
                </c:pt>
                <c:pt idx="279">
                  <c:v>82.25765783385486</c:v>
                </c:pt>
                <c:pt idx="280">
                  <c:v>83.08098757762066</c:v>
                </c:pt>
                <c:pt idx="281">
                  <c:v>82.71963438183747</c:v>
                </c:pt>
                <c:pt idx="282">
                  <c:v>82.51303349698976</c:v>
                </c:pt>
                <c:pt idx="283">
                  <c:v>83.00364201396748</c:v>
                </c:pt>
                <c:pt idx="284">
                  <c:v>82.22369142330997</c:v>
                </c:pt>
                <c:pt idx="285">
                  <c:v>82.66953082445939</c:v>
                </c:pt>
                <c:pt idx="286">
                  <c:v>82.90036760083112</c:v>
                </c:pt>
                <c:pt idx="287">
                  <c:v>82.33463403990186</c:v>
                </c:pt>
                <c:pt idx="288">
                  <c:v>81.12323463873363</c:v>
                </c:pt>
                <c:pt idx="289">
                  <c:v>80.9705879573252</c:v>
                </c:pt>
                <c:pt idx="290">
                  <c:v>80.23945230551477</c:v>
                </c:pt>
                <c:pt idx="291">
                  <c:v>81.17147466535698</c:v>
                </c:pt>
                <c:pt idx="292">
                  <c:v>81.34882939038344</c:v>
                </c:pt>
                <c:pt idx="293">
                  <c:v>82.0974769523581</c:v>
                </c:pt>
                <c:pt idx="294">
                  <c:v>82.26830877210595</c:v>
                </c:pt>
                <c:pt idx="295">
                  <c:v>82.55558249041493</c:v>
                </c:pt>
                <c:pt idx="296">
                  <c:v>81.89406559119469</c:v>
                </c:pt>
                <c:pt idx="297">
                  <c:v>82.54500234801641</c:v>
                </c:pt>
                <c:pt idx="298">
                  <c:v>84.21502650510014</c:v>
                </c:pt>
                <c:pt idx="299">
                  <c:v>83.9786717183449</c:v>
                </c:pt>
                <c:pt idx="300">
                  <c:v>83.48147432925097</c:v>
                </c:pt>
                <c:pt idx="301">
                  <c:v>83.38662236722523</c:v>
                </c:pt>
                <c:pt idx="302">
                  <c:v>82.99519863076974</c:v>
                </c:pt>
                <c:pt idx="303">
                  <c:v>82.40458219894984</c:v>
                </c:pt>
                <c:pt idx="304">
                  <c:v>82.57929063270042</c:v>
                </c:pt>
                <c:pt idx="305">
                  <c:v>82.36457680844923</c:v>
                </c:pt>
                <c:pt idx="306">
                  <c:v>83.71762991554904</c:v>
                </c:pt>
                <c:pt idx="307">
                  <c:v>83.76804618527157</c:v>
                </c:pt>
                <c:pt idx="308">
                  <c:v>84.11677522150684</c:v>
                </c:pt>
                <c:pt idx="309">
                  <c:v>85.04813639088123</c:v>
                </c:pt>
                <c:pt idx="310">
                  <c:v>84.81779930030997</c:v>
                </c:pt>
                <c:pt idx="311">
                  <c:v>86.2091591264417</c:v>
                </c:pt>
                <c:pt idx="312">
                  <c:v>85.6609002254168</c:v>
                </c:pt>
                <c:pt idx="313">
                  <c:v>84.95063390072424</c:v>
                </c:pt>
                <c:pt idx="314">
                  <c:v>84.65934351135385</c:v>
                </c:pt>
                <c:pt idx="315">
                  <c:v>84.60330822743465</c:v>
                </c:pt>
                <c:pt idx="316">
                  <c:v>83.34995250068648</c:v>
                </c:pt>
                <c:pt idx="317">
                  <c:v>83.36778583769512</c:v>
                </c:pt>
                <c:pt idx="318">
                  <c:v>81.88864519464894</c:v>
                </c:pt>
                <c:pt idx="319">
                  <c:v>83.19178198475102</c:v>
                </c:pt>
                <c:pt idx="320">
                  <c:v>83.16757596598954</c:v>
                </c:pt>
                <c:pt idx="321">
                  <c:v>82.63018576537748</c:v>
                </c:pt>
                <c:pt idx="322">
                  <c:v>81.8541462548697</c:v>
                </c:pt>
                <c:pt idx="323">
                  <c:v>81.55711923175531</c:v>
                </c:pt>
                <c:pt idx="324">
                  <c:v>81.40592259644006</c:v>
                </c:pt>
                <c:pt idx="325">
                  <c:v>80.51944298300332</c:v>
                </c:pt>
                <c:pt idx="326">
                  <c:v>79.75307937404888</c:v>
                </c:pt>
                <c:pt idx="327">
                  <c:v>79.63672560828269</c:v>
                </c:pt>
                <c:pt idx="328">
                  <c:v>79.22829900697866</c:v>
                </c:pt>
                <c:pt idx="329">
                  <c:v>80.09437080908732</c:v>
                </c:pt>
                <c:pt idx="330">
                  <c:v>81.14493456013523</c:v>
                </c:pt>
                <c:pt idx="331">
                  <c:v>81.20792195556588</c:v>
                </c:pt>
                <c:pt idx="332">
                  <c:v>81.67970711668075</c:v>
                </c:pt>
                <c:pt idx="333">
                  <c:v>80.52907919261449</c:v>
                </c:pt>
                <c:pt idx="334">
                  <c:v>81.14203391334847</c:v>
                </c:pt>
                <c:pt idx="335">
                  <c:v>81.16342147957171</c:v>
                </c:pt>
                <c:pt idx="336">
                  <c:v>81.64483025931789</c:v>
                </c:pt>
                <c:pt idx="337">
                  <c:v>83.13108600937615</c:v>
                </c:pt>
                <c:pt idx="338">
                  <c:v>81.0952526554858</c:v>
                </c:pt>
                <c:pt idx="339">
                  <c:v>81.37668805069269</c:v>
                </c:pt>
                <c:pt idx="340">
                  <c:v>80.4416447030493</c:v>
                </c:pt>
                <c:pt idx="341">
                  <c:v>81.01391972415823</c:v>
                </c:pt>
                <c:pt idx="342">
                  <c:v>79.89216471267535</c:v>
                </c:pt>
                <c:pt idx="343">
                  <c:v>79.50473602964057</c:v>
                </c:pt>
                <c:pt idx="344">
                  <c:v>79.72974010235464</c:v>
                </c:pt>
                <c:pt idx="345">
                  <c:v>80.31564232965536</c:v>
                </c:pt>
                <c:pt idx="346">
                  <c:v>80.42991020365598</c:v>
                </c:pt>
                <c:pt idx="347">
                  <c:v>79.77672761625399</c:v>
                </c:pt>
              </c:numCache>
            </c:numRef>
          </c:val>
          <c:smooth val="0"/>
          <c:extLst>
            <c:ext xmlns:c16="http://schemas.microsoft.com/office/drawing/2014/chart" uri="{C3380CC4-5D6E-409C-BE32-E72D297353CC}">
              <c16:uniqueId val="{00000000-D80D-46EB-9484-5F5304E6E167}"/>
            </c:ext>
          </c:extLst>
        </c:ser>
        <c:ser>
          <c:idx val="1"/>
          <c:order val="1"/>
          <c:tx>
            <c:strRef>
              <c:f>Sheet1!$C$1</c:f>
              <c:strCache>
                <c:ptCount val="1"/>
                <c:pt idx="0">
                  <c:v>Ibovespa</c:v>
                </c:pt>
              </c:strCache>
            </c:strRef>
          </c:tx>
          <c:spPr>
            <a:ln w="22225" cap="rnd">
              <a:solidFill>
                <a:srgbClr val="7E7E7E"/>
              </a:solidFill>
              <a:round/>
            </a:ln>
            <a:effectLst/>
          </c:spPr>
          <c:marker>
            <c:symbol val="none"/>
          </c:marker>
          <c:cat>
            <c:numRef>
              <c:f>Sheet1!$A$2:$A$349</c:f>
              <c:numCache>
                <c:formatCode>yyyy\-mm\-dd</c:formatCode>
                <c:ptCount val="348"/>
                <c:pt idx="0">
                  <c:v>45716.0</c:v>
                </c:pt>
                <c:pt idx="1">
                  <c:v>45719.0</c:v>
                </c:pt>
                <c:pt idx="2">
                  <c:v>45720.0</c:v>
                </c:pt>
                <c:pt idx="3">
                  <c:v>45721.0</c:v>
                </c:pt>
                <c:pt idx="4">
                  <c:v>45722.0</c:v>
                </c:pt>
                <c:pt idx="5">
                  <c:v>45723.0</c:v>
                </c:pt>
                <c:pt idx="6">
                  <c:v>45726.0</c:v>
                </c:pt>
                <c:pt idx="7">
                  <c:v>45727.0</c:v>
                </c:pt>
                <c:pt idx="8">
                  <c:v>45728.0</c:v>
                </c:pt>
                <c:pt idx="9">
                  <c:v>45729.0</c:v>
                </c:pt>
                <c:pt idx="10">
                  <c:v>45730.0</c:v>
                </c:pt>
                <c:pt idx="11">
                  <c:v>45733.0</c:v>
                </c:pt>
                <c:pt idx="12">
                  <c:v>45734.0</c:v>
                </c:pt>
                <c:pt idx="13">
                  <c:v>45735.0</c:v>
                </c:pt>
                <c:pt idx="14">
                  <c:v>45736.0</c:v>
                </c:pt>
                <c:pt idx="15">
                  <c:v>45737.0</c:v>
                </c:pt>
                <c:pt idx="16">
                  <c:v>45740.0</c:v>
                </c:pt>
                <c:pt idx="17">
                  <c:v>45741.0</c:v>
                </c:pt>
                <c:pt idx="18">
                  <c:v>45742.0</c:v>
                </c:pt>
                <c:pt idx="19">
                  <c:v>45743.0</c:v>
                </c:pt>
                <c:pt idx="20">
                  <c:v>45744.0</c:v>
                </c:pt>
                <c:pt idx="21">
                  <c:v>45747.0</c:v>
                </c:pt>
                <c:pt idx="22">
                  <c:v>45748.0</c:v>
                </c:pt>
                <c:pt idx="23">
                  <c:v>45749.0</c:v>
                </c:pt>
                <c:pt idx="24">
                  <c:v>45750.0</c:v>
                </c:pt>
                <c:pt idx="25">
                  <c:v>45751.0</c:v>
                </c:pt>
                <c:pt idx="26">
                  <c:v>45754.0</c:v>
                </c:pt>
                <c:pt idx="27">
                  <c:v>45755.0</c:v>
                </c:pt>
                <c:pt idx="28">
                  <c:v>45756.0</c:v>
                </c:pt>
                <c:pt idx="29">
                  <c:v>45757.0</c:v>
                </c:pt>
                <c:pt idx="30">
                  <c:v>45758.0</c:v>
                </c:pt>
                <c:pt idx="31">
                  <c:v>45761.0</c:v>
                </c:pt>
                <c:pt idx="32">
                  <c:v>45762.0</c:v>
                </c:pt>
                <c:pt idx="33">
                  <c:v>45763.0</c:v>
                </c:pt>
                <c:pt idx="34">
                  <c:v>45764.0</c:v>
                </c:pt>
                <c:pt idx="35">
                  <c:v>45765.0</c:v>
                </c:pt>
                <c:pt idx="36">
                  <c:v>45768.0</c:v>
                </c:pt>
                <c:pt idx="37">
                  <c:v>45769.0</c:v>
                </c:pt>
                <c:pt idx="38">
                  <c:v>45770.0</c:v>
                </c:pt>
                <c:pt idx="39">
                  <c:v>45771.0</c:v>
                </c:pt>
                <c:pt idx="40">
                  <c:v>45772.0</c:v>
                </c:pt>
                <c:pt idx="41">
                  <c:v>45775.0</c:v>
                </c:pt>
                <c:pt idx="42">
                  <c:v>45776.0</c:v>
                </c:pt>
                <c:pt idx="43">
                  <c:v>45777.0</c:v>
                </c:pt>
                <c:pt idx="44">
                  <c:v>45778.0</c:v>
                </c:pt>
                <c:pt idx="45">
                  <c:v>45779.0</c:v>
                </c:pt>
                <c:pt idx="46">
                  <c:v>45782.0</c:v>
                </c:pt>
                <c:pt idx="47">
                  <c:v>45783.0</c:v>
                </c:pt>
                <c:pt idx="48">
                  <c:v>45784.0</c:v>
                </c:pt>
                <c:pt idx="49">
                  <c:v>45785.0</c:v>
                </c:pt>
                <c:pt idx="50">
                  <c:v>45786.0</c:v>
                </c:pt>
                <c:pt idx="51">
                  <c:v>45789.0</c:v>
                </c:pt>
                <c:pt idx="52">
                  <c:v>45790.0</c:v>
                </c:pt>
                <c:pt idx="53">
                  <c:v>45791.0</c:v>
                </c:pt>
                <c:pt idx="54">
                  <c:v>45792.0</c:v>
                </c:pt>
                <c:pt idx="55">
                  <c:v>45793.0</c:v>
                </c:pt>
                <c:pt idx="56">
                  <c:v>45796.0</c:v>
                </c:pt>
                <c:pt idx="57">
                  <c:v>45797.0</c:v>
                </c:pt>
                <c:pt idx="58">
                  <c:v>45798.0</c:v>
                </c:pt>
                <c:pt idx="59">
                  <c:v>45799.0</c:v>
                </c:pt>
                <c:pt idx="60">
                  <c:v>45800.0</c:v>
                </c:pt>
                <c:pt idx="61">
                  <c:v>45803.0</c:v>
                </c:pt>
                <c:pt idx="62">
                  <c:v>45804.0</c:v>
                </c:pt>
                <c:pt idx="63">
                  <c:v>45805.0</c:v>
                </c:pt>
                <c:pt idx="64">
                  <c:v>45806.0</c:v>
                </c:pt>
                <c:pt idx="65">
                  <c:v>45807.0</c:v>
                </c:pt>
                <c:pt idx="66">
                  <c:v>45810.0</c:v>
                </c:pt>
                <c:pt idx="67">
                  <c:v>45811.0</c:v>
                </c:pt>
                <c:pt idx="68">
                  <c:v>45812.0</c:v>
                </c:pt>
                <c:pt idx="69">
                  <c:v>45813.0</c:v>
                </c:pt>
                <c:pt idx="70">
                  <c:v>45814.0</c:v>
                </c:pt>
                <c:pt idx="71">
                  <c:v>45817.0</c:v>
                </c:pt>
                <c:pt idx="72">
                  <c:v>45818.0</c:v>
                </c:pt>
                <c:pt idx="73">
                  <c:v>45819.0</c:v>
                </c:pt>
                <c:pt idx="74">
                  <c:v>45820.0</c:v>
                </c:pt>
                <c:pt idx="75">
                  <c:v>45821.0</c:v>
                </c:pt>
                <c:pt idx="76">
                  <c:v>45824.0</c:v>
                </c:pt>
                <c:pt idx="77">
                  <c:v>45825.0</c:v>
                </c:pt>
                <c:pt idx="78">
                  <c:v>45826.0</c:v>
                </c:pt>
                <c:pt idx="79">
                  <c:v>45827.0</c:v>
                </c:pt>
                <c:pt idx="80">
                  <c:v>45828.0</c:v>
                </c:pt>
                <c:pt idx="81">
                  <c:v>45831.0</c:v>
                </c:pt>
                <c:pt idx="82">
                  <c:v>45832.0</c:v>
                </c:pt>
                <c:pt idx="83">
                  <c:v>45833.0</c:v>
                </c:pt>
                <c:pt idx="84">
                  <c:v>45834.0</c:v>
                </c:pt>
                <c:pt idx="85">
                  <c:v>45835.0</c:v>
                </c:pt>
                <c:pt idx="86">
                  <c:v>45838.0</c:v>
                </c:pt>
                <c:pt idx="87">
                  <c:v>45839.0</c:v>
                </c:pt>
                <c:pt idx="88">
                  <c:v>45840.0</c:v>
                </c:pt>
                <c:pt idx="89">
                  <c:v>45841.0</c:v>
                </c:pt>
                <c:pt idx="90">
                  <c:v>45842.0</c:v>
                </c:pt>
                <c:pt idx="91">
                  <c:v>45845.0</c:v>
                </c:pt>
                <c:pt idx="92">
                  <c:v>45846.0</c:v>
                </c:pt>
                <c:pt idx="93">
                  <c:v>45847.0</c:v>
                </c:pt>
                <c:pt idx="94">
                  <c:v>45848.0</c:v>
                </c:pt>
                <c:pt idx="95">
                  <c:v>45849.0</c:v>
                </c:pt>
                <c:pt idx="96">
                  <c:v>45852.0</c:v>
                </c:pt>
                <c:pt idx="97">
                  <c:v>45853.0</c:v>
                </c:pt>
                <c:pt idx="98">
                  <c:v>45854.0</c:v>
                </c:pt>
                <c:pt idx="99">
                  <c:v>45855.0</c:v>
                </c:pt>
                <c:pt idx="100">
                  <c:v>45856.0</c:v>
                </c:pt>
                <c:pt idx="101">
                  <c:v>45859.0</c:v>
                </c:pt>
                <c:pt idx="102">
                  <c:v>45860.0</c:v>
                </c:pt>
                <c:pt idx="103">
                  <c:v>45861.0</c:v>
                </c:pt>
                <c:pt idx="104">
                  <c:v>45862.0</c:v>
                </c:pt>
                <c:pt idx="105">
                  <c:v>45863.0</c:v>
                </c:pt>
                <c:pt idx="106">
                  <c:v>45866.0</c:v>
                </c:pt>
                <c:pt idx="107">
                  <c:v>45867.0</c:v>
                </c:pt>
                <c:pt idx="108">
                  <c:v>45868.0</c:v>
                </c:pt>
                <c:pt idx="109">
                  <c:v>45869.0</c:v>
                </c:pt>
                <c:pt idx="110">
                  <c:v>45870.0</c:v>
                </c:pt>
                <c:pt idx="111">
                  <c:v>45873.0</c:v>
                </c:pt>
                <c:pt idx="112">
                  <c:v>45874.0</c:v>
                </c:pt>
                <c:pt idx="113">
                  <c:v>45875.0</c:v>
                </c:pt>
                <c:pt idx="114">
                  <c:v>45876.0</c:v>
                </c:pt>
                <c:pt idx="115">
                  <c:v>45877.0</c:v>
                </c:pt>
                <c:pt idx="116">
                  <c:v>45880.0</c:v>
                </c:pt>
                <c:pt idx="117">
                  <c:v>45881.0</c:v>
                </c:pt>
                <c:pt idx="118">
                  <c:v>45882.0</c:v>
                </c:pt>
                <c:pt idx="119">
                  <c:v>45883.0</c:v>
                </c:pt>
                <c:pt idx="120">
                  <c:v>45884.0</c:v>
                </c:pt>
                <c:pt idx="121">
                  <c:v>45887.0</c:v>
                </c:pt>
                <c:pt idx="122">
                  <c:v>45888.0</c:v>
                </c:pt>
                <c:pt idx="123">
                  <c:v>45889.0</c:v>
                </c:pt>
                <c:pt idx="124">
                  <c:v>45890.0</c:v>
                </c:pt>
                <c:pt idx="125">
                  <c:v>45891.0</c:v>
                </c:pt>
                <c:pt idx="126">
                  <c:v>45894.0</c:v>
                </c:pt>
                <c:pt idx="127">
                  <c:v>45895.0</c:v>
                </c:pt>
                <c:pt idx="128">
                  <c:v>45896.0</c:v>
                </c:pt>
                <c:pt idx="129">
                  <c:v>45897.0</c:v>
                </c:pt>
                <c:pt idx="130">
                  <c:v>45898.0</c:v>
                </c:pt>
                <c:pt idx="131">
                  <c:v>45901.0</c:v>
                </c:pt>
                <c:pt idx="132">
                  <c:v>45902.0</c:v>
                </c:pt>
                <c:pt idx="133">
                  <c:v>45903.0</c:v>
                </c:pt>
                <c:pt idx="134">
                  <c:v>45904.0</c:v>
                </c:pt>
                <c:pt idx="135">
                  <c:v>45905.0</c:v>
                </c:pt>
                <c:pt idx="136">
                  <c:v>45908.0</c:v>
                </c:pt>
                <c:pt idx="137">
                  <c:v>45909.0</c:v>
                </c:pt>
                <c:pt idx="138">
                  <c:v>45910.0</c:v>
                </c:pt>
                <c:pt idx="139">
                  <c:v>45911.0</c:v>
                </c:pt>
                <c:pt idx="140">
                  <c:v>45912.0</c:v>
                </c:pt>
                <c:pt idx="141">
                  <c:v>45915.0</c:v>
                </c:pt>
                <c:pt idx="142">
                  <c:v>45916.0</c:v>
                </c:pt>
                <c:pt idx="143">
                  <c:v>45917.0</c:v>
                </c:pt>
                <c:pt idx="144">
                  <c:v>45918.0</c:v>
                </c:pt>
                <c:pt idx="145">
                  <c:v>45919.0</c:v>
                </c:pt>
                <c:pt idx="146">
                  <c:v>45922.0</c:v>
                </c:pt>
                <c:pt idx="147">
                  <c:v>45923.0</c:v>
                </c:pt>
                <c:pt idx="148">
                  <c:v>45924.0</c:v>
                </c:pt>
                <c:pt idx="149">
                  <c:v>45925.0</c:v>
                </c:pt>
                <c:pt idx="150">
                  <c:v>45926.0</c:v>
                </c:pt>
                <c:pt idx="151">
                  <c:v>45929.0</c:v>
                </c:pt>
                <c:pt idx="152">
                  <c:v>45930.0</c:v>
                </c:pt>
                <c:pt idx="153">
                  <c:v>45931.0</c:v>
                </c:pt>
                <c:pt idx="154">
                  <c:v>45932.0</c:v>
                </c:pt>
                <c:pt idx="155">
                  <c:v>45933.0</c:v>
                </c:pt>
                <c:pt idx="156">
                  <c:v>45936.0</c:v>
                </c:pt>
                <c:pt idx="157">
                  <c:v>45937.0</c:v>
                </c:pt>
                <c:pt idx="158">
                  <c:v>45938.0</c:v>
                </c:pt>
                <c:pt idx="159">
                  <c:v>45939.0</c:v>
                </c:pt>
                <c:pt idx="160">
                  <c:v>45940.0</c:v>
                </c:pt>
                <c:pt idx="161">
                  <c:v>45943.0</c:v>
                </c:pt>
                <c:pt idx="162">
                  <c:v>45944.0</c:v>
                </c:pt>
                <c:pt idx="163">
                  <c:v>45945.0</c:v>
                </c:pt>
                <c:pt idx="164">
                  <c:v>45946.0</c:v>
                </c:pt>
                <c:pt idx="165">
                  <c:v>45947.0</c:v>
                </c:pt>
                <c:pt idx="166">
                  <c:v>45950.0</c:v>
                </c:pt>
                <c:pt idx="167">
                  <c:v>45951.0</c:v>
                </c:pt>
                <c:pt idx="168">
                  <c:v>45952.0</c:v>
                </c:pt>
                <c:pt idx="169">
                  <c:v>45953.0</c:v>
                </c:pt>
                <c:pt idx="170">
                  <c:v>45954.0</c:v>
                </c:pt>
                <c:pt idx="171">
                  <c:v>45957.0</c:v>
                </c:pt>
                <c:pt idx="172">
                  <c:v>45958.0</c:v>
                </c:pt>
                <c:pt idx="173">
                  <c:v>45959.0</c:v>
                </c:pt>
                <c:pt idx="174">
                  <c:v>45960.0</c:v>
                </c:pt>
                <c:pt idx="175">
                  <c:v>45961.0</c:v>
                </c:pt>
                <c:pt idx="176">
                  <c:v>45964.0</c:v>
                </c:pt>
                <c:pt idx="177">
                  <c:v>45965.0</c:v>
                </c:pt>
                <c:pt idx="178">
                  <c:v>45966.0</c:v>
                </c:pt>
                <c:pt idx="179">
                  <c:v>45967.0</c:v>
                </c:pt>
                <c:pt idx="180">
                  <c:v>45968.0</c:v>
                </c:pt>
                <c:pt idx="181">
                  <c:v>45971.0</c:v>
                </c:pt>
                <c:pt idx="182">
                  <c:v>45972.0</c:v>
                </c:pt>
                <c:pt idx="183">
                  <c:v>45973.0</c:v>
                </c:pt>
                <c:pt idx="184">
                  <c:v>45974.0</c:v>
                </c:pt>
                <c:pt idx="185">
                  <c:v>45975.0</c:v>
                </c:pt>
                <c:pt idx="186">
                  <c:v>45978.0</c:v>
                </c:pt>
                <c:pt idx="187">
                  <c:v>45979.0</c:v>
                </c:pt>
                <c:pt idx="188">
                  <c:v>45980.0</c:v>
                </c:pt>
                <c:pt idx="189">
                  <c:v>45981.0</c:v>
                </c:pt>
                <c:pt idx="190">
                  <c:v>45982.0</c:v>
                </c:pt>
                <c:pt idx="191">
                  <c:v>45985.0</c:v>
                </c:pt>
                <c:pt idx="192">
                  <c:v>45986.0</c:v>
                </c:pt>
                <c:pt idx="193">
                  <c:v>45987.0</c:v>
                </c:pt>
                <c:pt idx="194">
                  <c:v>45988.0</c:v>
                </c:pt>
                <c:pt idx="195">
                  <c:v>45989.0</c:v>
                </c:pt>
                <c:pt idx="196">
                  <c:v>45992.0</c:v>
                </c:pt>
                <c:pt idx="197">
                  <c:v>45993.0</c:v>
                </c:pt>
                <c:pt idx="198">
                  <c:v>45994.0</c:v>
                </c:pt>
                <c:pt idx="199">
                  <c:v>45995.0</c:v>
                </c:pt>
                <c:pt idx="200">
                  <c:v>45996.0</c:v>
                </c:pt>
                <c:pt idx="201">
                  <c:v>45999.0</c:v>
                </c:pt>
                <c:pt idx="202">
                  <c:v>46000.0</c:v>
                </c:pt>
                <c:pt idx="203">
                  <c:v>46001.0</c:v>
                </c:pt>
                <c:pt idx="204">
                  <c:v>46002.0</c:v>
                </c:pt>
                <c:pt idx="205">
                  <c:v>46003.0</c:v>
                </c:pt>
                <c:pt idx="206">
                  <c:v>46006.0</c:v>
                </c:pt>
                <c:pt idx="207">
                  <c:v>46007.0</c:v>
                </c:pt>
                <c:pt idx="208">
                  <c:v>46008.0</c:v>
                </c:pt>
                <c:pt idx="209">
                  <c:v>46009.0</c:v>
                </c:pt>
                <c:pt idx="210">
                  <c:v>46010.0</c:v>
                </c:pt>
                <c:pt idx="211">
                  <c:v>46013.0</c:v>
                </c:pt>
                <c:pt idx="212">
                  <c:v>46014.0</c:v>
                </c:pt>
                <c:pt idx="213">
                  <c:v>46015.0</c:v>
                </c:pt>
                <c:pt idx="214">
                  <c:v>46016.0</c:v>
                </c:pt>
                <c:pt idx="215">
                  <c:v>46017.0</c:v>
                </c:pt>
                <c:pt idx="216">
                  <c:v>46020.0</c:v>
                </c:pt>
                <c:pt idx="217">
                  <c:v>46021.0</c:v>
                </c:pt>
                <c:pt idx="218">
                  <c:v>46022.0</c:v>
                </c:pt>
                <c:pt idx="219">
                  <c:v>46023.0</c:v>
                </c:pt>
                <c:pt idx="220">
                  <c:v>46024.0</c:v>
                </c:pt>
                <c:pt idx="221">
                  <c:v>46027.0</c:v>
                </c:pt>
                <c:pt idx="222">
                  <c:v>46028.0</c:v>
                </c:pt>
                <c:pt idx="223">
                  <c:v>46029.0</c:v>
                </c:pt>
                <c:pt idx="224">
                  <c:v>46030.0</c:v>
                </c:pt>
                <c:pt idx="225">
                  <c:v>46031.0</c:v>
                </c:pt>
                <c:pt idx="226">
                  <c:v>46034.0</c:v>
                </c:pt>
                <c:pt idx="227">
                  <c:v>46035.0</c:v>
                </c:pt>
                <c:pt idx="228">
                  <c:v>46036.0</c:v>
                </c:pt>
                <c:pt idx="229">
                  <c:v>46037.0</c:v>
                </c:pt>
                <c:pt idx="230">
                  <c:v>46038.0</c:v>
                </c:pt>
                <c:pt idx="231">
                  <c:v>46041.0</c:v>
                </c:pt>
                <c:pt idx="232">
                  <c:v>46042.0</c:v>
                </c:pt>
                <c:pt idx="233">
                  <c:v>46043.0</c:v>
                </c:pt>
                <c:pt idx="234">
                  <c:v>46044.0</c:v>
                </c:pt>
                <c:pt idx="235">
                  <c:v>46045.0</c:v>
                </c:pt>
                <c:pt idx="236">
                  <c:v>46048.0</c:v>
                </c:pt>
                <c:pt idx="237">
                  <c:v>46049.0</c:v>
                </c:pt>
                <c:pt idx="238">
                  <c:v>46050.0</c:v>
                </c:pt>
                <c:pt idx="239">
                  <c:v>46051.0</c:v>
                </c:pt>
                <c:pt idx="240">
                  <c:v>46052.0</c:v>
                </c:pt>
                <c:pt idx="241">
                  <c:v>46055.0</c:v>
                </c:pt>
                <c:pt idx="242">
                  <c:v>46056.0</c:v>
                </c:pt>
                <c:pt idx="243">
                  <c:v>46057.0</c:v>
                </c:pt>
                <c:pt idx="244">
                  <c:v>46058.0</c:v>
                </c:pt>
                <c:pt idx="245">
                  <c:v>46059.0</c:v>
                </c:pt>
                <c:pt idx="246">
                  <c:v>46062.0</c:v>
                </c:pt>
                <c:pt idx="247">
                  <c:v>46063.0</c:v>
                </c:pt>
                <c:pt idx="248">
                  <c:v>46064.0</c:v>
                </c:pt>
                <c:pt idx="249">
                  <c:v>46065.0</c:v>
                </c:pt>
                <c:pt idx="250">
                  <c:v>46066.0</c:v>
                </c:pt>
                <c:pt idx="251">
                  <c:v>46069.0</c:v>
                </c:pt>
                <c:pt idx="252">
                  <c:v>46070.0</c:v>
                </c:pt>
                <c:pt idx="253">
                  <c:v>46071.0</c:v>
                </c:pt>
                <c:pt idx="254">
                  <c:v>46072.0</c:v>
                </c:pt>
                <c:pt idx="255">
                  <c:v>46073.0</c:v>
                </c:pt>
                <c:pt idx="256">
                  <c:v>46076.0</c:v>
                </c:pt>
                <c:pt idx="257">
                  <c:v>46077.0</c:v>
                </c:pt>
                <c:pt idx="258">
                  <c:v>46078.0</c:v>
                </c:pt>
                <c:pt idx="259">
                  <c:v>46079.0</c:v>
                </c:pt>
                <c:pt idx="260">
                  <c:v>46080.0</c:v>
                </c:pt>
                <c:pt idx="261">
                  <c:v>46083.0</c:v>
                </c:pt>
                <c:pt idx="262">
                  <c:v>46084.0</c:v>
                </c:pt>
                <c:pt idx="263">
                  <c:v>46085.0</c:v>
                </c:pt>
                <c:pt idx="264">
                  <c:v>46086.0</c:v>
                </c:pt>
                <c:pt idx="265">
                  <c:v>46087.0</c:v>
                </c:pt>
                <c:pt idx="266">
                  <c:v>46090.0</c:v>
                </c:pt>
                <c:pt idx="267">
                  <c:v>46091.0</c:v>
                </c:pt>
                <c:pt idx="268">
                  <c:v>46092.0</c:v>
                </c:pt>
                <c:pt idx="269">
                  <c:v>46093.0</c:v>
                </c:pt>
                <c:pt idx="270">
                  <c:v>46094.0</c:v>
                </c:pt>
                <c:pt idx="271">
                  <c:v>46097.0</c:v>
                </c:pt>
                <c:pt idx="272">
                  <c:v>46098.0</c:v>
                </c:pt>
                <c:pt idx="273">
                  <c:v>46099.0</c:v>
                </c:pt>
                <c:pt idx="274">
                  <c:v>46100.0</c:v>
                </c:pt>
                <c:pt idx="275">
                  <c:v>46101.0</c:v>
                </c:pt>
                <c:pt idx="276">
                  <c:v>46104.0</c:v>
                </c:pt>
                <c:pt idx="277">
                  <c:v>46105.0</c:v>
                </c:pt>
                <c:pt idx="278">
                  <c:v>46106.0</c:v>
                </c:pt>
                <c:pt idx="279">
                  <c:v>46107.0</c:v>
                </c:pt>
                <c:pt idx="280">
                  <c:v>46108.0</c:v>
                </c:pt>
                <c:pt idx="281">
                  <c:v>46111.0</c:v>
                </c:pt>
                <c:pt idx="282">
                  <c:v>46112.0</c:v>
                </c:pt>
                <c:pt idx="283">
                  <c:v>46113.0</c:v>
                </c:pt>
                <c:pt idx="284">
                  <c:v>46114.0</c:v>
                </c:pt>
                <c:pt idx="285">
                  <c:v>46115.0</c:v>
                </c:pt>
                <c:pt idx="286">
                  <c:v>46118.0</c:v>
                </c:pt>
                <c:pt idx="287">
                  <c:v>46119.0</c:v>
                </c:pt>
                <c:pt idx="288">
                  <c:v>46120.0</c:v>
                </c:pt>
                <c:pt idx="289">
                  <c:v>46121.0</c:v>
                </c:pt>
                <c:pt idx="290">
                  <c:v>46122.0</c:v>
                </c:pt>
                <c:pt idx="291">
                  <c:v>46125.0</c:v>
                </c:pt>
                <c:pt idx="292">
                  <c:v>46126.0</c:v>
                </c:pt>
                <c:pt idx="293">
                  <c:v>46127.0</c:v>
                </c:pt>
                <c:pt idx="294">
                  <c:v>46128.0</c:v>
                </c:pt>
                <c:pt idx="295">
                  <c:v>46129.0</c:v>
                </c:pt>
                <c:pt idx="296">
                  <c:v>46132.0</c:v>
                </c:pt>
                <c:pt idx="297">
                  <c:v>46133.0</c:v>
                </c:pt>
                <c:pt idx="298">
                  <c:v>46134.0</c:v>
                </c:pt>
                <c:pt idx="299">
                  <c:v>46135.0</c:v>
                </c:pt>
                <c:pt idx="300">
                  <c:v>46136.0</c:v>
                </c:pt>
                <c:pt idx="301">
                  <c:v>46139.0</c:v>
                </c:pt>
                <c:pt idx="302">
                  <c:v>46140.0</c:v>
                </c:pt>
                <c:pt idx="303">
                  <c:v>46141.0</c:v>
                </c:pt>
                <c:pt idx="304">
                  <c:v>46142.0</c:v>
                </c:pt>
                <c:pt idx="305">
                  <c:v>46143.0</c:v>
                </c:pt>
                <c:pt idx="306">
                  <c:v>46146.0</c:v>
                </c:pt>
                <c:pt idx="307">
                  <c:v>46147.0</c:v>
                </c:pt>
                <c:pt idx="308">
                  <c:v>46148.0</c:v>
                </c:pt>
                <c:pt idx="309">
                  <c:v>46149.0</c:v>
                </c:pt>
                <c:pt idx="310">
                  <c:v>46150.0</c:v>
                </c:pt>
                <c:pt idx="311">
                  <c:v>46153.0</c:v>
                </c:pt>
                <c:pt idx="312">
                  <c:v>46154.0</c:v>
                </c:pt>
                <c:pt idx="313">
                  <c:v>46155.0</c:v>
                </c:pt>
                <c:pt idx="314">
                  <c:v>46156.0</c:v>
                </c:pt>
                <c:pt idx="315">
                  <c:v>46157.0</c:v>
                </c:pt>
                <c:pt idx="316">
                  <c:v>46160.0</c:v>
                </c:pt>
                <c:pt idx="317">
                  <c:v>46161.0</c:v>
                </c:pt>
                <c:pt idx="318">
                  <c:v>46162.0</c:v>
                </c:pt>
                <c:pt idx="319">
                  <c:v>46163.0</c:v>
                </c:pt>
                <c:pt idx="320">
                  <c:v>46164.0</c:v>
                </c:pt>
                <c:pt idx="321">
                  <c:v>46167.0</c:v>
                </c:pt>
                <c:pt idx="322">
                  <c:v>46168.0</c:v>
                </c:pt>
                <c:pt idx="323">
                  <c:v>46169.0</c:v>
                </c:pt>
                <c:pt idx="324">
                  <c:v>46170.0</c:v>
                </c:pt>
                <c:pt idx="325">
                  <c:v>46171.0</c:v>
                </c:pt>
                <c:pt idx="326">
                  <c:v>46174.0</c:v>
                </c:pt>
                <c:pt idx="327">
                  <c:v>46175.0</c:v>
                </c:pt>
                <c:pt idx="328">
                  <c:v>46176.0</c:v>
                </c:pt>
                <c:pt idx="329">
                  <c:v>46177.0</c:v>
                </c:pt>
                <c:pt idx="330">
                  <c:v>46178.0</c:v>
                </c:pt>
                <c:pt idx="331">
                  <c:v>46181.0</c:v>
                </c:pt>
                <c:pt idx="332">
                  <c:v>46182.0</c:v>
                </c:pt>
                <c:pt idx="333">
                  <c:v>46183.0</c:v>
                </c:pt>
                <c:pt idx="334">
                  <c:v>46184.0</c:v>
                </c:pt>
                <c:pt idx="335">
                  <c:v>46185.0</c:v>
                </c:pt>
                <c:pt idx="336">
                  <c:v>46188.0</c:v>
                </c:pt>
                <c:pt idx="337">
                  <c:v>46189.0</c:v>
                </c:pt>
                <c:pt idx="338">
                  <c:v>46190.0</c:v>
                </c:pt>
                <c:pt idx="339">
                  <c:v>46191.0</c:v>
                </c:pt>
                <c:pt idx="340">
                  <c:v>46192.0</c:v>
                </c:pt>
                <c:pt idx="341">
                  <c:v>46195.0</c:v>
                </c:pt>
                <c:pt idx="342">
                  <c:v>46196.0</c:v>
                </c:pt>
                <c:pt idx="343">
                  <c:v>46197.0</c:v>
                </c:pt>
                <c:pt idx="344">
                  <c:v>46198.0</c:v>
                </c:pt>
                <c:pt idx="345">
                  <c:v>46199.0</c:v>
                </c:pt>
                <c:pt idx="346">
                  <c:v>46202.0</c:v>
                </c:pt>
                <c:pt idx="347">
                  <c:v>46203.0</c:v>
                </c:pt>
              </c:numCache>
            </c:numRef>
          </c:cat>
          <c:val>
            <c:numRef>
              <c:f>Sheet1!$C$2:$C$349</c:f>
              <c:numCache>
                <c:formatCode>[$-416]mmm\-yy;@</c:formatCode>
                <c:ptCount val="348"/>
                <c:pt idx="0">
                  <c:v>99.4964677822846</c:v>
                </c:pt>
                <c:pt idx="1">
                  <c:v>100.42626515040105</c:v>
                </c:pt>
                <c:pt idx="2">
                  <c:v>100.47095522434462</c:v>
                </c:pt>
                <c:pt idx="3">
                  <c:v>98.82944629324554</c:v>
                </c:pt>
                <c:pt idx="4">
                  <c:v>99.71264819955769</c:v>
                </c:pt>
                <c:pt idx="5">
                  <c:v>100.17755690587018</c:v>
                </c:pt>
                <c:pt idx="6">
                  <c:v>101.10261203919259</c:v>
                </c:pt>
                <c:pt idx="7">
                  <c:v>100.81282418386401</c:v>
                </c:pt>
                <c:pt idx="8">
                  <c:v>101.69811857084458</c:v>
                </c:pt>
                <c:pt idx="9">
                  <c:v>100.66988456967307</c:v>
                </c:pt>
                <c:pt idx="10">
                  <c:v>101.29403766360355</c:v>
                </c:pt>
                <c:pt idx="11">
                  <c:v>100.84795866690581</c:v>
                </c:pt>
                <c:pt idx="12">
                  <c:v>101.57845257488671</c:v>
                </c:pt>
                <c:pt idx="13">
                  <c:v>102.65075953304033</c:v>
                </c:pt>
                <c:pt idx="14">
                  <c:v>101.94658543168171</c:v>
                </c:pt>
                <c:pt idx="15">
                  <c:v>101.94533201931418</c:v>
                </c:pt>
                <c:pt idx="16">
                  <c:v>102.03601710860129</c:v>
                </c:pt>
                <c:pt idx="17">
                  <c:v>103.30092171422247</c:v>
                </c:pt>
                <c:pt idx="18">
                  <c:v>104.08658523277956</c:v>
                </c:pt>
                <c:pt idx="19">
                  <c:v>102.86952416532536</c:v>
                </c:pt>
                <c:pt idx="20">
                  <c:v>103.39169836774012</c:v>
                </c:pt>
                <c:pt idx="21">
                  <c:v>104.21375460485585</c:v>
                </c:pt>
                <c:pt idx="22">
                  <c:v>106.47915934682388</c:v>
                </c:pt>
                <c:pt idx="23">
                  <c:v>104.74445508409364</c:v>
                </c:pt>
                <c:pt idx="24">
                  <c:v>104.23502801773883</c:v>
                </c:pt>
                <c:pt idx="25">
                  <c:v>105.67698536323098</c:v>
                </c:pt>
                <c:pt idx="26">
                  <c:v>104.29782641479251</c:v>
                </c:pt>
                <c:pt idx="27">
                  <c:v>103.09896401026424</c:v>
                </c:pt>
                <c:pt idx="28">
                  <c:v>103.68361987878801</c:v>
                </c:pt>
                <c:pt idx="29">
                  <c:v>104.79138465348561</c:v>
                </c:pt>
                <c:pt idx="30">
                  <c:v>104.14306080418383</c:v>
                </c:pt>
                <c:pt idx="31">
                  <c:v>104.75763730404594</c:v>
                </c:pt>
                <c:pt idx="32">
                  <c:v>104.93253569965538</c:v>
                </c:pt>
                <c:pt idx="33">
                  <c:v>106.57866383981506</c:v>
                </c:pt>
                <c:pt idx="34">
                  <c:v>106.6303348389822</c:v>
                </c:pt>
                <c:pt idx="35">
                  <c:v>107.73955403088723</c:v>
                </c:pt>
                <c:pt idx="36">
                  <c:v>106.82040865390421</c:v>
                </c:pt>
                <c:pt idx="37">
                  <c:v>106.6763305157212</c:v>
                </c:pt>
                <c:pt idx="38">
                  <c:v>106.6265079182607</c:v>
                </c:pt>
                <c:pt idx="39">
                  <c:v>107.8944121980427</c:v>
                </c:pt>
                <c:pt idx="40">
                  <c:v>108.57372948615551</c:v>
                </c:pt>
                <c:pt idx="41">
                  <c:v>107.81180993972421</c:v>
                </c:pt>
                <c:pt idx="42">
                  <c:v>108.60095763392287</c:v>
                </c:pt>
                <c:pt idx="43">
                  <c:v>109.49217105876676</c:v>
                </c:pt>
                <c:pt idx="44">
                  <c:v>109.42467381903434</c:v>
                </c:pt>
                <c:pt idx="45">
                  <c:v>109.19744000816571</c:v>
                </c:pt>
                <c:pt idx="46">
                  <c:v>109.04041054551563</c:v>
                </c:pt>
                <c:pt idx="47">
                  <c:v>107.24670407258279</c:v>
                </c:pt>
                <c:pt idx="48">
                  <c:v>107.50274808000017</c:v>
                </c:pt>
                <c:pt idx="49">
                  <c:v>107.80867717434866</c:v>
                </c:pt>
                <c:pt idx="50">
                  <c:v>106.9294666609046</c:v>
                </c:pt>
                <c:pt idx="51">
                  <c:v>107.77682520947035</c:v>
                </c:pt>
                <c:pt idx="52">
                  <c:v>106.35097344746862</c:v>
                </c:pt>
                <c:pt idx="53">
                  <c:v>105.817290627033</c:v>
                </c:pt>
                <c:pt idx="54">
                  <c:v>105.36733532899665</c:v>
                </c:pt>
                <c:pt idx="55">
                  <c:v>107.51420514602967</c:v>
                </c:pt>
                <c:pt idx="56">
                  <c:v>105.848612214169</c:v>
                </c:pt>
                <c:pt idx="57">
                  <c:v>106.49707283730893</c:v>
                </c:pt>
                <c:pt idx="58">
                  <c:v>107.55365508687873</c:v>
                </c:pt>
                <c:pt idx="59">
                  <c:v>108.01368956474458</c:v>
                </c:pt>
                <c:pt idx="60">
                  <c:v>109.3442107737923</c:v>
                </c:pt>
                <c:pt idx="61">
                  <c:v>108.30244726905944</c:v>
                </c:pt>
                <c:pt idx="62">
                  <c:v>105.88702262232663</c:v>
                </c:pt>
                <c:pt idx="63">
                  <c:v>106.75192676520378</c:v>
                </c:pt>
                <c:pt idx="64">
                  <c:v>105.52873312199903</c:v>
                </c:pt>
                <c:pt idx="65">
                  <c:v>105.23705183392933</c:v>
                </c:pt>
                <c:pt idx="66">
                  <c:v>104.04908758649418</c:v>
                </c:pt>
                <c:pt idx="67">
                  <c:v>105.19606423073418</c:v>
                </c:pt>
                <c:pt idx="68">
                  <c:v>106.15876625961303</c:v>
                </c:pt>
                <c:pt idx="69">
                  <c:v>105.44743494297857</c:v>
                </c:pt>
                <c:pt idx="70">
                  <c:v>106.45286763550996</c:v>
                </c:pt>
                <c:pt idx="71">
                  <c:v>106.6351971896633</c:v>
                </c:pt>
                <c:pt idx="72">
                  <c:v>106.5398772339304</c:v>
                </c:pt>
                <c:pt idx="73">
                  <c:v>106.65431881379912</c:v>
                </c:pt>
                <c:pt idx="74">
                  <c:v>106.49140502455872</c:v>
                </c:pt>
                <c:pt idx="75">
                  <c:v>107.1995784734783</c:v>
                </c:pt>
                <c:pt idx="76">
                  <c:v>107.58586955003268</c:v>
                </c:pt>
                <c:pt idx="77">
                  <c:v>107.26368521652519</c:v>
                </c:pt>
                <c:pt idx="78">
                  <c:v>108.39666405479824</c:v>
                </c:pt>
                <c:pt idx="79">
                  <c:v>107.78804321891309</c:v>
                </c:pt>
                <c:pt idx="80">
                  <c:v>108.15121739972172</c:v>
                </c:pt>
                <c:pt idx="81">
                  <c:v>108.66185918174926</c:v>
                </c:pt>
                <c:pt idx="82">
                  <c:v>110.32308935626949</c:v>
                </c:pt>
                <c:pt idx="83">
                  <c:v>109.8206323740166</c:v>
                </c:pt>
                <c:pt idx="84">
                  <c:v>111.78980685554217</c:v>
                </c:pt>
                <c:pt idx="85">
                  <c:v>112.0426362181358</c:v>
                </c:pt>
                <c:pt idx="86">
                  <c:v>111.88132069189523</c:v>
                </c:pt>
                <c:pt idx="87">
                  <c:v>111.18488995719792</c:v>
                </c:pt>
                <c:pt idx="88">
                  <c:v>111.8923520949786</c:v>
                </c:pt>
                <c:pt idx="89">
                  <c:v>112.0030530670361</c:v>
                </c:pt>
                <c:pt idx="90">
                  <c:v>110.82297852179978</c:v>
                </c:pt>
                <c:pt idx="91">
                  <c:v>109.62843184796544</c:v>
                </c:pt>
                <c:pt idx="92">
                  <c:v>109.07423906776346</c:v>
                </c:pt>
                <c:pt idx="93">
                  <c:v>108.39142778252247</c:v>
                </c:pt>
                <c:pt idx="94">
                  <c:v>109.62741782595383</c:v>
                </c:pt>
                <c:pt idx="95">
                  <c:v>111.19019865213859</c:v>
                </c:pt>
                <c:pt idx="96">
                  <c:v>112.21154692265523</c:v>
                </c:pt>
                <c:pt idx="97">
                  <c:v>112.66922291357535</c:v>
                </c:pt>
                <c:pt idx="98">
                  <c:v>112.2430648640346</c:v>
                </c:pt>
                <c:pt idx="99">
                  <c:v>112.36034002223982</c:v>
                </c:pt>
                <c:pt idx="100">
                  <c:v>113.41057999242521</c:v>
                </c:pt>
                <c:pt idx="101">
                  <c:v>115.88403325216457</c:v>
                </c:pt>
                <c:pt idx="102">
                  <c:v>116.99987968742131</c:v>
                </c:pt>
                <c:pt idx="103">
                  <c:v>116.73029775581128</c:v>
                </c:pt>
                <c:pt idx="104">
                  <c:v>116.8330496888584</c:v>
                </c:pt>
                <c:pt idx="105">
                  <c:v>116.32769428956904</c:v>
                </c:pt>
                <c:pt idx="106">
                  <c:v>115.47571191315744</c:v>
                </c:pt>
                <c:pt idx="107">
                  <c:v>115.32069500540977</c:v>
                </c:pt>
                <c:pt idx="108">
                  <c:v>115.60393957549613</c:v>
                </c:pt>
                <c:pt idx="109">
                  <c:v>117.78411610621218</c:v>
                </c:pt>
                <c:pt idx="110">
                  <c:v>117.90429414908812</c:v>
                </c:pt>
                <c:pt idx="111">
                  <c:v>119.56362975352394</c:v>
                </c:pt>
                <c:pt idx="112">
                  <c:v>121.73668566929065</c:v>
                </c:pt>
                <c:pt idx="113">
                  <c:v>121.89349210142602</c:v>
                </c:pt>
                <c:pt idx="114">
                  <c:v>123.91424105756003</c:v>
                </c:pt>
                <c:pt idx="115">
                  <c:v>124.86210495871215</c:v>
                </c:pt>
                <c:pt idx="116">
                  <c:v>124.40319265295936</c:v>
                </c:pt>
                <c:pt idx="117">
                  <c:v>124.79528666647575</c:v>
                </c:pt>
                <c:pt idx="118">
                  <c:v>124.88623474842117</c:v>
                </c:pt>
                <c:pt idx="119">
                  <c:v>124.65851839944612</c:v>
                </c:pt>
                <c:pt idx="120">
                  <c:v>124.47304991873823</c:v>
                </c:pt>
                <c:pt idx="121">
                  <c:v>124.71478816199696</c:v>
                </c:pt>
                <c:pt idx="122">
                  <c:v>125.3186336456697</c:v>
                </c:pt>
                <c:pt idx="123">
                  <c:v>124.27237108716544</c:v>
                </c:pt>
                <c:pt idx="124">
                  <c:v>124.3228410025567</c:v>
                </c:pt>
                <c:pt idx="125">
                  <c:v>122.49236740963086</c:v>
                </c:pt>
                <c:pt idx="126">
                  <c:v>122.87306817450177</c:v>
                </c:pt>
                <c:pt idx="127">
                  <c:v>123.70074051760172</c:v>
                </c:pt>
                <c:pt idx="128">
                  <c:v>123.96540423702602</c:v>
                </c:pt>
                <c:pt idx="129">
                  <c:v>124.3817459544449</c:v>
                </c:pt>
                <c:pt idx="130">
                  <c:v>125.17771835976745</c:v>
                </c:pt>
                <c:pt idx="131">
                  <c:v>124.40774915736495</c:v>
                </c:pt>
                <c:pt idx="132">
                  <c:v>124.17255772667156</c:v>
                </c:pt>
                <c:pt idx="133">
                  <c:v>124.86906897533035</c:v>
                </c:pt>
                <c:pt idx="134">
                  <c:v>126.18254889897094</c:v>
                </c:pt>
                <c:pt idx="135">
                  <c:v>126.74396206378537</c:v>
                </c:pt>
                <c:pt idx="136">
                  <c:v>130.0429292226289</c:v>
                </c:pt>
                <c:pt idx="137">
                  <c:v>129.98914272301644</c:v>
                </c:pt>
                <c:pt idx="138">
                  <c:v>131.35358731663754</c:v>
                </c:pt>
                <c:pt idx="139">
                  <c:v>133.0831563572101</c:v>
                </c:pt>
                <c:pt idx="140">
                  <c:v>132.97167280162287</c:v>
                </c:pt>
                <c:pt idx="141">
                  <c:v>131.9471089330059</c:v>
                </c:pt>
                <c:pt idx="142">
                  <c:v>130.45267211444317</c:v>
                </c:pt>
                <c:pt idx="143">
                  <c:v>130.72959313300473</c:v>
                </c:pt>
                <c:pt idx="144">
                  <c:v>132.24643808432833</c:v>
                </c:pt>
                <c:pt idx="145">
                  <c:v>132.67183308425749</c:v>
                </c:pt>
                <c:pt idx="146">
                  <c:v>132.9675003245902</c:v>
                </c:pt>
                <c:pt idx="147">
                  <c:v>132.5297528536267</c:v>
                </c:pt>
                <c:pt idx="148">
                  <c:v>133.3395490483602</c:v>
                </c:pt>
                <c:pt idx="149">
                  <c:v>130.55831133045444</c:v>
                </c:pt>
                <c:pt idx="150">
                  <c:v>130.9269730790982</c:v>
                </c:pt>
                <c:pt idx="151">
                  <c:v>131.02926149137429</c:v>
                </c:pt>
                <c:pt idx="152">
                  <c:v>129.29922941713104</c:v>
                </c:pt>
                <c:pt idx="153">
                  <c:v>132.17691038297272</c:v>
                </c:pt>
                <c:pt idx="154">
                  <c:v>130.4091588944508</c:v>
                </c:pt>
                <c:pt idx="155">
                  <c:v>129.06917805704367</c:v>
                </c:pt>
                <c:pt idx="156">
                  <c:v>127.5837685035635</c:v>
                </c:pt>
                <c:pt idx="157">
                  <c:v>129.06420947354917</c:v>
                </c:pt>
                <c:pt idx="158">
                  <c:v>127.98254187277658</c:v>
                </c:pt>
                <c:pt idx="159">
                  <c:v>128.90229661741986</c:v>
                </c:pt>
                <c:pt idx="160">
                  <c:v>129.724061845189</c:v>
                </c:pt>
                <c:pt idx="161">
                  <c:v>130.12577888073332</c:v>
                </c:pt>
                <c:pt idx="162">
                  <c:v>128.4893445334062</c:v>
                </c:pt>
                <c:pt idx="163">
                  <c:v>127.76709773274919</c:v>
                </c:pt>
                <c:pt idx="164">
                  <c:v>129.96867172056025</c:v>
                </c:pt>
                <c:pt idx="165">
                  <c:v>128.35607970836827</c:v>
                </c:pt>
                <c:pt idx="166">
                  <c:v>127.35277804439333</c:v>
                </c:pt>
                <c:pt idx="167">
                  <c:v>127.2098289793743</c:v>
                </c:pt>
                <c:pt idx="168">
                  <c:v>128.30254878096287</c:v>
                </c:pt>
                <c:pt idx="169">
                  <c:v>128.68955955063117</c:v>
                </c:pt>
                <c:pt idx="170">
                  <c:v>129.70883769067484</c:v>
                </c:pt>
                <c:pt idx="171">
                  <c:v>128.3893171651926</c:v>
                </c:pt>
                <c:pt idx="172">
                  <c:v>129.6665040414405</c:v>
                </c:pt>
                <c:pt idx="173">
                  <c:v>130.46917706690738</c:v>
                </c:pt>
                <c:pt idx="174">
                  <c:v>128.45399640257043</c:v>
                </c:pt>
                <c:pt idx="175">
                  <c:v>130.4963073110795</c:v>
                </c:pt>
                <c:pt idx="176">
                  <c:v>133.55305002114196</c:v>
                </c:pt>
                <c:pt idx="177">
                  <c:v>132.5933680439112</c:v>
                </c:pt>
                <c:pt idx="178">
                  <c:v>132.73345667189653</c:v>
                </c:pt>
                <c:pt idx="179">
                  <c:v>134.65467069910483</c:v>
                </c:pt>
                <c:pt idx="180">
                  <c:v>132.72743888125655</c:v>
                </c:pt>
                <c:pt idx="181">
                  <c:v>130.15271196188147</c:v>
                </c:pt>
                <c:pt idx="182">
                  <c:v>128.529780370189</c:v>
                </c:pt>
                <c:pt idx="183">
                  <c:v>127.86519556531837</c:v>
                </c:pt>
                <c:pt idx="184">
                  <c:v>127.18950189751419</c:v>
                </c:pt>
                <c:pt idx="185">
                  <c:v>128.02557849366198</c:v>
                </c:pt>
                <c:pt idx="186">
                  <c:v>128.43338652658042</c:v>
                </c:pt>
                <c:pt idx="187">
                  <c:v>126.89722399009146</c:v>
                </c:pt>
                <c:pt idx="188">
                  <c:v>127.68066203360509</c:v>
                </c:pt>
                <c:pt idx="189">
                  <c:v>130.13734182872872</c:v>
                </c:pt>
                <c:pt idx="190">
                  <c:v>131.7602251186722</c:v>
                </c:pt>
                <c:pt idx="191">
                  <c:v>133.13199063546733</c:v>
                </c:pt>
                <c:pt idx="192">
                  <c:v>133.22541990869456</c:v>
                </c:pt>
                <c:pt idx="193">
                  <c:v>134.60247967451787</c:v>
                </c:pt>
                <c:pt idx="194">
                  <c:v>133.36934218172672</c:v>
                </c:pt>
                <c:pt idx="195">
                  <c:v>134.43765013387707</c:v>
                </c:pt>
                <c:pt idx="196">
                  <c:v>134.3875742340146</c:v>
                </c:pt>
                <c:pt idx="197">
                  <c:v>135.97456475538604</c:v>
                </c:pt>
                <c:pt idx="198">
                  <c:v>136.6762078565508</c:v>
                </c:pt>
                <c:pt idx="199">
                  <c:v>135.25493959917233</c:v>
                </c:pt>
                <c:pt idx="200">
                  <c:v>135.49568386088373</c:v>
                </c:pt>
                <c:pt idx="201">
                  <c:v>137.21406921427575</c:v>
                </c:pt>
                <c:pt idx="202">
                  <c:v>135.73320848423626</c:v>
                </c:pt>
                <c:pt idx="203">
                  <c:v>135.0421365919035</c:v>
                </c:pt>
                <c:pt idx="204">
                  <c:v>134.07162520626738</c:v>
                </c:pt>
                <c:pt idx="205">
                  <c:v>132.13342419918334</c:v>
                </c:pt>
                <c:pt idx="206">
                  <c:v>133.4696475991372</c:v>
                </c:pt>
                <c:pt idx="207">
                  <c:v>135.2861659032664</c:v>
                </c:pt>
                <c:pt idx="208">
                  <c:v>136.436156766615</c:v>
                </c:pt>
                <c:pt idx="209">
                  <c:v>136.8353284608376</c:v>
                </c:pt>
                <c:pt idx="210">
                  <c:v>136.8325488094386</c:v>
                </c:pt>
                <c:pt idx="211">
                  <c:v>137.22851525039889</c:v>
                </c:pt>
                <c:pt idx="212">
                  <c:v>136.29322618477357</c:v>
                </c:pt>
                <c:pt idx="213">
                  <c:v>137.5796238038322</c:v>
                </c:pt>
                <c:pt idx="214">
                  <c:v>139.08679802204406</c:v>
                </c:pt>
                <c:pt idx="215">
                  <c:v>140.45338636266274</c:v>
                </c:pt>
                <c:pt idx="216">
                  <c:v>139.77787830422582</c:v>
                </c:pt>
                <c:pt idx="217">
                  <c:v>139.95735916904957</c:v>
                </c:pt>
                <c:pt idx="218">
                  <c:v>139.79531539238178</c:v>
                </c:pt>
                <c:pt idx="219">
                  <c:v>142.36555681594552</c:v>
                </c:pt>
                <c:pt idx="220">
                  <c:v>142.69256509279765</c:v>
                </c:pt>
                <c:pt idx="221">
                  <c:v>140.07833613992983</c:v>
                </c:pt>
                <c:pt idx="222">
                  <c:v>140.70659539310756</c:v>
                </c:pt>
                <c:pt idx="223">
                  <c:v>143.42542144610547</c:v>
                </c:pt>
                <c:pt idx="224">
                  <c:v>144.4798503154671</c:v>
                </c:pt>
                <c:pt idx="225">
                  <c:v>145.82276120925454</c:v>
                </c:pt>
                <c:pt idx="226">
                  <c:v>145.9482581249053</c:v>
                </c:pt>
                <c:pt idx="227">
                  <c:v>143.14402363802293</c:v>
                </c:pt>
                <c:pt idx="228">
                  <c:v>140.62431986247128</c:v>
                </c:pt>
                <c:pt idx="229">
                  <c:v>138.94252643833858</c:v>
                </c:pt>
                <c:pt idx="230">
                  <c:v>138.83577406496153</c:v>
                </c:pt>
                <c:pt idx="231">
                  <c:v>139.33558076418745</c:v>
                </c:pt>
                <c:pt idx="232">
                  <c:v>140.36584776732366</c:v>
                </c:pt>
                <c:pt idx="233">
                  <c:v>139.9581438731886</c:v>
                </c:pt>
                <c:pt idx="234">
                  <c:v>141.3674233733768</c:v>
                </c:pt>
                <c:pt idx="235">
                  <c:v>141.0426334734232</c:v>
                </c:pt>
                <c:pt idx="236">
                  <c:v>140.11952422517032</c:v>
                </c:pt>
                <c:pt idx="237">
                  <c:v>141.38290030706736</c:v>
                </c:pt>
                <c:pt idx="238">
                  <c:v>140.16072291839575</c:v>
                </c:pt>
                <c:pt idx="239">
                  <c:v>136.40569811175908</c:v>
                </c:pt>
                <c:pt idx="240">
                  <c:v>135.02805954408933</c:v>
                </c:pt>
                <c:pt idx="241">
                  <c:v>135.22271538102945</c:v>
                </c:pt>
                <c:pt idx="242">
                  <c:v>131.12522673437047</c:v>
                </c:pt>
                <c:pt idx="243">
                  <c:v>130.7224912749313</c:v>
                </c:pt>
                <c:pt idx="244">
                  <c:v>130.3537357303099</c:v>
                </c:pt>
                <c:pt idx="245">
                  <c:v>128.5594739540756</c:v>
                </c:pt>
                <c:pt idx="246">
                  <c:v>126.71785503561472</c:v>
                </c:pt>
                <c:pt idx="247">
                  <c:v>126.1951921021452</c:v>
                </c:pt>
                <c:pt idx="248">
                  <c:v>125.56787558813447</c:v>
                </c:pt>
                <c:pt idx="249">
                  <c:v>127.21271243231331</c:v>
                </c:pt>
                <c:pt idx="250">
                  <c:v>127.75319223614927</c:v>
                </c:pt>
                <c:pt idx="251">
                  <c:v>125.79747553599499</c:v>
                </c:pt>
                <c:pt idx="252">
                  <c:v>124.7852443000771</c:v>
                </c:pt>
                <c:pt idx="253">
                  <c:v>125.72754949950766</c:v>
                </c:pt>
                <c:pt idx="254">
                  <c:v>128.17417840494812</c:v>
                </c:pt>
                <c:pt idx="255">
                  <c:v>128.73365804479656</c:v>
                </c:pt>
                <c:pt idx="256">
                  <c:v>129.19801649856316</c:v>
                </c:pt>
                <c:pt idx="257">
                  <c:v>131.66667078247082</c:v>
                </c:pt>
                <c:pt idx="258">
                  <c:v>131.7026533823039</c:v>
                </c:pt>
                <c:pt idx="259">
                  <c:v>131.3614105452381</c:v>
                </c:pt>
                <c:pt idx="260">
                  <c:v>129.57062771557898</c:v>
                </c:pt>
                <c:pt idx="261">
                  <c:v>128.97069487141243</c:v>
                </c:pt>
                <c:pt idx="262">
                  <c:v>131.845081182229</c:v>
                </c:pt>
                <c:pt idx="263">
                  <c:v>130.036507629692</c:v>
                </c:pt>
                <c:pt idx="264">
                  <c:v>130.11607918819095</c:v>
                </c:pt>
                <c:pt idx="265">
                  <c:v>128.3486767964016</c:v>
                </c:pt>
                <c:pt idx="266">
                  <c:v>128.57774805742852</c:v>
                </c:pt>
                <c:pt idx="267">
                  <c:v>129.78335371635072</c:v>
                </c:pt>
                <c:pt idx="268">
                  <c:v>129.53202913464827</c:v>
                </c:pt>
                <c:pt idx="269">
                  <c:v>130.54282878816406</c:v>
                </c:pt>
                <c:pt idx="270">
                  <c:v>131.5491101235222</c:v>
                </c:pt>
                <c:pt idx="271">
                  <c:v>132.20294184620394</c:v>
                </c:pt>
                <c:pt idx="272">
                  <c:v>134.53797366173154</c:v>
                </c:pt>
                <c:pt idx="273">
                  <c:v>135.65307491182799</c:v>
                </c:pt>
                <c:pt idx="274">
                  <c:v>135.30721442058493</c:v>
                </c:pt>
                <c:pt idx="275">
                  <c:v>134.4536646492112</c:v>
                </c:pt>
                <c:pt idx="276">
                  <c:v>133.38434611980378</c:v>
                </c:pt>
                <c:pt idx="277">
                  <c:v>134.0857709629502</c:v>
                </c:pt>
                <c:pt idx="278">
                  <c:v>133.71874895801906</c:v>
                </c:pt>
                <c:pt idx="279">
                  <c:v>137.43501635402924</c:v>
                </c:pt>
                <c:pt idx="280">
                  <c:v>140.035902030302</c:v>
                </c:pt>
                <c:pt idx="281">
                  <c:v>139.80550936353697</c:v>
                </c:pt>
                <c:pt idx="282">
                  <c:v>139.41526849186155</c:v>
                </c:pt>
                <c:pt idx="283">
                  <c:v>141.84134030590008</c:v>
                </c:pt>
                <c:pt idx="284">
                  <c:v>139.24087821946776</c:v>
                </c:pt>
                <c:pt idx="285">
                  <c:v>138.68175499799176</c:v>
                </c:pt>
                <c:pt idx="286">
                  <c:v>140.06962230089653</c:v>
                </c:pt>
                <c:pt idx="287">
                  <c:v>138.86208548944512</c:v>
                </c:pt>
                <c:pt idx="288">
                  <c:v>138.26938048731344</c:v>
                </c:pt>
                <c:pt idx="289">
                  <c:v>137.85299446256204</c:v>
                </c:pt>
                <c:pt idx="290">
                  <c:v>138.83286525989064</c:v>
                </c:pt>
                <c:pt idx="291">
                  <c:v>139.0932142072232</c:v>
                </c:pt>
                <c:pt idx="292">
                  <c:v>139.72203711721914</c:v>
                </c:pt>
                <c:pt idx="293">
                  <c:v>140.6236406832312</c:v>
                </c:pt>
                <c:pt idx="294">
                  <c:v>140.73605272999154</c:v>
                </c:pt>
                <c:pt idx="295">
                  <c:v>142.36938778672524</c:v>
                </c:pt>
                <c:pt idx="296">
                  <c:v>141.4027581986085</c:v>
                </c:pt>
                <c:pt idx="297">
                  <c:v>139.44274417180864</c:v>
                </c:pt>
                <c:pt idx="298">
                  <c:v>137.03474673884892</c:v>
                </c:pt>
                <c:pt idx="299">
                  <c:v>134.88191746700517</c:v>
                </c:pt>
                <c:pt idx="300">
                  <c:v>134.2068122537674</c:v>
                </c:pt>
                <c:pt idx="301">
                  <c:v>135.65630876005255</c:v>
                </c:pt>
                <c:pt idx="302">
                  <c:v>135.96040510857048</c:v>
                </c:pt>
                <c:pt idx="303">
                  <c:v>135.21459891603686</c:v>
                </c:pt>
                <c:pt idx="304">
                  <c:v>133.83560526641799</c:v>
                </c:pt>
                <c:pt idx="305">
                  <c:v>133.19468575642566</c:v>
                </c:pt>
                <c:pt idx="306">
                  <c:v>132.72362092577077</c:v>
                </c:pt>
                <c:pt idx="307">
                  <c:v>132.03996236280278</c:v>
                </c:pt>
                <c:pt idx="308">
                  <c:v>130.214451362045</c:v>
                </c:pt>
                <c:pt idx="309">
                  <c:v>129.65998804391396</c:v>
                </c:pt>
                <c:pt idx="310">
                  <c:v>131.04363662686552</c:v>
                </c:pt>
                <c:pt idx="311">
                  <c:v>128.25947180569926</c:v>
                </c:pt>
                <c:pt idx="312">
                  <c:v>128.01499812920625</c:v>
                </c:pt>
                <c:pt idx="313">
                  <c:v>125.36336157151804</c:v>
                </c:pt>
                <c:pt idx="314">
                  <c:v>125.6555178902006</c:v>
                </c:pt>
                <c:pt idx="315">
                  <c:v>124.77908398382556</c:v>
                </c:pt>
                <c:pt idx="316">
                  <c:v>122.23897155880783</c:v>
                </c:pt>
                <c:pt idx="317">
                  <c:v>122.42318836589905</c:v>
                </c:pt>
                <c:pt idx="318">
                  <c:v>124.70932553943337</c:v>
                </c:pt>
                <c:pt idx="319">
                  <c:v>124.9074780990161</c:v>
                </c:pt>
                <c:pt idx="320">
                  <c:v>126.42109628122726</c:v>
                </c:pt>
                <c:pt idx="321">
                  <c:v>126.39391018025661</c:v>
                </c:pt>
                <c:pt idx="322">
                  <c:v>123.73004372194207</c:v>
                </c:pt>
                <c:pt idx="323">
                  <c:v>124.39878418120105</c:v>
                </c:pt>
                <c:pt idx="324">
                  <c:v>123.9406492011357</c:v>
                </c:pt>
                <c:pt idx="325">
                  <c:v>122.19050197450656</c:v>
                </c:pt>
                <c:pt idx="326">
                  <c:v>123.2105930970405</c:v>
                </c:pt>
                <c:pt idx="327">
                  <c:v>123.62563730132841</c:v>
                </c:pt>
                <c:pt idx="328">
                  <c:v>123.0379091031986</c:v>
                </c:pt>
                <c:pt idx="329">
                  <c:v>124.1674825283291</c:v>
                </c:pt>
                <c:pt idx="330">
                  <c:v>123.14673646134939</c:v>
                </c:pt>
                <c:pt idx="331">
                  <c:v>124.00067575607545</c:v>
                </c:pt>
                <c:pt idx="332">
                  <c:v>122.89649875687303</c:v>
                </c:pt>
                <c:pt idx="333">
                  <c:v>123.61415871333384</c:v>
                </c:pt>
                <c:pt idx="334">
                  <c:v>122.31528548148154</c:v>
                </c:pt>
                <c:pt idx="335">
                  <c:v>124.19794792610408</c:v>
                </c:pt>
                <c:pt idx="336">
                  <c:v>124.57589159650905</c:v>
                </c:pt>
                <c:pt idx="337">
                  <c:v>126.42319649352025</c:v>
                </c:pt>
                <c:pt idx="338">
                  <c:v>125.44664559755402</c:v>
                </c:pt>
                <c:pt idx="339">
                  <c:v>124.91211446385468</c:v>
                </c:pt>
                <c:pt idx="340">
                  <c:v>126.02341357532012</c:v>
                </c:pt>
                <c:pt idx="341">
                  <c:v>122.62869927295694</c:v>
                </c:pt>
                <c:pt idx="342">
                  <c:v>121.38182187357663</c:v>
                </c:pt>
                <c:pt idx="343">
                  <c:v>122.69660179237081</c:v>
                </c:pt>
                <c:pt idx="344">
                  <c:v>123.32862342830487</c:v>
                </c:pt>
                <c:pt idx="345">
                  <c:v>124.59739049656116</c:v>
                </c:pt>
                <c:pt idx="346">
                  <c:v>124.27373520972287</c:v>
                </c:pt>
                <c:pt idx="347">
                  <c:v>125.03677517540565</c:v>
                </c:pt>
              </c:numCache>
            </c:numRef>
          </c:val>
          <c:smooth val="0"/>
          <c:extLst>
            <c:ext xmlns:c16="http://schemas.microsoft.com/office/drawing/2014/chart" uri="{C3380CC4-5D6E-409C-BE32-E72D297353CC}">
              <c16:uniqueId val="{00000001-D80D-46EB-9484-5F5304E6E167}"/>
            </c:ext>
          </c:extLst>
        </c:ser>
        <c:dLbls>
          <c:showLegendKey val="0"/>
          <c:showVal val="0"/>
          <c:showCatName val="0"/>
          <c:showSerName val="0"/>
          <c:showPercent val="0"/>
          <c:showBubbleSize val="0"/>
        </c:dLbls>
        <c:smooth val="0"/>
        <c:axId val="466100159"/>
        <c:axId val="466101119"/>
      </c:lineChart>
      <c:dateAx>
        <c:axId val="466100159"/>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Condensed" pitchFamily="2" charset="0"/>
                <a:ea typeface="Roboto Condensed" pitchFamily="2" charset="0"/>
                <a:cs typeface="Roboto Light" panose="02000000000000000000" pitchFamily="2" charset="0"/>
              </a:defRPr>
            </a:pPr>
            <a:endParaRPr lang="pt-BR"/>
          </a:p>
        </c:txPr>
        <c:crossAx val="466101119"/>
        <c:crosses val="autoZero"/>
        <c:auto val="1"/>
        <c:lblOffset val="100"/>
        <c:baseTimeUnit val="days"/>
        <c:majorUnit val="2"/>
        <c:majorTimeUnit val="months"/>
      </c:dateAx>
      <c:valAx>
        <c:axId val="466101119"/>
        <c:scaling>
          <c:orientation val="minMax"/>
          <c:min val="80"/>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Condensed" pitchFamily="2" charset="0"/>
                <a:ea typeface="Roboto Condensed" pitchFamily="2" charset="0"/>
                <a:cs typeface="Roboto Light" panose="02000000000000000000" pitchFamily="2" charset="0"/>
              </a:defRPr>
            </a:pPr>
            <a:endParaRPr lang="pt-BR"/>
          </a:p>
        </c:txPr>
        <c:crossAx val="4661001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Roboto Condensed" pitchFamily="2" charset="0"/>
              <a:ea typeface="Roboto Condensed"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latin typeface="Roboto Condensed" pitchFamily="2" charset="0"/>
          <a:ea typeface="Roboto Condensed" pitchFamily="2" charset="0"/>
          <a:cs typeface="Roboto Light" panose="02000000000000000000" pitchFamily="2" charset="0"/>
        </a:defRPr>
      </a:pPr>
      <a:endParaRPr lang="pt-BR"/>
    </a:p>
  </c:txPr>
  <c:externalData r:id="rId4">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'Desempenho ativo tables_last'!$C$42:$C$58</cx:f>
        <cx:lvl ptCount="17">
          <cx:pt idx="0">ITUB4</cx:pt>
          <cx:pt idx="1">EMBJ3</cx:pt>
          <cx:pt idx="2">CPLE3</cx:pt>
          <cx:pt idx="3">SBSP3</cx:pt>
          <cx:pt idx="4">ROXO34</cx:pt>
          <cx:pt idx="5">LREN3</cx:pt>
          <cx:pt idx="6">BPAC11</cx:pt>
          <cx:pt idx="7">RENT3</cx:pt>
          <cx:pt idx="8">ORVR3</cx:pt>
          <cx:pt idx="9">IGTI11</cx:pt>
          <cx:pt idx="10">VALE3</cx:pt>
          <cx:pt idx="11">PETR4</cx:pt>
          <cx:pt idx="12">GGBR4</cx:pt>
          <cx:pt idx="13">TOTS3</cx:pt>
          <cx:pt idx="14">B3SA3</cx:pt>
          <cx:pt idx="15">PRIO3</cx:pt>
          <cx:pt idx="16">Top Ações</cx:pt>
        </cx:lvl>
      </cx:strDim>
      <cx:numDim type="val">
        <cx:f>'Desempenho ativo tables_last'!$D$42:$D$58</cx:f>
        <cx:lvl ptCount="17" formatCode="0.0%">
          <cx:pt idx="0">0.0063429554589486299</cx:pt>
          <cx:pt idx="1">0.0059708939186142503</cx:pt>
          <cx:pt idx="2">0.0031593406593406481</cx:pt>
          <cx:pt idx="3">0.003023255813953496</cx:pt>
          <cx:pt idx="4">0.0016772438803263846</cx:pt>
          <cx:pt idx="5">0.00032381904664249286</cx:pt>
          <cx:pt idx="6">0.00031627906976744447</cx:pt>
          <cx:pt idx="7">0.0001005298367672713</cx:pt>
          <cx:pt idx="8">-0.00057730303778710801</cx:pt>
          <cx:pt idx="9">-0.0029683885890516514</cx:pt>
          <cx:pt idx="10">-0.002982371407872492</cx:pt>
          <cx:pt idx="11">-0.0042429923504119782</cx:pt>
          <cx:pt idx="12">-0.0043697848045674116</cx:pt>
          <cx:pt idx="13">-0.0063402554830612953</cx:pt>
          <cx:pt idx="14">-0.0079641129134741164</cx:pt>
          <cx:pt idx="15">-0.0081124497991967841</cx:pt>
          <cx:pt idx="16">-0.016643340701062222</cx:pt>
        </cx:lvl>
      </cx:numDim>
    </cx:data>
  </cx:chartData>
  <cx:chart>
    <cx:title pos="t" align="ctr" overlay="0">
      <cx:tx>
        <cx:txData>
          <cx:v/>
        </cx:txData>
      </cx:tx>
      <cx:txPr>
        <a:bodyPr spcFirstLastPara="1" vertOverflow="ellipsis" horzOverflow="overflow" wrap="square" lIns="0" tIns="0" rIns="0" bIns="0" anchor="ctr" anchorCtr="1"/>
        <a:lstStyle/>
        <a:p>
          <a:pPr algn="ctr" rtl="0">
            <a:defRPr>
              <a:latin typeface="Roboto Condensed" pitchFamily="2" charset="0"/>
              <a:ea typeface="Roboto Condensed" pitchFamily="2" charset="0"/>
              <a:cs typeface="Roboto Condensed" pitchFamily="2" charset="0"/>
            </a:defRPr>
          </a:pPr>
          <a:endParaRPr lang="en-US" sz="1400" b="0" i="0" u="none" strike="noStrike" baseline="0">
            <a:solidFill>
              <a:sysClr val="windowText" lastClr="000000">
                <a:lumMod val="65000"/>
                <a:lumOff val="35000"/>
              </a:sysClr>
            </a:solidFill>
            <a:latin typeface="Roboto Condensed" pitchFamily="2" charset="0"/>
            <a:ea typeface="Roboto Condensed" pitchFamily="2" charset="0"/>
          </a:endParaRPr>
        </a:p>
      </cx:txPr>
    </cx:title>
    <cx:plotArea>
      <cx:plotAreaRegion>
        <cx:series layoutId="waterfall" uniqueId="{00000001-0DF3-4D48-91AA-71CB1540F764}" formatIdx="1">
          <cx:tx>
            <cx:txData>
              <cx:f>'Desempenho ativo tables_last'!$D$41</cx:f>
              <cx:v>Contribuição</cx:v>
            </cx:txData>
          </cx:tx>
          <cx:spPr>
            <a:solidFill>
              <a:srgbClr val="7E7E7E"/>
            </a:solidFill>
          </cx:spPr>
          <cx:dataPt idx="16">
            <cx:spPr>
              <a:solidFill>
                <a:srgbClr val="FFC000"/>
              </a:solidFill>
            </cx:spPr>
          </cx:dataPt>
          <cx:dataLabels pos="outEnd">
            <cx:numFmt formatCode="0,0%" sourceLinked="0"/>
            <cx:txPr>
              <a:bodyPr vertOverflow="overflow" horzOverflow="overflow" wrap="square" lIns="0" tIns="0" rIns="0" bIns="0"/>
              <a:lstStyle/>
              <a:p>
                <a:pPr algn="ctr" rtl="0">
                  <a:defRPr sz="900" b="0" i="0">
                    <a:solidFill>
                      <a:srgbClr val="595959"/>
                    </a:solidFill>
                    <a:latin typeface="Roboto Condensed" pitchFamily="2" charset="0"/>
                    <a:ea typeface="Roboto Condensed" pitchFamily="2" charset="0"/>
                    <a:cs typeface="Roboto Condensed" pitchFamily="2" charset="0"/>
                  </a:defRPr>
                </a:pPr>
                <a:endParaRPr lang="pt-BR" sz="900">
                  <a:latin typeface="Roboto Condensed" pitchFamily="2" charset="0"/>
                  <a:ea typeface="Roboto Condensed" pitchFamily="2" charset="0"/>
                </a:endParaRPr>
              </a:p>
            </cx:txPr>
            <cx:visibility seriesName="0" categoryName="0" value="1"/>
            <cx:separator>, </cx:separator>
          </cx:dataLabels>
          <cx:dataId val="0"/>
          <cx:layoutPr>
            <cx:subtotals>
              <cx:idx val="16"/>
            </cx:subtotals>
          </cx:layoutPr>
        </cx:series>
      </cx:plotAreaRegion>
      <cx:axis id="0">
        <cx:catScaling gapWidth="0.5"/>
        <cx:tickLabels/>
        <cx:txPr>
          <a:bodyPr vertOverflow="overflow" horzOverflow="overflow" wrap="square" lIns="0" tIns="0" rIns="0" bIns="0"/>
          <a:lstStyle/>
          <a:p>
            <a:pPr algn="ctr" rtl="0">
              <a:defRPr sz="900" b="0" i="0">
                <a:solidFill>
                  <a:srgbClr val="595959"/>
                </a:solidFill>
                <a:latin typeface="Roboto Condensed" pitchFamily="2" charset="0"/>
                <a:ea typeface="Roboto Condensed" pitchFamily="2" charset="0"/>
                <a:cs typeface="Roboto Condensed" pitchFamily="2" charset="0"/>
              </a:defRPr>
            </a:pPr>
            <a:endParaRPr lang="pt-BR" sz="900">
              <a:latin typeface="Roboto Condensed" pitchFamily="2" charset="0"/>
              <a:ea typeface="Roboto Condensed" pitchFamily="2" charset="0"/>
            </a:endParaRPr>
          </a:p>
        </cx:txPr>
      </cx:axis>
      <cx:axis id="1" hidden="1">
        <cx:valScaling/>
        <cx:tickLabels/>
        <cx:txPr>
          <a:bodyPr vertOverflow="overflow" horzOverflow="overflow" wrap="square" lIns="0" tIns="0" rIns="0" bIns="0"/>
          <a:lstStyle/>
          <a:p>
            <a:pPr algn="ctr" rtl="0">
              <a:defRPr sz="1400" b="0" i="0">
                <a:solidFill>
                  <a:srgbClr val="595959"/>
                </a:solidFill>
                <a:latin typeface="Roboto Condensed" pitchFamily="2" charset="0"/>
                <a:ea typeface="Roboto Condensed" pitchFamily="2" charset="0"/>
                <a:cs typeface="Roboto Condensed" pitchFamily="2" charset="0"/>
              </a:defRPr>
            </a:pPr>
            <a:endParaRPr lang="pt-BR" sz="1400">
              <a:latin typeface="Roboto Condensed" pitchFamily="2" charset="0"/>
              <a:ea typeface="Roboto Condensed" pitchFamily="2" charset="0"/>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E3B1FA-7387-4CD0-BE7E-512DADC150D8}" type="datetimeFigureOut">
              <a:rPr lang="pt-BR" smtClean="0"/>
              <a:t>02/07/2026</a:t>
            </a:fld>
            <a:endParaRPr lang="pt-BR"/>
          </a:p>
        </p:txBody>
      </p:sp>
      <p:sp>
        <p:nvSpPr>
          <p:cNvPr id="4" name="Espaço Reservado para Imagem de Slide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5A0273-8E8A-4A97-A786-FD3980DEB8D9}" type="slidenum">
              <a:rPr lang="pt-BR" smtClean="0"/>
              <a:t>‹#›</a:t>
            </a:fld>
            <a:endParaRPr lang="pt-BR"/>
          </a:p>
        </p:txBody>
      </p:sp>
    </p:spTree>
    <p:extLst>
      <p:ext uri="{BB962C8B-B14F-4D97-AF65-F5344CB8AC3E}">
        <p14:creationId xmlns:p14="http://schemas.microsoft.com/office/powerpoint/2010/main" val="2018984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CDF1A-2D71-636A-81A5-C05FB474508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472612D-2C06-BFCB-82FA-3CDED0E161F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BB3F00F-9204-4E3B-5556-250F477D5376}"/>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E570600-B829-6198-9F9C-8C93DD4BA23C}"/>
              </a:ext>
            </a:extLst>
          </p:cNvPr>
          <p:cNvSpPr>
            <a:spLocks noGrp="1"/>
          </p:cNvSpPr>
          <p:nvPr>
            <p:ph type="sldNum" sz="quarter" idx="5"/>
          </p:nvPr>
        </p:nvSpPr>
        <p:spPr/>
        <p:txBody>
          <a:bodyPr/>
          <a:lstStyle/>
          <a:p>
            <a:fld id="{345A0273-8E8A-4A97-A786-FD3980DEB8D9}" type="slidenum">
              <a:rPr lang="pt-BR" smtClean="0"/>
              <a:t>1</a:t>
            </a:fld>
            <a:endParaRPr lang="pt-BR"/>
          </a:p>
        </p:txBody>
      </p:sp>
    </p:spTree>
    <p:extLst>
      <p:ext uri="{BB962C8B-B14F-4D97-AF65-F5344CB8AC3E}">
        <p14:creationId xmlns:p14="http://schemas.microsoft.com/office/powerpoint/2010/main" val="283323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95035-5A00-E84B-C03E-B33C4A0CEC3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D1BF292-FA3C-F66A-AF3A-04FA37C75C1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387BAC2-26AF-33DE-981A-96B77197544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655456E1-D085-2841-1040-E3851316886A}"/>
              </a:ext>
            </a:extLst>
          </p:cNvPr>
          <p:cNvSpPr>
            <a:spLocks noGrp="1"/>
          </p:cNvSpPr>
          <p:nvPr>
            <p:ph type="sldNum" sz="quarter" idx="5"/>
          </p:nvPr>
        </p:nvSpPr>
        <p:spPr/>
        <p:txBody>
          <a:bodyPr/>
          <a:lstStyle/>
          <a:p>
            <a:fld id="{345A0273-8E8A-4A97-A786-FD3980DEB8D9}" type="slidenum">
              <a:rPr lang="pt-BR" smtClean="0"/>
              <a:t>2</a:t>
            </a:fld>
            <a:endParaRPr lang="pt-BR"/>
          </a:p>
        </p:txBody>
      </p:sp>
    </p:spTree>
    <p:extLst>
      <p:ext uri="{BB962C8B-B14F-4D97-AF65-F5344CB8AC3E}">
        <p14:creationId xmlns:p14="http://schemas.microsoft.com/office/powerpoint/2010/main" val="1844930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1" y="2"/>
            <a:ext cx="6858000" cy="213326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1938508" y="2"/>
            <a:ext cx="4919492" cy="2133261"/>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5693919" y="2353291"/>
            <a:ext cx="1076736" cy="103875"/>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675"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1"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189311" y="272873"/>
            <a:ext cx="4688979" cy="756904"/>
          </a:xfrm>
          <a:prstGeom prst="rect">
            <a:avLst/>
          </a:prstGeom>
        </p:spPr>
        <p:txBody>
          <a:bodyPr vert="horz" lIns="0" tIns="0" rIns="0" bIns="0" rtlCol="0" anchor="ctr">
            <a:noAutofit/>
          </a:bodyPr>
          <a:lstStyle>
            <a:lvl1pPr>
              <a:defRPr lang="pt-BR" sz="135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189000" y="2198707"/>
            <a:ext cx="5388631" cy="1229580"/>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338"/>
              </a:spcBef>
              <a:buFont typeface="Arial" panose="020B0604020202020204" pitchFamily="34" charset="0"/>
              <a:buNone/>
              <a:defRPr sz="563"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endParaRPr lang="pt-B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6634612" y="9192842"/>
            <a:ext cx="150436" cy="333424"/>
          </a:xfrm>
          <a:prstGeom prst="rect">
            <a:avLst/>
          </a:prstGeom>
        </p:spPr>
        <p:txBody>
          <a:bodyPr vert="horz" wrap="square" lIns="0" tIns="14466" rIns="0" bIns="14466"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45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45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4906862" y="440790"/>
            <a:ext cx="1761828" cy="304121"/>
          </a:xfrm>
          <a:prstGeom prst="rect">
            <a:avLst/>
          </a:prstGeom>
        </p:spPr>
        <p:txBody>
          <a:bodyPr vert="horz" lIns="0" tIns="0" rIns="0" bIns="0" rtlCol="0" anchor="ctr"/>
          <a:lstStyle>
            <a:lvl1pPr algn="r">
              <a:defRPr sz="619">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189310" y="1606581"/>
            <a:ext cx="6479381" cy="292981"/>
          </a:xfrm>
          <a:prstGeom prst="rect">
            <a:avLst/>
          </a:prstGeom>
        </p:spPr>
        <p:txBody>
          <a:bodyPr vert="horz" lIns="0" tIns="0" rIns="0" bIns="0" rtlCol="0" anchor="t">
            <a:noAutofit/>
          </a:bodyPr>
          <a:lstStyle>
            <a:lvl1pPr>
              <a:defRPr lang="pt-BR" sz="675"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5693919" y="2663510"/>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5693919" y="2939335"/>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5693919" y="3415335"/>
            <a:ext cx="1076736" cy="103875"/>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675"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5693919" y="3725555"/>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5693919" y="4001380"/>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5693919" y="4483765"/>
            <a:ext cx="1076736" cy="103875"/>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675"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5693919" y="4793985"/>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5693919" y="5069808"/>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err="1"/>
              <a:t>email</a:t>
            </a:r>
            <a:endParaRPr lang="pt-B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189002" y="1120198"/>
            <a:ext cx="6479381" cy="432841"/>
          </a:xfrm>
          <a:prstGeom prst="rect">
            <a:avLst/>
          </a:prstGeom>
        </p:spPr>
        <p:txBody>
          <a:bodyPr vert="horz" lIns="0" tIns="45720" rIns="91440" bIns="45720" rtlCol="0" anchor="t">
            <a:noAutofit/>
          </a:bodyPr>
          <a:lstStyle>
            <a:lvl1pPr>
              <a:defRPr lang="pt-BR" sz="1125"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4906862" y="819937"/>
            <a:ext cx="1761828" cy="205246"/>
          </a:xfrm>
          <a:prstGeom prst="rect">
            <a:avLst/>
          </a:prstGeom>
        </p:spPr>
        <p:txBody>
          <a:bodyPr vert="horz" lIns="0" tIns="0" rIns="0" bIns="0" rtlCol="0" anchor="t">
            <a:noAutofit/>
          </a:bodyPr>
          <a:lstStyle>
            <a:lvl1pPr algn="r">
              <a:defRPr lang="pt-BR" sz="619"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443360" y="9100896"/>
            <a:ext cx="5569316" cy="516182"/>
          </a:xfrm>
          <a:prstGeom prst="rect">
            <a:avLst/>
          </a:prstGeom>
        </p:spPr>
        <p:txBody>
          <a:bodyPr vert="horz" lIns="0" tIns="0" rIns="0" bIns="0" rtlCol="0" anchor="ctr" anchorCtr="0">
            <a:noAutofit/>
          </a:bodyPr>
          <a:lstStyle>
            <a:lvl1pPr>
              <a:lnSpc>
                <a:spcPct val="100000"/>
              </a:lnSpc>
              <a:spcBef>
                <a:spcPts val="0"/>
              </a:spcBef>
              <a:defRPr lang="pt-BR" sz="394"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46" name="Freeform: Shape 45">
            <a:extLst>
              <a:ext uri="{FF2B5EF4-FFF2-40B4-BE49-F238E27FC236}">
                <a16:creationId xmlns:a16="http://schemas.microsoft.com/office/drawing/2014/main" id="{401B2D36-F7E1-4BF5-AB6E-AC161A1D4C46}"/>
              </a:ext>
            </a:extLst>
          </p:cNvPr>
          <p:cNvSpPr/>
          <p:nvPr userDrawn="1"/>
        </p:nvSpPr>
        <p:spPr>
          <a:xfrm>
            <a:off x="6389219" y="1203094"/>
            <a:ext cx="281109" cy="651148"/>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sz="1013">
              <a:solidFill>
                <a:schemeClr val="bg1"/>
              </a:solidFill>
            </a:endParaRPr>
          </a:p>
        </p:txBody>
      </p:sp>
      <p:sp>
        <p:nvSpPr>
          <p:cNvPr id="50" name="Espaço Reservado para Conteúdo 14">
            <a:extLst>
              <a:ext uri="{FF2B5EF4-FFF2-40B4-BE49-F238E27FC236}">
                <a16:creationId xmlns:a16="http://schemas.microsoft.com/office/drawing/2014/main" id="{5DD66D9C-1033-48E3-9084-861698E49C88}"/>
              </a:ext>
            </a:extLst>
          </p:cNvPr>
          <p:cNvSpPr>
            <a:spLocks noGrp="1"/>
          </p:cNvSpPr>
          <p:nvPr>
            <p:ph sz="quarter" idx="42"/>
          </p:nvPr>
        </p:nvSpPr>
        <p:spPr>
          <a:xfrm>
            <a:off x="188998" y="3483879"/>
            <a:ext cx="5388630" cy="3652738"/>
          </a:xfrm>
          <a:prstGeom prst="rect">
            <a:avLst/>
          </a:prstGeom>
        </p:spPr>
        <p:txBody>
          <a:bodyPr lIns="0">
            <a:noAutofit/>
          </a:bodyPr>
          <a:lstStyle>
            <a:lvl1pPr marL="0" indent="0" algn="just">
              <a:lnSpc>
                <a:spcPct val="125000"/>
              </a:lnSpc>
              <a:spcBef>
                <a:spcPts val="338"/>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endParaRPr lang="pt-BR"/>
          </a:p>
        </p:txBody>
      </p:sp>
      <p:sp>
        <p:nvSpPr>
          <p:cNvPr id="51" name="Espaço Reservado para Conteúdo 14">
            <a:extLst>
              <a:ext uri="{FF2B5EF4-FFF2-40B4-BE49-F238E27FC236}">
                <a16:creationId xmlns:a16="http://schemas.microsoft.com/office/drawing/2014/main" id="{1AAAB222-9B15-4258-ACBD-73305BB52F7E}"/>
              </a:ext>
            </a:extLst>
          </p:cNvPr>
          <p:cNvSpPr>
            <a:spLocks noGrp="1"/>
          </p:cNvSpPr>
          <p:nvPr>
            <p:ph sz="quarter" idx="43" hasCustomPrompt="1"/>
          </p:nvPr>
        </p:nvSpPr>
        <p:spPr>
          <a:xfrm>
            <a:off x="5693919" y="6115844"/>
            <a:ext cx="1076736" cy="266996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563"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Clique para editar o texto mestre</a:t>
            </a:r>
          </a:p>
        </p:txBody>
      </p:sp>
      <p:sp>
        <p:nvSpPr>
          <p:cNvPr id="53" name="Espaço Reservado para Conteúdo 14">
            <a:extLst>
              <a:ext uri="{FF2B5EF4-FFF2-40B4-BE49-F238E27FC236}">
                <a16:creationId xmlns:a16="http://schemas.microsoft.com/office/drawing/2014/main" id="{BF881F3D-BE20-4A6F-BE22-461C15CBA88A}"/>
              </a:ext>
            </a:extLst>
          </p:cNvPr>
          <p:cNvSpPr>
            <a:spLocks noGrp="1"/>
          </p:cNvSpPr>
          <p:nvPr>
            <p:ph sz="quarter" idx="44" hasCustomPrompt="1"/>
          </p:nvPr>
        </p:nvSpPr>
        <p:spPr>
          <a:xfrm>
            <a:off x="5693919" y="5720865"/>
            <a:ext cx="1076736" cy="265586"/>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563"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609853163"/>
      </p:ext>
    </p:extLst>
  </p:cSld>
  <p:clrMapOvr>
    <a:masterClrMapping/>
  </p:clrMapOvr>
  <p:extLst>
    <p:ext uri="{DCECCB84-F9BA-43D5-87BE-67443E8EF086}">
      <p15:sldGuideLst xmlns:p15="http://schemas.microsoft.com/office/powerpoint/2012/main">
        <p15:guide id="0" pos="1507" userDrawn="1">
          <p15:clr>
            <a:srgbClr val="FBAE40"/>
          </p15:clr>
        </p15:guide>
        <p15:guide id="1" pos="1427" userDrawn="1">
          <p15:clr>
            <a:srgbClr val="FBAE40"/>
          </p15:clr>
        </p15:guide>
        <p15:guide id="2" pos="2811" userDrawn="1">
          <p15:clr>
            <a:srgbClr val="FBAE40"/>
          </p15:clr>
        </p15:guide>
        <p15:guide id="3" pos="289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7/2/2026</a:t>
            </a:fld>
            <a:endParaRPr lang="en-US"/>
          </a:p>
        </p:txBody>
      </p:sp>
      <p:sp>
        <p:nvSpPr>
          <p:cNvPr id="4" name="Holder 4"/>
          <p:cNvSpPr>
            <a:spLocks noGrp="1"/>
          </p:cNvSpPr>
          <p:nvPr>
            <p:ph type="sldNum" sz="quarter" idx="7"/>
          </p:nvPr>
        </p:nvSpPr>
        <p:spPr/>
        <p:txBody>
          <a:bodyPr lIns="0" tIns="0" rIns="0" bIns="0"/>
          <a:lstStyle>
            <a:lvl1pPr>
              <a:defRPr sz="800" b="0" i="0">
                <a:solidFill>
                  <a:srgbClr val="17181A"/>
                </a:solidFill>
                <a:latin typeface="Arial"/>
                <a:cs typeface="Arial"/>
              </a:defRPr>
            </a:lvl1pPr>
          </a:lstStyle>
          <a:p>
            <a:pPr marL="38100">
              <a:lnSpc>
                <a:spcPct val="100000"/>
              </a:lnSpc>
              <a:spcBef>
                <a:spcPts val="45"/>
              </a:spcBef>
            </a:pPr>
            <a:fld id="{81D60167-4931-47E6-BA6A-407CBD079E47}" type="slidenum">
              <a:rPr spc="-50" dirty="0"/>
              <a:t>‹#›</a:t>
            </a:fld>
            <a:endParaRPr spc="-5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FFBB00"/>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000" b="0" i="0">
                <a:solidFill>
                  <a:srgbClr val="17181A"/>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7/2/2026</a:t>
            </a:fld>
            <a:endParaRPr lang="en-US"/>
          </a:p>
        </p:txBody>
      </p:sp>
      <p:sp>
        <p:nvSpPr>
          <p:cNvPr id="6" name="Holder 6"/>
          <p:cNvSpPr>
            <a:spLocks noGrp="1"/>
          </p:cNvSpPr>
          <p:nvPr>
            <p:ph type="sldNum" sz="quarter" idx="7"/>
          </p:nvPr>
        </p:nvSpPr>
        <p:spPr/>
        <p:txBody>
          <a:bodyPr lIns="0" tIns="0" rIns="0" bIns="0"/>
          <a:lstStyle>
            <a:lvl1pPr>
              <a:defRPr sz="800" b="0" i="0">
                <a:solidFill>
                  <a:srgbClr val="17181A"/>
                </a:solidFill>
                <a:latin typeface="Arial"/>
                <a:cs typeface="Arial"/>
              </a:defRPr>
            </a:lvl1pPr>
          </a:lstStyle>
          <a:p>
            <a:pPr marL="38100">
              <a:lnSpc>
                <a:spcPct val="100000"/>
              </a:lnSpc>
              <a:spcBef>
                <a:spcPts val="45"/>
              </a:spcBef>
            </a:pPr>
            <a:fld id="{81D60167-4931-47E6-BA6A-407CBD079E47}" type="slidenum">
              <a:rPr spc="-50" dirty="0"/>
              <a:t>‹#›</a:t>
            </a:fld>
            <a:endParaRPr spc="-5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1297E8A-BBDE-4293-90C7-131F45678E37}"/>
              </a:ext>
            </a:extLst>
          </p:cNvPr>
          <p:cNvGrpSpPr/>
          <p:nvPr userDrawn="1"/>
        </p:nvGrpSpPr>
        <p:grpSpPr>
          <a:xfrm>
            <a:off x="-537166" y="0"/>
            <a:ext cx="478229" cy="2688431"/>
            <a:chOff x="-954966" y="304355"/>
            <a:chExt cx="850185" cy="1861222"/>
          </a:xfrm>
        </p:grpSpPr>
        <p:sp>
          <p:nvSpPr>
            <p:cNvPr id="37"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126 126 126</a:t>
              </a:r>
            </a:p>
          </p:txBody>
        </p:sp>
        <p:sp>
          <p:nvSpPr>
            <p:cNvPr id="38"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255 188 0</a:t>
              </a:r>
            </a:p>
          </p:txBody>
        </p:sp>
        <p:sp>
          <p:nvSpPr>
            <p:cNvPr id="39"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0 210 197</a:t>
              </a:r>
            </a:p>
          </p:txBody>
        </p:sp>
        <p:sp>
          <p:nvSpPr>
            <p:cNvPr id="40"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0 0 0</a:t>
              </a:r>
            </a:p>
          </p:txBody>
        </p:sp>
        <p:sp>
          <p:nvSpPr>
            <p:cNvPr id="41"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50 52 54</a:t>
              </a:r>
            </a:p>
          </p:txBody>
        </p:sp>
        <p:sp>
          <p:nvSpPr>
            <p:cNvPr id="42"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64 64 64</a:t>
              </a:r>
            </a:p>
          </p:txBody>
        </p:sp>
      </p:grpSp>
      <p:sp>
        <p:nvSpPr>
          <p:cNvPr id="10" name="CaixaDeTexto 9">
            <a:extLst>
              <a:ext uri="{FF2B5EF4-FFF2-40B4-BE49-F238E27FC236}">
                <a16:creationId xmlns:a16="http://schemas.microsoft.com/office/drawing/2014/main" id="{814DD45A-D6F2-46EA-AA62-68E98F5F4987}"/>
              </a:ext>
            </a:extLst>
          </p:cNvPr>
          <p:cNvSpPr txBox="1"/>
          <p:nvPr userDrawn="1"/>
        </p:nvSpPr>
        <p:spPr>
          <a:xfrm>
            <a:off x="6634612" y="9192842"/>
            <a:ext cx="150436" cy="333424"/>
          </a:xfrm>
          <a:prstGeom prst="rect">
            <a:avLst/>
          </a:prstGeom>
        </p:spPr>
        <p:txBody>
          <a:bodyPr vert="horz" wrap="square" lIns="0" tIns="14466" rIns="0" bIns="14466"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45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45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1" y="9906000"/>
            <a:ext cx="6858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6085626" y="9192842"/>
            <a:ext cx="492868" cy="333424"/>
          </a:xfrm>
          <a:prstGeom prst="rect">
            <a:avLst/>
          </a:prstGeom>
        </p:spPr>
        <p:txBody>
          <a:bodyPr vert="horz" wrap="square" lIns="0" tIns="14466" rIns="0" bIns="14466"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450">
                <a:latin typeface="Roboto" panose="02000000000000000000" pitchFamily="2" charset="0"/>
                <a:ea typeface="Roboto" panose="02000000000000000000" pitchFamily="2" charset="0"/>
                <a:cs typeface="Roboto" panose="02000000000000000000" pitchFamily="2" charset="0"/>
              </a:rPr>
              <a:t>EQUITY RESEARCH</a:t>
            </a:r>
          </a:p>
        </p:txBody>
      </p:sp>
      <p:cxnSp>
        <p:nvCxnSpPr>
          <p:cNvPr id="33" name="Conector Reto 170">
            <a:extLst>
              <a:ext uri="{FF2B5EF4-FFF2-40B4-BE49-F238E27FC236}">
                <a16:creationId xmlns:a16="http://schemas.microsoft.com/office/drawing/2014/main" id="{F2D51BA9-75B3-4424-AA8F-E379994343EA}"/>
              </a:ext>
            </a:extLst>
          </p:cNvPr>
          <p:cNvCxnSpPr>
            <a:cxnSpLocks/>
          </p:cNvCxnSpPr>
          <p:nvPr userDrawn="1"/>
        </p:nvCxnSpPr>
        <p:spPr>
          <a:xfrm flipV="1">
            <a:off x="389245" y="9095908"/>
            <a:ext cx="0" cy="52729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4898827" y="499265"/>
            <a:ext cx="1769864" cy="304121"/>
          </a:xfrm>
          <a:prstGeom prst="rect">
            <a:avLst/>
          </a:prstGeom>
        </p:spPr>
        <p:txBody>
          <a:bodyPr vert="horz" lIns="91440" tIns="45720" rIns="91440" bIns="45720" rtlCol="0" anchor="ctr"/>
          <a:lstStyle>
            <a:lvl1pPr algn="r">
              <a:defRPr sz="619">
                <a:solidFill>
                  <a:schemeClr val="tx2"/>
                </a:solidFill>
                <a:latin typeface="+mn-lt"/>
                <a:ea typeface="Roboto Slab" pitchFamily="2" charset="0"/>
                <a:cs typeface="Roboto" panose="02000000000000000000" pitchFamily="2" charset="0"/>
              </a:defRPr>
            </a:lvl1pPr>
          </a:lstStyle>
          <a:p>
            <a:fld id="{5A4CF137-961F-40CC-9272-458A69979960}" type="datetime4">
              <a:rPr lang="pt-BR" smtClean="0"/>
              <a:pPr/>
              <a:t>2 de julho de 2026</a:t>
            </a:fld>
            <a:endParaRPr lang="en-US"/>
          </a:p>
        </p:txBody>
      </p:sp>
      <p:sp>
        <p:nvSpPr>
          <p:cNvPr id="15" name="Freeform: Shape 14">
            <a:extLst>
              <a:ext uri="{FF2B5EF4-FFF2-40B4-BE49-F238E27FC236}">
                <a16:creationId xmlns:a16="http://schemas.microsoft.com/office/drawing/2014/main" id="{2600E467-0AF0-45B5-9014-4BA6F4A1BFAB}"/>
              </a:ext>
            </a:extLst>
          </p:cNvPr>
          <p:cNvSpPr/>
          <p:nvPr userDrawn="1"/>
        </p:nvSpPr>
        <p:spPr>
          <a:xfrm>
            <a:off x="189311" y="9183353"/>
            <a:ext cx="152137" cy="352401"/>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sz="1013"/>
          </a:p>
        </p:txBody>
      </p:sp>
      <p:sp>
        <p:nvSpPr>
          <p:cNvPr id="16" name="Espaço Reservado para Texto 6">
            <a:extLst>
              <a:ext uri="{FF2B5EF4-FFF2-40B4-BE49-F238E27FC236}">
                <a16:creationId xmlns:a16="http://schemas.microsoft.com/office/drawing/2014/main" id="{3A52104E-97DC-4B15-AED8-B82C6576670F}"/>
              </a:ext>
            </a:extLst>
          </p:cNvPr>
          <p:cNvSpPr txBox="1">
            <a:spLocks/>
          </p:cNvSpPr>
          <p:nvPr userDrawn="1"/>
        </p:nvSpPr>
        <p:spPr>
          <a:xfrm>
            <a:off x="4906862" y="819937"/>
            <a:ext cx="1761828" cy="205246"/>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sz="619" err="1"/>
              <a:t>Estratégia</a:t>
            </a:r>
            <a:r>
              <a:rPr lang="en-US" sz="619"/>
              <a:t> | </a:t>
            </a:r>
            <a:r>
              <a:rPr lang="en-US" sz="619" err="1"/>
              <a:t>Carteira</a:t>
            </a:r>
            <a:r>
              <a:rPr lang="en-US" sz="619"/>
              <a:t> XP</a:t>
            </a:r>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40" r:id="rId1"/>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478" userDrawn="1">
          <p15:clr>
            <a:srgbClr val="F26B43"/>
          </p15:clr>
        </p15:guide>
        <p15:guide id="2" pos="119" userDrawn="1">
          <p15:clr>
            <a:srgbClr val="F26B43"/>
          </p15:clr>
        </p15:guide>
        <p15:guide id="3" pos="4201" userDrawn="1">
          <p15:clr>
            <a:srgbClr val="F26B43"/>
          </p15:clr>
        </p15:guide>
        <p15:guide id="4" orient="horz" pos="3283" userDrawn="1">
          <p15:clr>
            <a:srgbClr val="F26B43"/>
          </p15:clr>
        </p15:guide>
        <p15:guide id="5" orient="horz" pos="105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0663" y="9547859"/>
            <a:ext cx="0" cy="202565"/>
          </a:xfrm>
          <a:custGeom>
            <a:avLst/>
            <a:gdLst/>
            <a:ahLst/>
            <a:cxnLst/>
            <a:rect l="l" t="t" r="r" b="b"/>
            <a:pathLst>
              <a:path h="202565">
                <a:moveTo>
                  <a:pt x="0" y="202031"/>
                </a:moveTo>
                <a:lnTo>
                  <a:pt x="0" y="0"/>
                </a:lnTo>
              </a:path>
            </a:pathLst>
          </a:custGeom>
          <a:ln w="6350">
            <a:solidFill>
              <a:srgbClr val="74797B"/>
            </a:solidFill>
          </a:ln>
        </p:spPr>
        <p:txBody>
          <a:bodyPr wrap="square" lIns="0" tIns="0" rIns="0" bIns="0" rtlCol="0"/>
          <a:lstStyle/>
          <a:p>
            <a:endParaRPr/>
          </a:p>
        </p:txBody>
      </p:sp>
      <p:sp>
        <p:nvSpPr>
          <p:cNvPr id="17" name="bg object 17"/>
          <p:cNvSpPr/>
          <p:nvPr/>
        </p:nvSpPr>
        <p:spPr>
          <a:xfrm>
            <a:off x="368808" y="9526523"/>
            <a:ext cx="269875" cy="243840"/>
          </a:xfrm>
          <a:custGeom>
            <a:avLst/>
            <a:gdLst/>
            <a:ahLst/>
            <a:cxnLst/>
            <a:rect l="l" t="t" r="r" b="b"/>
            <a:pathLst>
              <a:path w="269875" h="243840">
                <a:moveTo>
                  <a:pt x="237070" y="0"/>
                </a:moveTo>
                <a:lnTo>
                  <a:pt x="32677" y="0"/>
                </a:lnTo>
                <a:lnTo>
                  <a:pt x="18479" y="2079"/>
                </a:lnTo>
                <a:lnTo>
                  <a:pt x="8256" y="8274"/>
                </a:lnTo>
                <a:lnTo>
                  <a:pt x="2075" y="18516"/>
                </a:lnTo>
                <a:lnTo>
                  <a:pt x="0" y="32740"/>
                </a:lnTo>
                <a:lnTo>
                  <a:pt x="51" y="211454"/>
                </a:lnTo>
                <a:lnTo>
                  <a:pt x="2075" y="225323"/>
                </a:lnTo>
                <a:lnTo>
                  <a:pt x="8256" y="235565"/>
                </a:lnTo>
                <a:lnTo>
                  <a:pt x="18479" y="241760"/>
                </a:lnTo>
                <a:lnTo>
                  <a:pt x="32677" y="243839"/>
                </a:lnTo>
                <a:lnTo>
                  <a:pt x="170332" y="243839"/>
                </a:lnTo>
                <a:lnTo>
                  <a:pt x="170332" y="236880"/>
                </a:lnTo>
                <a:lnTo>
                  <a:pt x="171135" y="228682"/>
                </a:lnTo>
                <a:lnTo>
                  <a:pt x="173631" y="222248"/>
                </a:lnTo>
                <a:lnTo>
                  <a:pt x="177951" y="217383"/>
                </a:lnTo>
                <a:lnTo>
                  <a:pt x="184226" y="213893"/>
                </a:lnTo>
                <a:lnTo>
                  <a:pt x="184226" y="213194"/>
                </a:lnTo>
                <a:lnTo>
                  <a:pt x="63969" y="213194"/>
                </a:lnTo>
                <a:lnTo>
                  <a:pt x="63969" y="212140"/>
                </a:lnTo>
                <a:lnTo>
                  <a:pt x="65011" y="211099"/>
                </a:lnTo>
                <a:lnTo>
                  <a:pt x="104635" y="172440"/>
                </a:lnTo>
                <a:lnTo>
                  <a:pt x="64312" y="133413"/>
                </a:lnTo>
                <a:lnTo>
                  <a:pt x="63271" y="132372"/>
                </a:lnTo>
                <a:lnTo>
                  <a:pt x="63501" y="131673"/>
                </a:lnTo>
                <a:lnTo>
                  <a:pt x="63614" y="131330"/>
                </a:lnTo>
                <a:lnTo>
                  <a:pt x="269748" y="131330"/>
                </a:lnTo>
                <a:lnTo>
                  <a:pt x="269748" y="32740"/>
                </a:lnTo>
                <a:lnTo>
                  <a:pt x="267672" y="18516"/>
                </a:lnTo>
                <a:lnTo>
                  <a:pt x="261491" y="8274"/>
                </a:lnTo>
                <a:lnTo>
                  <a:pt x="251268" y="2079"/>
                </a:lnTo>
                <a:lnTo>
                  <a:pt x="237070" y="0"/>
                </a:lnTo>
                <a:close/>
              </a:path>
              <a:path w="269875" h="243840">
                <a:moveTo>
                  <a:pt x="269735" y="188455"/>
                </a:moveTo>
                <a:lnTo>
                  <a:pt x="269029" y="188455"/>
                </a:lnTo>
                <a:lnTo>
                  <a:pt x="262627" y="200248"/>
                </a:lnTo>
                <a:lnTo>
                  <a:pt x="253184" y="207870"/>
                </a:lnTo>
                <a:lnTo>
                  <a:pt x="241326" y="211963"/>
                </a:lnTo>
                <a:lnTo>
                  <a:pt x="227530" y="213194"/>
                </a:lnTo>
                <a:lnTo>
                  <a:pt x="196723" y="213194"/>
                </a:lnTo>
                <a:lnTo>
                  <a:pt x="196380" y="213537"/>
                </a:lnTo>
                <a:lnTo>
                  <a:pt x="196380" y="243839"/>
                </a:lnTo>
                <a:lnTo>
                  <a:pt x="237058" y="243839"/>
                </a:lnTo>
                <a:lnTo>
                  <a:pt x="269327" y="213893"/>
                </a:lnTo>
                <a:lnTo>
                  <a:pt x="269429" y="213194"/>
                </a:lnTo>
                <a:lnTo>
                  <a:pt x="269479" y="212851"/>
                </a:lnTo>
                <a:lnTo>
                  <a:pt x="269583" y="212140"/>
                </a:lnTo>
                <a:lnTo>
                  <a:pt x="269683" y="211454"/>
                </a:lnTo>
                <a:lnTo>
                  <a:pt x="269735" y="188455"/>
                </a:lnTo>
                <a:close/>
              </a:path>
              <a:path w="269875" h="243840">
                <a:moveTo>
                  <a:pt x="121323" y="190550"/>
                </a:moveTo>
                <a:lnTo>
                  <a:pt x="100469" y="211797"/>
                </a:lnTo>
                <a:lnTo>
                  <a:pt x="99415" y="212851"/>
                </a:lnTo>
                <a:lnTo>
                  <a:pt x="98729" y="213194"/>
                </a:lnTo>
                <a:lnTo>
                  <a:pt x="143560" y="213194"/>
                </a:lnTo>
                <a:lnTo>
                  <a:pt x="142887" y="212851"/>
                </a:lnTo>
                <a:lnTo>
                  <a:pt x="141478" y="211454"/>
                </a:lnTo>
                <a:lnTo>
                  <a:pt x="121323" y="190550"/>
                </a:lnTo>
                <a:close/>
              </a:path>
              <a:path w="269875" h="243840">
                <a:moveTo>
                  <a:pt x="170319" y="142138"/>
                </a:moveTo>
                <a:lnTo>
                  <a:pt x="139039" y="172440"/>
                </a:lnTo>
                <a:lnTo>
                  <a:pt x="170319" y="202742"/>
                </a:lnTo>
                <a:lnTo>
                  <a:pt x="170319" y="142138"/>
                </a:lnTo>
                <a:close/>
              </a:path>
              <a:path w="269875" h="243840">
                <a:moveTo>
                  <a:pt x="238455" y="156413"/>
                </a:moveTo>
                <a:lnTo>
                  <a:pt x="196392" y="156413"/>
                </a:lnTo>
                <a:lnTo>
                  <a:pt x="196392" y="188455"/>
                </a:lnTo>
                <a:lnTo>
                  <a:pt x="238455" y="188455"/>
                </a:lnTo>
                <a:lnTo>
                  <a:pt x="246456" y="183235"/>
                </a:lnTo>
                <a:lnTo>
                  <a:pt x="246456" y="161632"/>
                </a:lnTo>
                <a:lnTo>
                  <a:pt x="238455" y="156413"/>
                </a:lnTo>
                <a:close/>
              </a:path>
              <a:path w="269875" h="243840">
                <a:moveTo>
                  <a:pt x="269748" y="131330"/>
                </a:moveTo>
                <a:lnTo>
                  <a:pt x="227342" y="131330"/>
                </a:lnTo>
                <a:lnTo>
                  <a:pt x="242071" y="132714"/>
                </a:lnTo>
                <a:lnTo>
                  <a:pt x="241212" y="132714"/>
                </a:lnTo>
                <a:lnTo>
                  <a:pt x="252891" y="136818"/>
                </a:lnTo>
                <a:lnTo>
                  <a:pt x="262536" y="144559"/>
                </a:lnTo>
                <a:lnTo>
                  <a:pt x="269049" y="156413"/>
                </a:lnTo>
                <a:lnTo>
                  <a:pt x="269748" y="156413"/>
                </a:lnTo>
                <a:lnTo>
                  <a:pt x="269748" y="131330"/>
                </a:lnTo>
                <a:close/>
              </a:path>
              <a:path w="269875" h="243840">
                <a:moveTo>
                  <a:pt x="144259" y="131330"/>
                </a:moveTo>
                <a:lnTo>
                  <a:pt x="98374" y="131330"/>
                </a:lnTo>
                <a:lnTo>
                  <a:pt x="99072" y="131673"/>
                </a:lnTo>
                <a:lnTo>
                  <a:pt x="122021" y="154660"/>
                </a:lnTo>
                <a:lnTo>
                  <a:pt x="142519" y="132714"/>
                </a:lnTo>
                <a:lnTo>
                  <a:pt x="143573" y="131673"/>
                </a:lnTo>
                <a:lnTo>
                  <a:pt x="144259" y="131330"/>
                </a:lnTo>
                <a:close/>
              </a:path>
            </a:pathLst>
          </a:custGeom>
          <a:solidFill>
            <a:srgbClr val="17181A"/>
          </a:solidFill>
        </p:spPr>
        <p:txBody>
          <a:bodyPr wrap="square" lIns="0" tIns="0" rIns="0" bIns="0" rtlCol="0"/>
          <a:lstStyle/>
          <a:p>
            <a:endParaRPr/>
          </a:p>
        </p:txBody>
      </p:sp>
      <p:sp>
        <p:nvSpPr>
          <p:cNvPr id="2" name="Holder 2"/>
          <p:cNvSpPr>
            <a:spLocks noGrp="1"/>
          </p:cNvSpPr>
          <p:nvPr>
            <p:ph type="title"/>
          </p:nvPr>
        </p:nvSpPr>
        <p:spPr>
          <a:xfrm>
            <a:off x="377443" y="768351"/>
            <a:ext cx="3808095" cy="1066164"/>
          </a:xfrm>
          <a:prstGeom prst="rect">
            <a:avLst/>
          </a:prstGeom>
        </p:spPr>
        <p:txBody>
          <a:bodyPr wrap="square" lIns="0" tIns="0" rIns="0" bIns="0">
            <a:spAutoFit/>
          </a:bodyPr>
          <a:lstStyle>
            <a:lvl1pPr>
              <a:defRPr sz="2400" b="1" i="0">
                <a:solidFill>
                  <a:srgbClr val="FFBB00"/>
                </a:solidFill>
                <a:latin typeface="Trebuchet MS"/>
                <a:cs typeface="Trebuchet MS"/>
              </a:defRPr>
            </a:lvl1pPr>
          </a:lstStyle>
          <a:p>
            <a:endParaRPr/>
          </a:p>
        </p:txBody>
      </p:sp>
      <p:sp>
        <p:nvSpPr>
          <p:cNvPr id="3" name="Holder 3"/>
          <p:cNvSpPr>
            <a:spLocks noGrp="1"/>
          </p:cNvSpPr>
          <p:nvPr>
            <p:ph type="body" idx="1"/>
          </p:nvPr>
        </p:nvSpPr>
        <p:spPr>
          <a:xfrm>
            <a:off x="377443" y="2996564"/>
            <a:ext cx="3759835" cy="4407534"/>
          </a:xfrm>
          <a:prstGeom prst="rect">
            <a:avLst/>
          </a:prstGeom>
        </p:spPr>
        <p:txBody>
          <a:bodyPr wrap="square" lIns="0" tIns="0" rIns="0" bIns="0">
            <a:spAutoFit/>
          </a:bodyPr>
          <a:lstStyle>
            <a:lvl1pPr>
              <a:defRPr sz="1000" b="0" i="0">
                <a:solidFill>
                  <a:srgbClr val="17181A"/>
                </a:solidFill>
                <a:latin typeface="Trebuchet MS"/>
                <a:cs typeface="Trebuchet MS"/>
              </a:defRPr>
            </a:lvl1pPr>
          </a:lstStyle>
          <a:p>
            <a:endParaRPr/>
          </a:p>
        </p:txBody>
      </p:sp>
      <p:sp>
        <p:nvSpPr>
          <p:cNvPr id="4" name="Holder 4"/>
          <p:cNvSpPr>
            <a:spLocks noGrp="1"/>
          </p:cNvSpPr>
          <p:nvPr>
            <p:ph type="ftr" sz="quarter" idx="5"/>
          </p:nvPr>
        </p:nvSpPr>
        <p:spPr>
          <a:xfrm>
            <a:off x="2331720" y="9212580"/>
            <a:ext cx="2194560" cy="4953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9212580"/>
            <a:ext cx="1577340" cy="4953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7/2/2026</a:t>
            </a:fld>
            <a:endParaRPr lang="en-US"/>
          </a:p>
        </p:txBody>
      </p:sp>
      <p:sp>
        <p:nvSpPr>
          <p:cNvPr id="6" name="Holder 6"/>
          <p:cNvSpPr>
            <a:spLocks noGrp="1"/>
          </p:cNvSpPr>
          <p:nvPr>
            <p:ph type="sldNum" sz="quarter" idx="7"/>
          </p:nvPr>
        </p:nvSpPr>
        <p:spPr>
          <a:xfrm>
            <a:off x="6335903" y="9577590"/>
            <a:ext cx="146685" cy="145415"/>
          </a:xfrm>
          <a:prstGeom prst="rect">
            <a:avLst/>
          </a:prstGeom>
        </p:spPr>
        <p:txBody>
          <a:bodyPr wrap="square" lIns="0" tIns="0" rIns="0" bIns="0">
            <a:spAutoFit/>
          </a:bodyPr>
          <a:lstStyle>
            <a:lvl1pPr>
              <a:defRPr sz="800" b="0" i="0">
                <a:solidFill>
                  <a:srgbClr val="17181A"/>
                </a:solidFill>
                <a:latin typeface="Arial"/>
                <a:cs typeface="Arial"/>
              </a:defRPr>
            </a:lvl1pPr>
          </a:lstStyle>
          <a:p>
            <a:pPr marL="38100">
              <a:lnSpc>
                <a:spcPct val="100000"/>
              </a:lnSpc>
              <a:spcBef>
                <a:spcPts val="45"/>
              </a:spcBef>
            </a:pPr>
            <a:fld id="{81D60167-4931-47E6-BA6A-407CBD079E47}" type="slidenum">
              <a:rPr spc="-50" dirty="0"/>
              <a:t>‹#›</a:t>
            </a:fld>
            <a:endParaRPr spc="-50"/>
          </a:p>
        </p:txBody>
      </p:sp>
    </p:spTree>
  </p:cSld>
  <p:clrMap bg1="lt1" tx1="dk1" bg2="lt2" tx2="dk2" accent1="accent1" accent2="accent2" accent3="accent3" accent4="accent4" accent5="accent5" accent6="accent6" hlink="hlink" folHlink="folHlink"/>
  <p:sldLayoutIdLst>
    <p:sldLayoutId id="2147483665" r:id="rId1"/>
    <p:sldLayoutId id="2147483662" r:id="rId2"/>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chart" Target="../charts/chart1.xml"/><Relationship Id="rId5" Type="http://schemas.openxmlformats.org/officeDocument/2006/relationships/chart" Target="../charts/chart2.xml"/><Relationship Id="rId6" Type="http://schemas.microsoft.com/office/2014/relationships/chartEx" Target="../charts/chartEx1.xml"/><Relationship Id="rId7"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D4419-C5BC-5400-BF83-5C8D6090602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878753D-4385-BB72-BB0C-E08970CF29B1}"/>
              </a:ext>
            </a:extLst>
          </p:cNvPr>
          <p:cNvSpPr txBox="1"/>
          <p:nvPr/>
        </p:nvSpPr>
        <p:spPr>
          <a:xfrm>
            <a:off x="390143" y="424017"/>
            <a:ext cx="1326515" cy="179070"/>
          </a:xfrm>
          <a:prstGeom prst="rect">
            <a:avLst/>
          </a:prstGeom>
        </p:spPr>
        <p:txBody>
          <a:bodyPr vert="horz" wrap="square" lIns="0" tIns="0" rIns="0" bIns="0" rtlCol="0">
            <a:spAutoFit/>
          </a:bodyPr>
          <a:lstStyle/>
          <a:p>
            <a:pPr>
              <a:lnSpc>
                <a:spcPts val="1355"/>
              </a:lnSpc>
            </a:pPr>
            <a:r>
              <a:rPr sz="1200" spc="-20">
                <a:solidFill>
                  <a:srgbClr val="3E3E3E"/>
                </a:solidFill>
                <a:latin typeface="Roboto Condensed" pitchFamily="2" charset="0"/>
                <a:ea typeface="Roboto Condensed" pitchFamily="2" charset="0"/>
                <a:cs typeface="Trebuchet MS"/>
              </a:rPr>
              <a:t>Estratégia</a:t>
            </a:r>
            <a:r>
              <a:rPr sz="1200" spc="-2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de</a:t>
            </a:r>
            <a:r>
              <a:rPr sz="1200" spc="-4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Ações</a:t>
            </a:r>
            <a:endParaRPr sz="1200">
              <a:latin typeface="Roboto Condensed" pitchFamily="2" charset="0"/>
              <a:ea typeface="Roboto Condensed" pitchFamily="2" charset="0"/>
              <a:cs typeface="Trebuchet MS"/>
            </a:endParaRPr>
          </a:p>
        </p:txBody>
      </p:sp>
      <p:grpSp>
        <p:nvGrpSpPr>
          <p:cNvPr id="3" name="object 3">
            <a:extLst>
              <a:ext uri="{FF2B5EF4-FFF2-40B4-BE49-F238E27FC236}">
                <a16:creationId xmlns:a16="http://schemas.microsoft.com/office/drawing/2014/main" id="{9F62409C-EC29-F1C2-7635-45424A7C02BA}"/>
              </a:ext>
            </a:extLst>
          </p:cNvPr>
          <p:cNvGrpSpPr/>
          <p:nvPr/>
        </p:nvGrpSpPr>
        <p:grpSpPr>
          <a:xfrm>
            <a:off x="0" y="0"/>
            <a:ext cx="6857999" cy="1234433"/>
            <a:chOff x="0" y="0"/>
            <a:chExt cx="6857999" cy="1517058"/>
          </a:xfrm>
        </p:grpSpPr>
        <p:pic>
          <p:nvPicPr>
            <p:cNvPr id="4" name="object 4">
              <a:extLst>
                <a:ext uri="{FF2B5EF4-FFF2-40B4-BE49-F238E27FC236}">
                  <a16:creationId xmlns:a16="http://schemas.microsoft.com/office/drawing/2014/main" id="{A6A906E3-A81A-D608-FCC6-70FFB0F75C4C}"/>
                </a:ext>
              </a:extLst>
            </p:cNvPr>
            <p:cNvPicPr/>
            <p:nvPr/>
          </p:nvPicPr>
          <p:blipFill>
            <a:blip r:embed="rId3" cstate="print"/>
            <a:stretch>
              <a:fillRect/>
            </a:stretch>
          </p:blipFill>
          <p:spPr>
            <a:xfrm>
              <a:off x="0" y="0"/>
              <a:ext cx="6857999" cy="1517058"/>
            </a:xfrm>
            <a:prstGeom prst="rect">
              <a:avLst/>
            </a:prstGeom>
          </p:spPr>
        </p:pic>
        <p:sp>
          <p:nvSpPr>
            <p:cNvPr id="5" name="object 5">
              <a:extLst>
                <a:ext uri="{FF2B5EF4-FFF2-40B4-BE49-F238E27FC236}">
                  <a16:creationId xmlns:a16="http://schemas.microsoft.com/office/drawing/2014/main" id="{C78468A7-C827-2915-29E4-58672CE5D187}"/>
                </a:ext>
              </a:extLst>
            </p:cNvPr>
            <p:cNvSpPr/>
            <p:nvPr/>
          </p:nvSpPr>
          <p:spPr>
            <a:xfrm>
              <a:off x="6377733" y="937686"/>
              <a:ext cx="351660" cy="420301"/>
            </a:xfrm>
            <a:custGeom>
              <a:avLst/>
              <a:gdLst/>
              <a:ahLst/>
              <a:cxnLst/>
              <a:rect l="l" t="t" r="r" b="b"/>
              <a:pathLst>
                <a:path w="379730" h="341630">
                  <a:moveTo>
                    <a:pt x="333514" y="0"/>
                  </a:moveTo>
                  <a:lnTo>
                    <a:pt x="45961" y="0"/>
                  </a:lnTo>
                  <a:lnTo>
                    <a:pt x="25990" y="2913"/>
                  </a:lnTo>
                  <a:lnTo>
                    <a:pt x="11612" y="11588"/>
                  </a:lnTo>
                  <a:lnTo>
                    <a:pt x="2918" y="25931"/>
                  </a:lnTo>
                  <a:lnTo>
                    <a:pt x="0" y="45847"/>
                  </a:lnTo>
                  <a:lnTo>
                    <a:pt x="74" y="296037"/>
                  </a:lnTo>
                  <a:lnTo>
                    <a:pt x="2918" y="315444"/>
                  </a:lnTo>
                  <a:lnTo>
                    <a:pt x="11612" y="329787"/>
                  </a:lnTo>
                  <a:lnTo>
                    <a:pt x="25990" y="338462"/>
                  </a:lnTo>
                  <a:lnTo>
                    <a:pt x="45961" y="341375"/>
                  </a:lnTo>
                  <a:lnTo>
                    <a:pt x="239610" y="341375"/>
                  </a:lnTo>
                  <a:lnTo>
                    <a:pt x="239610" y="331597"/>
                  </a:lnTo>
                  <a:lnTo>
                    <a:pt x="240741" y="320147"/>
                  </a:lnTo>
                  <a:lnTo>
                    <a:pt x="244255" y="311150"/>
                  </a:lnTo>
                  <a:lnTo>
                    <a:pt x="250337" y="304343"/>
                  </a:lnTo>
                  <a:lnTo>
                    <a:pt x="259168" y="299466"/>
                  </a:lnTo>
                  <a:lnTo>
                    <a:pt x="259168" y="298450"/>
                  </a:lnTo>
                  <a:lnTo>
                    <a:pt x="89992" y="298450"/>
                  </a:lnTo>
                  <a:lnTo>
                    <a:pt x="89992" y="297052"/>
                  </a:lnTo>
                  <a:lnTo>
                    <a:pt x="91452" y="295528"/>
                  </a:lnTo>
                  <a:lnTo>
                    <a:pt x="147193" y="241426"/>
                  </a:lnTo>
                  <a:lnTo>
                    <a:pt x="90474" y="186817"/>
                  </a:lnTo>
                  <a:lnTo>
                    <a:pt x="89001" y="185293"/>
                  </a:lnTo>
                  <a:lnTo>
                    <a:pt x="89496" y="183896"/>
                  </a:lnTo>
                  <a:lnTo>
                    <a:pt x="379476" y="183896"/>
                  </a:lnTo>
                  <a:lnTo>
                    <a:pt x="379476" y="45847"/>
                  </a:lnTo>
                  <a:lnTo>
                    <a:pt x="376557" y="25931"/>
                  </a:lnTo>
                  <a:lnTo>
                    <a:pt x="367863" y="11588"/>
                  </a:lnTo>
                  <a:lnTo>
                    <a:pt x="353485" y="2913"/>
                  </a:lnTo>
                  <a:lnTo>
                    <a:pt x="333514" y="0"/>
                  </a:lnTo>
                  <a:close/>
                </a:path>
                <a:path w="379730" h="341630">
                  <a:moveTo>
                    <a:pt x="379463" y="263778"/>
                  </a:moveTo>
                  <a:lnTo>
                    <a:pt x="378485" y="263778"/>
                  </a:lnTo>
                  <a:lnTo>
                    <a:pt x="369455" y="280340"/>
                  </a:lnTo>
                  <a:lnTo>
                    <a:pt x="356165" y="291020"/>
                  </a:lnTo>
                  <a:lnTo>
                    <a:pt x="339484" y="296747"/>
                  </a:lnTo>
                  <a:lnTo>
                    <a:pt x="320281" y="298450"/>
                  </a:lnTo>
                  <a:lnTo>
                    <a:pt x="276758" y="298450"/>
                  </a:lnTo>
                  <a:lnTo>
                    <a:pt x="276275" y="298958"/>
                  </a:lnTo>
                  <a:lnTo>
                    <a:pt x="276275" y="341375"/>
                  </a:lnTo>
                  <a:lnTo>
                    <a:pt x="333502" y="341375"/>
                  </a:lnTo>
                  <a:lnTo>
                    <a:pt x="353472" y="338462"/>
                  </a:lnTo>
                  <a:lnTo>
                    <a:pt x="367850" y="329787"/>
                  </a:lnTo>
                  <a:lnTo>
                    <a:pt x="376544" y="315444"/>
                  </a:lnTo>
                  <a:lnTo>
                    <a:pt x="379239" y="297052"/>
                  </a:lnTo>
                  <a:lnTo>
                    <a:pt x="379314" y="296545"/>
                  </a:lnTo>
                  <a:lnTo>
                    <a:pt x="379388" y="296037"/>
                  </a:lnTo>
                  <a:lnTo>
                    <a:pt x="379463" y="263778"/>
                  </a:lnTo>
                  <a:close/>
                </a:path>
                <a:path w="379730" h="341630">
                  <a:moveTo>
                    <a:pt x="170675" y="266826"/>
                  </a:moveTo>
                  <a:lnTo>
                    <a:pt x="141338" y="296545"/>
                  </a:lnTo>
                  <a:lnTo>
                    <a:pt x="139865" y="297942"/>
                  </a:lnTo>
                  <a:lnTo>
                    <a:pt x="138899" y="298450"/>
                  </a:lnTo>
                  <a:lnTo>
                    <a:pt x="201955" y="298450"/>
                  </a:lnTo>
                  <a:lnTo>
                    <a:pt x="200977" y="297942"/>
                  </a:lnTo>
                  <a:lnTo>
                    <a:pt x="199034" y="296037"/>
                  </a:lnTo>
                  <a:lnTo>
                    <a:pt x="170675" y="266826"/>
                  </a:lnTo>
                  <a:close/>
                </a:path>
                <a:path w="379730" h="341630">
                  <a:moveTo>
                    <a:pt x="239598" y="199009"/>
                  </a:moveTo>
                  <a:lnTo>
                    <a:pt x="195592" y="241426"/>
                  </a:lnTo>
                  <a:lnTo>
                    <a:pt x="239598" y="283845"/>
                  </a:lnTo>
                  <a:lnTo>
                    <a:pt x="239598" y="199009"/>
                  </a:lnTo>
                  <a:close/>
                </a:path>
                <a:path w="379730" h="341630">
                  <a:moveTo>
                    <a:pt x="319316" y="218948"/>
                  </a:moveTo>
                  <a:lnTo>
                    <a:pt x="276288" y="218948"/>
                  </a:lnTo>
                  <a:lnTo>
                    <a:pt x="276288" y="263778"/>
                  </a:lnTo>
                  <a:lnTo>
                    <a:pt x="319316" y="263778"/>
                  </a:lnTo>
                  <a:lnTo>
                    <a:pt x="330406" y="262411"/>
                  </a:lnTo>
                  <a:lnTo>
                    <a:pt x="339066" y="258270"/>
                  </a:lnTo>
                  <a:lnTo>
                    <a:pt x="344699" y="251295"/>
                  </a:lnTo>
                  <a:lnTo>
                    <a:pt x="346710" y="241426"/>
                  </a:lnTo>
                  <a:lnTo>
                    <a:pt x="344699" y="231538"/>
                  </a:lnTo>
                  <a:lnTo>
                    <a:pt x="339066" y="224520"/>
                  </a:lnTo>
                  <a:lnTo>
                    <a:pt x="330406" y="220335"/>
                  </a:lnTo>
                  <a:lnTo>
                    <a:pt x="319316" y="218948"/>
                  </a:lnTo>
                  <a:close/>
                </a:path>
                <a:path w="379730" h="341630">
                  <a:moveTo>
                    <a:pt x="379476" y="183896"/>
                  </a:moveTo>
                  <a:lnTo>
                    <a:pt x="319824" y="183896"/>
                  </a:lnTo>
                  <a:lnTo>
                    <a:pt x="340232" y="185800"/>
                  </a:lnTo>
                  <a:lnTo>
                    <a:pt x="339251" y="185800"/>
                  </a:lnTo>
                  <a:lnTo>
                    <a:pt x="355761" y="191563"/>
                  </a:lnTo>
                  <a:lnTo>
                    <a:pt x="369330" y="202380"/>
                  </a:lnTo>
                  <a:lnTo>
                    <a:pt x="378498" y="218948"/>
                  </a:lnTo>
                  <a:lnTo>
                    <a:pt x="379476" y="218948"/>
                  </a:lnTo>
                  <a:lnTo>
                    <a:pt x="379476" y="183896"/>
                  </a:lnTo>
                  <a:close/>
                </a:path>
                <a:path w="379730" h="341630">
                  <a:moveTo>
                    <a:pt x="202946" y="183896"/>
                  </a:moveTo>
                  <a:lnTo>
                    <a:pt x="138391" y="183896"/>
                  </a:lnTo>
                  <a:lnTo>
                    <a:pt x="139369" y="184403"/>
                  </a:lnTo>
                  <a:lnTo>
                    <a:pt x="140843" y="185800"/>
                  </a:lnTo>
                  <a:lnTo>
                    <a:pt x="171653" y="216535"/>
                  </a:lnTo>
                  <a:lnTo>
                    <a:pt x="200494" y="185800"/>
                  </a:lnTo>
                  <a:lnTo>
                    <a:pt x="201845" y="184403"/>
                  </a:lnTo>
                  <a:lnTo>
                    <a:pt x="201642" y="184403"/>
                  </a:lnTo>
                  <a:lnTo>
                    <a:pt x="202946" y="183896"/>
                  </a:lnTo>
                  <a:close/>
                </a:path>
              </a:pathLst>
            </a:custGeom>
            <a:solidFill>
              <a:srgbClr val="FFFFFF"/>
            </a:solidFill>
          </p:spPr>
          <p:txBody>
            <a:bodyPr wrap="square" lIns="0" tIns="0" rIns="0" bIns="0" rtlCol="0"/>
            <a:lstStyle/>
            <a:p>
              <a:endParaRPr>
                <a:latin typeface="Roboto Condensed" pitchFamily="2" charset="0"/>
                <a:ea typeface="Roboto Condensed" pitchFamily="2" charset="0"/>
              </a:endParaRPr>
            </a:p>
          </p:txBody>
        </p:sp>
      </p:grpSp>
      <p:sp>
        <p:nvSpPr>
          <p:cNvPr id="7" name="object 7">
            <a:extLst>
              <a:ext uri="{FF2B5EF4-FFF2-40B4-BE49-F238E27FC236}">
                <a16:creationId xmlns:a16="http://schemas.microsoft.com/office/drawing/2014/main" id="{3E991D63-D8FA-C038-3440-2CF7C224E177}"/>
              </a:ext>
            </a:extLst>
          </p:cNvPr>
          <p:cNvSpPr txBox="1"/>
          <p:nvPr/>
        </p:nvSpPr>
        <p:spPr>
          <a:xfrm>
            <a:off x="5137144" y="228963"/>
            <a:ext cx="1601659" cy="404598"/>
          </a:xfrm>
          <a:prstGeom prst="rect">
            <a:avLst/>
          </a:prstGeom>
        </p:spPr>
        <p:txBody>
          <a:bodyPr vert="horz" wrap="square" lIns="0" tIns="45085" rIns="0" bIns="0" rtlCol="0">
            <a:spAutoFit/>
          </a:bodyPr>
          <a:lstStyle/>
          <a:p>
            <a:pPr marL="35560" marR="5080" indent="-22860" algn="r">
              <a:lnSpc>
                <a:spcPts val="1180"/>
              </a:lnSpc>
              <a:spcBef>
                <a:spcPts val="355"/>
              </a:spcBef>
            </a:pPr>
            <a:r>
              <a:rPr lang="pt-BR" sz="1200" dirty="0">
                <a:solidFill>
                  <a:srgbClr val="FFBB00"/>
                </a:solidFill>
                <a:latin typeface="Roboto Condensed" pitchFamily="2" charset="0"/>
                <a:ea typeface="Roboto Condensed" pitchFamily="2" charset="0"/>
                <a:cs typeface="Trebuchet MS"/>
              </a:rPr>
              <a:t>Julho de 2026</a:t>
            </a:r>
            <a:endParaRPr lang="pt-BR" sz="1200" spc="-20" dirty="0">
              <a:solidFill>
                <a:srgbClr val="FFBB00"/>
              </a:solidFill>
              <a:latin typeface="Roboto Condensed" pitchFamily="2" charset="0"/>
              <a:ea typeface="Roboto Condensed" pitchFamily="2" charset="0"/>
              <a:cs typeface="Trebuchet MS"/>
            </a:endParaRPr>
          </a:p>
          <a:p>
            <a:pPr marL="35560" marR="5080" indent="-22860" algn="r">
              <a:lnSpc>
                <a:spcPts val="1180"/>
              </a:lnSpc>
              <a:spcBef>
                <a:spcPts val="355"/>
              </a:spcBef>
            </a:pPr>
            <a:r>
              <a:rPr lang="pt-BR" sz="1200" spc="-20" dirty="0">
                <a:solidFill>
                  <a:srgbClr val="FFFFFF"/>
                </a:solidFill>
                <a:latin typeface="Roboto Condensed" pitchFamily="2" charset="0"/>
                <a:ea typeface="Roboto Condensed" pitchFamily="2" charset="0"/>
                <a:cs typeface="Trebuchet MS"/>
              </a:rPr>
              <a:t>Carteira Top Ações XP</a:t>
            </a:r>
            <a:endParaRPr sz="1200" dirty="0">
              <a:latin typeface="Roboto Condensed" pitchFamily="2" charset="0"/>
              <a:ea typeface="Roboto Condensed" pitchFamily="2" charset="0"/>
              <a:cs typeface="Trebuchet MS"/>
            </a:endParaRPr>
          </a:p>
        </p:txBody>
      </p:sp>
      <p:sp>
        <p:nvSpPr>
          <p:cNvPr id="14" name="object 14">
            <a:extLst>
              <a:ext uri="{FF2B5EF4-FFF2-40B4-BE49-F238E27FC236}">
                <a16:creationId xmlns:a16="http://schemas.microsoft.com/office/drawing/2014/main" id="{2C0F188C-CB88-21FD-66FA-CAC1339BB4D8}"/>
              </a:ext>
            </a:extLst>
          </p:cNvPr>
          <p:cNvSpPr txBox="1">
            <a:spLocks noGrp="1"/>
          </p:cNvSpPr>
          <p:nvPr>
            <p:ph type="sldNum" sz="quarter" idx="7"/>
          </p:nvPr>
        </p:nvSpPr>
        <p:spPr>
          <a:xfrm>
            <a:off x="6593183" y="9450327"/>
            <a:ext cx="146685" cy="128881"/>
          </a:xfrm>
          <a:prstGeom prst="rect">
            <a:avLst/>
          </a:prstGeom>
        </p:spPr>
        <p:txBody>
          <a:bodyPr vert="horz" wrap="square" lIns="0" tIns="5715" rIns="0" bIns="0" rtlCol="0">
            <a:spAutoFit/>
          </a:bodyPr>
          <a:lstStyle/>
          <a:p>
            <a:pPr marL="38100">
              <a:lnSpc>
                <a:spcPct val="100000"/>
              </a:lnSpc>
              <a:spcBef>
                <a:spcPts val="45"/>
              </a:spcBef>
            </a:pPr>
            <a:fld id="{81D60167-4931-47E6-BA6A-407CBD079E47}" type="slidenum">
              <a:rPr spc="-50" dirty="0">
                <a:latin typeface="Roboto Condensed" pitchFamily="2" charset="0"/>
                <a:ea typeface="Roboto Condensed" pitchFamily="2" charset="0"/>
              </a:rPr>
              <a:t>1</a:t>
            </a:fld>
            <a:endParaRPr spc="-50">
              <a:latin typeface="Roboto Condensed" pitchFamily="2" charset="0"/>
              <a:ea typeface="Roboto Condensed" pitchFamily="2" charset="0"/>
            </a:endParaRPr>
          </a:p>
        </p:txBody>
      </p:sp>
      <p:sp>
        <p:nvSpPr>
          <p:cNvPr id="8" name="object 8">
            <a:extLst>
              <a:ext uri="{FF2B5EF4-FFF2-40B4-BE49-F238E27FC236}">
                <a16:creationId xmlns:a16="http://schemas.microsoft.com/office/drawing/2014/main" id="{14B5839D-E281-7630-229F-77C7012913A7}"/>
              </a:ext>
            </a:extLst>
          </p:cNvPr>
          <p:cNvSpPr txBox="1">
            <a:spLocks noGrp="1"/>
          </p:cNvSpPr>
          <p:nvPr>
            <p:ph type="title"/>
          </p:nvPr>
        </p:nvSpPr>
        <p:spPr>
          <a:xfrm>
            <a:off x="128607" y="49869"/>
            <a:ext cx="4806808" cy="1033424"/>
          </a:xfrm>
          <a:prstGeom prst="rect">
            <a:avLst/>
          </a:prstGeom>
        </p:spPr>
        <p:txBody>
          <a:bodyPr vert="horz" wrap="square" lIns="0" tIns="168275" rIns="0" bIns="0" rtlCol="0">
            <a:spAutoFit/>
          </a:bodyPr>
          <a:lstStyle/>
          <a:p>
            <a:pPr marL="12700">
              <a:lnSpc>
                <a:spcPct val="100000"/>
              </a:lnSpc>
              <a:spcBef>
                <a:spcPts val="1325"/>
              </a:spcBef>
            </a:pPr>
            <a:r>
              <a:rPr lang="pt-BR" spc="95" dirty="0">
                <a:latin typeface="Roboto Condensed" pitchFamily="2" charset="0"/>
                <a:ea typeface="Roboto Condensed" pitchFamily="2" charset="0"/>
              </a:rPr>
              <a:t>Top Ações XP</a:t>
            </a:r>
            <a:endParaRPr spc="-10" dirty="0">
              <a:latin typeface="Roboto Condensed" pitchFamily="2" charset="0"/>
              <a:ea typeface="Roboto Condensed" pitchFamily="2" charset="0"/>
            </a:endParaRPr>
          </a:p>
          <a:p>
            <a:pPr marL="12700" marR="1805305">
              <a:lnSpc>
                <a:spcPct val="141200"/>
              </a:lnSpc>
              <a:spcBef>
                <a:spcPts val="20"/>
              </a:spcBef>
            </a:pPr>
            <a:r>
              <a:rPr lang="pt-BR" sz="1200" b="0" spc="-60" dirty="0">
                <a:solidFill>
                  <a:srgbClr val="FFFFFF"/>
                </a:solidFill>
                <a:latin typeface="Roboto Condensed" pitchFamily="2" charset="0"/>
                <a:ea typeface="Roboto Condensed" pitchFamily="2" charset="0"/>
              </a:rPr>
              <a:t>Research XP</a:t>
            </a:r>
            <a:br>
              <a:rPr lang="pt-BR" sz="1200" b="0" spc="-60" dirty="0">
                <a:solidFill>
                  <a:srgbClr val="FFFFFF"/>
                </a:solidFill>
                <a:latin typeface="Roboto Condensed" pitchFamily="2" charset="0"/>
                <a:ea typeface="Roboto Condensed" pitchFamily="2" charset="0"/>
              </a:rPr>
            </a:br>
            <a:r>
              <a:rPr lang="pt-BR" sz="1200" b="0" spc="-60" dirty="0">
                <a:solidFill>
                  <a:srgbClr val="FFFFFF"/>
                </a:solidFill>
                <a:latin typeface="Roboto Condensed" pitchFamily="2" charset="0"/>
                <a:ea typeface="Roboto Condensed" pitchFamily="2" charset="0"/>
              </a:rPr>
              <a:t>Fernando Ferreira, Raphael Figueredo e Caio Souza</a:t>
            </a:r>
            <a:endParaRPr sz="1200" dirty="0">
              <a:latin typeface="Roboto Condensed" pitchFamily="2" charset="0"/>
              <a:ea typeface="Roboto Condensed" pitchFamily="2" charset="0"/>
            </a:endParaRPr>
          </a:p>
        </p:txBody>
      </p:sp>
      <p:sp>
        <p:nvSpPr>
          <p:cNvPr id="10" name="CaixaDeTexto 9">
            <a:extLst>
              <a:ext uri="{FF2B5EF4-FFF2-40B4-BE49-F238E27FC236}">
                <a16:creationId xmlns:a16="http://schemas.microsoft.com/office/drawing/2014/main" id="{B3E855C4-87C5-C53D-A7AA-76FF5687FB19}"/>
              </a:ext>
            </a:extLst>
          </p:cNvPr>
          <p:cNvSpPr txBox="1"/>
          <p:nvPr/>
        </p:nvSpPr>
        <p:spPr>
          <a:xfrm>
            <a:off x="1148557" y="2936179"/>
            <a:ext cx="4560886" cy="5032147"/>
          </a:xfrm>
          <a:prstGeom prst="rect">
            <a:avLst/>
          </a:prstGeom>
          <a:noFill/>
        </p:spPr>
        <p:txBody>
          <a:bodyPr wrap="square">
            <a:spAutoFit/>
          </a:bodyPr>
          <a:lstStyle/>
          <a:p>
            <a:pPr algn="just"/>
            <a:r>
              <a:rPr lang="pt-BR" sz="1050" b="1" dirty="0">
                <a:latin typeface="Roboto Condensed" pitchFamily="2" charset="0"/>
                <a:ea typeface="Roboto Condensed" pitchFamily="2" charset="0"/>
              </a:rPr>
              <a:t>Comentários do Analista – Desempenho mensal e perspectivas</a:t>
            </a:r>
          </a:p>
          <a:p>
            <a:pPr algn="just"/>
            <a:endParaRPr lang="pt-BR" sz="105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A bolsa brasileira viveu um semestre de duas metades. No começo do ano, o mercado foi impulsionado por uma forte entrada de capital estrangeiro, em especial para nomes ligados a valor e </a:t>
            </a:r>
            <a:r>
              <a:rPr lang="pt-BR" sz="1000" i="1" dirty="0">
                <a:latin typeface="Roboto Condensed" pitchFamily="2" charset="0"/>
                <a:ea typeface="Roboto Condensed" pitchFamily="2" charset="0"/>
              </a:rPr>
              <a:t>commodities</a:t>
            </a:r>
            <a:r>
              <a:rPr lang="pt-BR" sz="1000" dirty="0">
                <a:latin typeface="Roboto Condensed" pitchFamily="2" charset="0"/>
                <a:ea typeface="Roboto Condensed" pitchFamily="2" charset="0"/>
              </a:rPr>
              <a:t>, o que levou o Ibovespa a renovar máximas. Esse movimento foi favorecido pela rotação global para fora de ativos americanos e pelo interesse em mercados emergentes. Ao longo dos meses, porém, esse ímpeto perdeu força. A volta do apetite global pelo tema de inteligência artificial, somada à piora do pano de fundo doméstico, reduziu o momentum do mercado local.</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Em junho, as ações globais também perderam tração com o arrefecimento do trade de IA. Já o Brasil seguiu pressionado com saídas de fluxo estrangeiro e a abertura da curva de juros.</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Olhando para o segundo semestre, nosso modelo quantitativo indica que o Brasil já entrou em um regime de inflação alta e pode migrar para um cenário de juros em alta, combinação que historicamente costuma ser mais negativa para a Bolsa ao olhar para esse fator isoladamente. </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Além do macro, a eleição presidencial deve adicionar volatilidade aos ativos locais. O mercado já começou a precificar o efeito das eleições, com impacto tanto em ações quanto em câmbio. Mais do que o resultado eleitoral em si, o ponto central para os investidores será a sinalização sobre a trajetória fiscal. Uma perspectiva crível de estabilização da dívida e de melhora estrutural das contas públicas será muito relevante para uma alta sustentável das ações brasileiras durante os próximos meses. </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Por outro lado, dois fatores sustentam uma visão mais construtiva: (i) preço, à medida que o nosso índice de sentimento segue em pessimismo extremo, indicando condições sobrevendidas; (</a:t>
            </a:r>
            <a:r>
              <a:rPr lang="pt-BR" sz="1000" dirty="0" err="1">
                <a:latin typeface="Roboto Condensed" pitchFamily="2" charset="0"/>
                <a:ea typeface="Roboto Condensed" pitchFamily="2" charset="0"/>
              </a:rPr>
              <a:t>ii</a:t>
            </a:r>
            <a:r>
              <a:rPr lang="pt-BR" sz="1000" dirty="0">
                <a:latin typeface="Roboto Condensed" pitchFamily="2" charset="0"/>
                <a:ea typeface="Roboto Condensed" pitchFamily="2" charset="0"/>
              </a:rPr>
              <a:t>) </a:t>
            </a:r>
            <a:r>
              <a:rPr lang="pt-BR" sz="1000" dirty="0" err="1">
                <a:latin typeface="Roboto Condensed" pitchFamily="2" charset="0"/>
                <a:ea typeface="Roboto Condensed" pitchFamily="2" charset="0"/>
              </a:rPr>
              <a:t>valuation</a:t>
            </a:r>
            <a:r>
              <a:rPr lang="pt-BR" sz="1000" dirty="0">
                <a:latin typeface="Roboto Condensed" pitchFamily="2" charset="0"/>
                <a:ea typeface="Roboto Condensed" pitchFamily="2" charset="0"/>
              </a:rPr>
              <a:t>, com a Bolsa brasileira permanecendo significativamente descontada tanto em relação à sua média histórica quanto a outros mercados globais. Além disso, caso o trade de IA continue perdendo força, o Brasil pode voltar a atrair capital estrangeiro.</a:t>
            </a:r>
          </a:p>
        </p:txBody>
      </p:sp>
      <p:graphicFrame>
        <p:nvGraphicFramePr>
          <p:cNvPr id="11" name="Tabela 10">
            <a:extLst>
              <a:ext uri="{FF2B5EF4-FFF2-40B4-BE49-F238E27FC236}">
                <a16:creationId xmlns:a16="http://schemas.microsoft.com/office/drawing/2014/main" id="{C95A109B-D0ED-1C53-8E41-2054C486835F}"/>
              </a:ext>
            </a:extLst>
          </p:cNvPr>
          <p:cNvGraphicFramePr>
            <a:graphicFrameLocks noGrp="1"/>
          </p:cNvGraphicFramePr>
          <p:nvPr>
            <p:extLst>
              <p:ext uri="{D42A27DB-BD31-4B8C-83A1-F6EECF244321}">
                <p14:modId xmlns:p14="http://schemas.microsoft.com/office/powerpoint/2010/main" val="4172640912"/>
              </p:ext>
            </p:extLst>
          </p:nvPr>
        </p:nvGraphicFramePr>
        <p:xfrm>
          <a:off x="1148556" y="1562271"/>
          <a:ext cx="4560888" cy="836535"/>
        </p:xfrm>
        <a:graphic>
          <a:graphicData uri="http://schemas.openxmlformats.org/drawingml/2006/table">
            <a:tbl>
              <a:tblPr firstRow="1" bandRow="1">
                <a:tableStyleId>{5C22544A-7EE6-4342-B048-85BDC9FD1C3A}</a:tableStyleId>
              </a:tblPr>
              <a:tblGrid>
                <a:gridCol w="1474788">
                  <a:extLst>
                    <a:ext uri="{9D8B030D-6E8A-4147-A177-3AD203B41FA5}">
                      <a16:colId xmlns:a16="http://schemas.microsoft.com/office/drawing/2014/main" val="812542690"/>
                    </a:ext>
                  </a:extLst>
                </a:gridCol>
                <a:gridCol w="876300">
                  <a:extLst>
                    <a:ext uri="{9D8B030D-6E8A-4147-A177-3AD203B41FA5}">
                      <a16:colId xmlns:a16="http://schemas.microsoft.com/office/drawing/2014/main" val="4249182816"/>
                    </a:ext>
                  </a:extLst>
                </a:gridCol>
                <a:gridCol w="1079500">
                  <a:extLst>
                    <a:ext uri="{9D8B030D-6E8A-4147-A177-3AD203B41FA5}">
                      <a16:colId xmlns:a16="http://schemas.microsoft.com/office/drawing/2014/main" val="2534495382"/>
                    </a:ext>
                  </a:extLst>
                </a:gridCol>
                <a:gridCol w="1130300">
                  <a:extLst>
                    <a:ext uri="{9D8B030D-6E8A-4147-A177-3AD203B41FA5}">
                      <a16:colId xmlns:a16="http://schemas.microsoft.com/office/drawing/2014/main" val="4210503825"/>
                    </a:ext>
                  </a:extLst>
                </a:gridCol>
              </a:tblGrid>
              <a:tr h="278845">
                <a:tc>
                  <a:txBody>
                    <a:bodyPr/>
                    <a:lstStyle/>
                    <a:p>
                      <a:r>
                        <a:rPr lang="pt-BR" sz="1000" b="1" dirty="0">
                          <a:solidFill>
                            <a:schemeClr val="tx1"/>
                          </a:solidFill>
                          <a:latin typeface="Roboto Condensed" pitchFamily="2" charset="0"/>
                          <a:ea typeface="Roboto Condensed" pitchFamily="2" charset="0"/>
                        </a:rPr>
                        <a:t>Desempenho</a:t>
                      </a:r>
                    </a:p>
                  </a:txBody>
                  <a:tcPr>
                    <a:lnL w="12700" cmpd="sng">
                      <a:noFill/>
                    </a:lnL>
                    <a:lnR w="12700" cmpd="sng">
                      <a:noFill/>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Junho 2026</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Acumulado 2026</a:t>
                      </a:r>
                    </a:p>
                  </a:txBody>
                  <a:tcPr>
                    <a:lnL w="12700" cmpd="sng">
                      <a:noFill/>
                    </a:lnL>
                    <a:lnR w="12700" cmpd="sng">
                      <a:noFill/>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Últimos 12 meses</a:t>
                      </a:r>
                    </a:p>
                  </a:txBody>
                  <a:tcPr>
                    <a:lnL w="12700" cmpd="sng">
                      <a:noFill/>
                    </a:lnL>
                    <a:lnR w="12700" cmpd="sng">
                      <a:noFill/>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7708980"/>
                  </a:ext>
                </a:extLst>
              </a:tr>
              <a:tr h="278845">
                <a:tc>
                  <a:txBody>
                    <a:bodyPr/>
                    <a:lstStyle/>
                    <a:p>
                      <a:r>
                        <a:rPr lang="pt-BR" sz="1000" b="1" dirty="0">
                          <a:solidFill>
                            <a:schemeClr val="tx1"/>
                          </a:solidFill>
                          <a:latin typeface="Roboto Condensed" pitchFamily="2" charset="0"/>
                          <a:ea typeface="Roboto Condensed" pitchFamily="2" charset="0"/>
                        </a:rPr>
                        <a:t>Carteira Top Ações XP</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-0,9%</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-15,5%</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-18,2%</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3241228"/>
                  </a:ext>
                </a:extLst>
              </a:tr>
              <a:tr h="278845">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pt-BR" sz="1000" b="1" dirty="0">
                          <a:solidFill>
                            <a:schemeClr val="tx1"/>
                          </a:solidFill>
                          <a:latin typeface="Roboto Condensed" pitchFamily="2" charset="0"/>
                          <a:ea typeface="Roboto Condensed" pitchFamily="2" charset="0"/>
                        </a:rPr>
                        <a:t>Ibovespa</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2,3%</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-10,6%</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11,8%</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5925921"/>
                  </a:ext>
                </a:extLst>
              </a:tr>
            </a:tbl>
          </a:graphicData>
        </a:graphic>
      </p:graphicFrame>
      <p:sp>
        <p:nvSpPr>
          <p:cNvPr id="12" name="CaixaDeTexto 11">
            <a:extLst>
              <a:ext uri="{FF2B5EF4-FFF2-40B4-BE49-F238E27FC236}">
                <a16:creationId xmlns:a16="http://schemas.microsoft.com/office/drawing/2014/main" id="{1038F5CA-AE18-A836-5FB3-1FCF1CE76F61}"/>
              </a:ext>
            </a:extLst>
          </p:cNvPr>
          <p:cNvSpPr txBox="1"/>
          <p:nvPr/>
        </p:nvSpPr>
        <p:spPr>
          <a:xfrm>
            <a:off x="1148556" y="2398807"/>
            <a:ext cx="4560887" cy="461665"/>
          </a:xfrm>
          <a:prstGeom prst="rect">
            <a:avLst/>
          </a:prstGeom>
          <a:noFill/>
        </p:spPr>
        <p:txBody>
          <a:bodyPr wrap="square" rtlCol="0">
            <a:spAutoFit/>
          </a:bodyPr>
          <a:lstStyle/>
          <a:p>
            <a:pPr algn="just"/>
            <a:r>
              <a:rPr lang="pt-BR" sz="800" dirty="0">
                <a:latin typeface="Roboto Condensed" pitchFamily="2" charset="0"/>
                <a:ea typeface="Roboto Condensed" pitchFamily="2" charset="0"/>
              </a:rPr>
              <a:t>*Rentabilidade bruta calculada com base no preço de fechamento  dos ativos que compõem a carteira no dia anterior ao rebalanceamento, adicionalmente ao fluxo do pagamento de proventos. Os desempenhos anteriores não são necessariamente indicativos de resultados futuros.</a:t>
            </a:r>
          </a:p>
        </p:txBody>
      </p:sp>
      <p:sp>
        <p:nvSpPr>
          <p:cNvPr id="6" name="CaixaDeTexto 5">
            <a:extLst>
              <a:ext uri="{FF2B5EF4-FFF2-40B4-BE49-F238E27FC236}">
                <a16:creationId xmlns:a16="http://schemas.microsoft.com/office/drawing/2014/main" id="{6A952A99-2373-50CC-826A-CA815EC87307}"/>
              </a:ext>
            </a:extLst>
          </p:cNvPr>
          <p:cNvSpPr txBox="1"/>
          <p:nvPr/>
        </p:nvSpPr>
        <p:spPr>
          <a:xfrm>
            <a:off x="5795164" y="9175449"/>
            <a:ext cx="952548" cy="215444"/>
          </a:xfrm>
          <a:prstGeom prst="rect">
            <a:avLst/>
          </a:prstGeom>
          <a:noFill/>
        </p:spPr>
        <p:txBody>
          <a:bodyPr wrap="square" rtlCol="0">
            <a:spAutoFit/>
          </a:bodyPr>
          <a:lstStyle/>
          <a:p>
            <a:r>
              <a:rPr lang="pt-BR" sz="800" dirty="0">
                <a:latin typeface="Roboto Condensed" pitchFamily="2" charset="0"/>
                <a:ea typeface="Roboto Condensed" pitchFamily="2" charset="0"/>
              </a:rPr>
              <a:t>Fonte: </a:t>
            </a:r>
            <a:r>
              <a:rPr lang="pt-BR" sz="800" dirty="0" err="1">
                <a:latin typeface="Roboto Condensed" pitchFamily="2" charset="0"/>
                <a:ea typeface="Roboto Condensed" pitchFamily="2" charset="0"/>
              </a:rPr>
              <a:t>Research</a:t>
            </a:r>
            <a:r>
              <a:rPr lang="pt-BR" sz="800" dirty="0">
                <a:latin typeface="Roboto Condensed" pitchFamily="2" charset="0"/>
                <a:ea typeface="Roboto Condensed" pitchFamily="2" charset="0"/>
              </a:rPr>
              <a:t> XP</a:t>
            </a:r>
          </a:p>
        </p:txBody>
      </p:sp>
    </p:spTree>
    <p:extLst>
      <p:ext uri="{BB962C8B-B14F-4D97-AF65-F5344CB8AC3E}">
        <p14:creationId xmlns:p14="http://schemas.microsoft.com/office/powerpoint/2010/main" val="695946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6A4BF-2BAE-5F88-9660-016E97C4B5F6}"/>
            </a:ext>
          </a:extLst>
        </p:cNvPr>
        <p:cNvGrpSpPr/>
        <p:nvPr/>
      </p:nvGrpSpPr>
      <p:grpSpPr>
        <a:xfrm>
          <a:off x="0" y="0"/>
          <a:ext cx="0" cy="0"/>
          <a:chOff x="0" y="0"/>
          <a:chExt cx="0" cy="0"/>
        </a:xfrm>
      </p:grpSpPr>
      <p:sp>
        <p:nvSpPr>
          <p:cNvPr id="14" name="object 14">
            <a:extLst>
              <a:ext uri="{FF2B5EF4-FFF2-40B4-BE49-F238E27FC236}">
                <a16:creationId xmlns:a16="http://schemas.microsoft.com/office/drawing/2014/main" id="{0BA6389C-DDD5-A7AF-47DF-6EB28EEA1785}"/>
              </a:ext>
            </a:extLst>
          </p:cNvPr>
          <p:cNvSpPr txBox="1">
            <a:spLocks noGrp="1"/>
          </p:cNvSpPr>
          <p:nvPr>
            <p:ph type="sldNum" sz="quarter" idx="7"/>
          </p:nvPr>
        </p:nvSpPr>
        <p:spPr>
          <a:xfrm>
            <a:off x="6529683" y="9450327"/>
            <a:ext cx="146685" cy="128881"/>
          </a:xfrm>
          <a:prstGeom prst="rect">
            <a:avLst/>
          </a:prstGeom>
        </p:spPr>
        <p:txBody>
          <a:bodyPr vert="horz" wrap="square" lIns="0" tIns="5715" rIns="0" bIns="0" rtlCol="0">
            <a:spAutoFit/>
          </a:bodyPr>
          <a:lstStyle/>
          <a:p>
            <a:pPr marL="38100">
              <a:lnSpc>
                <a:spcPct val="100000"/>
              </a:lnSpc>
              <a:spcBef>
                <a:spcPts val="45"/>
              </a:spcBef>
            </a:pPr>
            <a:fld id="{81D60167-4931-47E6-BA6A-407CBD079E47}" type="slidenum">
              <a:rPr spc="-50" dirty="0">
                <a:latin typeface="Roboto Condensed" pitchFamily="2" charset="0"/>
                <a:ea typeface="Roboto Condensed" pitchFamily="2" charset="0"/>
              </a:rPr>
              <a:t>2</a:t>
            </a:fld>
            <a:endParaRPr spc="-50" dirty="0">
              <a:latin typeface="Roboto Condensed" pitchFamily="2" charset="0"/>
              <a:ea typeface="Roboto Condensed" pitchFamily="2" charset="0"/>
            </a:endParaRPr>
          </a:p>
        </p:txBody>
      </p:sp>
      <p:sp>
        <p:nvSpPr>
          <p:cNvPr id="3" name="object 2">
            <a:extLst>
              <a:ext uri="{FF2B5EF4-FFF2-40B4-BE49-F238E27FC236}">
                <a16:creationId xmlns:a16="http://schemas.microsoft.com/office/drawing/2014/main" id="{C7368201-D206-ADF2-4EAB-3BEDD7F83F72}"/>
              </a:ext>
            </a:extLst>
          </p:cNvPr>
          <p:cNvSpPr txBox="1"/>
          <p:nvPr/>
        </p:nvSpPr>
        <p:spPr>
          <a:xfrm>
            <a:off x="390143" y="424017"/>
            <a:ext cx="1326515" cy="179070"/>
          </a:xfrm>
          <a:prstGeom prst="rect">
            <a:avLst/>
          </a:prstGeom>
        </p:spPr>
        <p:txBody>
          <a:bodyPr vert="horz" wrap="square" lIns="0" tIns="0" rIns="0" bIns="0" rtlCol="0">
            <a:spAutoFit/>
          </a:bodyPr>
          <a:lstStyle/>
          <a:p>
            <a:pPr>
              <a:lnSpc>
                <a:spcPts val="1355"/>
              </a:lnSpc>
            </a:pPr>
            <a:r>
              <a:rPr sz="1200" spc="-20">
                <a:solidFill>
                  <a:srgbClr val="3E3E3E"/>
                </a:solidFill>
                <a:latin typeface="Roboto Condensed" pitchFamily="2" charset="0"/>
                <a:ea typeface="Roboto Condensed" pitchFamily="2" charset="0"/>
                <a:cs typeface="Trebuchet MS"/>
              </a:rPr>
              <a:t>Estratégia</a:t>
            </a:r>
            <a:r>
              <a:rPr sz="1200" spc="-2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de</a:t>
            </a:r>
            <a:r>
              <a:rPr sz="1200" spc="-4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Ações</a:t>
            </a:r>
            <a:endParaRPr sz="1200">
              <a:latin typeface="Roboto Condensed" pitchFamily="2" charset="0"/>
              <a:ea typeface="Roboto Condensed" pitchFamily="2" charset="0"/>
              <a:cs typeface="Trebuchet MS"/>
            </a:endParaRPr>
          </a:p>
        </p:txBody>
      </p:sp>
      <p:grpSp>
        <p:nvGrpSpPr>
          <p:cNvPr id="5" name="object 3">
            <a:extLst>
              <a:ext uri="{FF2B5EF4-FFF2-40B4-BE49-F238E27FC236}">
                <a16:creationId xmlns:a16="http://schemas.microsoft.com/office/drawing/2014/main" id="{2B0270B9-A927-4C64-D18C-0C64BBBDD38F}"/>
              </a:ext>
            </a:extLst>
          </p:cNvPr>
          <p:cNvGrpSpPr/>
          <p:nvPr/>
        </p:nvGrpSpPr>
        <p:grpSpPr>
          <a:xfrm>
            <a:off x="0" y="0"/>
            <a:ext cx="6857999" cy="1234433"/>
            <a:chOff x="0" y="0"/>
            <a:chExt cx="6857999" cy="1517058"/>
          </a:xfrm>
        </p:grpSpPr>
        <p:pic>
          <p:nvPicPr>
            <p:cNvPr id="20" name="object 4">
              <a:extLst>
                <a:ext uri="{FF2B5EF4-FFF2-40B4-BE49-F238E27FC236}">
                  <a16:creationId xmlns:a16="http://schemas.microsoft.com/office/drawing/2014/main" id="{8FBE80AC-46B4-E62D-A2D9-5FD336B2334B}"/>
                </a:ext>
              </a:extLst>
            </p:cNvPr>
            <p:cNvPicPr/>
            <p:nvPr/>
          </p:nvPicPr>
          <p:blipFill>
            <a:blip r:embed="rId3" cstate="print"/>
            <a:stretch>
              <a:fillRect/>
            </a:stretch>
          </p:blipFill>
          <p:spPr>
            <a:xfrm>
              <a:off x="0" y="0"/>
              <a:ext cx="6857999" cy="1517058"/>
            </a:xfrm>
            <a:prstGeom prst="rect">
              <a:avLst/>
            </a:prstGeom>
          </p:spPr>
        </p:pic>
        <p:sp>
          <p:nvSpPr>
            <p:cNvPr id="21" name="object 5">
              <a:extLst>
                <a:ext uri="{FF2B5EF4-FFF2-40B4-BE49-F238E27FC236}">
                  <a16:creationId xmlns:a16="http://schemas.microsoft.com/office/drawing/2014/main" id="{60713F52-BB5F-109E-8217-9DB1682A7BEA}"/>
                </a:ext>
              </a:extLst>
            </p:cNvPr>
            <p:cNvSpPr/>
            <p:nvPr/>
          </p:nvSpPr>
          <p:spPr>
            <a:xfrm>
              <a:off x="6377733" y="937686"/>
              <a:ext cx="351660" cy="420301"/>
            </a:xfrm>
            <a:custGeom>
              <a:avLst/>
              <a:gdLst/>
              <a:ahLst/>
              <a:cxnLst/>
              <a:rect l="l" t="t" r="r" b="b"/>
              <a:pathLst>
                <a:path w="379730" h="341630">
                  <a:moveTo>
                    <a:pt x="333514" y="0"/>
                  </a:moveTo>
                  <a:lnTo>
                    <a:pt x="45961" y="0"/>
                  </a:lnTo>
                  <a:lnTo>
                    <a:pt x="25990" y="2913"/>
                  </a:lnTo>
                  <a:lnTo>
                    <a:pt x="11612" y="11588"/>
                  </a:lnTo>
                  <a:lnTo>
                    <a:pt x="2918" y="25931"/>
                  </a:lnTo>
                  <a:lnTo>
                    <a:pt x="0" y="45847"/>
                  </a:lnTo>
                  <a:lnTo>
                    <a:pt x="74" y="296037"/>
                  </a:lnTo>
                  <a:lnTo>
                    <a:pt x="2918" y="315444"/>
                  </a:lnTo>
                  <a:lnTo>
                    <a:pt x="11612" y="329787"/>
                  </a:lnTo>
                  <a:lnTo>
                    <a:pt x="25990" y="338462"/>
                  </a:lnTo>
                  <a:lnTo>
                    <a:pt x="45961" y="341375"/>
                  </a:lnTo>
                  <a:lnTo>
                    <a:pt x="239610" y="341375"/>
                  </a:lnTo>
                  <a:lnTo>
                    <a:pt x="239610" y="331597"/>
                  </a:lnTo>
                  <a:lnTo>
                    <a:pt x="240741" y="320147"/>
                  </a:lnTo>
                  <a:lnTo>
                    <a:pt x="244255" y="311150"/>
                  </a:lnTo>
                  <a:lnTo>
                    <a:pt x="250337" y="304343"/>
                  </a:lnTo>
                  <a:lnTo>
                    <a:pt x="259168" y="299466"/>
                  </a:lnTo>
                  <a:lnTo>
                    <a:pt x="259168" y="298450"/>
                  </a:lnTo>
                  <a:lnTo>
                    <a:pt x="89992" y="298450"/>
                  </a:lnTo>
                  <a:lnTo>
                    <a:pt x="89992" y="297052"/>
                  </a:lnTo>
                  <a:lnTo>
                    <a:pt x="91452" y="295528"/>
                  </a:lnTo>
                  <a:lnTo>
                    <a:pt x="147193" y="241426"/>
                  </a:lnTo>
                  <a:lnTo>
                    <a:pt x="90474" y="186817"/>
                  </a:lnTo>
                  <a:lnTo>
                    <a:pt x="89001" y="185293"/>
                  </a:lnTo>
                  <a:lnTo>
                    <a:pt x="89496" y="183896"/>
                  </a:lnTo>
                  <a:lnTo>
                    <a:pt x="379476" y="183896"/>
                  </a:lnTo>
                  <a:lnTo>
                    <a:pt x="379476" y="45847"/>
                  </a:lnTo>
                  <a:lnTo>
                    <a:pt x="376557" y="25931"/>
                  </a:lnTo>
                  <a:lnTo>
                    <a:pt x="367863" y="11588"/>
                  </a:lnTo>
                  <a:lnTo>
                    <a:pt x="353485" y="2913"/>
                  </a:lnTo>
                  <a:lnTo>
                    <a:pt x="333514" y="0"/>
                  </a:lnTo>
                  <a:close/>
                </a:path>
                <a:path w="379730" h="341630">
                  <a:moveTo>
                    <a:pt x="379463" y="263778"/>
                  </a:moveTo>
                  <a:lnTo>
                    <a:pt x="378485" y="263778"/>
                  </a:lnTo>
                  <a:lnTo>
                    <a:pt x="369455" y="280340"/>
                  </a:lnTo>
                  <a:lnTo>
                    <a:pt x="356165" y="291020"/>
                  </a:lnTo>
                  <a:lnTo>
                    <a:pt x="339484" y="296747"/>
                  </a:lnTo>
                  <a:lnTo>
                    <a:pt x="320281" y="298450"/>
                  </a:lnTo>
                  <a:lnTo>
                    <a:pt x="276758" y="298450"/>
                  </a:lnTo>
                  <a:lnTo>
                    <a:pt x="276275" y="298958"/>
                  </a:lnTo>
                  <a:lnTo>
                    <a:pt x="276275" y="341375"/>
                  </a:lnTo>
                  <a:lnTo>
                    <a:pt x="333502" y="341375"/>
                  </a:lnTo>
                  <a:lnTo>
                    <a:pt x="353472" y="338462"/>
                  </a:lnTo>
                  <a:lnTo>
                    <a:pt x="367850" y="329787"/>
                  </a:lnTo>
                  <a:lnTo>
                    <a:pt x="376544" y="315444"/>
                  </a:lnTo>
                  <a:lnTo>
                    <a:pt x="379239" y="297052"/>
                  </a:lnTo>
                  <a:lnTo>
                    <a:pt x="379314" y="296545"/>
                  </a:lnTo>
                  <a:lnTo>
                    <a:pt x="379388" y="296037"/>
                  </a:lnTo>
                  <a:lnTo>
                    <a:pt x="379463" y="263778"/>
                  </a:lnTo>
                  <a:close/>
                </a:path>
                <a:path w="379730" h="341630">
                  <a:moveTo>
                    <a:pt x="170675" y="266826"/>
                  </a:moveTo>
                  <a:lnTo>
                    <a:pt x="141338" y="296545"/>
                  </a:lnTo>
                  <a:lnTo>
                    <a:pt x="139865" y="297942"/>
                  </a:lnTo>
                  <a:lnTo>
                    <a:pt x="138899" y="298450"/>
                  </a:lnTo>
                  <a:lnTo>
                    <a:pt x="201955" y="298450"/>
                  </a:lnTo>
                  <a:lnTo>
                    <a:pt x="200977" y="297942"/>
                  </a:lnTo>
                  <a:lnTo>
                    <a:pt x="199034" y="296037"/>
                  </a:lnTo>
                  <a:lnTo>
                    <a:pt x="170675" y="266826"/>
                  </a:lnTo>
                  <a:close/>
                </a:path>
                <a:path w="379730" h="341630">
                  <a:moveTo>
                    <a:pt x="239598" y="199009"/>
                  </a:moveTo>
                  <a:lnTo>
                    <a:pt x="195592" y="241426"/>
                  </a:lnTo>
                  <a:lnTo>
                    <a:pt x="239598" y="283845"/>
                  </a:lnTo>
                  <a:lnTo>
                    <a:pt x="239598" y="199009"/>
                  </a:lnTo>
                  <a:close/>
                </a:path>
                <a:path w="379730" h="341630">
                  <a:moveTo>
                    <a:pt x="319316" y="218948"/>
                  </a:moveTo>
                  <a:lnTo>
                    <a:pt x="276288" y="218948"/>
                  </a:lnTo>
                  <a:lnTo>
                    <a:pt x="276288" y="263778"/>
                  </a:lnTo>
                  <a:lnTo>
                    <a:pt x="319316" y="263778"/>
                  </a:lnTo>
                  <a:lnTo>
                    <a:pt x="330406" y="262411"/>
                  </a:lnTo>
                  <a:lnTo>
                    <a:pt x="339066" y="258270"/>
                  </a:lnTo>
                  <a:lnTo>
                    <a:pt x="344699" y="251295"/>
                  </a:lnTo>
                  <a:lnTo>
                    <a:pt x="346710" y="241426"/>
                  </a:lnTo>
                  <a:lnTo>
                    <a:pt x="344699" y="231538"/>
                  </a:lnTo>
                  <a:lnTo>
                    <a:pt x="339066" y="224520"/>
                  </a:lnTo>
                  <a:lnTo>
                    <a:pt x="330406" y="220335"/>
                  </a:lnTo>
                  <a:lnTo>
                    <a:pt x="319316" y="218948"/>
                  </a:lnTo>
                  <a:close/>
                </a:path>
                <a:path w="379730" h="341630">
                  <a:moveTo>
                    <a:pt x="379476" y="183896"/>
                  </a:moveTo>
                  <a:lnTo>
                    <a:pt x="319824" y="183896"/>
                  </a:lnTo>
                  <a:lnTo>
                    <a:pt x="340232" y="185800"/>
                  </a:lnTo>
                  <a:lnTo>
                    <a:pt x="339251" y="185800"/>
                  </a:lnTo>
                  <a:lnTo>
                    <a:pt x="355761" y="191563"/>
                  </a:lnTo>
                  <a:lnTo>
                    <a:pt x="369330" y="202380"/>
                  </a:lnTo>
                  <a:lnTo>
                    <a:pt x="378498" y="218948"/>
                  </a:lnTo>
                  <a:lnTo>
                    <a:pt x="379476" y="218948"/>
                  </a:lnTo>
                  <a:lnTo>
                    <a:pt x="379476" y="183896"/>
                  </a:lnTo>
                  <a:close/>
                </a:path>
                <a:path w="379730" h="341630">
                  <a:moveTo>
                    <a:pt x="202946" y="183896"/>
                  </a:moveTo>
                  <a:lnTo>
                    <a:pt x="138391" y="183896"/>
                  </a:lnTo>
                  <a:lnTo>
                    <a:pt x="139369" y="184403"/>
                  </a:lnTo>
                  <a:lnTo>
                    <a:pt x="140843" y="185800"/>
                  </a:lnTo>
                  <a:lnTo>
                    <a:pt x="171653" y="216535"/>
                  </a:lnTo>
                  <a:lnTo>
                    <a:pt x="200494" y="185800"/>
                  </a:lnTo>
                  <a:lnTo>
                    <a:pt x="201845" y="184403"/>
                  </a:lnTo>
                  <a:lnTo>
                    <a:pt x="201642" y="184403"/>
                  </a:lnTo>
                  <a:lnTo>
                    <a:pt x="202946" y="183896"/>
                  </a:lnTo>
                  <a:close/>
                </a:path>
              </a:pathLst>
            </a:custGeom>
            <a:solidFill>
              <a:srgbClr val="FFFFFF"/>
            </a:solidFill>
          </p:spPr>
          <p:txBody>
            <a:bodyPr wrap="square" lIns="0" tIns="0" rIns="0" bIns="0" rtlCol="0"/>
            <a:lstStyle/>
            <a:p>
              <a:endParaRPr>
                <a:latin typeface="Roboto Condensed" pitchFamily="2" charset="0"/>
                <a:ea typeface="Roboto Condensed" pitchFamily="2" charset="0"/>
              </a:endParaRPr>
            </a:p>
          </p:txBody>
        </p:sp>
      </p:grpSp>
      <p:sp>
        <p:nvSpPr>
          <p:cNvPr id="22" name="object 7">
            <a:extLst>
              <a:ext uri="{FF2B5EF4-FFF2-40B4-BE49-F238E27FC236}">
                <a16:creationId xmlns:a16="http://schemas.microsoft.com/office/drawing/2014/main" id="{EF5DAC11-C07D-A59E-9D98-784704C0183C}"/>
              </a:ext>
            </a:extLst>
          </p:cNvPr>
          <p:cNvSpPr txBox="1"/>
          <p:nvPr/>
        </p:nvSpPr>
        <p:spPr>
          <a:xfrm>
            <a:off x="5137144" y="228963"/>
            <a:ext cx="1601659" cy="404598"/>
          </a:xfrm>
          <a:prstGeom prst="rect">
            <a:avLst/>
          </a:prstGeom>
        </p:spPr>
        <p:txBody>
          <a:bodyPr vert="horz" wrap="square" lIns="0" tIns="45085" rIns="0" bIns="0" rtlCol="0">
            <a:spAutoFit/>
          </a:bodyPr>
          <a:lstStyle/>
          <a:p>
            <a:pPr marL="35560" marR="5080" indent="-22860" algn="r">
              <a:lnSpc>
                <a:spcPts val="1180"/>
              </a:lnSpc>
              <a:spcBef>
                <a:spcPts val="355"/>
              </a:spcBef>
            </a:pPr>
            <a:r>
              <a:rPr lang="pt-BR" sz="1200" dirty="0">
                <a:solidFill>
                  <a:srgbClr val="FFBB00"/>
                </a:solidFill>
                <a:latin typeface="Roboto Condensed" pitchFamily="2" charset="0"/>
                <a:ea typeface="Roboto Condensed" pitchFamily="2" charset="0"/>
                <a:cs typeface="Trebuchet MS"/>
              </a:rPr>
              <a:t>Junho de 2026</a:t>
            </a:r>
            <a:endParaRPr lang="pt-BR" sz="1200" spc="-20" dirty="0">
              <a:solidFill>
                <a:srgbClr val="FFBB00"/>
              </a:solidFill>
              <a:latin typeface="Roboto Condensed" pitchFamily="2" charset="0"/>
              <a:ea typeface="Roboto Condensed" pitchFamily="2" charset="0"/>
              <a:cs typeface="Trebuchet MS"/>
            </a:endParaRPr>
          </a:p>
          <a:p>
            <a:pPr marL="35560" marR="5080" indent="-22860" algn="r">
              <a:lnSpc>
                <a:spcPts val="1180"/>
              </a:lnSpc>
              <a:spcBef>
                <a:spcPts val="355"/>
              </a:spcBef>
            </a:pPr>
            <a:r>
              <a:rPr lang="pt-BR" sz="1200" spc="-20" dirty="0">
                <a:solidFill>
                  <a:srgbClr val="FFFFFF"/>
                </a:solidFill>
                <a:latin typeface="Roboto Condensed" pitchFamily="2" charset="0"/>
                <a:ea typeface="Roboto Condensed" pitchFamily="2" charset="0"/>
                <a:cs typeface="Trebuchet MS"/>
              </a:rPr>
              <a:t>Carteira Top Ações XP</a:t>
            </a:r>
            <a:endParaRPr sz="1200" dirty="0">
              <a:latin typeface="Roboto Condensed" pitchFamily="2" charset="0"/>
              <a:ea typeface="Roboto Condensed" pitchFamily="2" charset="0"/>
              <a:cs typeface="Trebuchet MS"/>
            </a:endParaRPr>
          </a:p>
        </p:txBody>
      </p:sp>
      <p:sp>
        <p:nvSpPr>
          <p:cNvPr id="23" name="object 8">
            <a:extLst>
              <a:ext uri="{FF2B5EF4-FFF2-40B4-BE49-F238E27FC236}">
                <a16:creationId xmlns:a16="http://schemas.microsoft.com/office/drawing/2014/main" id="{EBBE76EB-5497-13B3-F317-6F901F5BAFB4}"/>
              </a:ext>
            </a:extLst>
          </p:cNvPr>
          <p:cNvSpPr txBox="1">
            <a:spLocks noGrp="1"/>
          </p:cNvSpPr>
          <p:nvPr>
            <p:ph type="title"/>
          </p:nvPr>
        </p:nvSpPr>
        <p:spPr>
          <a:xfrm>
            <a:off x="128607" y="49869"/>
            <a:ext cx="4879931" cy="1033424"/>
          </a:xfrm>
          <a:prstGeom prst="rect">
            <a:avLst/>
          </a:prstGeom>
        </p:spPr>
        <p:txBody>
          <a:bodyPr vert="horz" wrap="square" lIns="0" tIns="168275" rIns="0" bIns="0" rtlCol="0">
            <a:spAutoFit/>
          </a:bodyPr>
          <a:lstStyle/>
          <a:p>
            <a:pPr marL="12700">
              <a:lnSpc>
                <a:spcPct val="100000"/>
              </a:lnSpc>
              <a:spcBef>
                <a:spcPts val="1325"/>
              </a:spcBef>
            </a:pPr>
            <a:r>
              <a:rPr lang="pt-BR" spc="95" dirty="0">
                <a:latin typeface="Roboto Condensed" pitchFamily="2" charset="0"/>
                <a:ea typeface="Roboto Condensed" pitchFamily="2" charset="0"/>
              </a:rPr>
              <a:t>Top Ações XP</a:t>
            </a:r>
            <a:endParaRPr spc="-10" dirty="0">
              <a:latin typeface="Roboto Condensed" pitchFamily="2" charset="0"/>
              <a:ea typeface="Roboto Condensed" pitchFamily="2" charset="0"/>
            </a:endParaRPr>
          </a:p>
          <a:p>
            <a:pPr marL="12700" marR="1805305">
              <a:lnSpc>
                <a:spcPct val="141200"/>
              </a:lnSpc>
              <a:spcBef>
                <a:spcPts val="20"/>
              </a:spcBef>
            </a:pPr>
            <a:r>
              <a:rPr lang="pt-BR" sz="1200" b="0" spc="-60" dirty="0">
                <a:solidFill>
                  <a:srgbClr val="FFFFFF"/>
                </a:solidFill>
                <a:latin typeface="Roboto Condensed" pitchFamily="2" charset="0"/>
                <a:ea typeface="Roboto Condensed" pitchFamily="2" charset="0"/>
              </a:rPr>
              <a:t>Research XP</a:t>
            </a:r>
            <a:br>
              <a:rPr lang="pt-BR" sz="1200" b="0" spc="-60" dirty="0">
                <a:solidFill>
                  <a:srgbClr val="FFFFFF"/>
                </a:solidFill>
                <a:latin typeface="Roboto Condensed" pitchFamily="2" charset="0"/>
                <a:ea typeface="Roboto Condensed" pitchFamily="2" charset="0"/>
              </a:rPr>
            </a:br>
            <a:r>
              <a:rPr lang="pt-BR" sz="1200" b="0" spc="-60" dirty="0">
                <a:solidFill>
                  <a:srgbClr val="FFFFFF"/>
                </a:solidFill>
                <a:latin typeface="Roboto Condensed" pitchFamily="2" charset="0"/>
                <a:ea typeface="Roboto Condensed" pitchFamily="2" charset="0"/>
              </a:rPr>
              <a:t>Fernando Ferreira, Raphael Figueredo e Caio Souza</a:t>
            </a:r>
            <a:endParaRPr sz="1200" dirty="0">
              <a:latin typeface="Roboto Condensed" pitchFamily="2" charset="0"/>
              <a:ea typeface="Roboto Condensed" pitchFamily="2" charset="0"/>
            </a:endParaRPr>
          </a:p>
        </p:txBody>
      </p:sp>
      <p:sp>
        <p:nvSpPr>
          <p:cNvPr id="6" name="CaixaDeTexto 5">
            <a:extLst>
              <a:ext uri="{FF2B5EF4-FFF2-40B4-BE49-F238E27FC236}">
                <a16:creationId xmlns:a16="http://schemas.microsoft.com/office/drawing/2014/main" id="{995636A9-4EF6-69E2-79C5-270402FB8256}"/>
              </a:ext>
            </a:extLst>
          </p:cNvPr>
          <p:cNvSpPr txBox="1"/>
          <p:nvPr/>
        </p:nvSpPr>
        <p:spPr>
          <a:xfrm>
            <a:off x="145144" y="6657546"/>
            <a:ext cx="3242021" cy="246221"/>
          </a:xfrm>
          <a:prstGeom prst="rect">
            <a:avLst/>
          </a:prstGeom>
          <a:noFill/>
        </p:spPr>
        <p:txBody>
          <a:bodyPr wrap="square" rtlCol="0">
            <a:spAutoFit/>
          </a:bodyPr>
          <a:lstStyle/>
          <a:p>
            <a:r>
              <a:rPr lang="pt-BR" sz="1000" b="1" dirty="0">
                <a:latin typeface="Roboto Condensed" pitchFamily="2" charset="0"/>
                <a:ea typeface="Roboto Condensed" pitchFamily="2" charset="0"/>
              </a:rPr>
              <a:t>Performance desde o início vs. Ibovespa (100 = fev. 2025)</a:t>
            </a:r>
          </a:p>
        </p:txBody>
      </p:sp>
      <p:cxnSp>
        <p:nvCxnSpPr>
          <p:cNvPr id="7" name="Conector reto 6">
            <a:extLst>
              <a:ext uri="{FF2B5EF4-FFF2-40B4-BE49-F238E27FC236}">
                <a16:creationId xmlns:a16="http://schemas.microsoft.com/office/drawing/2014/main" id="{4F619E79-AE5F-48FC-CC81-EDD0F81D7738}"/>
              </a:ext>
            </a:extLst>
          </p:cNvPr>
          <p:cNvCxnSpPr>
            <a:cxnSpLocks/>
          </p:cNvCxnSpPr>
          <p:nvPr/>
        </p:nvCxnSpPr>
        <p:spPr>
          <a:xfrm>
            <a:off x="211289" y="6903767"/>
            <a:ext cx="2922949"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CaixaDeTexto 8">
            <a:extLst>
              <a:ext uri="{FF2B5EF4-FFF2-40B4-BE49-F238E27FC236}">
                <a16:creationId xmlns:a16="http://schemas.microsoft.com/office/drawing/2014/main" id="{8AE66083-AD2C-CA43-DB5A-1DE32D1B3FB0}"/>
              </a:ext>
            </a:extLst>
          </p:cNvPr>
          <p:cNvSpPr txBox="1"/>
          <p:nvPr/>
        </p:nvSpPr>
        <p:spPr>
          <a:xfrm>
            <a:off x="141307" y="4220863"/>
            <a:ext cx="3132745" cy="2662267"/>
          </a:xfrm>
          <a:prstGeom prst="rect">
            <a:avLst/>
          </a:prstGeom>
          <a:noFill/>
        </p:spPr>
        <p:txBody>
          <a:bodyPr wrap="square">
            <a:spAutoFit/>
          </a:bodyPr>
          <a:lstStyle/>
          <a:p>
            <a:pPr algn="just"/>
            <a:r>
              <a:rPr lang="pt-BR" sz="1100" b="1" dirty="0">
                <a:latin typeface="Roboto Condensed" pitchFamily="2" charset="0"/>
                <a:ea typeface="Roboto Condensed" pitchFamily="2" charset="0"/>
              </a:rPr>
              <a:t>Alterações na Carteira – Julho</a:t>
            </a:r>
          </a:p>
          <a:p>
            <a:pPr algn="just"/>
            <a:endParaRPr lang="pt-BR" sz="700" dirty="0">
              <a:latin typeface="Roboto Condensed" pitchFamily="2" charset="0"/>
              <a:ea typeface="Roboto Condensed" pitchFamily="2" charset="0"/>
            </a:endParaRPr>
          </a:p>
          <a:p>
            <a:pPr algn="just"/>
            <a:r>
              <a:rPr lang="pt-BR" sz="800" dirty="0">
                <a:latin typeface="Roboto Condensed" pitchFamily="2" charset="0"/>
                <a:ea typeface="Roboto Condensed" pitchFamily="2" charset="0"/>
              </a:rPr>
              <a:t>Estamos adicionando RDOR3. Vemos a RDOR como líder de mercado, com posicionamento forte tanto em hospitais quanto em saúde suplementar, sustentando ganhos contínuos de </a:t>
            </a:r>
            <a:r>
              <a:rPr lang="pt-BR" sz="800" dirty="0" err="1">
                <a:latin typeface="Roboto Condensed" pitchFamily="2" charset="0"/>
                <a:ea typeface="Roboto Condensed" pitchFamily="2" charset="0"/>
              </a:rPr>
              <a:t>market</a:t>
            </a:r>
            <a:r>
              <a:rPr lang="pt-BR" sz="800" dirty="0">
                <a:latin typeface="Roboto Condensed" pitchFamily="2" charset="0"/>
                <a:ea typeface="Roboto Condensed" pitchFamily="2" charset="0"/>
              </a:rPr>
              <a:t> </a:t>
            </a:r>
            <a:r>
              <a:rPr lang="pt-BR" sz="800" dirty="0" err="1">
                <a:latin typeface="Roboto Condensed" pitchFamily="2" charset="0"/>
                <a:ea typeface="Roboto Condensed" pitchFamily="2" charset="0"/>
              </a:rPr>
              <a:t>share</a:t>
            </a:r>
            <a:r>
              <a:rPr lang="pt-BR" sz="800" dirty="0">
                <a:latin typeface="Roboto Condensed" pitchFamily="2" charset="0"/>
                <a:ea typeface="Roboto Condensed" pitchFamily="2" charset="0"/>
              </a:rPr>
              <a:t>. A maturação de ativos deve permitir uma expansão gradual de margem, enquanto a SulAmérica adiciona resiliência, com o excesso de provisionamento de IBNR sustentando a estabilidade do MLR no curto prazo. Estamos aumentando ORVR3 para 5,0%, de 2,5%,. Em nossa visão, o mercado ainda não precificou integralmente a criação de valor da transação com a Vital. A transação consolidou a </a:t>
            </a:r>
            <a:r>
              <a:rPr lang="pt-BR" sz="800" dirty="0" err="1">
                <a:latin typeface="Roboto Condensed" pitchFamily="2" charset="0"/>
                <a:ea typeface="Roboto Condensed" pitchFamily="2" charset="0"/>
              </a:rPr>
              <a:t>Orizon</a:t>
            </a:r>
            <a:r>
              <a:rPr lang="pt-BR" sz="800" dirty="0">
                <a:latin typeface="Roboto Condensed" pitchFamily="2" charset="0"/>
                <a:ea typeface="Roboto Condensed" pitchFamily="2" charset="0"/>
              </a:rPr>
              <a:t> como a maior plataforma de valorização de resíduos e economia circular da América Latina. Também acreditamos que a companhia segue bem posicionada para buscar novas oportunidades de crescimento inorgânico. Estamos removendo CPLE3, após a forte performance da ação nos últimos meses. Os papéis reagiram positivamente à contratação das usinas hidrelétricas Foz do Areia e Segredo no LRCAP. Com esse evento agora majoritariamente refletido no preço da ação, vemos uma relação risco-retorno mais equilibrada. </a:t>
            </a:r>
          </a:p>
          <a:p>
            <a:pPr algn="just"/>
            <a:endParaRPr lang="pt-BR" sz="700" dirty="0">
              <a:latin typeface="Roboto Condensed" pitchFamily="2" charset="0"/>
              <a:ea typeface="Roboto Condensed" pitchFamily="2" charset="0"/>
            </a:endParaRPr>
          </a:p>
          <a:p>
            <a:pPr algn="just"/>
            <a:r>
              <a:rPr lang="pt-BR" sz="700" dirty="0">
                <a:latin typeface="Roboto Condensed" pitchFamily="2" charset="0"/>
                <a:ea typeface="Roboto Condensed" pitchFamily="2" charset="0"/>
              </a:rPr>
              <a:t>.</a:t>
            </a:r>
          </a:p>
          <a:p>
            <a:pPr algn="just"/>
            <a:endParaRPr lang="pt-BR" sz="700" dirty="0">
              <a:latin typeface="Roboto Condensed" pitchFamily="2" charset="0"/>
              <a:ea typeface="Roboto Condensed" pitchFamily="2" charset="0"/>
            </a:endParaRPr>
          </a:p>
        </p:txBody>
      </p:sp>
      <p:sp>
        <p:nvSpPr>
          <p:cNvPr id="25" name="CaixaDeTexto 24">
            <a:extLst>
              <a:ext uri="{FF2B5EF4-FFF2-40B4-BE49-F238E27FC236}">
                <a16:creationId xmlns:a16="http://schemas.microsoft.com/office/drawing/2014/main" id="{FFE38AAF-1768-8A4D-6ED7-783C40E512A2}"/>
              </a:ext>
            </a:extLst>
          </p:cNvPr>
          <p:cNvSpPr txBox="1"/>
          <p:nvPr/>
        </p:nvSpPr>
        <p:spPr>
          <a:xfrm>
            <a:off x="150173" y="1264764"/>
            <a:ext cx="6392209" cy="246221"/>
          </a:xfrm>
          <a:prstGeom prst="rect">
            <a:avLst/>
          </a:prstGeom>
          <a:noFill/>
        </p:spPr>
        <p:txBody>
          <a:bodyPr wrap="square" rtlCol="0">
            <a:spAutoFit/>
          </a:bodyPr>
          <a:lstStyle/>
          <a:p>
            <a:r>
              <a:rPr lang="pt-BR" sz="1000" b="1" dirty="0">
                <a:latin typeface="Roboto Condensed" pitchFamily="2" charset="0"/>
                <a:ea typeface="Roboto Condensed" pitchFamily="2" charset="0"/>
              </a:rPr>
              <a:t>Decomposição do retorno da carteira (Junho/26)</a:t>
            </a:r>
          </a:p>
        </p:txBody>
      </p:sp>
      <p:cxnSp>
        <p:nvCxnSpPr>
          <p:cNvPr id="26" name="Conector reto 25">
            <a:extLst>
              <a:ext uri="{FF2B5EF4-FFF2-40B4-BE49-F238E27FC236}">
                <a16:creationId xmlns:a16="http://schemas.microsoft.com/office/drawing/2014/main" id="{68C30B80-8A37-D7BF-7855-4A73C0D39B5E}"/>
              </a:ext>
            </a:extLst>
          </p:cNvPr>
          <p:cNvCxnSpPr>
            <a:cxnSpLocks/>
          </p:cNvCxnSpPr>
          <p:nvPr/>
        </p:nvCxnSpPr>
        <p:spPr>
          <a:xfrm>
            <a:off x="229019" y="1510985"/>
            <a:ext cx="6161414"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6" name="Gráfico 45">
            <a:extLst>
              <a:ext uri="{FF2B5EF4-FFF2-40B4-BE49-F238E27FC236}">
                <a16:creationId xmlns:a16="http://schemas.microsoft.com/office/drawing/2014/main" id="{6889935D-08C8-1BBC-2CA1-FB1B5C85B627}"/>
              </a:ext>
            </a:extLst>
          </p:cNvPr>
          <p:cNvGraphicFramePr>
            <a:graphicFrameLocks/>
          </p:cNvGraphicFramePr>
          <p:nvPr>
            <p:extLst>
              <p:ext uri="{D42A27DB-BD31-4B8C-83A1-F6EECF244321}">
                <p14:modId xmlns:p14="http://schemas.microsoft.com/office/powerpoint/2010/main" val="2429042318"/>
              </p:ext>
            </p:extLst>
          </p:nvPr>
        </p:nvGraphicFramePr>
        <p:xfrm>
          <a:off x="5930182" y="3482702"/>
          <a:ext cx="728297" cy="678914"/>
        </p:xfrm>
        <a:graphic>
          <a:graphicData uri="http://schemas.openxmlformats.org/drawingml/2006/chart">
            <c:chart xmlns:c="http://schemas.openxmlformats.org/drawingml/2006/chart" xmlns:r="http://schemas.openxmlformats.org/officeDocument/2006/relationships" r:id="rId4"/>
          </a:graphicData>
        </a:graphic>
      </p:graphicFrame>
      <p:sp>
        <p:nvSpPr>
          <p:cNvPr id="8" name="CaixaDeTexto 7">
            <a:extLst>
              <a:ext uri="{FF2B5EF4-FFF2-40B4-BE49-F238E27FC236}">
                <a16:creationId xmlns:a16="http://schemas.microsoft.com/office/drawing/2014/main" id="{BB5FB993-204E-8B87-A1F8-4C34D22983CA}"/>
              </a:ext>
            </a:extLst>
          </p:cNvPr>
          <p:cNvSpPr txBox="1"/>
          <p:nvPr/>
        </p:nvSpPr>
        <p:spPr>
          <a:xfrm>
            <a:off x="5795164" y="9175449"/>
            <a:ext cx="952548" cy="215444"/>
          </a:xfrm>
          <a:prstGeom prst="rect">
            <a:avLst/>
          </a:prstGeom>
          <a:noFill/>
        </p:spPr>
        <p:txBody>
          <a:bodyPr wrap="square" rtlCol="0">
            <a:spAutoFit/>
          </a:bodyPr>
          <a:lstStyle/>
          <a:p>
            <a:r>
              <a:rPr lang="pt-BR" sz="800" dirty="0">
                <a:latin typeface="Roboto Condensed" pitchFamily="2" charset="0"/>
                <a:ea typeface="Roboto Condensed" pitchFamily="2" charset="0"/>
              </a:rPr>
              <a:t>Fonte: </a:t>
            </a:r>
            <a:r>
              <a:rPr lang="pt-BR" sz="800" dirty="0" err="1">
                <a:latin typeface="Roboto Condensed" pitchFamily="2" charset="0"/>
                <a:ea typeface="Roboto Condensed" pitchFamily="2" charset="0"/>
              </a:rPr>
              <a:t>Research</a:t>
            </a:r>
            <a:r>
              <a:rPr lang="pt-BR" sz="800" dirty="0">
                <a:latin typeface="Roboto Condensed" pitchFamily="2" charset="0"/>
                <a:ea typeface="Roboto Condensed" pitchFamily="2" charset="0"/>
              </a:rPr>
              <a:t> XP</a:t>
            </a:r>
          </a:p>
        </p:txBody>
      </p:sp>
      <p:sp>
        <p:nvSpPr>
          <p:cNvPr id="10" name="CaixaDeTexto 9">
            <a:extLst>
              <a:ext uri="{FF2B5EF4-FFF2-40B4-BE49-F238E27FC236}">
                <a16:creationId xmlns:a16="http://schemas.microsoft.com/office/drawing/2014/main" id="{513887DD-F3F6-0C18-4BAB-21BF4DA9D0EF}"/>
              </a:ext>
            </a:extLst>
          </p:cNvPr>
          <p:cNvSpPr txBox="1"/>
          <p:nvPr/>
        </p:nvSpPr>
        <p:spPr>
          <a:xfrm>
            <a:off x="3428999" y="4227950"/>
            <a:ext cx="3132745" cy="430887"/>
          </a:xfrm>
          <a:prstGeom prst="rect">
            <a:avLst/>
          </a:prstGeom>
          <a:noFill/>
        </p:spPr>
        <p:txBody>
          <a:bodyPr wrap="square">
            <a:spAutoFit/>
          </a:bodyPr>
          <a:lstStyle/>
          <a:p>
            <a:pPr algn="just"/>
            <a:r>
              <a:rPr lang="pt-BR" sz="1100" b="1" dirty="0">
                <a:latin typeface="Roboto Condensed" pitchFamily="2" charset="0"/>
                <a:ea typeface="Roboto Condensed" pitchFamily="2" charset="0"/>
              </a:rPr>
              <a:t>Composição da Carteira – Julho de 26</a:t>
            </a:r>
          </a:p>
          <a:p>
            <a:pPr algn="just"/>
            <a:endParaRPr lang="pt-BR" sz="1100" dirty="0">
              <a:latin typeface="Roboto Condensed" pitchFamily="2" charset="0"/>
              <a:ea typeface="Roboto Condensed" pitchFamily="2" charset="0"/>
            </a:endParaRPr>
          </a:p>
        </p:txBody>
      </p:sp>
      <p:graphicFrame>
        <p:nvGraphicFramePr>
          <p:cNvPr id="11" name="Chart 10">
            <a:extLst>
              <a:ext uri="{FF2B5EF4-FFF2-40B4-BE49-F238E27FC236}">
                <a16:creationId xmlns:a16="http://schemas.microsoft.com/office/drawing/2014/main" id="{FED6ADC2-5398-DF99-DF70-23A51436000C}"/>
              </a:ext>
            </a:extLst>
          </p:cNvPr>
          <p:cNvGraphicFramePr>
            <a:graphicFrameLocks/>
          </p:cNvGraphicFramePr>
          <p:nvPr>
            <p:extLst>
              <p:ext uri="{D42A27DB-BD31-4B8C-83A1-F6EECF244321}">
                <p14:modId xmlns:p14="http://schemas.microsoft.com/office/powerpoint/2010/main" val="3713992383"/>
              </p:ext>
            </p:extLst>
          </p:nvPr>
        </p:nvGraphicFramePr>
        <p:xfrm>
          <a:off x="199520" y="7024849"/>
          <a:ext cx="2922949" cy="225832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Table 12">
            <a:extLst>
              <a:ext uri="{FF2B5EF4-FFF2-40B4-BE49-F238E27FC236}">
                <a16:creationId xmlns:a16="http://schemas.microsoft.com/office/drawing/2014/main" id="{4E8C9BF4-C108-9E0C-8C9D-7108133BF41C}"/>
              </a:ext>
            </a:extLst>
          </p:cNvPr>
          <p:cNvGraphicFramePr>
            <a:graphicFrameLocks noGrp="1"/>
          </p:cNvGraphicFramePr>
          <p:nvPr>
            <p:extLst>
              <p:ext uri="{D42A27DB-BD31-4B8C-83A1-F6EECF244321}">
                <p14:modId xmlns:p14="http://schemas.microsoft.com/office/powerpoint/2010/main" val="919832647"/>
              </p:ext>
            </p:extLst>
          </p:nvPr>
        </p:nvGraphicFramePr>
        <p:xfrm>
          <a:off x="3470837" y="4518275"/>
          <a:ext cx="3217711" cy="4632738"/>
        </p:xfrm>
        <a:graphic>
          <a:graphicData uri="http://schemas.openxmlformats.org/drawingml/2006/table">
            <a:tbl>
              <a:tblPr/>
              <a:tblGrid>
                <a:gridCol w="917994">
                  <a:extLst>
                    <a:ext uri="{9D8B030D-6E8A-4147-A177-3AD203B41FA5}">
                      <a16:colId xmlns:a16="http://schemas.microsoft.com/office/drawing/2014/main" val="1363450678"/>
                    </a:ext>
                  </a:extLst>
                </a:gridCol>
                <a:gridCol w="1277621">
                  <a:extLst>
                    <a:ext uri="{9D8B030D-6E8A-4147-A177-3AD203B41FA5}">
                      <a16:colId xmlns:a16="http://schemas.microsoft.com/office/drawing/2014/main" val="2854111778"/>
                    </a:ext>
                  </a:extLst>
                </a:gridCol>
                <a:gridCol w="511048">
                  <a:extLst>
                    <a:ext uri="{9D8B030D-6E8A-4147-A177-3AD203B41FA5}">
                      <a16:colId xmlns:a16="http://schemas.microsoft.com/office/drawing/2014/main" val="162076156"/>
                    </a:ext>
                  </a:extLst>
                </a:gridCol>
                <a:gridCol w="511048">
                  <a:extLst>
                    <a:ext uri="{9D8B030D-6E8A-4147-A177-3AD203B41FA5}">
                      <a16:colId xmlns:a16="http://schemas.microsoft.com/office/drawing/2014/main" val="3981928813"/>
                    </a:ext>
                  </a:extLst>
                </a:gridCol>
              </a:tblGrid>
              <a:tr h="272514">
                <a:tc>
                  <a:txBody>
                    <a:bodyPr/>
                    <a:lstStyle/>
                    <a:p>
                      <a:pPr algn="ctr" fontAlgn="ctr">
                        <a:buNone/>
                      </a:pPr>
                      <a:r>
                        <a:rPr lang="pt-BR" sz="900" b="1" i="0" u="none" strike="noStrike" dirty="0">
                          <a:solidFill>
                            <a:srgbClr val="000000"/>
                          </a:solidFill>
                          <a:effectLst/>
                          <a:latin typeface="Roboto Condensed" pitchFamily="2" charset="0"/>
                          <a:ea typeface="Roboto Condensed" pitchFamily="2" charset="0"/>
                        </a:rPr>
                        <a:t>Setor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dirty="0">
                          <a:solidFill>
                            <a:srgbClr val="000000"/>
                          </a:solidFill>
                          <a:effectLst/>
                          <a:latin typeface="Roboto Condensed" pitchFamily="2" charset="0"/>
                          <a:ea typeface="Roboto Condensed" pitchFamily="2" charset="0"/>
                        </a:rPr>
                        <a:t>Companhia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a:solidFill>
                            <a:srgbClr val="000000"/>
                          </a:solidFill>
                          <a:effectLst/>
                          <a:latin typeface="Roboto Condensed" pitchFamily="2" charset="0"/>
                          <a:ea typeface="Roboto Condensed" pitchFamily="2" charset="0"/>
                        </a:rPr>
                        <a:t>Ticker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dirty="0">
                          <a:solidFill>
                            <a:srgbClr val="000000"/>
                          </a:solidFill>
                          <a:effectLst/>
                          <a:latin typeface="Roboto Condensed" pitchFamily="2" charset="0"/>
                          <a:ea typeface="Roboto Condensed" pitchFamily="2" charset="0"/>
                        </a:rPr>
                        <a:t>Peso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extLst>
                  <a:ext uri="{0D108BD9-81ED-4DB2-BD59-A6C34878D82A}">
                    <a16:rowId xmlns:a16="http://schemas.microsoft.com/office/drawing/2014/main" val="302963081"/>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Energia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Petrobras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PETR4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933362251"/>
                  </a:ext>
                </a:extLst>
              </a:tr>
              <a:tr h="272514">
                <a:tc vMerge="1">
                  <a:txBody>
                    <a:bodyPr/>
                    <a:lstStyle/>
                    <a:p>
                      <a:r>
                        <a:t/>
                      </a:r>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PRIO3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071276165"/>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Materiais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Gerdau</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GGBR4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4180974509"/>
                  </a:ext>
                </a:extLst>
              </a:tr>
              <a:tr h="272514">
                <a:tc vMerge="1">
                  <a:txBody>
                    <a:bodyPr/>
                    <a:lstStyle/>
                    <a:p>
                      <a:r>
                        <a:t/>
                      </a:r>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Vale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VALE3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108413687"/>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Cons. Disc.</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Lojas Renner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LREN3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46331192"/>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Industriais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Localiza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RENT3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39288782"/>
                  </a:ext>
                </a:extLst>
              </a:tr>
              <a:tr h="272514">
                <a:tc vMerge="1">
                  <a:txBody>
                    <a:bodyPr/>
                    <a:lstStyle/>
                    <a:p>
                      <a:r>
                        <a:t/>
                      </a:r>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Embraer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EMBJ3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131738115"/>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Tec. Info.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TOTVS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TOTS3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67837276"/>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Imobiliário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Iguatemi</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IGTI11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58140356"/>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Saúde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Rede D'Or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RDOR3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506036600"/>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Sabesp</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SBSP3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619695986"/>
                  </a:ext>
                </a:extLst>
              </a:tr>
              <a:tr h="272514">
                <a:tc vMerge="1">
                  <a:txBody>
                    <a:bodyPr/>
                    <a:lstStyle/>
                    <a:p>
                      <a:r>
                        <a:t/>
                      </a:r>
                      <a:endParaRPr lang="pt-BR"/>
                    </a:p>
                  </a:txBody>
                  <a:tcPr/>
                </a:tc>
                <a:tc>
                  <a:txBody>
                    <a:bodyPr/>
                    <a:lstStyle/>
                    <a:p>
                      <a:pPr algn="ctr" fontAlgn="ctr">
                        <a:buNone/>
                      </a:pPr>
                      <a:r>
                        <a:rPr lang="pt-BR" sz="900" b="0" i="0" u="none" strike="noStrike" dirty="0" err="1">
                          <a:solidFill>
                            <a:srgbClr val="000000"/>
                          </a:solidFill>
                          <a:effectLst/>
                          <a:latin typeface="Roboto Condensed" pitchFamily="2" charset="0"/>
                          <a:ea typeface="Roboto Condensed" pitchFamily="2" charset="0"/>
                        </a:rPr>
                        <a:t>Orizon</a:t>
                      </a:r>
                      <a:endParaRPr lang="pt-BR" sz="900" b="0" i="0" u="none" strike="noStrike" dirty="0">
                        <a:solidFill>
                          <a:srgbClr val="000000"/>
                        </a:solidFill>
                        <a:effectLst/>
                        <a:latin typeface="Roboto Condensed" pitchFamily="2" charset="0"/>
                        <a:ea typeface="Roboto Condensed"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ORVR3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936126723"/>
                  </a:ext>
                </a:extLst>
              </a:tr>
              <a:tr h="272514">
                <a:tc rowSpan="4">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B3SA3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528312067"/>
                  </a:ext>
                </a:extLst>
              </a:tr>
              <a:tr h="272514">
                <a:tc vMerge="1">
                  <a:txBody>
                    <a:bodyPr/>
                    <a:lstStyle/>
                    <a:p>
                      <a:r>
                        <a:t/>
                      </a:r>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Itaú Unibanco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ITUB4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439244425"/>
                  </a:ext>
                </a:extLst>
              </a:tr>
              <a:tr h="272514">
                <a:tc vMerge="1">
                  <a:txBody>
                    <a:bodyPr/>
                    <a:lstStyle/>
                    <a:p>
                      <a:r>
                        <a:t/>
                      </a:r>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BTG Pactual</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BPAC11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906025285"/>
                  </a:ext>
                </a:extLst>
              </a:tr>
              <a:tr h="272514">
                <a:tc vMerge="1">
                  <a:txBody>
                    <a:bodyPr/>
                    <a:lstStyle/>
                    <a:p>
                      <a:r>
                        <a:t/>
                      </a:r>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Nubank</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ROXO34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816452979"/>
                  </a:ext>
                </a:extLst>
              </a:tr>
            </a:tbl>
          </a:graphicData>
        </a:graphic>
      </p:graphicFrame>
      <mc:AlternateContent xmlns:mc="http://schemas.openxmlformats.org/markup-compatibility/2006">
        <mc:Choice xmlns:cx1="http://schemas.microsoft.com/office/drawing/2015/9/8/chartex" Requires="cx1">
          <p:graphicFrame>
            <p:nvGraphicFramePr>
              <p:cNvPr id="4" name="Chart 3">
                <a:extLst>
                  <a:ext uri="{FF2B5EF4-FFF2-40B4-BE49-F238E27FC236}">
                    <a16:creationId xmlns:a16="http://schemas.microsoft.com/office/drawing/2014/main" id="{3777E7EA-7C7D-A56D-D3DC-7DC78FEC9DB4}"/>
                  </a:ext>
                </a:extLst>
              </p:cNvPr>
              <p:cNvGraphicFramePr/>
              <p:nvPr>
                <p:extLst>
                  <p:ext uri="{D42A27DB-BD31-4B8C-83A1-F6EECF244321}">
                    <p14:modId xmlns:p14="http://schemas.microsoft.com/office/powerpoint/2010/main" val="2067184380"/>
                  </p:ext>
                </p:extLst>
              </p:nvPr>
            </p:nvGraphicFramePr>
            <p:xfrm>
              <a:off x="229019" y="1577319"/>
              <a:ext cx="6148714" cy="2366991"/>
            </p:xfrm>
            <a:graphic>
              <a:graphicData uri="http://schemas.microsoft.com/office/drawing/2014/chartex">
                <cx:chart xmlns:cx="http://schemas.microsoft.com/office/drawing/2014/chartex" xmlns:r="http://schemas.openxmlformats.org/officeDocument/2006/relationships" r:id="rId6"/>
              </a:graphicData>
            </a:graphic>
          </p:graphicFrame>
        </mc:Choice>
        <mc:Fallback>
          <p:pic>
            <p:nvPicPr>
              <p:cNvPr id="4" name="Chart 3">
                <a:extLst>
                  <a:ext uri="{FF2B5EF4-FFF2-40B4-BE49-F238E27FC236}">
                    <a16:creationId xmlns:a16="http://schemas.microsoft.com/office/drawing/2014/main" id="{3777E7EA-7C7D-A56D-D3DC-7DC78FEC9DB4}"/>
                  </a:ext>
                </a:extLst>
              </p:cNvPr>
              <p:cNvPicPr>
                <a:picLocks noGrp="1" noRot="1" noChangeAspect="1" noMove="1" noResize="1" noEditPoints="1" noAdjustHandles="1" noChangeArrowheads="1" noChangeShapeType="1"/>
              </p:cNvPicPr>
              <p:nvPr/>
            </p:nvPicPr>
            <p:blipFill>
              <a:blip r:embed="rId7"/>
              <a:stretch>
                <a:fillRect/>
              </a:stretch>
            </p:blipFill>
            <p:spPr>
              <a:xfrm>
                <a:off x="229019" y="1577319"/>
                <a:ext cx="6148714" cy="2366991"/>
              </a:xfrm>
              <a:prstGeom prst="rect">
                <a:avLst/>
              </a:prstGeom>
            </p:spPr>
          </p:pic>
        </mc:Fallback>
      </mc:AlternateContent>
    </p:spTree>
    <p:extLst>
      <p:ext uri="{BB962C8B-B14F-4D97-AF65-F5344CB8AC3E}">
        <p14:creationId xmlns:p14="http://schemas.microsoft.com/office/powerpoint/2010/main" val="929163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40663" y="9547859"/>
            <a:ext cx="0" cy="202565"/>
          </a:xfrm>
          <a:custGeom>
            <a:avLst/>
            <a:gdLst/>
            <a:ahLst/>
            <a:cxnLst/>
            <a:rect l="l" t="t" r="r" b="b"/>
            <a:pathLst>
              <a:path h="202565">
                <a:moveTo>
                  <a:pt x="0" y="202031"/>
                </a:moveTo>
                <a:lnTo>
                  <a:pt x="0" y="0"/>
                </a:lnTo>
              </a:path>
            </a:pathLst>
          </a:custGeom>
          <a:ln w="6350">
            <a:solidFill>
              <a:srgbClr val="74797B"/>
            </a:solidFill>
          </a:ln>
        </p:spPr>
        <p:txBody>
          <a:bodyPr wrap="square" lIns="0" tIns="0" rIns="0" bIns="0" rtlCol="0"/>
          <a:lstStyle/>
          <a:p>
            <a:endParaRPr/>
          </a:p>
        </p:txBody>
      </p:sp>
      <p:sp>
        <p:nvSpPr>
          <p:cNvPr id="3" name="object 3"/>
          <p:cNvSpPr/>
          <p:nvPr/>
        </p:nvSpPr>
        <p:spPr>
          <a:xfrm>
            <a:off x="368808" y="9526523"/>
            <a:ext cx="269875" cy="243840"/>
          </a:xfrm>
          <a:custGeom>
            <a:avLst/>
            <a:gdLst/>
            <a:ahLst/>
            <a:cxnLst/>
            <a:rect l="l" t="t" r="r" b="b"/>
            <a:pathLst>
              <a:path w="269875" h="243840">
                <a:moveTo>
                  <a:pt x="237070" y="0"/>
                </a:moveTo>
                <a:lnTo>
                  <a:pt x="32677" y="0"/>
                </a:lnTo>
                <a:lnTo>
                  <a:pt x="18479" y="2079"/>
                </a:lnTo>
                <a:lnTo>
                  <a:pt x="8256" y="8274"/>
                </a:lnTo>
                <a:lnTo>
                  <a:pt x="2075" y="18516"/>
                </a:lnTo>
                <a:lnTo>
                  <a:pt x="0" y="32740"/>
                </a:lnTo>
                <a:lnTo>
                  <a:pt x="51" y="211454"/>
                </a:lnTo>
                <a:lnTo>
                  <a:pt x="2075" y="225323"/>
                </a:lnTo>
                <a:lnTo>
                  <a:pt x="8256" y="235565"/>
                </a:lnTo>
                <a:lnTo>
                  <a:pt x="18479" y="241760"/>
                </a:lnTo>
                <a:lnTo>
                  <a:pt x="32677" y="243839"/>
                </a:lnTo>
                <a:lnTo>
                  <a:pt x="170332" y="243839"/>
                </a:lnTo>
                <a:lnTo>
                  <a:pt x="170332" y="236880"/>
                </a:lnTo>
                <a:lnTo>
                  <a:pt x="171135" y="228682"/>
                </a:lnTo>
                <a:lnTo>
                  <a:pt x="173631" y="222248"/>
                </a:lnTo>
                <a:lnTo>
                  <a:pt x="177951" y="217383"/>
                </a:lnTo>
                <a:lnTo>
                  <a:pt x="184226" y="213893"/>
                </a:lnTo>
                <a:lnTo>
                  <a:pt x="184226" y="213194"/>
                </a:lnTo>
                <a:lnTo>
                  <a:pt x="63969" y="213194"/>
                </a:lnTo>
                <a:lnTo>
                  <a:pt x="63969" y="212140"/>
                </a:lnTo>
                <a:lnTo>
                  <a:pt x="65011" y="211099"/>
                </a:lnTo>
                <a:lnTo>
                  <a:pt x="104635" y="172440"/>
                </a:lnTo>
                <a:lnTo>
                  <a:pt x="64312" y="133413"/>
                </a:lnTo>
                <a:lnTo>
                  <a:pt x="63271" y="132372"/>
                </a:lnTo>
                <a:lnTo>
                  <a:pt x="63501" y="131673"/>
                </a:lnTo>
                <a:lnTo>
                  <a:pt x="63614" y="131330"/>
                </a:lnTo>
                <a:lnTo>
                  <a:pt x="269748" y="131330"/>
                </a:lnTo>
                <a:lnTo>
                  <a:pt x="269748" y="32740"/>
                </a:lnTo>
                <a:lnTo>
                  <a:pt x="267672" y="18516"/>
                </a:lnTo>
                <a:lnTo>
                  <a:pt x="261491" y="8274"/>
                </a:lnTo>
                <a:lnTo>
                  <a:pt x="251268" y="2079"/>
                </a:lnTo>
                <a:lnTo>
                  <a:pt x="237070" y="0"/>
                </a:lnTo>
                <a:close/>
              </a:path>
              <a:path w="269875" h="243840">
                <a:moveTo>
                  <a:pt x="269735" y="188455"/>
                </a:moveTo>
                <a:lnTo>
                  <a:pt x="269029" y="188455"/>
                </a:lnTo>
                <a:lnTo>
                  <a:pt x="262627" y="200248"/>
                </a:lnTo>
                <a:lnTo>
                  <a:pt x="253184" y="207870"/>
                </a:lnTo>
                <a:lnTo>
                  <a:pt x="241326" y="211963"/>
                </a:lnTo>
                <a:lnTo>
                  <a:pt x="227530" y="213194"/>
                </a:lnTo>
                <a:lnTo>
                  <a:pt x="196723" y="213194"/>
                </a:lnTo>
                <a:lnTo>
                  <a:pt x="196380" y="213537"/>
                </a:lnTo>
                <a:lnTo>
                  <a:pt x="196380" y="243839"/>
                </a:lnTo>
                <a:lnTo>
                  <a:pt x="237058" y="243839"/>
                </a:lnTo>
                <a:lnTo>
                  <a:pt x="269327" y="213893"/>
                </a:lnTo>
                <a:lnTo>
                  <a:pt x="269429" y="213194"/>
                </a:lnTo>
                <a:lnTo>
                  <a:pt x="269479" y="212851"/>
                </a:lnTo>
                <a:lnTo>
                  <a:pt x="269583" y="212140"/>
                </a:lnTo>
                <a:lnTo>
                  <a:pt x="269683" y="211454"/>
                </a:lnTo>
                <a:lnTo>
                  <a:pt x="269735" y="188455"/>
                </a:lnTo>
                <a:close/>
              </a:path>
              <a:path w="269875" h="243840">
                <a:moveTo>
                  <a:pt x="121323" y="190550"/>
                </a:moveTo>
                <a:lnTo>
                  <a:pt x="100469" y="211797"/>
                </a:lnTo>
                <a:lnTo>
                  <a:pt x="99415" y="212851"/>
                </a:lnTo>
                <a:lnTo>
                  <a:pt x="98729" y="213194"/>
                </a:lnTo>
                <a:lnTo>
                  <a:pt x="143560" y="213194"/>
                </a:lnTo>
                <a:lnTo>
                  <a:pt x="142887" y="212851"/>
                </a:lnTo>
                <a:lnTo>
                  <a:pt x="141478" y="211454"/>
                </a:lnTo>
                <a:lnTo>
                  <a:pt x="121323" y="190550"/>
                </a:lnTo>
                <a:close/>
              </a:path>
              <a:path w="269875" h="243840">
                <a:moveTo>
                  <a:pt x="170319" y="142138"/>
                </a:moveTo>
                <a:lnTo>
                  <a:pt x="139039" y="172440"/>
                </a:lnTo>
                <a:lnTo>
                  <a:pt x="170319" y="202742"/>
                </a:lnTo>
                <a:lnTo>
                  <a:pt x="170319" y="142138"/>
                </a:lnTo>
                <a:close/>
              </a:path>
              <a:path w="269875" h="243840">
                <a:moveTo>
                  <a:pt x="238455" y="156413"/>
                </a:moveTo>
                <a:lnTo>
                  <a:pt x="196392" y="156413"/>
                </a:lnTo>
                <a:lnTo>
                  <a:pt x="196392" y="188455"/>
                </a:lnTo>
                <a:lnTo>
                  <a:pt x="238455" y="188455"/>
                </a:lnTo>
                <a:lnTo>
                  <a:pt x="246456" y="183235"/>
                </a:lnTo>
                <a:lnTo>
                  <a:pt x="246456" y="161632"/>
                </a:lnTo>
                <a:lnTo>
                  <a:pt x="238455" y="156413"/>
                </a:lnTo>
                <a:close/>
              </a:path>
              <a:path w="269875" h="243840">
                <a:moveTo>
                  <a:pt x="269748" y="131330"/>
                </a:moveTo>
                <a:lnTo>
                  <a:pt x="227342" y="131330"/>
                </a:lnTo>
                <a:lnTo>
                  <a:pt x="242071" y="132714"/>
                </a:lnTo>
                <a:lnTo>
                  <a:pt x="241212" y="132714"/>
                </a:lnTo>
                <a:lnTo>
                  <a:pt x="252891" y="136818"/>
                </a:lnTo>
                <a:lnTo>
                  <a:pt x="262536" y="144559"/>
                </a:lnTo>
                <a:lnTo>
                  <a:pt x="269049" y="156413"/>
                </a:lnTo>
                <a:lnTo>
                  <a:pt x="269748" y="156413"/>
                </a:lnTo>
                <a:lnTo>
                  <a:pt x="269748" y="131330"/>
                </a:lnTo>
                <a:close/>
              </a:path>
              <a:path w="269875" h="243840">
                <a:moveTo>
                  <a:pt x="144259" y="131330"/>
                </a:moveTo>
                <a:lnTo>
                  <a:pt x="98374" y="131330"/>
                </a:lnTo>
                <a:lnTo>
                  <a:pt x="99072" y="131673"/>
                </a:lnTo>
                <a:lnTo>
                  <a:pt x="122021" y="154660"/>
                </a:lnTo>
                <a:lnTo>
                  <a:pt x="142519" y="132714"/>
                </a:lnTo>
                <a:lnTo>
                  <a:pt x="143573" y="131673"/>
                </a:lnTo>
                <a:lnTo>
                  <a:pt x="144259" y="131330"/>
                </a:lnTo>
                <a:close/>
              </a:path>
            </a:pathLst>
          </a:custGeom>
          <a:solidFill>
            <a:srgbClr val="17181A"/>
          </a:solidFill>
        </p:spPr>
        <p:txBody>
          <a:bodyPr wrap="square" lIns="0" tIns="0" rIns="0" bIns="0" rtlCol="0"/>
          <a:lstStyle/>
          <a:p>
            <a:endParaRPr/>
          </a:p>
        </p:txBody>
      </p:sp>
      <p:sp>
        <p:nvSpPr>
          <p:cNvPr id="4" name="object 4"/>
          <p:cNvSpPr txBox="1"/>
          <p:nvPr/>
        </p:nvSpPr>
        <p:spPr>
          <a:xfrm>
            <a:off x="377443" y="400304"/>
            <a:ext cx="1351915" cy="208279"/>
          </a:xfrm>
          <a:prstGeom prst="rect">
            <a:avLst/>
          </a:prstGeom>
        </p:spPr>
        <p:txBody>
          <a:bodyPr vert="horz" wrap="square" lIns="0" tIns="12700" rIns="0" bIns="0" rtlCol="0">
            <a:spAutoFit/>
          </a:bodyPr>
          <a:lstStyle/>
          <a:p>
            <a:pPr marL="12700">
              <a:lnSpc>
                <a:spcPct val="100000"/>
              </a:lnSpc>
              <a:spcBef>
                <a:spcPts val="100"/>
              </a:spcBef>
            </a:pPr>
            <a:r>
              <a:rPr sz="1200" spc="-20">
                <a:solidFill>
                  <a:srgbClr val="3E3E3E"/>
                </a:solidFill>
                <a:latin typeface="Trebuchet MS"/>
                <a:cs typeface="Trebuchet MS"/>
              </a:rPr>
              <a:t>Estratégia</a:t>
            </a:r>
            <a:r>
              <a:rPr sz="1200" spc="-25">
                <a:solidFill>
                  <a:srgbClr val="3E3E3E"/>
                </a:solidFill>
                <a:latin typeface="Trebuchet MS"/>
                <a:cs typeface="Trebuchet MS"/>
              </a:rPr>
              <a:t> </a:t>
            </a:r>
            <a:r>
              <a:rPr sz="1200" spc="-20">
                <a:solidFill>
                  <a:srgbClr val="3E3E3E"/>
                </a:solidFill>
                <a:latin typeface="Trebuchet MS"/>
                <a:cs typeface="Trebuchet MS"/>
              </a:rPr>
              <a:t>de</a:t>
            </a:r>
            <a:r>
              <a:rPr sz="1200" spc="-45">
                <a:solidFill>
                  <a:srgbClr val="3E3E3E"/>
                </a:solidFill>
                <a:latin typeface="Trebuchet MS"/>
                <a:cs typeface="Trebuchet MS"/>
              </a:rPr>
              <a:t> </a:t>
            </a:r>
            <a:r>
              <a:rPr sz="1200" spc="-20">
                <a:solidFill>
                  <a:srgbClr val="3E3E3E"/>
                </a:solidFill>
                <a:latin typeface="Trebuchet MS"/>
                <a:cs typeface="Trebuchet MS"/>
              </a:rPr>
              <a:t>Ações</a:t>
            </a:r>
            <a:endParaRPr sz="1200">
              <a:latin typeface="Trebuchet MS"/>
              <a:cs typeface="Trebuchet MS"/>
            </a:endParaRPr>
          </a:p>
        </p:txBody>
      </p:sp>
      <p:sp>
        <p:nvSpPr>
          <p:cNvPr id="5" name="object 5"/>
          <p:cNvSpPr txBox="1"/>
          <p:nvPr/>
        </p:nvSpPr>
        <p:spPr>
          <a:xfrm>
            <a:off x="377443" y="760602"/>
            <a:ext cx="6036945" cy="6796091"/>
          </a:xfrm>
          <a:prstGeom prst="rect">
            <a:avLst/>
          </a:prstGeom>
        </p:spPr>
        <p:txBody>
          <a:bodyPr vert="horz" wrap="square" lIns="0" tIns="12065" rIns="0" bIns="0" rtlCol="0">
            <a:spAutoFit/>
          </a:bodyPr>
          <a:lstStyle/>
          <a:p>
            <a:pPr marL="12700">
              <a:lnSpc>
                <a:spcPct val="100000"/>
              </a:lnSpc>
              <a:spcBef>
                <a:spcPts val="95"/>
              </a:spcBef>
            </a:pPr>
            <a:r>
              <a:rPr sz="1900" b="1" spc="-10" dirty="0">
                <a:solidFill>
                  <a:srgbClr val="17181A"/>
                </a:solidFill>
                <a:latin typeface="Trebuchet MS" panose="020B0603020202020204" pitchFamily="34" charset="0"/>
                <a:cs typeface="Trebuchet MS"/>
              </a:rPr>
              <a:t>Disclaimer</a:t>
            </a:r>
            <a:endParaRPr lang="pt-BR" sz="1900" b="1" spc="-10" dirty="0">
              <a:solidFill>
                <a:srgbClr val="17181A"/>
              </a:solidFill>
              <a:latin typeface="Trebuchet MS" panose="020B0603020202020204" pitchFamily="34" charset="0"/>
              <a:cs typeface="Trebuchet MS"/>
            </a:endParaRPr>
          </a:p>
          <a:p>
            <a:pPr marL="12700">
              <a:lnSpc>
                <a:spcPct val="100000"/>
              </a:lnSpc>
              <a:spcBef>
                <a:spcPts val="95"/>
              </a:spcBef>
            </a:pPr>
            <a:endParaRPr lang="pt-BR" sz="1900" b="1" spc="-10" dirty="0">
              <a:solidFill>
                <a:srgbClr val="17181A"/>
              </a:solidFill>
              <a:latin typeface="Trebuchet MS" panose="020B0603020202020204" pitchFamily="34" charset="0"/>
              <a:cs typeface="Trebuchet MS"/>
            </a:endParaRPr>
          </a:p>
          <a:p>
            <a:pPr marL="457200" lvl="0" indent="-457200">
              <a:buFont typeface="+mj-lt"/>
              <a:buAutoNum type="arabicPeriod"/>
            </a:pPr>
            <a:r>
              <a:rPr lang="pt-BR" sz="600" dirty="0">
                <a:latin typeface="Trebuchet MS" panose="020B0603020202020204" pitchFamily="34" charset="0"/>
              </a:rPr>
              <a:t>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457200" lvl="0" indent="-457200">
              <a:buFont typeface="+mj-lt"/>
              <a:buAutoNum type="arabicPeriod"/>
            </a:pPr>
            <a:r>
              <a:rPr lang="pt-BR" sz="600" dirty="0">
                <a:latin typeface="Trebuchet MS" panose="020B0603020202020204" pitchFamily="34" charset="0"/>
              </a:rPr>
              <a:t>Este relatório foi elaborado considerando a classificação de risco dos produtos de modo a gerar resultados de alocação para cada perfil de investidor. </a:t>
            </a:r>
          </a:p>
          <a:p>
            <a:pPr marL="457200" lvl="0" indent="-457200">
              <a:buFont typeface="+mj-lt"/>
              <a:buAutoNum type="arabicPeriod"/>
            </a:pPr>
            <a:r>
              <a:rPr lang="pt-BR" sz="600" dirty="0">
                <a:latin typeface="Trebuchet MS" panose="020B0603020202020204" pitchFamily="34" charset="0"/>
              </a:rPr>
              <a:t>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 </a:t>
            </a:r>
          </a:p>
          <a:p>
            <a:pPr marL="457200" lvl="0" indent="-457200">
              <a:buFont typeface="+mj-lt"/>
              <a:buAutoNum type="arabicPeriod"/>
            </a:pPr>
            <a:r>
              <a:rPr lang="pt-BR" sz="600" dirty="0">
                <a:latin typeface="Trebuchet MS" panose="020B0603020202020204" pitchFamily="34" charset="0"/>
              </a:rPr>
              <a:t>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457200" lvl="0" indent="-457200">
              <a:buFont typeface="+mj-lt"/>
              <a:buAutoNum type="arabicPeriod"/>
            </a:pPr>
            <a:r>
              <a:rPr lang="pt-BR" sz="600" dirty="0">
                <a:latin typeface="Trebuchet MS" panose="020B0603020202020204" pitchFamily="34" charset="0"/>
              </a:rPr>
              <a:t>Os analistas da XP Investimentos estão obrigados ao cumprimento de todas as regras previstas no Código de Conduta da APIMEC Brasil para o Analista de Valores Mobiliários e na Política de Conduta dos Analistas de Valores Mobiliários da XP Investimentos.  </a:t>
            </a:r>
          </a:p>
          <a:p>
            <a:pPr marL="457200" lvl="0" indent="-457200">
              <a:buFont typeface="+mj-lt"/>
              <a:buAutoNum type="arabicPeriod"/>
            </a:pPr>
            <a:r>
              <a:rPr lang="pt-BR" sz="600" dirty="0">
                <a:latin typeface="Trebuchet MS" panose="020B0603020202020204" pitchFamily="34" charset="0"/>
              </a:rPr>
              <a:t>O atendimento de nossos clientes é realizado por empregados da XP Investimentos ou por assessores de investimento que desempenham suas atividades por meio da XP, em conformidade com a Resolução CVM nº 178/2023, os quais encontram-se registrados na Associação Nacional das Corretoras e Distribuidoras de Títulos e Valores Mobiliários – ANCORD. O assessor de investimento não pode realizar consultoria, administração ou gestão de patrimônio de clientes, devendo atuar como intermediário e solicitar autorização prévia do cliente para a realização de qualquer operação no mercado de capitais. </a:t>
            </a:r>
          </a:p>
          <a:p>
            <a:pPr marL="457200" lvl="0" indent="-457200">
              <a:buFont typeface="+mj-lt"/>
              <a:buAutoNum type="arabicPeriod"/>
            </a:pPr>
            <a:r>
              <a:rPr lang="pt-BR" sz="600" dirty="0">
                <a:latin typeface="Trebuchet MS" panose="020B0603020202020204" pitchFamily="34" charset="0"/>
              </a:rPr>
              <a:t>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600" dirty="0" err="1">
                <a:latin typeface="Trebuchet MS" panose="020B0603020202020204" pitchFamily="34" charset="0"/>
              </a:rPr>
              <a:t>Suitability</a:t>
            </a:r>
            <a:r>
              <a:rPr lang="pt-BR" sz="600" dirty="0">
                <a:latin typeface="Trebuchet MS" panose="020B0603020202020204" pitchFamily="34" charset="0"/>
              </a:rPr>
              <a:t> nº 01 e do Código ANBIMA de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457200" lvl="0" indent="-457200">
              <a:buFont typeface="+mj-lt"/>
              <a:buAutoNum type="arabicPeriod"/>
            </a:pPr>
            <a:r>
              <a:rPr lang="pt-BR" sz="600" dirty="0">
                <a:latin typeface="Trebuchet MS" panose="020B0603020202020204" pitchFamily="34" charset="0"/>
              </a:rPr>
              <a:t>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457200" lvl="0" indent="-457200">
              <a:buFont typeface="+mj-lt"/>
              <a:buAutoNum type="arabicPeriod"/>
            </a:pPr>
            <a:r>
              <a:rPr lang="pt-BR" sz="600" dirty="0">
                <a:latin typeface="Trebuchet MS" panose="020B0603020202020204" pitchFamily="34" charset="0"/>
              </a:rPr>
              <a:t>Este relatório é destinado à circulação exclusiva para a rede de relacionamento da XP Investimentos, incluindo assessores de investimentos da XP e clientes da XP, podendo também ser divulgado no site da XP. Fica proibida sua reprodução ou redistribuição para qualquer pessoa, no todo ou em parte, qualquer que seja o propósito, sem o prévio consentimento expresso da XP Investimentos. </a:t>
            </a:r>
          </a:p>
          <a:p>
            <a:pPr marL="457200" lvl="0" indent="-457200">
              <a:buFont typeface="+mj-lt"/>
              <a:buAutoNum type="arabicPeriod"/>
            </a:pPr>
            <a:r>
              <a:rPr lang="pt-BR" sz="600" dirty="0">
                <a:latin typeface="Trebuchet MS" panose="020B0603020202020204" pitchFamily="34" charset="0"/>
              </a:rPr>
              <a:t>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marL="457200" lvl="0" indent="-457200">
              <a:buFont typeface="+mj-lt"/>
              <a:buAutoNum type="arabicPeriod"/>
            </a:pPr>
            <a:r>
              <a:rPr lang="pt-BR" sz="600" dirty="0">
                <a:latin typeface="Trebuchet MS" panose="020B0603020202020204" pitchFamily="34" charset="0"/>
              </a:rPr>
              <a:t>O custo da operação e a política de cobrança estão definidos nas tabelas de custos operacionais disponibilizadas no site da XP Investimentos: www.xpi.com.br. </a:t>
            </a:r>
          </a:p>
          <a:p>
            <a:pPr marL="457200" lvl="0" indent="-457200">
              <a:buFont typeface="+mj-lt"/>
              <a:buAutoNum type="arabicPeriod"/>
            </a:pPr>
            <a:r>
              <a:rPr lang="pt-BR" sz="600" dirty="0">
                <a:latin typeface="Trebuchet MS" panose="020B0603020202020204" pitchFamily="34" charset="0"/>
              </a:rPr>
              <a:t>A XP Investimentos se exime de qualquer responsabilidade por quaisquer prejuízos, diretos ou indiretos, que venham a decorrer da utilização deste relatório ou seu conteúdo. </a:t>
            </a:r>
          </a:p>
          <a:p>
            <a:pPr marL="457200" lvl="0" indent="-457200">
              <a:buFont typeface="+mj-lt"/>
              <a:buAutoNum type="arabicPeriod"/>
            </a:pPr>
            <a:r>
              <a:rPr lang="pt-BR" sz="600" dirty="0">
                <a:latin typeface="Trebuchet MS" panose="020B0603020202020204" pitchFamily="34" charset="0"/>
              </a:rPr>
              <a:t>A Avaliação Técnica e a Avaliação de Fundamentos seguem diferentes metodologias de análise. A Análise Técnica é executada seguindo conceitos como tendência, suporte, resistência, </a:t>
            </a:r>
            <a:r>
              <a:rPr lang="pt-BR" sz="600" dirty="0" err="1">
                <a:latin typeface="Trebuchet MS" panose="020B0603020202020204" pitchFamily="34" charset="0"/>
              </a:rPr>
              <a:t>candles</a:t>
            </a:r>
            <a:r>
              <a:rPr lang="pt-BR" sz="600" dirty="0">
                <a:latin typeface="Trebuchet MS" panose="020B0603020202020204" pitchFamily="34" charset="0"/>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600" dirty="0" err="1">
                <a:latin typeface="Trebuchet MS" panose="020B0603020202020204" pitchFamily="34" charset="0"/>
              </a:rPr>
              <a:t>stops</a:t>
            </a:r>
            <a:r>
              <a:rPr lang="pt-BR" sz="600" dirty="0">
                <a:latin typeface="Trebuchet MS" panose="020B0603020202020204" pitchFamily="34" charset="0"/>
              </a:rPr>
              <a:t>” para limitar as possíveis perdas.  </a:t>
            </a:r>
          </a:p>
          <a:p>
            <a:pPr marL="457200" lvl="0" indent="-457200">
              <a:buFont typeface="+mj-lt"/>
              <a:buAutoNum type="arabicPeriod"/>
            </a:pPr>
            <a:r>
              <a:rPr lang="pt-BR" sz="600" dirty="0">
                <a:latin typeface="Trebuchet MS" panose="020B0603020202020204" pitchFamily="34" charset="0"/>
              </a:rPr>
              <a:t>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a:t>
            </a:r>
          </a:p>
          <a:p>
            <a:pPr marL="457200" lvl="0" indent="-457200">
              <a:buFont typeface="+mj-lt"/>
              <a:buAutoNum type="arabicPeriod"/>
            </a:pPr>
            <a:r>
              <a:rPr lang="pt-BR" sz="600" dirty="0">
                <a:latin typeface="Trebuchet MS" panose="020B0603020202020204" pitchFamily="34" charset="0"/>
              </a:rPr>
              <a:t>O investimento em opções é preferencialmente indicado para investidores de perfil agressivo, de acordo com a política de </a:t>
            </a:r>
            <a:r>
              <a:rPr lang="pt-BR" sz="600" dirty="0" err="1">
                <a:latin typeface="Trebuchet MS" panose="020B0603020202020204" pitchFamily="34" charset="0"/>
              </a:rPr>
              <a:t>suitability</a:t>
            </a:r>
            <a:r>
              <a:rPr lang="pt-BR" sz="600" dirty="0">
                <a:latin typeface="Trebuchet MS" panose="020B0603020202020204" pitchFamily="34" charset="0"/>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457200" lvl="0" indent="-457200">
              <a:buFont typeface="+mj-lt"/>
              <a:buAutoNum type="arabicPeriod"/>
            </a:pPr>
            <a:r>
              <a:rPr lang="pt-BR" sz="600" dirty="0">
                <a:latin typeface="Trebuchet MS" panose="020B0603020202020204" pitchFamily="34" charset="0"/>
              </a:rPr>
              <a:t>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457200" lvl="0" indent="-457200">
              <a:buFont typeface="+mj-lt"/>
              <a:buAutoNum type="arabicPeriod"/>
            </a:pPr>
            <a:r>
              <a:rPr lang="pt-BR" sz="600" dirty="0">
                <a:latin typeface="Trebuchet MS" panose="020B0603020202020204" pitchFamily="34" charset="0"/>
              </a:rPr>
              <a:t>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457200" indent="-457200">
              <a:buFont typeface="+mj-lt"/>
              <a:buAutoNum type="arabicPeriod"/>
            </a:pPr>
            <a:r>
              <a:rPr lang="pt-BR" sz="600" dirty="0">
                <a:latin typeface="Trebuchet MS" panose="020B0603020202020204" pitchFamily="34" charset="0"/>
              </a:rPr>
              <a:t>ESTA INSTITUIÇÃO É ADERENTE AO CÓDIGO ANBIMA DE DISTRIBUIÇÃO DE PRODUTOS DE INVESTIMENTO.</a:t>
            </a:r>
            <a:endParaRPr lang="pt-BR" sz="600" dirty="0">
              <a:effectLst/>
              <a:latin typeface="Trebuchet MS" panose="020B0603020202020204" pitchFamily="34" charset="0"/>
              <a:ea typeface="Calibri" panose="020F0502020204030204" pitchFamily="34" charset="0"/>
              <a:cs typeface="Times New Roman" panose="02020603050405020304" pitchFamily="18" charset="0"/>
            </a:endParaRPr>
          </a:p>
        </p:txBody>
      </p:sp>
      <p:sp>
        <p:nvSpPr>
          <p:cNvPr id="6" name="object 6"/>
          <p:cNvSpPr/>
          <p:nvPr/>
        </p:nvSpPr>
        <p:spPr>
          <a:xfrm>
            <a:off x="390143" y="734568"/>
            <a:ext cx="6099810" cy="0"/>
          </a:xfrm>
          <a:custGeom>
            <a:avLst/>
            <a:gdLst/>
            <a:ahLst/>
            <a:cxnLst/>
            <a:rect l="l" t="t" r="r" b="b"/>
            <a:pathLst>
              <a:path w="6099810">
                <a:moveTo>
                  <a:pt x="0" y="0"/>
                </a:moveTo>
                <a:lnTo>
                  <a:pt x="6099556" y="0"/>
                </a:lnTo>
              </a:path>
            </a:pathLst>
          </a:custGeom>
          <a:ln w="6350">
            <a:solidFill>
              <a:srgbClr val="000000"/>
            </a:solidFill>
          </a:ln>
        </p:spPr>
        <p:txBody>
          <a:bodyPr wrap="square" lIns="0" tIns="0" rIns="0" bIns="0" rtlCol="0"/>
          <a:lstStyle/>
          <a:p>
            <a:endParaRPr/>
          </a:p>
        </p:txBody>
      </p:sp>
      <p:sp>
        <p:nvSpPr>
          <p:cNvPr id="7" name="object 7"/>
          <p:cNvSpPr txBox="1"/>
          <p:nvPr/>
        </p:nvSpPr>
        <p:spPr>
          <a:xfrm>
            <a:off x="5127752" y="419481"/>
            <a:ext cx="1376045" cy="197490"/>
          </a:xfrm>
          <a:prstGeom prst="rect">
            <a:avLst/>
          </a:prstGeom>
          <a:noFill/>
        </p:spPr>
        <p:txBody>
          <a:bodyPr vert="horz" wrap="square" lIns="0" tIns="12700" rIns="0" bIns="0" rtlCol="0">
            <a:spAutoFit/>
          </a:bodyPr>
          <a:lstStyle/>
          <a:p>
            <a:pPr marL="12700">
              <a:lnSpc>
                <a:spcPct val="100000"/>
              </a:lnSpc>
              <a:spcBef>
                <a:spcPts val="100"/>
              </a:spcBef>
            </a:pPr>
            <a:r>
              <a:rPr lang="pt-BR" sz="1200" dirty="0">
                <a:solidFill>
                  <a:srgbClr val="74797B"/>
                </a:solidFill>
                <a:latin typeface="Trebuchet MS"/>
                <a:cs typeface="Trebuchet MS"/>
              </a:rPr>
              <a:t>1 de Julho de 2026</a:t>
            </a:r>
            <a:endParaRPr sz="1200" dirty="0">
              <a:latin typeface="Trebuchet MS"/>
              <a:cs typeface="Trebuchet MS"/>
            </a:endParaRPr>
          </a:p>
        </p:txBody>
      </p:sp>
      <p:sp>
        <p:nvSpPr>
          <p:cNvPr id="8" name="object 8"/>
          <p:cNvSpPr txBox="1">
            <a:spLocks noGrp="1"/>
          </p:cNvSpPr>
          <p:nvPr>
            <p:ph type="sldNum" sz="quarter" idx="7"/>
          </p:nvPr>
        </p:nvSpPr>
        <p:spPr>
          <a:prstGeom prst="rect">
            <a:avLst/>
          </a:prstGeom>
        </p:spPr>
        <p:txBody>
          <a:bodyPr vert="horz" wrap="square" lIns="0" tIns="5715" rIns="0" bIns="0" rtlCol="0">
            <a:spAutoFit/>
          </a:bodyPr>
          <a:lstStyle/>
          <a:p>
            <a:pPr marL="38100">
              <a:lnSpc>
                <a:spcPct val="100000"/>
              </a:lnSpc>
              <a:spcBef>
                <a:spcPts val="45"/>
              </a:spcBef>
            </a:pPr>
            <a:fld id="{81D60167-4931-47E6-BA6A-407CBD079E47}" type="slidenum">
              <a:rPr spc="-50" dirty="0"/>
              <a:t>3</a:t>
            </a:fld>
            <a:endParaRPr spc="-50"/>
          </a:p>
        </p:txBody>
      </p:sp>
    </p:spTree>
    <p:extLst>
      <p:ext uri="{BB962C8B-B14F-4D97-AF65-F5344CB8AC3E}">
        <p14:creationId xmlns:p14="http://schemas.microsoft.com/office/powerpoint/2010/main" val="17829991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3_Template DGA 16-9">
  <a:themeElements>
    <a:clrScheme name="XP Expert">
      <a:dk1>
        <a:srgbClr val="18191A"/>
      </a:dk1>
      <a:lt1>
        <a:srgbClr val="FFFFFF"/>
      </a:lt1>
      <a:dk2>
        <a:srgbClr val="74797C"/>
      </a:dk2>
      <a:lt2>
        <a:srgbClr val="3F3F3F"/>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7">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ABAAA8"/>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Office Theme</Template>
  <TotalTime>2727</TotalTime>
  <Words>2363</Words>
  <Application>Microsoft Office PowerPoint</Application>
  <PresentationFormat>A4 Paper (210x297 mm)</PresentationFormat>
  <Paragraphs>132</Paragraphs>
  <Slides>3</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vt:i4>
      </vt:variant>
    </vt:vector>
  </HeadingPairs>
  <TitlesOfParts>
    <vt:vector size="12" baseType="lpstr">
      <vt:lpstr>Aptos</vt:lpstr>
      <vt:lpstr>Arial</vt:lpstr>
      <vt:lpstr>Calibri</vt:lpstr>
      <vt:lpstr>Roboto</vt:lpstr>
      <vt:lpstr>Roboto Condensed</vt:lpstr>
      <vt:lpstr>Roboto Light</vt:lpstr>
      <vt:lpstr>Trebuchet MS</vt:lpstr>
      <vt:lpstr>3_Template DGA 16-9</vt:lpstr>
      <vt:lpstr>Office Theme</vt:lpstr>
      <vt:lpstr>Top Ações XP Research XP Fernando Ferreira, Raphael Figueredo e Caio Souza</vt:lpstr>
      <vt:lpstr>Top Ações XP Research XP Fernando Ferreira, Raphael Figueredo e Caio Souza</vt:lpstr>
      <vt:lpstr>PowerPoint Presentation</vt:lpstr>
    </vt:vector>
  </TitlesOfParts>
  <Company>XP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Joao Faia</dc:creator>
  <cp:lastModifiedBy>Caio Souza</cp:lastModifiedBy>
  <cp:revision>18</cp:revision>
  <dcterms:created xsi:type="dcterms:W3CDTF">2025-05-08T16:00:11Z</dcterms:created>
  <dcterms:modified xsi:type="dcterms:W3CDTF">2026-07-02T22:26:41Z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a9157b-bcf3-4eac-b03e-7cf007ba9fdf_Enabled">
    <vt:lpwstr>true</vt:lpwstr>
  </property>
  <property fmtid="{D5CDD505-2E9C-101B-9397-08002B2CF9AE}" pid="3" name="MSIP_Label_e6a9157b-bcf3-4eac-b03e-7cf007ba9fdf_SetDate">
    <vt:lpwstr>2025-05-08T16:01:18Z</vt:lpwstr>
  </property>
  <property fmtid="{D5CDD505-2E9C-101B-9397-08002B2CF9AE}" pid="4" name="MSIP_Label_e6a9157b-bcf3-4eac-b03e-7cf007ba9fdf_Method">
    <vt:lpwstr>Standard</vt:lpwstr>
  </property>
  <property fmtid="{D5CDD505-2E9C-101B-9397-08002B2CF9AE}" pid="5" name="MSIP_Label_e6a9157b-bcf3-4eac-b03e-7cf007ba9fdf_Name">
    <vt:lpwstr>Publica</vt:lpwstr>
  </property>
  <property fmtid="{D5CDD505-2E9C-101B-9397-08002B2CF9AE}" pid="6" name="MSIP_Label_e6a9157b-bcf3-4eac-b03e-7cf007ba9fdf_SiteId">
    <vt:lpwstr>cf56e405-d2b0-4266-b210-aa04636b6161</vt:lpwstr>
  </property>
  <property fmtid="{D5CDD505-2E9C-101B-9397-08002B2CF9AE}" pid="7" name="MSIP_Label_e6a9157b-bcf3-4eac-b03e-7cf007ba9fdf_ActionId">
    <vt:lpwstr>c403dce8-7fdd-447e-8d9c-9aeac315da6b</vt:lpwstr>
  </property>
  <property fmtid="{D5CDD505-2E9C-101B-9397-08002B2CF9AE}" pid="8" name="MSIP_Label_e6a9157b-bcf3-4eac-b03e-7cf007ba9fdf_ContentBits">
    <vt:lpwstr>2</vt:lpwstr>
  </property>
  <property fmtid="{D5CDD505-2E9C-101B-9397-08002B2CF9AE}" pid="9" name="ClassificationContentMarkingFooterLocations">
    <vt:lpwstr>Tema do Office:8</vt:lpwstr>
  </property>
  <property fmtid="{D5CDD505-2E9C-101B-9397-08002B2CF9AE}" pid="10" name="ClassificationContentMarkingFooterText">
    <vt:lpwstr>[ CLASSIFICAÇÃO: PÚBLICA ]</vt:lpwstr>
  </property>
</Properties>
</file>