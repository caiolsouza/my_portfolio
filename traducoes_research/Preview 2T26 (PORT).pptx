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charts/chartEx1.xml" ContentType="application/vnd.ms-office.chartex+xml"/>
  <Override PartName="/ppt/charts/style10.xml" ContentType="application/vnd.ms-office.chartstyle+xml"/>
  <Override PartName="/ppt/charts/colors10.xml" ContentType="application/vnd.ms-office.chartcolorstyl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274" r:id="rId2"/>
    <p:sldId id="263" r:id="rId3"/>
    <p:sldId id="275" r:id="rId4"/>
    <p:sldId id="816" r:id="rId5"/>
    <p:sldId id="269" r:id="rId6"/>
    <p:sldId id="830" r:id="rId7"/>
    <p:sldId id="789" r:id="rId8"/>
    <p:sldId id="736" r:id="rId9"/>
    <p:sldId id="784" r:id="rId10"/>
    <p:sldId id="366" r:id="rId11"/>
    <p:sldId id="712" r:id="rId12"/>
    <p:sldId id="785" r:id="rId13"/>
    <p:sldId id="786" r:id="rId14"/>
    <p:sldId id="831" r:id="rId15"/>
    <p:sldId id="272" r:id="rId16"/>
    <p:sldId id="273" r:id="rId17"/>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B3DF"/>
    <a:srgbClr val="FFC114"/>
    <a:srgbClr val="000000"/>
    <a:srgbClr val="222324"/>
    <a:srgbClr val="7E7E7E"/>
    <a:srgbClr val="00D2C5"/>
    <a:srgbClr val="141515"/>
    <a:srgbClr val="151616"/>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39" autoAdjust="0"/>
    <p:restoredTop sz="96247" autoAdjust="0"/>
  </p:normalViewPr>
  <p:slideViewPr>
    <p:cSldViewPr snapToGrid="0">
      <p:cViewPr>
        <p:scale>
          <a:sx n="77" d="100"/>
          <a:sy n="77" d="100"/>
        </p:scale>
        <p:origin x="3570"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xpdocs\Research\Equities\Reports\Cross-Sector\Preview\Reports\2026\2T26\Ibovespa%20EPS%20estimates.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xpdocs\Research\Equities\Reports\Cross-Sector\Preview\Reports\2026\2T26\Ibovespa%20EPS%20estimates.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xpdocs\Research\Equities\Reports\Cross-Sector\Preview\Reports\2026\2T26\MSCI_Brazil_EPS_Revisao_BBG.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xpdocs\Research\Equities\Reports\Cross-Sector\Preview\Reports\2026\2T26\Ibovespa%20FA%20-%202Q26.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xpdocs\Research\Equities\Reports\Cross-Sector\Preview\Reports\2026\2T26\IBOV%20Implied%20Move%20on%20Earnings%20-%202Q26.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xpdocs\Research\Equities\Reports\Cross-Sector\Review\2026\1Q26\IBOV%20Implied%20Move%20on%20Earnings.xlsx" TargetMode="External"/></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oleObject" Target="file:///\\xpdocs\Research\Equities\Reports\Cross-Sector\Review\2026\1Q26\analise%20price%20action.xlsx" TargetMode="External"/></Relationships>
</file>

<file path=ppt/charts/_rels/chartEx1.xml.rels><?xml version='1.0' encoding='UTF-8' standalone='yes'?>
<Relationships xmlns="http://schemas.openxmlformats.org/package/2006/relationships"><Relationship Id="rId1" Type="http://schemas.openxmlformats.org/officeDocument/2006/relationships/oleObject" Target="file:///\\xpdocs\Research\Equities\Reports\Cross-Sector\Preview\Reports\2026\2T26\XP_Earnings_Estimates_2Q26_vf_vf.xlsx" TargetMode="External"/><Relationship Id="rId2" Type="http://schemas.microsoft.com/office/2011/relationships/chartStyle" Target="style10.xml"/><Relationship Id="rId3" Type="http://schemas.microsoft.com/office/2011/relationships/chartColorStyle" Target="colors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'Ibovespa EPS - Quarter'!$S$5</c:f>
              <c:strCache>
                <c:ptCount val="1"/>
                <c:pt idx="0">
                  <c:v>2T26</c:v>
                </c:pt>
              </c:strCache>
            </c:strRef>
          </c:tx>
          <c:spPr>
            <a:ln w="22225" cap="rnd">
              <a:solidFill>
                <a:srgbClr val="1F2F44"/>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Quarter'!$S$6:$S$313</c:f>
              <c:numCache>
                <c:formatCode>0.0</c:formatCode>
                <c:ptCount val="308"/>
                <c:pt idx="0">
                  <c:v>3472.883382870777</c:v>
                </c:pt>
                <c:pt idx="1">
                  <c:v>3473.5171727872439</c:v>
                </c:pt>
                <c:pt idx="2">
                  <c:v>3464.3174800094844</c:v>
                </c:pt>
                <c:pt idx="3">
                  <c:v>3461.66394502806</c:v>
                </c:pt>
                <c:pt idx="4">
                  <c:v>3462.6201687106086</c:v>
                </c:pt>
                <c:pt idx="5">
                  <c:v>3467.9426093454763</c:v>
                </c:pt>
                <c:pt idx="6">
                  <c:v>3467.1336077102669</c:v>
                </c:pt>
                <c:pt idx="7">
                  <c:v>3475.1873580981269</c:v>
                </c:pt>
                <c:pt idx="8">
                  <c:v>3474.1870752964942</c:v>
                </c:pt>
                <c:pt idx="9">
                  <c:v>3474.2690676863781</c:v>
                </c:pt>
                <c:pt idx="10">
                  <c:v>3473.8214956907154</c:v>
                </c:pt>
                <c:pt idx="11">
                  <c:v>3457.1567552606898</c:v>
                </c:pt>
                <c:pt idx="12">
                  <c:v>3458.0876316149779</c:v>
                </c:pt>
                <c:pt idx="13">
                  <c:v>3452.6795202292033</c:v>
                </c:pt>
                <c:pt idx="14">
                  <c:v>3451.6710911275204</c:v>
                </c:pt>
                <c:pt idx="15">
                  <c:v>3433.8371194210408</c:v>
                </c:pt>
                <c:pt idx="16">
                  <c:v>3430.3742159033327</c:v>
                </c:pt>
                <c:pt idx="17">
                  <c:v>3456.1811507286188</c:v>
                </c:pt>
                <c:pt idx="18">
                  <c:v>3457.1865093608758</c:v>
                </c:pt>
                <c:pt idx="19">
                  <c:v>3458.9146141073966</c:v>
                </c:pt>
                <c:pt idx="20">
                  <c:v>3462.9039603537208</c:v>
                </c:pt>
                <c:pt idx="21">
                  <c:v>3463.3676697632764</c:v>
                </c:pt>
                <c:pt idx="22">
                  <c:v>3460.8546253736567</c:v>
                </c:pt>
                <c:pt idx="23">
                  <c:v>3467.7068660092473</c:v>
                </c:pt>
                <c:pt idx="24">
                  <c:v>3483.9479666073685</c:v>
                </c:pt>
                <c:pt idx="25">
                  <c:v>3490.5335957910297</c:v>
                </c:pt>
                <c:pt idx="26">
                  <c:v>3500.9793949092723</c:v>
                </c:pt>
                <c:pt idx="27">
                  <c:v>3500.9793949092723</c:v>
                </c:pt>
                <c:pt idx="28">
                  <c:v>3501.0036368461492</c:v>
                </c:pt>
                <c:pt idx="29">
                  <c:v>3508.0002874482761</c:v>
                </c:pt>
                <c:pt idx="30">
                  <c:v>3510.8405120217244</c:v>
                </c:pt>
                <c:pt idx="31">
                  <c:v>3507.765343951965</c:v>
                </c:pt>
                <c:pt idx="32">
                  <c:v>3485.7423799138146</c:v>
                </c:pt>
                <c:pt idx="33">
                  <c:v>3488.9984503025066</c:v>
                </c:pt>
                <c:pt idx="34">
                  <c:v>3488.9984503025066</c:v>
                </c:pt>
                <c:pt idx="35">
                  <c:v>3488.0203732183945</c:v>
                </c:pt>
                <c:pt idx="36">
                  <c:v>3483.5501260233636</c:v>
                </c:pt>
                <c:pt idx="37">
                  <c:v>3484.5888750498661</c:v>
                </c:pt>
                <c:pt idx="38">
                  <c:v>3483.8020905539406</c:v>
                </c:pt>
                <c:pt idx="39">
                  <c:v>3479.2082741102372</c:v>
                </c:pt>
                <c:pt idx="40">
                  <c:v>3480.2586431373097</c:v>
                </c:pt>
                <c:pt idx="41">
                  <c:v>3496.6966169014636</c:v>
                </c:pt>
                <c:pt idx="42">
                  <c:v>3502.6787142177045</c:v>
                </c:pt>
                <c:pt idx="43">
                  <c:v>3411.4961359341009</c:v>
                </c:pt>
                <c:pt idx="44">
                  <c:v>3411.6725297722742</c:v>
                </c:pt>
                <c:pt idx="45">
                  <c:v>3397.6929954149718</c:v>
                </c:pt>
                <c:pt idx="46">
                  <c:v>3397.6219378845249</c:v>
                </c:pt>
                <c:pt idx="47">
                  <c:v>3397.4242361070528</c:v>
                </c:pt>
                <c:pt idx="48">
                  <c:v>3386.2197146814269</c:v>
                </c:pt>
                <c:pt idx="49">
                  <c:v>3387.0545455516908</c:v>
                </c:pt>
                <c:pt idx="50">
                  <c:v>3385.0017064723697</c:v>
                </c:pt>
                <c:pt idx="51">
                  <c:v>3387.0313231131713</c:v>
                </c:pt>
                <c:pt idx="52">
                  <c:v>3387.8482177951132</c:v>
                </c:pt>
                <c:pt idx="53">
                  <c:v>3379.2980665560199</c:v>
                </c:pt>
                <c:pt idx="54">
                  <c:v>3377.7024466571879</c:v>
                </c:pt>
                <c:pt idx="55">
                  <c:v>3377.9981712190529</c:v>
                </c:pt>
                <c:pt idx="56">
                  <c:v>3378.0190322445696</c:v>
                </c:pt>
                <c:pt idx="57">
                  <c:v>3382.5770324672158</c:v>
                </c:pt>
                <c:pt idx="58">
                  <c:v>3380.1161898335781</c:v>
                </c:pt>
                <c:pt idx="59">
                  <c:v>3380.1304025959198</c:v>
                </c:pt>
                <c:pt idx="60">
                  <c:v>3380.5624677033443</c:v>
                </c:pt>
                <c:pt idx="61">
                  <c:v>3371.5613422410229</c:v>
                </c:pt>
                <c:pt idx="62">
                  <c:v>3372.6711897396099</c:v>
                </c:pt>
                <c:pt idx="63">
                  <c:v>3372.4199884840082</c:v>
                </c:pt>
                <c:pt idx="64">
                  <c:v>3376.0781561225281</c:v>
                </c:pt>
                <c:pt idx="65">
                  <c:v>3376.0781561225281</c:v>
                </c:pt>
                <c:pt idx="66">
                  <c:v>3376.2079461921544</c:v>
                </c:pt>
                <c:pt idx="67">
                  <c:v>3424.3314683701515</c:v>
                </c:pt>
                <c:pt idx="68">
                  <c:v>3427.1039206049213</c:v>
                </c:pt>
                <c:pt idx="69">
                  <c:v>3427.7430132384143</c:v>
                </c:pt>
                <c:pt idx="70">
                  <c:v>3411.5891097563986</c:v>
                </c:pt>
                <c:pt idx="71">
                  <c:v>3415.0317203233781</c:v>
                </c:pt>
                <c:pt idx="72">
                  <c:v>3412.611623715562</c:v>
                </c:pt>
                <c:pt idx="73">
                  <c:v>3332.53240652151</c:v>
                </c:pt>
                <c:pt idx="74">
                  <c:v>3335.3648528829162</c:v>
                </c:pt>
                <c:pt idx="75">
                  <c:v>3342.2268976858713</c:v>
                </c:pt>
                <c:pt idx="76">
                  <c:v>3345.5550339403244</c:v>
                </c:pt>
                <c:pt idx="77">
                  <c:v>3338.5321839643857</c:v>
                </c:pt>
                <c:pt idx="78">
                  <c:v>3327.7718072568446</c:v>
                </c:pt>
                <c:pt idx="79">
                  <c:v>3337.7783526198486</c:v>
                </c:pt>
                <c:pt idx="80">
                  <c:v>3328.6708152222013</c:v>
                </c:pt>
                <c:pt idx="81">
                  <c:v>3333.1629519043072</c:v>
                </c:pt>
                <c:pt idx="82">
                  <c:v>3332.4380184909987</c:v>
                </c:pt>
                <c:pt idx="83">
                  <c:v>3333.3119169699548</c:v>
                </c:pt>
                <c:pt idx="84">
                  <c:v>3342.2351847682257</c:v>
                </c:pt>
                <c:pt idx="85">
                  <c:v>3343.3402423284656</c:v>
                </c:pt>
                <c:pt idx="86">
                  <c:v>3345.9834104917441</c:v>
                </c:pt>
                <c:pt idx="87">
                  <c:v>3345.9834104917441</c:v>
                </c:pt>
                <c:pt idx="88">
                  <c:v>3345.3879638687445</c:v>
                </c:pt>
                <c:pt idx="89">
                  <c:v>3341.7367444148472</c:v>
                </c:pt>
                <c:pt idx="90">
                  <c:v>3811.5195512485725</c:v>
                </c:pt>
                <c:pt idx="91">
                  <c:v>3815.5846369192232</c:v>
                </c:pt>
                <c:pt idx="92">
                  <c:v>3818.5031359077097</c:v>
                </c:pt>
                <c:pt idx="93">
                  <c:v>3816.654293919034</c:v>
                </c:pt>
                <c:pt idx="94">
                  <c:v>3826.4070122372659</c:v>
                </c:pt>
                <c:pt idx="95">
                  <c:v>3827.9098225998464</c:v>
                </c:pt>
                <c:pt idx="96">
                  <c:v>3833.7319607893296</c:v>
                </c:pt>
                <c:pt idx="97">
                  <c:v>3815.7814560243391</c:v>
                </c:pt>
                <c:pt idx="98">
                  <c:v>3814.9378039639378</c:v>
                </c:pt>
                <c:pt idx="99">
                  <c:v>3807.4291363678331</c:v>
                </c:pt>
                <c:pt idx="100">
                  <c:v>3807.3458974926284</c:v>
                </c:pt>
                <c:pt idx="101">
                  <c:v>3788.8637148090324</c:v>
                </c:pt>
                <c:pt idx="102">
                  <c:v>3789.2809288213498</c:v>
                </c:pt>
                <c:pt idx="103">
                  <c:v>3780.6327794653366</c:v>
                </c:pt>
                <c:pt idx="104">
                  <c:v>3778.497921499636</c:v>
                </c:pt>
                <c:pt idx="105">
                  <c:v>3766.5366684023857</c:v>
                </c:pt>
                <c:pt idx="106">
                  <c:v>3766.5366684023857</c:v>
                </c:pt>
                <c:pt idx="107">
                  <c:v>3768.5121515842129</c:v>
                </c:pt>
                <c:pt idx="108">
                  <c:v>3789.4065566685786</c:v>
                </c:pt>
                <c:pt idx="109">
                  <c:v>3827.8367525294161</c:v>
                </c:pt>
                <c:pt idx="110">
                  <c:v>3810.4455037573393</c:v>
                </c:pt>
                <c:pt idx="111">
                  <c:v>3815.7348276923835</c:v>
                </c:pt>
                <c:pt idx="112">
                  <c:v>3811.3645937158808</c:v>
                </c:pt>
                <c:pt idx="113">
                  <c:v>3815.2449707083101</c:v>
                </c:pt>
                <c:pt idx="114">
                  <c:v>3814.4786467512572</c:v>
                </c:pt>
                <c:pt idx="115">
                  <c:v>3802.4368705714824</c:v>
                </c:pt>
                <c:pt idx="116">
                  <c:v>3804.7167597559978</c:v>
                </c:pt>
                <c:pt idx="117">
                  <c:v>3808.9570022843718</c:v>
                </c:pt>
                <c:pt idx="118">
                  <c:v>3810.8891919076373</c:v>
                </c:pt>
                <c:pt idx="119">
                  <c:v>3816.0146181752762</c:v>
                </c:pt>
                <c:pt idx="120">
                  <c:v>3839.4201388641186</c:v>
                </c:pt>
                <c:pt idx="121">
                  <c:v>3845.5084577008543</c:v>
                </c:pt>
                <c:pt idx="122">
                  <c:v>3852.0008086389034</c:v>
                </c:pt>
                <c:pt idx="123">
                  <c:v>3861.159981313237</c:v>
                </c:pt>
                <c:pt idx="124">
                  <c:v>3919.1322728630907</c:v>
                </c:pt>
                <c:pt idx="125">
                  <c:v>3918.6350012956295</c:v>
                </c:pt>
                <c:pt idx="126">
                  <c:v>3917.8432065860507</c:v>
                </c:pt>
                <c:pt idx="127">
                  <c:v>3924.9139008393363</c:v>
                </c:pt>
                <c:pt idx="128">
                  <c:v>3925.7078689536829</c:v>
                </c:pt>
                <c:pt idx="129">
                  <c:v>3959.1348335548146</c:v>
                </c:pt>
                <c:pt idx="130">
                  <c:v>3962.5653205001331</c:v>
                </c:pt>
                <c:pt idx="131">
                  <c:v>3986.56862231697</c:v>
                </c:pt>
                <c:pt idx="132">
                  <c:v>3986.56862231697</c:v>
                </c:pt>
                <c:pt idx="133">
                  <c:v>3983.1674256828346</c:v>
                </c:pt>
                <c:pt idx="134">
                  <c:v>4014.5464703615971</c:v>
                </c:pt>
                <c:pt idx="135">
                  <c:v>3993.1831028902257</c:v>
                </c:pt>
                <c:pt idx="136">
                  <c:v>3965.6370611868397</c:v>
                </c:pt>
                <c:pt idx="137">
                  <c:v>3969.695450284762</c:v>
                </c:pt>
                <c:pt idx="138">
                  <c:v>3969.7849723974732</c:v>
                </c:pt>
                <c:pt idx="139">
                  <c:v>3969.7849723974732</c:v>
                </c:pt>
                <c:pt idx="140">
                  <c:v>4029.6833158320078</c:v>
                </c:pt>
                <c:pt idx="141">
                  <c:v>4047.1112297254567</c:v>
                </c:pt>
                <c:pt idx="142">
                  <c:v>4045.4237946451203</c:v>
                </c:pt>
                <c:pt idx="143">
                  <c:v>4045.4237946451203</c:v>
                </c:pt>
                <c:pt idx="144">
                  <c:v>4048.5444146150189</c:v>
                </c:pt>
                <c:pt idx="145">
                  <c:v>4047.2750013812124</c:v>
                </c:pt>
                <c:pt idx="146">
                  <c:v>4046.9318807277014</c:v>
                </c:pt>
                <c:pt idx="147">
                  <c:v>4163.1094222978372</c:v>
                </c:pt>
                <c:pt idx="148">
                  <c:v>4163.1094222978372</c:v>
                </c:pt>
                <c:pt idx="149">
                  <c:v>4169.7151701498206</c:v>
                </c:pt>
                <c:pt idx="150">
                  <c:v>4169.7151701498206</c:v>
                </c:pt>
                <c:pt idx="151">
                  <c:v>4135.8426106556162</c:v>
                </c:pt>
                <c:pt idx="152">
                  <c:v>4137.151196142715</c:v>
                </c:pt>
                <c:pt idx="153">
                  <c:v>4167.9996605892829</c:v>
                </c:pt>
                <c:pt idx="154">
                  <c:v>4183.1818194527104</c:v>
                </c:pt>
                <c:pt idx="155">
                  <c:v>4188.5830075303738</c:v>
                </c:pt>
                <c:pt idx="156">
                  <c:v>4188.3447056044597</c:v>
                </c:pt>
                <c:pt idx="157">
                  <c:v>4183.0516823104454</c:v>
                </c:pt>
                <c:pt idx="158">
                  <c:v>4172.5818707408998</c:v>
                </c:pt>
                <c:pt idx="159">
                  <c:v>4172.0444724655717</c:v>
                </c:pt>
                <c:pt idx="160">
                  <c:v>4045.2641907469424</c:v>
                </c:pt>
                <c:pt idx="161">
                  <c:v>4042.9737807262691</c:v>
                </c:pt>
                <c:pt idx="162">
                  <c:v>4050.0645553917675</c:v>
                </c:pt>
                <c:pt idx="163">
                  <c:v>4051.52414345439</c:v>
                </c:pt>
                <c:pt idx="164">
                  <c:v>4126.9884048981703</c:v>
                </c:pt>
                <c:pt idx="165">
                  <c:v>4132.193574055259</c:v>
                </c:pt>
                <c:pt idx="166">
                  <c:v>4133.3099300994372</c:v>
                </c:pt>
                <c:pt idx="167">
                  <c:v>4127.6045136352659</c:v>
                </c:pt>
                <c:pt idx="168">
                  <c:v>4131.257584635483</c:v>
                </c:pt>
                <c:pt idx="169">
                  <c:v>4129.33976687418</c:v>
                </c:pt>
                <c:pt idx="170">
                  <c:v>4116.0654767361539</c:v>
                </c:pt>
                <c:pt idx="171">
                  <c:v>4115.4957248367891</c:v>
                </c:pt>
                <c:pt idx="172">
                  <c:v>4116.1872016540465</c:v>
                </c:pt>
                <c:pt idx="173">
                  <c:v>4118.0833230780045</c:v>
                </c:pt>
                <c:pt idx="174">
                  <c:v>4136.4629092119994</c:v>
                </c:pt>
                <c:pt idx="175">
                  <c:v>4132.3922756601723</c:v>
                </c:pt>
                <c:pt idx="176">
                  <c:v>4127.9225888767332</c:v>
                </c:pt>
                <c:pt idx="177">
                  <c:v>4128.3731455096886</c:v>
                </c:pt>
                <c:pt idx="178">
                  <c:v>4126.4375585686648</c:v>
                </c:pt>
                <c:pt idx="179">
                  <c:v>4126.8184429484554</c:v>
                </c:pt>
                <c:pt idx="180">
                  <c:v>4120.4408097342894</c:v>
                </c:pt>
                <c:pt idx="181">
                  <c:v>4117.0474055006271</c:v>
                </c:pt>
                <c:pt idx="182">
                  <c:v>4104.8180175881844</c:v>
                </c:pt>
                <c:pt idx="183">
                  <c:v>4042.444189291436</c:v>
                </c:pt>
                <c:pt idx="184">
                  <c:v>4071.7360219142092</c:v>
                </c:pt>
                <c:pt idx="185">
                  <c:v>4071.7360219142092</c:v>
                </c:pt>
                <c:pt idx="186">
                  <c:v>4071.7360219142092</c:v>
                </c:pt>
                <c:pt idx="187">
                  <c:v>4094.1630481324355</c:v>
                </c:pt>
                <c:pt idx="188">
                  <c:v>4091.4284648425</c:v>
                </c:pt>
                <c:pt idx="189">
                  <c:v>4098.6234942677647</c:v>
                </c:pt>
                <c:pt idx="190">
                  <c:v>4096.7972654719633</c:v>
                </c:pt>
                <c:pt idx="191">
                  <c:v>4087.1697345124253</c:v>
                </c:pt>
                <c:pt idx="192">
                  <c:v>4076.1748315987834</c:v>
                </c:pt>
                <c:pt idx="193">
                  <c:v>4069.280951332642</c:v>
                </c:pt>
                <c:pt idx="194">
                  <c:v>4069.88806001891</c:v>
                </c:pt>
                <c:pt idx="195">
                  <c:v>4070.9714128338155</c:v>
                </c:pt>
                <c:pt idx="196">
                  <c:v>4079.6805541033386</c:v>
                </c:pt>
                <c:pt idx="197">
                  <c:v>4077.7450189030765</c:v>
                </c:pt>
                <c:pt idx="198">
                  <c:v>4082.3882043776407</c:v>
                </c:pt>
                <c:pt idx="199">
                  <c:v>4080.2288395849077</c:v>
                </c:pt>
                <c:pt idx="200">
                  <c:v>4087.8415365756555</c:v>
                </c:pt>
                <c:pt idx="201">
                  <c:v>4087.1560246875601</c:v>
                </c:pt>
                <c:pt idx="202">
                  <c:v>4085.7982505428486</c:v>
                </c:pt>
                <c:pt idx="203">
                  <c:v>4089.783971828364</c:v>
                </c:pt>
                <c:pt idx="204">
                  <c:v>4094.2987785780961</c:v>
                </c:pt>
                <c:pt idx="205">
                  <c:v>4064.0522015064385</c:v>
                </c:pt>
                <c:pt idx="206">
                  <c:v>4078.5820108540911</c:v>
                </c:pt>
                <c:pt idx="207">
                  <c:v>4080.8173222822065</c:v>
                </c:pt>
                <c:pt idx="208">
                  <c:v>4283.3607172086895</c:v>
                </c:pt>
                <c:pt idx="209">
                  <c:v>4280.2687675061343</c:v>
                </c:pt>
                <c:pt idx="210">
                  <c:v>4276.3498801005999</c:v>
                </c:pt>
                <c:pt idx="211">
                  <c:v>4271.4489577926961</c:v>
                </c:pt>
                <c:pt idx="212">
                  <c:v>4304.1851544505762</c:v>
                </c:pt>
                <c:pt idx="213">
                  <c:v>4323.9947315595864</c:v>
                </c:pt>
                <c:pt idx="214">
                  <c:v>4323.9947315595864</c:v>
                </c:pt>
                <c:pt idx="215">
                  <c:v>4326.5785977444757</c:v>
                </c:pt>
                <c:pt idx="216">
                  <c:v>4326.3470097899126</c:v>
                </c:pt>
                <c:pt idx="217">
                  <c:v>4330.0784405628938</c:v>
                </c:pt>
                <c:pt idx="218">
                  <c:v>4993.0300457811027</c:v>
                </c:pt>
                <c:pt idx="219">
                  <c:v>4975.0293780069524</c:v>
                </c:pt>
                <c:pt idx="220">
                  <c:v>4965.6759949697635</c:v>
                </c:pt>
                <c:pt idx="221">
                  <c:v>4964.3018148955834</c:v>
                </c:pt>
                <c:pt idx="222">
                  <c:v>4966.0720082332045</c:v>
                </c:pt>
                <c:pt idx="223">
                  <c:v>4970.8647706885567</c:v>
                </c:pt>
                <c:pt idx="224">
                  <c:v>4992.3678813866482</c:v>
                </c:pt>
                <c:pt idx="225">
                  <c:v>5029.089686286392</c:v>
                </c:pt>
                <c:pt idx="226">
                  <c:v>5030.4595055462423</c:v>
                </c:pt>
                <c:pt idx="227">
                  <c:v>5020.9358213127061</c:v>
                </c:pt>
                <c:pt idx="228">
                  <c:v>4998.6373814854351</c:v>
                </c:pt>
                <c:pt idx="229">
                  <c:v>4995.0464237245387</c:v>
                </c:pt>
                <c:pt idx="230">
                  <c:v>4995.0464237245387</c:v>
                </c:pt>
                <c:pt idx="231">
                  <c:v>4993.0846620044413</c:v>
                </c:pt>
                <c:pt idx="232">
                  <c:v>4994.8429507989185</c:v>
                </c:pt>
                <c:pt idx="233">
                  <c:v>4971.6693195361449</c:v>
                </c:pt>
                <c:pt idx="234">
                  <c:v>4979.0735259563207</c:v>
                </c:pt>
                <c:pt idx="235">
                  <c:v>4986.5117122638967</c:v>
                </c:pt>
                <c:pt idx="236">
                  <c:v>4950.1343500262365</c:v>
                </c:pt>
                <c:pt idx="237">
                  <c:v>4950.1343500262365</c:v>
                </c:pt>
                <c:pt idx="238">
                  <c:v>4948.138938887334</c:v>
                </c:pt>
                <c:pt idx="239">
                  <c:v>4962.3668909673515</c:v>
                </c:pt>
                <c:pt idx="240">
                  <c:v>4975.611419311077</c:v>
                </c:pt>
                <c:pt idx="241">
                  <c:v>4984.2847886578447</c:v>
                </c:pt>
                <c:pt idx="242">
                  <c:v>4979.2809606842357</c:v>
                </c:pt>
                <c:pt idx="243">
                  <c:v>5012.1325641411077</c:v>
                </c:pt>
                <c:pt idx="244">
                  <c:v>5017.5170094961813</c:v>
                </c:pt>
                <c:pt idx="245">
                  <c:v>5009.4276501956092</c:v>
                </c:pt>
                <c:pt idx="246">
                  <c:v>4999.9263149164244</c:v>
                </c:pt>
                <c:pt idx="247">
                  <c:v>5021.7109478756811</c:v>
                </c:pt>
                <c:pt idx="248">
                  <c:v>5014.2597252812684</c:v>
                </c:pt>
                <c:pt idx="249">
                  <c:v>4990.0230852168506</c:v>
                </c:pt>
                <c:pt idx="250">
                  <c:v>4985.4848988564809</c:v>
                </c:pt>
                <c:pt idx="251">
                  <c:v>4983.7547237276822</c:v>
                </c:pt>
                <c:pt idx="252">
                  <c:v>4980.1509991292869</c:v>
                </c:pt>
                <c:pt idx="253">
                  <c:v>4988.6276401064115</c:v>
                </c:pt>
                <c:pt idx="254">
                  <c:v>4987.719023562795</c:v>
                </c:pt>
                <c:pt idx="255">
                  <c:v>4984.4804826095196</c:v>
                </c:pt>
                <c:pt idx="256">
                  <c:v>4980.2670822635</c:v>
                </c:pt>
                <c:pt idx="257">
                  <c:v>4979.5185881334828</c:v>
                </c:pt>
                <c:pt idx="258">
                  <c:v>4977.5451401988748</c:v>
                </c:pt>
                <c:pt idx="259">
                  <c:v>4975.0853164354867</c:v>
                </c:pt>
                <c:pt idx="260">
                  <c:v>4974.8781588739557</c:v>
                </c:pt>
                <c:pt idx="261">
                  <c:v>4975.9868080260594</c:v>
                </c:pt>
                <c:pt idx="262">
                  <c:v>4974.8243207644173</c:v>
                </c:pt>
                <c:pt idx="263">
                  <c:v>4971.6252066036823</c:v>
                </c:pt>
                <c:pt idx="264">
                  <c:v>4972.5311727471981</c:v>
                </c:pt>
                <c:pt idx="265">
                  <c:v>4997.9366108624954</c:v>
                </c:pt>
                <c:pt idx="266">
                  <c:v>4998.0281510254135</c:v>
                </c:pt>
                <c:pt idx="267">
                  <c:v>5004.6835335788965</c:v>
                </c:pt>
                <c:pt idx="268">
                  <c:v>4964.06031339946</c:v>
                </c:pt>
                <c:pt idx="269">
                  <c:v>4965.8407924485455</c:v>
                </c:pt>
                <c:pt idx="270">
                  <c:v>4936.8767584598318</c:v>
                </c:pt>
                <c:pt idx="271">
                  <c:v>4933.339608287275</c:v>
                </c:pt>
                <c:pt idx="272">
                  <c:v>4932.9843859184348</c:v>
                </c:pt>
                <c:pt idx="273">
                  <c:v>4938.196757819881</c:v>
                </c:pt>
                <c:pt idx="274">
                  <c:v>4971.2297683932175</c:v>
                </c:pt>
                <c:pt idx="275">
                  <c:v>5014.8086041183451</c:v>
                </c:pt>
                <c:pt idx="276">
                  <c:v>5008.7372665590101</c:v>
                </c:pt>
                <c:pt idx="277">
                  <c:v>4989.3333963613422</c:v>
                </c:pt>
                <c:pt idx="278">
                  <c:v>4950.8792302555794</c:v>
                </c:pt>
                <c:pt idx="279">
                  <c:v>4945.2906541091716</c:v>
                </c:pt>
                <c:pt idx="280">
                  <c:v>5061.5844291311259</c:v>
                </c:pt>
                <c:pt idx="281">
                  <c:v>5058.2297130959478</c:v>
                </c:pt>
                <c:pt idx="282">
                  <c:v>5035.0766198081901</c:v>
                </c:pt>
                <c:pt idx="283">
                  <c:v>5084.8930691922615</c:v>
                </c:pt>
                <c:pt idx="284">
                  <c:v>5084.3319460203311</c:v>
                </c:pt>
                <c:pt idx="285">
                  <c:v>5121.0316019611055</c:v>
                </c:pt>
                <c:pt idx="286">
                  <c:v>5116.0529367220879</c:v>
                </c:pt>
                <c:pt idx="287">
                  <c:v>5138.8430553430853</c:v>
                </c:pt>
                <c:pt idx="288">
                  <c:v>5158.336704748076</c:v>
                </c:pt>
                <c:pt idx="289">
                  <c:v>5161.8019303640858</c:v>
                </c:pt>
                <c:pt idx="290">
                  <c:v>5162.0670466974143</c:v>
                </c:pt>
                <c:pt idx="291">
                  <c:v>5164.6628749826887</c:v>
                </c:pt>
                <c:pt idx="292">
                  <c:v>5180.7893540432606</c:v>
                </c:pt>
                <c:pt idx="293">
                  <c:v>5188.4451626352347</c:v>
                </c:pt>
                <c:pt idx="294">
                  <c:v>5192.7209504286266</c:v>
                </c:pt>
                <c:pt idx="295">
                  <c:v>5162.2697974417579</c:v>
                </c:pt>
                <c:pt idx="296">
                  <c:v>5163.7787555266186</c:v>
                </c:pt>
                <c:pt idx="297">
                  <c:v>5164.6248700422575</c:v>
                </c:pt>
                <c:pt idx="298">
                  <c:v>5365.9789018138999</c:v>
                </c:pt>
                <c:pt idx="299">
                  <c:v>5382.799512902453</c:v>
                </c:pt>
                <c:pt idx="300">
                  <c:v>5382.524032264585</c:v>
                </c:pt>
                <c:pt idx="301">
                  <c:v>5392.5368973641798</c:v>
                </c:pt>
                <c:pt idx="302">
                  <c:v>5399.9504879613496</c:v>
                </c:pt>
                <c:pt idx="303">
                  <c:v>5394.3287525819906</c:v>
                </c:pt>
                <c:pt idx="304">
                  <c:v>5367.8864345212614</c:v>
                </c:pt>
                <c:pt idx="305">
                  <c:v>5323.2022994744402</c:v>
                </c:pt>
                <c:pt idx="306">
                  <c:v>5323.9849679980043</c:v>
                </c:pt>
                <c:pt idx="307">
                  <c:v>5357.7259961033715</c:v>
                </c:pt>
              </c:numCache>
            </c:numRef>
          </c:val>
          <c:smooth val="0"/>
          <c:extLst>
            <c:ext xmlns:c16="http://schemas.microsoft.com/office/drawing/2014/chart" uri="{C3380CC4-5D6E-409C-BE32-E72D297353CC}">
              <c16:uniqueId val="{00000000-94EE-44D1-B332-1CB9A523C696}"/>
            </c:ext>
          </c:extLst>
        </c:ser>
        <c:ser>
          <c:idx val="1"/>
          <c:order val="1"/>
          <c:tx>
            <c:strRef>
              <c:f>'Ibovespa EPS - Quarter'!$T$5</c:f>
              <c:strCache>
                <c:ptCount val="1"/>
                <c:pt idx="0">
                  <c:v>3T26</c:v>
                </c:pt>
              </c:strCache>
            </c:strRef>
          </c:tx>
          <c:spPr>
            <a:ln w="22225" cap="rnd">
              <a:solidFill>
                <a:srgbClr val="8EB3DF"/>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Quarter'!$T$6:$T$313</c:f>
              <c:numCache>
                <c:formatCode>0.0</c:formatCode>
                <c:ptCount val="308"/>
                <c:pt idx="0">
                  <c:v>3718.2264496465682</c:v>
                </c:pt>
                <c:pt idx="1">
                  <c:v>3719.3227456720228</c:v>
                </c:pt>
                <c:pt idx="2">
                  <c:v>3709.5564171141064</c:v>
                </c:pt>
                <c:pt idx="3">
                  <c:v>3704.7341669185516</c:v>
                </c:pt>
                <c:pt idx="4">
                  <c:v>3704.160703237545</c:v>
                </c:pt>
                <c:pt idx="5">
                  <c:v>3713.2695116818713</c:v>
                </c:pt>
                <c:pt idx="6">
                  <c:v>3714.768933857692</c:v>
                </c:pt>
                <c:pt idx="7">
                  <c:v>3727.8539959267541</c:v>
                </c:pt>
                <c:pt idx="8">
                  <c:v>3726.5038384699619</c:v>
                </c:pt>
                <c:pt idx="9">
                  <c:v>3726.1488442636269</c:v>
                </c:pt>
                <c:pt idx="10">
                  <c:v>3725.6688239077262</c:v>
                </c:pt>
                <c:pt idx="11">
                  <c:v>3749.9417731855087</c:v>
                </c:pt>
                <c:pt idx="12">
                  <c:v>3750.2416220064365</c:v>
                </c:pt>
                <c:pt idx="13">
                  <c:v>3745.9172184154249</c:v>
                </c:pt>
                <c:pt idx="14">
                  <c:v>3743.7323508910208</c:v>
                </c:pt>
                <c:pt idx="15">
                  <c:v>3736.3158988128712</c:v>
                </c:pt>
                <c:pt idx="16">
                  <c:v>3730.5895257618245</c:v>
                </c:pt>
                <c:pt idx="17">
                  <c:v>3754.6797932038367</c:v>
                </c:pt>
                <c:pt idx="18">
                  <c:v>3758.7468611770846</c:v>
                </c:pt>
                <c:pt idx="19">
                  <c:v>3761.3632402867988</c:v>
                </c:pt>
                <c:pt idx="20">
                  <c:v>3768.7223647302931</c:v>
                </c:pt>
                <c:pt idx="21">
                  <c:v>3769.3675256479351</c:v>
                </c:pt>
                <c:pt idx="22">
                  <c:v>3771.5680010564638</c:v>
                </c:pt>
                <c:pt idx="23">
                  <c:v>3780.0437813704111</c:v>
                </c:pt>
                <c:pt idx="24">
                  <c:v>3791.9433425417351</c:v>
                </c:pt>
                <c:pt idx="25">
                  <c:v>3804.1065082178375</c:v>
                </c:pt>
                <c:pt idx="26">
                  <c:v>3814.6202092444191</c:v>
                </c:pt>
                <c:pt idx="27">
                  <c:v>3814.6202092444191</c:v>
                </c:pt>
                <c:pt idx="28">
                  <c:v>3814.6202092444191</c:v>
                </c:pt>
                <c:pt idx="29">
                  <c:v>3821.7618842994334</c:v>
                </c:pt>
                <c:pt idx="30">
                  <c:v>3824.4946535898175</c:v>
                </c:pt>
                <c:pt idx="31">
                  <c:v>3821.6756769710596</c:v>
                </c:pt>
                <c:pt idx="32">
                  <c:v>3805.0544641247784</c:v>
                </c:pt>
                <c:pt idx="33">
                  <c:v>3811.1988760742388</c:v>
                </c:pt>
                <c:pt idx="34">
                  <c:v>3811.1988760742388</c:v>
                </c:pt>
                <c:pt idx="35">
                  <c:v>3817.0342376186554</c:v>
                </c:pt>
                <c:pt idx="36">
                  <c:v>3803.7999353940322</c:v>
                </c:pt>
                <c:pt idx="37">
                  <c:v>3807.9322264913426</c:v>
                </c:pt>
                <c:pt idx="38">
                  <c:v>3807.2672446416145</c:v>
                </c:pt>
                <c:pt idx="39">
                  <c:v>3800.9350081244343</c:v>
                </c:pt>
                <c:pt idx="40">
                  <c:v>3801.3754854583681</c:v>
                </c:pt>
                <c:pt idx="41">
                  <c:v>3816.4359553568975</c:v>
                </c:pt>
                <c:pt idx="42">
                  <c:v>3809.9316208730779</c:v>
                </c:pt>
                <c:pt idx="43">
                  <c:v>3699.3504478278091</c:v>
                </c:pt>
                <c:pt idx="44">
                  <c:v>3700.4312600585422</c:v>
                </c:pt>
                <c:pt idx="45">
                  <c:v>3685.1952851030192</c:v>
                </c:pt>
                <c:pt idx="46">
                  <c:v>3685.0566646747707</c:v>
                </c:pt>
                <c:pt idx="47">
                  <c:v>3685.7758151658613</c:v>
                </c:pt>
                <c:pt idx="48">
                  <c:v>3671.2933537359559</c:v>
                </c:pt>
                <c:pt idx="49">
                  <c:v>3672.4970349577338</c:v>
                </c:pt>
                <c:pt idx="50">
                  <c:v>3663.9697393667038</c:v>
                </c:pt>
                <c:pt idx="51">
                  <c:v>3666.024844890354</c:v>
                </c:pt>
                <c:pt idx="52">
                  <c:v>3667.4515042133967</c:v>
                </c:pt>
                <c:pt idx="53">
                  <c:v>3656.9601786806747</c:v>
                </c:pt>
                <c:pt idx="54">
                  <c:v>3654.7715535793554</c:v>
                </c:pt>
                <c:pt idx="55">
                  <c:v>3655.094113161093</c:v>
                </c:pt>
                <c:pt idx="56">
                  <c:v>3654.802960677021</c:v>
                </c:pt>
                <c:pt idx="57">
                  <c:v>3659.4265372594591</c:v>
                </c:pt>
                <c:pt idx="58">
                  <c:v>3655.3894659199609</c:v>
                </c:pt>
                <c:pt idx="59">
                  <c:v>3655.403834866504</c:v>
                </c:pt>
                <c:pt idx="60">
                  <c:v>3655.8120193269419</c:v>
                </c:pt>
                <c:pt idx="61">
                  <c:v>3648.9616620899051</c:v>
                </c:pt>
                <c:pt idx="62">
                  <c:v>3647.2930837744448</c:v>
                </c:pt>
                <c:pt idx="63">
                  <c:v>3647.2407473332164</c:v>
                </c:pt>
                <c:pt idx="64">
                  <c:v>3650.2376918588029</c:v>
                </c:pt>
                <c:pt idx="65">
                  <c:v>3650.2376918588029</c:v>
                </c:pt>
                <c:pt idx="66">
                  <c:v>3650.099687227807</c:v>
                </c:pt>
                <c:pt idx="67">
                  <c:v>3696.0759375060334</c:v>
                </c:pt>
                <c:pt idx="68">
                  <c:v>3699.0297335609948</c:v>
                </c:pt>
                <c:pt idx="69">
                  <c:v>3700.4110286531195</c:v>
                </c:pt>
                <c:pt idx="70">
                  <c:v>3699.0905427721214</c:v>
                </c:pt>
                <c:pt idx="71">
                  <c:v>3702.7228799949285</c:v>
                </c:pt>
                <c:pt idx="72">
                  <c:v>3700.2147776394568</c:v>
                </c:pt>
                <c:pt idx="73">
                  <c:v>3611.4120244939868</c:v>
                </c:pt>
                <c:pt idx="74">
                  <c:v>3609.3230417585255</c:v>
                </c:pt>
                <c:pt idx="75">
                  <c:v>3628.3166833239184</c:v>
                </c:pt>
                <c:pt idx="76">
                  <c:v>3633.07515448812</c:v>
                </c:pt>
                <c:pt idx="77">
                  <c:v>3621.9768130968268</c:v>
                </c:pt>
                <c:pt idx="78">
                  <c:v>3615.9901583299725</c:v>
                </c:pt>
                <c:pt idx="79">
                  <c:v>3620.4103209183754</c:v>
                </c:pt>
                <c:pt idx="80">
                  <c:v>3612.2676187360298</c:v>
                </c:pt>
                <c:pt idx="81">
                  <c:v>3600.7195743849747</c:v>
                </c:pt>
                <c:pt idx="82">
                  <c:v>3595.5548499000865</c:v>
                </c:pt>
                <c:pt idx="83">
                  <c:v>3596.0564116780961</c:v>
                </c:pt>
                <c:pt idx="84">
                  <c:v>3617.2004673473243</c:v>
                </c:pt>
                <c:pt idx="85">
                  <c:v>3615.7052364114529</c:v>
                </c:pt>
                <c:pt idx="86">
                  <c:v>3617.2517004756282</c:v>
                </c:pt>
                <c:pt idx="87">
                  <c:v>3617.2517004756282</c:v>
                </c:pt>
                <c:pt idx="88">
                  <c:v>3617.0950039958921</c:v>
                </c:pt>
                <c:pt idx="89">
                  <c:v>3615.8700596310287</c:v>
                </c:pt>
                <c:pt idx="90">
                  <c:v>4096.9728319212645</c:v>
                </c:pt>
                <c:pt idx="91">
                  <c:v>4100.104371315917</c:v>
                </c:pt>
                <c:pt idx="92">
                  <c:v>4109.9768897595713</c:v>
                </c:pt>
                <c:pt idx="93">
                  <c:v>4109.0181043530902</c:v>
                </c:pt>
                <c:pt idx="94">
                  <c:v>4116.7279755048357</c:v>
                </c:pt>
                <c:pt idx="95">
                  <c:v>4119.502856907483</c:v>
                </c:pt>
                <c:pt idx="96">
                  <c:v>4127.788061107035</c:v>
                </c:pt>
                <c:pt idx="97">
                  <c:v>4104.4687397304142</c:v>
                </c:pt>
                <c:pt idx="98">
                  <c:v>4101.9674071990057</c:v>
                </c:pt>
                <c:pt idx="99">
                  <c:v>4097.2497311554098</c:v>
                </c:pt>
                <c:pt idx="100">
                  <c:v>4097.1655775672916</c:v>
                </c:pt>
                <c:pt idx="101">
                  <c:v>4113.2143679920164</c:v>
                </c:pt>
                <c:pt idx="102">
                  <c:v>4117.239935224371</c:v>
                </c:pt>
                <c:pt idx="103">
                  <c:v>4108.857438363294</c:v>
                </c:pt>
                <c:pt idx="104">
                  <c:v>4106.4882030507943</c:v>
                </c:pt>
                <c:pt idx="105">
                  <c:v>4092.5135029065418</c:v>
                </c:pt>
                <c:pt idx="106">
                  <c:v>4092.5135029065418</c:v>
                </c:pt>
                <c:pt idx="107">
                  <c:v>4082.6000401575993</c:v>
                </c:pt>
                <c:pt idx="108">
                  <c:v>4106.9498581543176</c:v>
                </c:pt>
                <c:pt idx="109">
                  <c:v>4151.4345211461368</c:v>
                </c:pt>
                <c:pt idx="110">
                  <c:v>4132.3151696096029</c:v>
                </c:pt>
                <c:pt idx="111">
                  <c:v>4137.0417995090047</c:v>
                </c:pt>
                <c:pt idx="112">
                  <c:v>4132.9324965874166</c:v>
                </c:pt>
                <c:pt idx="113">
                  <c:v>4136.855515085258</c:v>
                </c:pt>
                <c:pt idx="114">
                  <c:v>4137.7599262462754</c:v>
                </c:pt>
                <c:pt idx="115">
                  <c:v>4131.1127837762206</c:v>
                </c:pt>
                <c:pt idx="116">
                  <c:v>4134.8801956674333</c:v>
                </c:pt>
                <c:pt idx="117">
                  <c:v>4138.8975400478812</c:v>
                </c:pt>
                <c:pt idx="118">
                  <c:v>4142.3682120721396</c:v>
                </c:pt>
                <c:pt idx="119">
                  <c:v>4146.3533754299015</c:v>
                </c:pt>
                <c:pt idx="120">
                  <c:v>4160.9021979325353</c:v>
                </c:pt>
                <c:pt idx="121">
                  <c:v>4166.1704292401892</c:v>
                </c:pt>
                <c:pt idx="122">
                  <c:v>4184.4226552145119</c:v>
                </c:pt>
                <c:pt idx="123">
                  <c:v>4177.3663147556535</c:v>
                </c:pt>
                <c:pt idx="124">
                  <c:v>4262.4540065958936</c:v>
                </c:pt>
                <c:pt idx="125">
                  <c:v>4259.8193026285853</c:v>
                </c:pt>
                <c:pt idx="126">
                  <c:v>4259.6673710763444</c:v>
                </c:pt>
                <c:pt idx="127">
                  <c:v>4266.1533724292176</c:v>
                </c:pt>
                <c:pt idx="128">
                  <c:v>4264.8632702882742</c:v>
                </c:pt>
                <c:pt idx="129">
                  <c:v>4298.4619315678192</c:v>
                </c:pt>
                <c:pt idx="130">
                  <c:v>4292.3240006286615</c:v>
                </c:pt>
                <c:pt idx="131">
                  <c:v>4311.5997335637458</c:v>
                </c:pt>
                <c:pt idx="132">
                  <c:v>4311.5997335637458</c:v>
                </c:pt>
                <c:pt idx="133">
                  <c:v>4304.7724377076247</c:v>
                </c:pt>
                <c:pt idx="134">
                  <c:v>4331.9298176952025</c:v>
                </c:pt>
                <c:pt idx="135">
                  <c:v>4319.0257945405365</c:v>
                </c:pt>
                <c:pt idx="136">
                  <c:v>4289.8190391835069</c:v>
                </c:pt>
                <c:pt idx="137">
                  <c:v>4304.8932809876396</c:v>
                </c:pt>
                <c:pt idx="138">
                  <c:v>4305.0544207905195</c:v>
                </c:pt>
                <c:pt idx="139">
                  <c:v>4305.0544207905195</c:v>
                </c:pt>
                <c:pt idx="140">
                  <c:v>4364.9160457672788</c:v>
                </c:pt>
                <c:pt idx="141">
                  <c:v>4381.9220497070046</c:v>
                </c:pt>
                <c:pt idx="142">
                  <c:v>4380.2160713840267</c:v>
                </c:pt>
                <c:pt idx="143">
                  <c:v>4380.2160713840267</c:v>
                </c:pt>
                <c:pt idx="144">
                  <c:v>4384.4300449720658</c:v>
                </c:pt>
                <c:pt idx="145">
                  <c:v>4385.0929239453317</c:v>
                </c:pt>
                <c:pt idx="146">
                  <c:v>4385.7174519504697</c:v>
                </c:pt>
                <c:pt idx="147">
                  <c:v>4502.7249004408195</c:v>
                </c:pt>
                <c:pt idx="148">
                  <c:v>4502.7249004408195</c:v>
                </c:pt>
                <c:pt idx="149">
                  <c:v>4512.6970339307782</c:v>
                </c:pt>
                <c:pt idx="150">
                  <c:v>4512.6970339307782</c:v>
                </c:pt>
                <c:pt idx="151">
                  <c:v>4461.2584875801977</c:v>
                </c:pt>
                <c:pt idx="152">
                  <c:v>4452.586574241468</c:v>
                </c:pt>
                <c:pt idx="153">
                  <c:v>4457.085421821128</c:v>
                </c:pt>
                <c:pt idx="154">
                  <c:v>4472.2316966330773</c:v>
                </c:pt>
                <c:pt idx="155">
                  <c:v>4478.2535230460862</c:v>
                </c:pt>
                <c:pt idx="156">
                  <c:v>4478.343148693104</c:v>
                </c:pt>
                <c:pt idx="157">
                  <c:v>4470.2892917346699</c:v>
                </c:pt>
                <c:pt idx="158">
                  <c:v>4464.4579088667779</c:v>
                </c:pt>
                <c:pt idx="159">
                  <c:v>4459.1363321099134</c:v>
                </c:pt>
                <c:pt idx="160">
                  <c:v>4631.1046587573528</c:v>
                </c:pt>
                <c:pt idx="161">
                  <c:v>4670.6176954562543</c:v>
                </c:pt>
                <c:pt idx="162">
                  <c:v>4672.0282871034296</c:v>
                </c:pt>
                <c:pt idx="163">
                  <c:v>4673.894508432084</c:v>
                </c:pt>
                <c:pt idx="164">
                  <c:v>4585.243155256233</c:v>
                </c:pt>
                <c:pt idx="165">
                  <c:v>4585.8389928370789</c:v>
                </c:pt>
                <c:pt idx="166">
                  <c:v>4582.0784586044656</c:v>
                </c:pt>
                <c:pt idx="167">
                  <c:v>4568.7131531325531</c:v>
                </c:pt>
                <c:pt idx="168">
                  <c:v>4572.4216224296069</c:v>
                </c:pt>
                <c:pt idx="169">
                  <c:v>4568.2683220753706</c:v>
                </c:pt>
                <c:pt idx="170">
                  <c:v>4557.3831060671901</c:v>
                </c:pt>
                <c:pt idx="171">
                  <c:v>4553.4684843173764</c:v>
                </c:pt>
                <c:pt idx="172">
                  <c:v>4552.6520858171789</c:v>
                </c:pt>
                <c:pt idx="173">
                  <c:v>4548.6959524008535</c:v>
                </c:pt>
                <c:pt idx="174">
                  <c:v>4555.5490155006764</c:v>
                </c:pt>
                <c:pt idx="175">
                  <c:v>4552.1183685024753</c:v>
                </c:pt>
                <c:pt idx="176">
                  <c:v>4548.5554397393407</c:v>
                </c:pt>
                <c:pt idx="177">
                  <c:v>4549.969878350179</c:v>
                </c:pt>
                <c:pt idx="178">
                  <c:v>4542.9533843230547</c:v>
                </c:pt>
                <c:pt idx="179">
                  <c:v>4547.5191832400305</c:v>
                </c:pt>
                <c:pt idx="180">
                  <c:v>4522.4031340972988</c:v>
                </c:pt>
                <c:pt idx="181">
                  <c:v>4520.0230779087651</c:v>
                </c:pt>
                <c:pt idx="182">
                  <c:v>4520.3101481552958</c:v>
                </c:pt>
                <c:pt idx="183">
                  <c:v>4469.289731475079</c:v>
                </c:pt>
                <c:pt idx="184">
                  <c:v>4479.7320475375482</c:v>
                </c:pt>
                <c:pt idx="185">
                  <c:v>4479.7320475375482</c:v>
                </c:pt>
                <c:pt idx="186">
                  <c:v>4479.7320475375482</c:v>
                </c:pt>
                <c:pt idx="187">
                  <c:v>4504.7613681306048</c:v>
                </c:pt>
                <c:pt idx="188">
                  <c:v>4505.2409529852866</c:v>
                </c:pt>
                <c:pt idx="189">
                  <c:v>4512.5077231789446</c:v>
                </c:pt>
                <c:pt idx="190">
                  <c:v>4505.9164881385977</c:v>
                </c:pt>
                <c:pt idx="191">
                  <c:v>4505.5170789540798</c:v>
                </c:pt>
                <c:pt idx="192">
                  <c:v>4490.4466654709568</c:v>
                </c:pt>
                <c:pt idx="193">
                  <c:v>4490.9286760087662</c:v>
                </c:pt>
                <c:pt idx="194">
                  <c:v>4487.0425606052659</c:v>
                </c:pt>
                <c:pt idx="195">
                  <c:v>4488.1241800556672</c:v>
                </c:pt>
                <c:pt idx="196">
                  <c:v>4500.7007181452764</c:v>
                </c:pt>
                <c:pt idx="197">
                  <c:v>4498.0468295673818</c:v>
                </c:pt>
                <c:pt idx="198">
                  <c:v>4503.1685979972708</c:v>
                </c:pt>
                <c:pt idx="199">
                  <c:v>4499.8477826725402</c:v>
                </c:pt>
                <c:pt idx="200">
                  <c:v>4495.7888479567173</c:v>
                </c:pt>
                <c:pt idx="201">
                  <c:v>4497.1480525624247</c:v>
                </c:pt>
                <c:pt idx="202">
                  <c:v>4496.2993809772761</c:v>
                </c:pt>
                <c:pt idx="203">
                  <c:v>4494.6245128034916</c:v>
                </c:pt>
                <c:pt idx="204">
                  <c:v>4500.8999064125255</c:v>
                </c:pt>
                <c:pt idx="205">
                  <c:v>4503.108928362808</c:v>
                </c:pt>
                <c:pt idx="206">
                  <c:v>4515.4256013304202</c:v>
                </c:pt>
                <c:pt idx="207">
                  <c:v>4508.2076677009827</c:v>
                </c:pt>
                <c:pt idx="208">
                  <c:v>4659.5675845400419</c:v>
                </c:pt>
                <c:pt idx="209">
                  <c:v>4656.042629615732</c:v>
                </c:pt>
                <c:pt idx="210">
                  <c:v>4654.9117324784329</c:v>
                </c:pt>
                <c:pt idx="211">
                  <c:v>4649.0975746055647</c:v>
                </c:pt>
                <c:pt idx="212">
                  <c:v>4685.5714258919388</c:v>
                </c:pt>
                <c:pt idx="213">
                  <c:v>4698.1611702811515</c:v>
                </c:pt>
                <c:pt idx="214">
                  <c:v>4698.1611702811515</c:v>
                </c:pt>
                <c:pt idx="215">
                  <c:v>4700.4571493485873</c:v>
                </c:pt>
                <c:pt idx="216">
                  <c:v>4700.0933529766153</c:v>
                </c:pt>
                <c:pt idx="217">
                  <c:v>4697.0257315553308</c:v>
                </c:pt>
                <c:pt idx="218">
                  <c:v>5242.6462679046126</c:v>
                </c:pt>
                <c:pt idx="219">
                  <c:v>5243.0657313543988</c:v>
                </c:pt>
                <c:pt idx="220">
                  <c:v>5233.64215522413</c:v>
                </c:pt>
                <c:pt idx="221">
                  <c:v>5233.6142183742986</c:v>
                </c:pt>
                <c:pt idx="222">
                  <c:v>5238.2491335099548</c:v>
                </c:pt>
                <c:pt idx="223">
                  <c:v>5244.6687473552765</c:v>
                </c:pt>
                <c:pt idx="224">
                  <c:v>5222.8395678864945</c:v>
                </c:pt>
                <c:pt idx="225">
                  <c:v>5203.8966152855037</c:v>
                </c:pt>
                <c:pt idx="226">
                  <c:v>5197.1305628171403</c:v>
                </c:pt>
                <c:pt idx="227">
                  <c:v>5179.3836735901714</c:v>
                </c:pt>
                <c:pt idx="228">
                  <c:v>5147.4522980081383</c:v>
                </c:pt>
                <c:pt idx="229">
                  <c:v>5139.4488129919346</c:v>
                </c:pt>
                <c:pt idx="230">
                  <c:v>5139.4488129919346</c:v>
                </c:pt>
                <c:pt idx="231">
                  <c:v>5138.2406200244241</c:v>
                </c:pt>
                <c:pt idx="232">
                  <c:v>5139.9728200222735</c:v>
                </c:pt>
                <c:pt idx="233">
                  <c:v>5113.465753242237</c:v>
                </c:pt>
                <c:pt idx="234">
                  <c:v>5121.5605741319396</c:v>
                </c:pt>
                <c:pt idx="235">
                  <c:v>5121.8785768768457</c:v>
                </c:pt>
                <c:pt idx="236">
                  <c:v>5084.5625819421812</c:v>
                </c:pt>
                <c:pt idx="237">
                  <c:v>5084.5625819421812</c:v>
                </c:pt>
                <c:pt idx="238">
                  <c:v>5083.2635305625136</c:v>
                </c:pt>
                <c:pt idx="239">
                  <c:v>5089.5203553100528</c:v>
                </c:pt>
                <c:pt idx="240">
                  <c:v>5090.4625049045389</c:v>
                </c:pt>
                <c:pt idx="241">
                  <c:v>5097.0733521094789</c:v>
                </c:pt>
                <c:pt idx="242">
                  <c:v>5092.1763694815327</c:v>
                </c:pt>
                <c:pt idx="243">
                  <c:v>5106.3890550124243</c:v>
                </c:pt>
                <c:pt idx="244">
                  <c:v>5107.2882469890019</c:v>
                </c:pt>
                <c:pt idx="245">
                  <c:v>5110.7512063509075</c:v>
                </c:pt>
                <c:pt idx="246">
                  <c:v>5084.2751522413591</c:v>
                </c:pt>
                <c:pt idx="247">
                  <c:v>5059.9029826241067</c:v>
                </c:pt>
                <c:pt idx="248">
                  <c:v>5047.6959774456418</c:v>
                </c:pt>
                <c:pt idx="249">
                  <c:v>5046.6297637343032</c:v>
                </c:pt>
                <c:pt idx="250">
                  <c:v>5253.5255256332421</c:v>
                </c:pt>
                <c:pt idx="251">
                  <c:v>5249.9562593483788</c:v>
                </c:pt>
                <c:pt idx="252">
                  <c:v>5254.2242047639766</c:v>
                </c:pt>
                <c:pt idx="253">
                  <c:v>5258.5352957592795</c:v>
                </c:pt>
                <c:pt idx="254">
                  <c:v>5258.0385853821026</c:v>
                </c:pt>
                <c:pt idx="255">
                  <c:v>5254.9971962046011</c:v>
                </c:pt>
                <c:pt idx="256">
                  <c:v>5260.6731246191193</c:v>
                </c:pt>
                <c:pt idx="257">
                  <c:v>5253.7704672570617</c:v>
                </c:pt>
                <c:pt idx="258">
                  <c:v>5252.836172145021</c:v>
                </c:pt>
                <c:pt idx="259">
                  <c:v>5238.8831772835993</c:v>
                </c:pt>
                <c:pt idx="260">
                  <c:v>5238.6365611389192</c:v>
                </c:pt>
                <c:pt idx="261">
                  <c:v>5238.4693779292784</c:v>
                </c:pt>
                <c:pt idx="262">
                  <c:v>5238.6760735617081</c:v>
                </c:pt>
                <c:pt idx="263">
                  <c:v>5235.1284958884607</c:v>
                </c:pt>
                <c:pt idx="264">
                  <c:v>5239.3756678206601</c:v>
                </c:pt>
                <c:pt idx="265">
                  <c:v>5265.221644621437</c:v>
                </c:pt>
                <c:pt idx="266">
                  <c:v>5265.373591699964</c:v>
                </c:pt>
                <c:pt idx="267">
                  <c:v>5272.6479409447929</c:v>
                </c:pt>
                <c:pt idx="268">
                  <c:v>5269.5874725722051</c:v>
                </c:pt>
                <c:pt idx="269">
                  <c:v>5236.9933409631567</c:v>
                </c:pt>
                <c:pt idx="270">
                  <c:v>5221.7903950493228</c:v>
                </c:pt>
                <c:pt idx="271">
                  <c:v>5225.1767789160185</c:v>
                </c:pt>
                <c:pt idx="272">
                  <c:v>5224.7993289373226</c:v>
                </c:pt>
                <c:pt idx="273">
                  <c:v>5230.0689796508723</c:v>
                </c:pt>
                <c:pt idx="274">
                  <c:v>5256.1147050289092</c:v>
                </c:pt>
                <c:pt idx="275">
                  <c:v>5270.8212196369086</c:v>
                </c:pt>
                <c:pt idx="276">
                  <c:v>5265.2290613438954</c:v>
                </c:pt>
                <c:pt idx="277">
                  <c:v>5255.4806820510139</c:v>
                </c:pt>
                <c:pt idx="278">
                  <c:v>5274.7504001135485</c:v>
                </c:pt>
                <c:pt idx="279">
                  <c:v>5271.7352340333955</c:v>
                </c:pt>
                <c:pt idx="280">
                  <c:v>5247.1912616978743</c:v>
                </c:pt>
                <c:pt idx="281">
                  <c:v>5255.8334017992993</c:v>
                </c:pt>
                <c:pt idx="282">
                  <c:v>5251.4009428069194</c:v>
                </c:pt>
                <c:pt idx="283">
                  <c:v>5229.5586019943812</c:v>
                </c:pt>
                <c:pt idx="284">
                  <c:v>5227.7362584811272</c:v>
                </c:pt>
                <c:pt idx="285">
                  <c:v>5237.6152072398017</c:v>
                </c:pt>
                <c:pt idx="286">
                  <c:v>5231.8723193264977</c:v>
                </c:pt>
                <c:pt idx="287">
                  <c:v>5242.5216570682596</c:v>
                </c:pt>
                <c:pt idx="288">
                  <c:v>5237.7004937543852</c:v>
                </c:pt>
                <c:pt idx="289">
                  <c:v>5242.2277635285727</c:v>
                </c:pt>
                <c:pt idx="290">
                  <c:v>5241.5757165043178</c:v>
                </c:pt>
                <c:pt idx="291">
                  <c:v>5243.7914224678134</c:v>
                </c:pt>
                <c:pt idx="292">
                  <c:v>5256.8540337508912</c:v>
                </c:pt>
                <c:pt idx="293">
                  <c:v>5261.2668146399392</c:v>
                </c:pt>
                <c:pt idx="294">
                  <c:v>5273.4207400077057</c:v>
                </c:pt>
                <c:pt idx="295">
                  <c:v>5281.7159508246932</c:v>
                </c:pt>
                <c:pt idx="296">
                  <c:v>5283.2598236362001</c:v>
                </c:pt>
                <c:pt idx="297">
                  <c:v>5282.539522892971</c:v>
                </c:pt>
                <c:pt idx="298">
                  <c:v>5266.5684654392562</c:v>
                </c:pt>
                <c:pt idx="299">
                  <c:v>5274.5751970678457</c:v>
                </c:pt>
                <c:pt idx="300">
                  <c:v>5276.6825814855001</c:v>
                </c:pt>
                <c:pt idx="301">
                  <c:v>5287.0813351848246</c:v>
                </c:pt>
                <c:pt idx="302">
                  <c:v>5260.045999391129</c:v>
                </c:pt>
                <c:pt idx="303">
                  <c:v>5241.2441336192933</c:v>
                </c:pt>
                <c:pt idx="304">
                  <c:v>5245.3601455543885</c:v>
                </c:pt>
                <c:pt idx="305">
                  <c:v>5244.7673676635623</c:v>
                </c:pt>
                <c:pt idx="306">
                  <c:v>5244.4807154593036</c:v>
                </c:pt>
                <c:pt idx="307">
                  <c:v>5250.0859601727816</c:v>
                </c:pt>
              </c:numCache>
            </c:numRef>
          </c:val>
          <c:smooth val="0"/>
          <c:extLst>
            <c:ext xmlns:c16="http://schemas.microsoft.com/office/drawing/2014/chart" uri="{C3380CC4-5D6E-409C-BE32-E72D297353CC}">
              <c16:uniqueId val="{00000001-94EE-44D1-B332-1CB9A523C696}"/>
            </c:ext>
          </c:extLst>
        </c:ser>
        <c:ser>
          <c:idx val="2"/>
          <c:order val="2"/>
          <c:tx>
            <c:strRef>
              <c:f>'Ibovespa EPS - Quarter'!$U$5</c:f>
              <c:strCache>
                <c:ptCount val="1"/>
                <c:pt idx="0">
                  <c:v>4T26</c:v>
                </c:pt>
              </c:strCache>
            </c:strRef>
          </c:tx>
          <c:spPr>
            <a:ln w="22225" cap="rnd">
              <a:solidFill>
                <a:srgbClr val="F9C113"/>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Quarter'!$U$6:$U$313</c:f>
              <c:numCache>
                <c:formatCode>0.0</c:formatCode>
                <c:ptCount val="308"/>
                <c:pt idx="0">
                  <c:v>3718.2264496465682</c:v>
                </c:pt>
                <c:pt idx="1">
                  <c:v>3916.4289184986524</c:v>
                </c:pt>
                <c:pt idx="2">
                  <c:v>3925.4115371400571</c:v>
                </c:pt>
                <c:pt idx="3">
                  <c:v>3953.7347022790518</c:v>
                </c:pt>
                <c:pt idx="4">
                  <c:v>3955.2490119539011</c:v>
                </c:pt>
                <c:pt idx="5">
                  <c:v>3959.3397837668617</c:v>
                </c:pt>
                <c:pt idx="6">
                  <c:v>3961.6075172717165</c:v>
                </c:pt>
                <c:pt idx="7">
                  <c:v>3973.1404108647403</c:v>
                </c:pt>
                <c:pt idx="8">
                  <c:v>3971.2793181270995</c:v>
                </c:pt>
                <c:pt idx="9">
                  <c:v>3974.5704077527139</c:v>
                </c:pt>
                <c:pt idx="10">
                  <c:v>3974.0583845401634</c:v>
                </c:pt>
                <c:pt idx="11">
                  <c:v>3986.4326579606436</c:v>
                </c:pt>
                <c:pt idx="12">
                  <c:v>3986.5388439892995</c:v>
                </c:pt>
                <c:pt idx="13">
                  <c:v>3984.4794148340479</c:v>
                </c:pt>
                <c:pt idx="14">
                  <c:v>3982.5596899331745</c:v>
                </c:pt>
                <c:pt idx="15">
                  <c:v>3980.4538448363151</c:v>
                </c:pt>
                <c:pt idx="16">
                  <c:v>3977.0362704160698</c:v>
                </c:pt>
                <c:pt idx="17">
                  <c:v>4006.3406441163361</c:v>
                </c:pt>
                <c:pt idx="18">
                  <c:v>4012.6976939250794</c:v>
                </c:pt>
                <c:pt idx="19">
                  <c:v>4012.9449975960997</c:v>
                </c:pt>
                <c:pt idx="20">
                  <c:v>4019.8735329074152</c:v>
                </c:pt>
                <c:pt idx="21">
                  <c:v>4020.6598227757927</c:v>
                </c:pt>
                <c:pt idx="22">
                  <c:v>4013.6560126803206</c:v>
                </c:pt>
                <c:pt idx="23">
                  <c:v>4024.9841314553178</c:v>
                </c:pt>
                <c:pt idx="24">
                  <c:v>4038.9843701123109</c:v>
                </c:pt>
                <c:pt idx="25">
                  <c:v>4045.826817100547</c:v>
                </c:pt>
                <c:pt idx="26">
                  <c:v>4055.6542658853405</c:v>
                </c:pt>
                <c:pt idx="27">
                  <c:v>4044.6409127582265</c:v>
                </c:pt>
                <c:pt idx="28">
                  <c:v>4044.6409127582265</c:v>
                </c:pt>
                <c:pt idx="29">
                  <c:v>4052.6735441973351</c:v>
                </c:pt>
                <c:pt idx="30">
                  <c:v>4056.2358685170452</c:v>
                </c:pt>
                <c:pt idx="31">
                  <c:v>4051.9553677830513</c:v>
                </c:pt>
                <c:pt idx="32">
                  <c:v>4064.7058594042464</c:v>
                </c:pt>
                <c:pt idx="33">
                  <c:v>4075.7550536284807</c:v>
                </c:pt>
                <c:pt idx="34">
                  <c:v>4075.7550536284807</c:v>
                </c:pt>
                <c:pt idx="35">
                  <c:v>4067.3342008263871</c:v>
                </c:pt>
                <c:pt idx="36">
                  <c:v>4039.4824282485511</c:v>
                </c:pt>
                <c:pt idx="37">
                  <c:v>4039.8838734500769</c:v>
                </c:pt>
                <c:pt idx="38">
                  <c:v>4039.2059160174695</c:v>
                </c:pt>
                <c:pt idx="39">
                  <c:v>4029.9908739319917</c:v>
                </c:pt>
                <c:pt idx="40">
                  <c:v>4031.4647788570774</c:v>
                </c:pt>
                <c:pt idx="41">
                  <c:v>4051.1112454669646</c:v>
                </c:pt>
                <c:pt idx="42">
                  <c:v>4047.9188419850175</c:v>
                </c:pt>
                <c:pt idx="43">
                  <c:v>4001.2604649565601</c:v>
                </c:pt>
                <c:pt idx="44">
                  <c:v>4001.9712282173723</c:v>
                </c:pt>
                <c:pt idx="45">
                  <c:v>3982.5149250211421</c:v>
                </c:pt>
                <c:pt idx="46">
                  <c:v>3981.7321273086809</c:v>
                </c:pt>
                <c:pt idx="47">
                  <c:v>3982.5484023265672</c:v>
                </c:pt>
                <c:pt idx="48">
                  <c:v>3964.0814437653225</c:v>
                </c:pt>
                <c:pt idx="49">
                  <c:v>3964.9589575359973</c:v>
                </c:pt>
                <c:pt idx="50">
                  <c:v>3959.4206414117621</c:v>
                </c:pt>
                <c:pt idx="51">
                  <c:v>3961.6970275350568</c:v>
                </c:pt>
                <c:pt idx="52">
                  <c:v>3963.8584088544908</c:v>
                </c:pt>
                <c:pt idx="53">
                  <c:v>3953.5225037911059</c:v>
                </c:pt>
                <c:pt idx="54">
                  <c:v>3950.9471442879162</c:v>
                </c:pt>
                <c:pt idx="55">
                  <c:v>3951.2988155445332</c:v>
                </c:pt>
                <c:pt idx="56">
                  <c:v>3951.0967342807962</c:v>
                </c:pt>
                <c:pt idx="57">
                  <c:v>3955.6859985242531</c:v>
                </c:pt>
                <c:pt idx="58">
                  <c:v>3952.4221043489219</c:v>
                </c:pt>
                <c:pt idx="59">
                  <c:v>3952.4364732954637</c:v>
                </c:pt>
                <c:pt idx="60">
                  <c:v>3952.8089475818706</c:v>
                </c:pt>
                <c:pt idx="61">
                  <c:v>3944.6594748481871</c:v>
                </c:pt>
                <c:pt idx="62">
                  <c:v>3944.7453856982947</c:v>
                </c:pt>
                <c:pt idx="63">
                  <c:v>3946.2526850232757</c:v>
                </c:pt>
                <c:pt idx="64">
                  <c:v>3952.1434729632401</c:v>
                </c:pt>
                <c:pt idx="65">
                  <c:v>3952.1434729632401</c:v>
                </c:pt>
                <c:pt idx="66">
                  <c:v>3951.3384459490981</c:v>
                </c:pt>
                <c:pt idx="67">
                  <c:v>3985.3971813153571</c:v>
                </c:pt>
                <c:pt idx="68">
                  <c:v>3988.5374332300271</c:v>
                </c:pt>
                <c:pt idx="69">
                  <c:v>3992.8057321674883</c:v>
                </c:pt>
                <c:pt idx="70">
                  <c:v>3980.5152132916123</c:v>
                </c:pt>
                <c:pt idx="71">
                  <c:v>3984.2522298189615</c:v>
                </c:pt>
                <c:pt idx="72">
                  <c:v>3981.4421711713426</c:v>
                </c:pt>
                <c:pt idx="73">
                  <c:v>3892.3092210429222</c:v>
                </c:pt>
                <c:pt idx="74">
                  <c:v>3890.8523574648734</c:v>
                </c:pt>
                <c:pt idx="75">
                  <c:v>3918.1572104668044</c:v>
                </c:pt>
                <c:pt idx="76">
                  <c:v>3925.3342679205571</c:v>
                </c:pt>
                <c:pt idx="77">
                  <c:v>3914.6228637155277</c:v>
                </c:pt>
                <c:pt idx="78">
                  <c:v>3908.5531681592506</c:v>
                </c:pt>
                <c:pt idx="79">
                  <c:v>3922.8873225655743</c:v>
                </c:pt>
                <c:pt idx="80">
                  <c:v>3914.4663001903295</c:v>
                </c:pt>
                <c:pt idx="81">
                  <c:v>3911.7849746887632</c:v>
                </c:pt>
                <c:pt idx="82">
                  <c:v>3910.0629594117254</c:v>
                </c:pt>
                <c:pt idx="83">
                  <c:v>3911.949377647552</c:v>
                </c:pt>
                <c:pt idx="84">
                  <c:v>3927.79482142809</c:v>
                </c:pt>
                <c:pt idx="85">
                  <c:v>3929.4703692226781</c:v>
                </c:pt>
                <c:pt idx="86">
                  <c:v>3934.3178338715675</c:v>
                </c:pt>
                <c:pt idx="87">
                  <c:v>3934.3178338715675</c:v>
                </c:pt>
                <c:pt idx="88">
                  <c:v>3934.8192626067244</c:v>
                </c:pt>
                <c:pt idx="89">
                  <c:v>3934.7629147868192</c:v>
                </c:pt>
                <c:pt idx="90">
                  <c:v>4400.3616564374843</c:v>
                </c:pt>
                <c:pt idx="91">
                  <c:v>4403.8947693344962</c:v>
                </c:pt>
                <c:pt idx="92">
                  <c:v>4417.3089113806391</c:v>
                </c:pt>
                <c:pt idx="93">
                  <c:v>4414.7243275267401</c:v>
                </c:pt>
                <c:pt idx="94">
                  <c:v>4414.7586606916675</c:v>
                </c:pt>
                <c:pt idx="95">
                  <c:v>4417.2150546146158</c:v>
                </c:pt>
                <c:pt idx="96">
                  <c:v>4430.2488927447203</c:v>
                </c:pt>
                <c:pt idx="97">
                  <c:v>4404.6543182025489</c:v>
                </c:pt>
                <c:pt idx="98">
                  <c:v>4407.8268059837637</c:v>
                </c:pt>
                <c:pt idx="99">
                  <c:v>4401.7586501566948</c:v>
                </c:pt>
                <c:pt idx="100">
                  <c:v>4401.6744965685766</c:v>
                </c:pt>
                <c:pt idx="101">
                  <c:v>4418.9220925371428</c:v>
                </c:pt>
                <c:pt idx="102">
                  <c:v>4420.6483951050332</c:v>
                </c:pt>
                <c:pt idx="103">
                  <c:v>4412.7067030217631</c:v>
                </c:pt>
                <c:pt idx="104">
                  <c:v>4416.4051171096744</c:v>
                </c:pt>
                <c:pt idx="105">
                  <c:v>4408.8009083008055</c:v>
                </c:pt>
                <c:pt idx="106">
                  <c:v>4408.8009083008055</c:v>
                </c:pt>
                <c:pt idx="107">
                  <c:v>4408.13541256601</c:v>
                </c:pt>
                <c:pt idx="108">
                  <c:v>4423.8659847427543</c:v>
                </c:pt>
                <c:pt idx="109">
                  <c:v>4457.9616826879337</c:v>
                </c:pt>
                <c:pt idx="110">
                  <c:v>4429.3726420325711</c:v>
                </c:pt>
                <c:pt idx="111">
                  <c:v>4432.3361639536242</c:v>
                </c:pt>
                <c:pt idx="112">
                  <c:v>4431.3174886167189</c:v>
                </c:pt>
                <c:pt idx="113">
                  <c:v>4435.2405071145604</c:v>
                </c:pt>
                <c:pt idx="114">
                  <c:v>4436.4828627889556</c:v>
                </c:pt>
                <c:pt idx="115">
                  <c:v>4438.4927802110515</c:v>
                </c:pt>
                <c:pt idx="116">
                  <c:v>4440.0384399279719</c:v>
                </c:pt>
                <c:pt idx="117">
                  <c:v>4478.1592323005461</c:v>
                </c:pt>
                <c:pt idx="118">
                  <c:v>4479.9356700669296</c:v>
                </c:pt>
                <c:pt idx="119">
                  <c:v>4483.0578234059003</c:v>
                </c:pt>
                <c:pt idx="120">
                  <c:v>4479.179251335162</c:v>
                </c:pt>
                <c:pt idx="121">
                  <c:v>4489.0319316222722</c:v>
                </c:pt>
                <c:pt idx="122">
                  <c:v>4510.7348785832019</c:v>
                </c:pt>
                <c:pt idx="123">
                  <c:v>4505.6670675695386</c:v>
                </c:pt>
                <c:pt idx="124">
                  <c:v>4581.6153941046832</c:v>
                </c:pt>
                <c:pt idx="125">
                  <c:v>4588.930023189253</c:v>
                </c:pt>
                <c:pt idx="126">
                  <c:v>4590.9536292756502</c:v>
                </c:pt>
                <c:pt idx="127">
                  <c:v>4594.4048250775577</c:v>
                </c:pt>
                <c:pt idx="128">
                  <c:v>4591.2525951459866</c:v>
                </c:pt>
                <c:pt idx="129">
                  <c:v>4625.4483239183301</c:v>
                </c:pt>
                <c:pt idx="130">
                  <c:v>4624.028122980877</c:v>
                </c:pt>
                <c:pt idx="131">
                  <c:v>4635.6995274411083</c:v>
                </c:pt>
                <c:pt idx="132">
                  <c:v>4635.6995274411083</c:v>
                </c:pt>
                <c:pt idx="133">
                  <c:v>4628.3224649379563</c:v>
                </c:pt>
                <c:pt idx="134">
                  <c:v>4658.2925949008895</c:v>
                </c:pt>
                <c:pt idx="135">
                  <c:v>4632.2596921362092</c:v>
                </c:pt>
                <c:pt idx="136">
                  <c:v>4599.7691552967581</c:v>
                </c:pt>
                <c:pt idx="137">
                  <c:v>4614.7620964515236</c:v>
                </c:pt>
                <c:pt idx="138">
                  <c:v>4615.1201849023664</c:v>
                </c:pt>
                <c:pt idx="139">
                  <c:v>4615.1201849023664</c:v>
                </c:pt>
                <c:pt idx="140">
                  <c:v>4677.3352146974321</c:v>
                </c:pt>
                <c:pt idx="141">
                  <c:v>4697.6059029343614</c:v>
                </c:pt>
                <c:pt idx="142">
                  <c:v>4695.8999246113835</c:v>
                </c:pt>
                <c:pt idx="143">
                  <c:v>4695.8999246113835</c:v>
                </c:pt>
                <c:pt idx="144">
                  <c:v>4698.0465374513751</c:v>
                </c:pt>
                <c:pt idx="145">
                  <c:v>4697.6750112310428</c:v>
                </c:pt>
                <c:pt idx="146">
                  <c:v>4699.9833632318632</c:v>
                </c:pt>
                <c:pt idx="147">
                  <c:v>4822.4527872017934</c:v>
                </c:pt>
                <c:pt idx="148">
                  <c:v>4822.4527872017934</c:v>
                </c:pt>
                <c:pt idx="149">
                  <c:v>4833.4109999426391</c:v>
                </c:pt>
                <c:pt idx="150">
                  <c:v>4833.4109999426391</c:v>
                </c:pt>
                <c:pt idx="151">
                  <c:v>4803.5803210435679</c:v>
                </c:pt>
                <c:pt idx="152">
                  <c:v>4806.3244329283734</c:v>
                </c:pt>
                <c:pt idx="153">
                  <c:v>4813.6436493846631</c:v>
                </c:pt>
                <c:pt idx="154">
                  <c:v>4815.7645535270658</c:v>
                </c:pt>
                <c:pt idx="155">
                  <c:v>4829.768725087546</c:v>
                </c:pt>
                <c:pt idx="156">
                  <c:v>4826.4210021735398</c:v>
                </c:pt>
                <c:pt idx="157">
                  <c:v>4809.0355461824956</c:v>
                </c:pt>
                <c:pt idx="158">
                  <c:v>4820.4298110638483</c:v>
                </c:pt>
                <c:pt idx="159">
                  <c:v>4815.6694959642355</c:v>
                </c:pt>
                <c:pt idx="160">
                  <c:v>4878.8245012258467</c:v>
                </c:pt>
                <c:pt idx="161">
                  <c:v>4877.7358113963373</c:v>
                </c:pt>
                <c:pt idx="162">
                  <c:v>4885.4191461756518</c:v>
                </c:pt>
                <c:pt idx="163">
                  <c:v>4885.4650684300605</c:v>
                </c:pt>
                <c:pt idx="164">
                  <c:v>4857.6346899600258</c:v>
                </c:pt>
                <c:pt idx="165">
                  <c:v>4834.2850874106698</c:v>
                </c:pt>
                <c:pt idx="166">
                  <c:v>4839.4393245694146</c:v>
                </c:pt>
                <c:pt idx="167">
                  <c:v>4837.0583763362247</c:v>
                </c:pt>
                <c:pt idx="168">
                  <c:v>4838.0337641479546</c:v>
                </c:pt>
                <c:pt idx="169">
                  <c:v>4830.0385795369248</c:v>
                </c:pt>
                <c:pt idx="170">
                  <c:v>4819.0890135382297</c:v>
                </c:pt>
                <c:pt idx="171">
                  <c:v>4815.118446879449</c:v>
                </c:pt>
                <c:pt idx="172">
                  <c:v>4813.696225143678</c:v>
                </c:pt>
                <c:pt idx="173">
                  <c:v>4813.0130884033942</c:v>
                </c:pt>
                <c:pt idx="174">
                  <c:v>4821.571595326488</c:v>
                </c:pt>
                <c:pt idx="175">
                  <c:v>4830.1339998418016</c:v>
                </c:pt>
                <c:pt idx="176">
                  <c:v>4826.5518367954164</c:v>
                </c:pt>
                <c:pt idx="177">
                  <c:v>4824.6393538269795</c:v>
                </c:pt>
                <c:pt idx="178">
                  <c:v>4822.6895429358774</c:v>
                </c:pt>
                <c:pt idx="179">
                  <c:v>4823.0614370995645</c:v>
                </c:pt>
                <c:pt idx="180">
                  <c:v>4799.0542553742662</c:v>
                </c:pt>
                <c:pt idx="181">
                  <c:v>4793.3599220015876</c:v>
                </c:pt>
                <c:pt idx="182">
                  <c:v>4770.0011748077713</c:v>
                </c:pt>
                <c:pt idx="183">
                  <c:v>4724.5798360197387</c:v>
                </c:pt>
                <c:pt idx="184">
                  <c:v>4759.0952657246698</c:v>
                </c:pt>
                <c:pt idx="185">
                  <c:v>4759.0952657246698</c:v>
                </c:pt>
                <c:pt idx="186">
                  <c:v>4759.0952657246698</c:v>
                </c:pt>
                <c:pt idx="187">
                  <c:v>4781.662700822244</c:v>
                </c:pt>
                <c:pt idx="188">
                  <c:v>4777.1695471627427</c:v>
                </c:pt>
                <c:pt idx="189">
                  <c:v>4785.7966135962815</c:v>
                </c:pt>
                <c:pt idx="190">
                  <c:v>4779.7702852391949</c:v>
                </c:pt>
                <c:pt idx="191">
                  <c:v>4784.5246787416609</c:v>
                </c:pt>
                <c:pt idx="192">
                  <c:v>4767.4451062897106</c:v>
                </c:pt>
                <c:pt idx="193">
                  <c:v>4770.2047504608763</c:v>
                </c:pt>
                <c:pt idx="194">
                  <c:v>4765.62394698964</c:v>
                </c:pt>
                <c:pt idx="195">
                  <c:v>4765.3743425010862</c:v>
                </c:pt>
                <c:pt idx="196">
                  <c:v>4788.3205180748282</c:v>
                </c:pt>
                <c:pt idx="197">
                  <c:v>4784.4991675625579</c:v>
                </c:pt>
                <c:pt idx="198">
                  <c:v>4789.9471092398589</c:v>
                </c:pt>
                <c:pt idx="199">
                  <c:v>4775.7180908394466</c:v>
                </c:pt>
                <c:pt idx="200">
                  <c:v>4774.670786198988</c:v>
                </c:pt>
                <c:pt idx="201">
                  <c:v>4772.9333681377793</c:v>
                </c:pt>
                <c:pt idx="202">
                  <c:v>4773.3517566391465</c:v>
                </c:pt>
                <c:pt idx="203">
                  <c:v>4778.8839779116852</c:v>
                </c:pt>
                <c:pt idx="204">
                  <c:v>4786.7823691170088</c:v>
                </c:pt>
                <c:pt idx="205">
                  <c:v>4763.3521758925808</c:v>
                </c:pt>
                <c:pt idx="206">
                  <c:v>4768.8973786276956</c:v>
                </c:pt>
                <c:pt idx="207">
                  <c:v>4770.297421378682</c:v>
                </c:pt>
                <c:pt idx="208">
                  <c:v>4851.3949370846349</c:v>
                </c:pt>
                <c:pt idx="209">
                  <c:v>4841.110614580145</c:v>
                </c:pt>
                <c:pt idx="210">
                  <c:v>4839.7299225983124</c:v>
                </c:pt>
                <c:pt idx="211">
                  <c:v>4830.9180372950723</c:v>
                </c:pt>
                <c:pt idx="212">
                  <c:v>4879.456890244729</c:v>
                </c:pt>
                <c:pt idx="213">
                  <c:v>4886.8172672892324</c:v>
                </c:pt>
                <c:pt idx="214">
                  <c:v>4886.8172672892324</c:v>
                </c:pt>
                <c:pt idx="215">
                  <c:v>4888.0385727389457</c:v>
                </c:pt>
                <c:pt idx="216">
                  <c:v>4888.2818313979242</c:v>
                </c:pt>
                <c:pt idx="217">
                  <c:v>4882.746354784359</c:v>
                </c:pt>
                <c:pt idx="218">
                  <c:v>5431.5044192570285</c:v>
                </c:pt>
                <c:pt idx="219">
                  <c:v>5433.6645716919666</c:v>
                </c:pt>
                <c:pt idx="220">
                  <c:v>5432.8530257649891</c:v>
                </c:pt>
                <c:pt idx="221">
                  <c:v>5432.3829334256661</c:v>
                </c:pt>
                <c:pt idx="222">
                  <c:v>5436.1662269554699</c:v>
                </c:pt>
                <c:pt idx="223">
                  <c:v>5439.8232311094298</c:v>
                </c:pt>
                <c:pt idx="224">
                  <c:v>5431.9035344048089</c:v>
                </c:pt>
                <c:pt idx="225">
                  <c:v>5422.1063649498192</c:v>
                </c:pt>
                <c:pt idx="226">
                  <c:v>5444.4916358610835</c:v>
                </c:pt>
                <c:pt idx="227">
                  <c:v>5423.9052818011914</c:v>
                </c:pt>
                <c:pt idx="228">
                  <c:v>5372.0120678993144</c:v>
                </c:pt>
                <c:pt idx="229">
                  <c:v>5367.749880090988</c:v>
                </c:pt>
                <c:pt idx="230">
                  <c:v>5367.749880090988</c:v>
                </c:pt>
                <c:pt idx="231">
                  <c:v>5366.4051254150818</c:v>
                </c:pt>
                <c:pt idx="232">
                  <c:v>5368.7178040830731</c:v>
                </c:pt>
                <c:pt idx="233">
                  <c:v>5357.9275440568881</c:v>
                </c:pt>
                <c:pt idx="234">
                  <c:v>5366.4279216522964</c:v>
                </c:pt>
                <c:pt idx="235">
                  <c:v>5376.5284017310078</c:v>
                </c:pt>
                <c:pt idx="236">
                  <c:v>5351.1367136908711</c:v>
                </c:pt>
                <c:pt idx="237">
                  <c:v>5351.1367136908711</c:v>
                </c:pt>
                <c:pt idx="238">
                  <c:v>5346.5329374759949</c:v>
                </c:pt>
                <c:pt idx="239">
                  <c:v>5352.1557186135378</c:v>
                </c:pt>
                <c:pt idx="240">
                  <c:v>5358.3933922091592</c:v>
                </c:pt>
                <c:pt idx="241">
                  <c:v>5363.094018263514</c:v>
                </c:pt>
                <c:pt idx="242">
                  <c:v>5356.5897510968462</c:v>
                </c:pt>
                <c:pt idx="243">
                  <c:v>5353.7414243278745</c:v>
                </c:pt>
                <c:pt idx="244">
                  <c:v>5356.910869107588</c:v>
                </c:pt>
                <c:pt idx="245">
                  <c:v>5314.9453981950983</c:v>
                </c:pt>
                <c:pt idx="246">
                  <c:v>5300.6899048216501</c:v>
                </c:pt>
                <c:pt idx="247">
                  <c:v>5282.53296908827</c:v>
                </c:pt>
                <c:pt idx="248">
                  <c:v>5279.8935935812815</c:v>
                </c:pt>
                <c:pt idx="249">
                  <c:v>5304.2727717908811</c:v>
                </c:pt>
                <c:pt idx="250">
                  <c:v>5532.4235959116786</c:v>
                </c:pt>
                <c:pt idx="251">
                  <c:v>5539.9208913808025</c:v>
                </c:pt>
                <c:pt idx="252">
                  <c:v>5549.5177806448901</c:v>
                </c:pt>
                <c:pt idx="253">
                  <c:v>5554.9456939202701</c:v>
                </c:pt>
                <c:pt idx="254">
                  <c:v>5556.2056421940842</c:v>
                </c:pt>
                <c:pt idx="255">
                  <c:v>5552.8753657203852</c:v>
                </c:pt>
                <c:pt idx="256">
                  <c:v>5558.9453013983266</c:v>
                </c:pt>
                <c:pt idx="257">
                  <c:v>5553.7645548727078</c:v>
                </c:pt>
                <c:pt idx="258">
                  <c:v>5551.6100169070078</c:v>
                </c:pt>
                <c:pt idx="259">
                  <c:v>5542.0716687182385</c:v>
                </c:pt>
                <c:pt idx="260">
                  <c:v>5541.9434283230048</c:v>
                </c:pt>
                <c:pt idx="261">
                  <c:v>5542.2911116736941</c:v>
                </c:pt>
                <c:pt idx="262">
                  <c:v>5545.60900496057</c:v>
                </c:pt>
                <c:pt idx="263">
                  <c:v>5542.7774365687956</c:v>
                </c:pt>
                <c:pt idx="264">
                  <c:v>5546.6756206553318</c:v>
                </c:pt>
                <c:pt idx="265">
                  <c:v>5549.3311061438535</c:v>
                </c:pt>
                <c:pt idx="266">
                  <c:v>5549.7927766253633</c:v>
                </c:pt>
                <c:pt idx="267">
                  <c:v>5556.9467506906194</c:v>
                </c:pt>
                <c:pt idx="268">
                  <c:v>5562.5575198511378</c:v>
                </c:pt>
                <c:pt idx="269">
                  <c:v>5531.7054013440702</c:v>
                </c:pt>
                <c:pt idx="270">
                  <c:v>5494.3008788906845</c:v>
                </c:pt>
                <c:pt idx="271">
                  <c:v>5497.5681468865878</c:v>
                </c:pt>
                <c:pt idx="272">
                  <c:v>5498.4027307283723</c:v>
                </c:pt>
                <c:pt idx="273">
                  <c:v>5503.672381441922</c:v>
                </c:pt>
                <c:pt idx="274">
                  <c:v>5540.2954662550592</c:v>
                </c:pt>
                <c:pt idx="275">
                  <c:v>5550.7838402345496</c:v>
                </c:pt>
                <c:pt idx="276">
                  <c:v>5537.76259496282</c:v>
                </c:pt>
                <c:pt idx="277">
                  <c:v>5545.8291040525737</c:v>
                </c:pt>
                <c:pt idx="278">
                  <c:v>5581.4914610394326</c:v>
                </c:pt>
                <c:pt idx="279">
                  <c:v>5590.9098886427792</c:v>
                </c:pt>
                <c:pt idx="280">
                  <c:v>5604.4647864935223</c:v>
                </c:pt>
                <c:pt idx="281">
                  <c:v>5615.0414557597123</c:v>
                </c:pt>
                <c:pt idx="282">
                  <c:v>5602.0715839483919</c:v>
                </c:pt>
                <c:pt idx="283">
                  <c:v>5612.1556683247345</c:v>
                </c:pt>
                <c:pt idx="284">
                  <c:v>5614.0302846930508</c:v>
                </c:pt>
                <c:pt idx="285">
                  <c:v>5618.3606215332966</c:v>
                </c:pt>
                <c:pt idx="286">
                  <c:v>5611.0948403035145</c:v>
                </c:pt>
                <c:pt idx="287">
                  <c:v>5614.0108768496066</c:v>
                </c:pt>
                <c:pt idx="288">
                  <c:v>5611.4383398737009</c:v>
                </c:pt>
                <c:pt idx="289">
                  <c:v>5615.2641294178384</c:v>
                </c:pt>
                <c:pt idx="290">
                  <c:v>5612.5892227569193</c:v>
                </c:pt>
                <c:pt idx="291">
                  <c:v>5613.8816646128726</c:v>
                </c:pt>
                <c:pt idx="292">
                  <c:v>5624.2809211728563</c:v>
                </c:pt>
                <c:pt idx="293">
                  <c:v>5626.7579750701279</c:v>
                </c:pt>
                <c:pt idx="294">
                  <c:v>5633.2454921262079</c:v>
                </c:pt>
                <c:pt idx="295">
                  <c:v>5642.7139908863637</c:v>
                </c:pt>
                <c:pt idx="296">
                  <c:v>5644.3633852867342</c:v>
                </c:pt>
                <c:pt idx="297">
                  <c:v>5643.2848541125768</c:v>
                </c:pt>
                <c:pt idx="298">
                  <c:v>5478.8538780782237</c:v>
                </c:pt>
                <c:pt idx="299">
                  <c:v>5484.1756415459195</c:v>
                </c:pt>
                <c:pt idx="300">
                  <c:v>5486.5972572236988</c:v>
                </c:pt>
                <c:pt idx="301">
                  <c:v>5496.5047368762689</c:v>
                </c:pt>
                <c:pt idx="302">
                  <c:v>5481.2581566239069</c:v>
                </c:pt>
                <c:pt idx="303">
                  <c:v>5458.542086549367</c:v>
                </c:pt>
                <c:pt idx="304">
                  <c:v>5461.1880913156001</c:v>
                </c:pt>
                <c:pt idx="305">
                  <c:v>5450.7997548626126</c:v>
                </c:pt>
                <c:pt idx="306">
                  <c:v>5450.6510252112721</c:v>
                </c:pt>
                <c:pt idx="307">
                  <c:v>5448.6217930970979</c:v>
                </c:pt>
              </c:numCache>
            </c:numRef>
          </c:val>
          <c:smooth val="0"/>
          <c:extLst>
            <c:ext xmlns:c16="http://schemas.microsoft.com/office/drawing/2014/chart" uri="{C3380CC4-5D6E-409C-BE32-E72D297353CC}">
              <c16:uniqueId val="{00000002-94EE-44D1-B332-1CB9A523C696}"/>
            </c:ext>
          </c:extLst>
        </c:ser>
        <c:dLbls>
          <c:showLegendKey val="0"/>
          <c:showVal val="0"/>
          <c:showCatName val="0"/>
          <c:showSerName val="0"/>
          <c:showPercent val="0"/>
          <c:showBubbleSize val="0"/>
        </c:dLbls>
        <c:smooth val="0"/>
        <c:axId val="603625183"/>
        <c:axId val="603608863"/>
      </c:lineChart>
      <c:dateAx>
        <c:axId val="603625183"/>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603608863"/>
        <c:crosses val="autoZero"/>
        <c:auto val="1"/>
        <c:lblOffset val="100"/>
        <c:baseTimeUnit val="days"/>
      </c:dateAx>
      <c:valAx>
        <c:axId val="603608863"/>
        <c:scaling>
          <c:orientation val="minMax"/>
          <c:min val="300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60362518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'Ibovespa EPS - Quarter'!$S$5</c:f>
              <c:strCache>
                <c:ptCount val="1"/>
                <c:pt idx="0">
                  <c:v>2T26</c:v>
                </c:pt>
              </c:strCache>
            </c:strRef>
          </c:tx>
          <c:spPr>
            <a:ln w="22225" cap="rnd">
              <a:solidFill>
                <a:schemeClr val="tx1"/>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Quarter'!$S$6:$S$313</c:f>
              <c:numCache>
                <c:formatCode>0.0</c:formatCode>
                <c:ptCount val="308"/>
                <c:pt idx="0">
                  <c:v>3472.883382870777</c:v>
                </c:pt>
                <c:pt idx="1">
                  <c:v>3473.5171727872439</c:v>
                </c:pt>
                <c:pt idx="2">
                  <c:v>3464.3174800094844</c:v>
                </c:pt>
                <c:pt idx="3">
                  <c:v>3461.66394502806</c:v>
                </c:pt>
                <c:pt idx="4">
                  <c:v>3462.6201687106086</c:v>
                </c:pt>
                <c:pt idx="5">
                  <c:v>3467.9426093454763</c:v>
                </c:pt>
                <c:pt idx="6">
                  <c:v>3467.1336077102669</c:v>
                </c:pt>
                <c:pt idx="7">
                  <c:v>3475.1873580981269</c:v>
                </c:pt>
                <c:pt idx="8">
                  <c:v>3474.1870752964942</c:v>
                </c:pt>
                <c:pt idx="9">
                  <c:v>3474.2690676863781</c:v>
                </c:pt>
                <c:pt idx="10">
                  <c:v>3473.8214956907154</c:v>
                </c:pt>
                <c:pt idx="11">
                  <c:v>3457.1567552606898</c:v>
                </c:pt>
                <c:pt idx="12">
                  <c:v>3458.0876316149779</c:v>
                </c:pt>
                <c:pt idx="13">
                  <c:v>3452.6795202292033</c:v>
                </c:pt>
                <c:pt idx="14">
                  <c:v>3451.6710911275204</c:v>
                </c:pt>
                <c:pt idx="15">
                  <c:v>3433.8371194210408</c:v>
                </c:pt>
                <c:pt idx="16">
                  <c:v>3430.3742159033327</c:v>
                </c:pt>
                <c:pt idx="17">
                  <c:v>3456.1811507286188</c:v>
                </c:pt>
                <c:pt idx="18">
                  <c:v>3457.1865093608758</c:v>
                </c:pt>
                <c:pt idx="19">
                  <c:v>3458.9146141073966</c:v>
                </c:pt>
                <c:pt idx="20">
                  <c:v>3462.9039603537208</c:v>
                </c:pt>
                <c:pt idx="21">
                  <c:v>3463.3676697632764</c:v>
                </c:pt>
                <c:pt idx="22">
                  <c:v>3460.8546253736567</c:v>
                </c:pt>
                <c:pt idx="23">
                  <c:v>3467.7068660092473</c:v>
                </c:pt>
                <c:pt idx="24">
                  <c:v>3483.9479666073685</c:v>
                </c:pt>
                <c:pt idx="25">
                  <c:v>3490.5335957910297</c:v>
                </c:pt>
                <c:pt idx="26">
                  <c:v>3500.9793949092723</c:v>
                </c:pt>
                <c:pt idx="27">
                  <c:v>3500.9793949092723</c:v>
                </c:pt>
                <c:pt idx="28">
                  <c:v>3501.0036368461492</c:v>
                </c:pt>
                <c:pt idx="29">
                  <c:v>3508.0002874482761</c:v>
                </c:pt>
                <c:pt idx="30">
                  <c:v>3510.8405120217244</c:v>
                </c:pt>
                <c:pt idx="31">
                  <c:v>3507.765343951965</c:v>
                </c:pt>
                <c:pt idx="32">
                  <c:v>3485.7423799138146</c:v>
                </c:pt>
                <c:pt idx="33">
                  <c:v>3488.9984503025066</c:v>
                </c:pt>
                <c:pt idx="34">
                  <c:v>3488.9984503025066</c:v>
                </c:pt>
                <c:pt idx="35">
                  <c:v>3488.0203732183945</c:v>
                </c:pt>
                <c:pt idx="36">
                  <c:v>3483.5501260233636</c:v>
                </c:pt>
                <c:pt idx="37">
                  <c:v>3484.5888750498661</c:v>
                </c:pt>
                <c:pt idx="38">
                  <c:v>3483.8020905539406</c:v>
                </c:pt>
                <c:pt idx="39">
                  <c:v>3479.2082741102372</c:v>
                </c:pt>
                <c:pt idx="40">
                  <c:v>3480.2586431373097</c:v>
                </c:pt>
                <c:pt idx="41">
                  <c:v>3496.6966169014636</c:v>
                </c:pt>
                <c:pt idx="42">
                  <c:v>3502.6787142177045</c:v>
                </c:pt>
                <c:pt idx="43">
                  <c:v>3411.4961359341009</c:v>
                </c:pt>
                <c:pt idx="44">
                  <c:v>3411.6725297722742</c:v>
                </c:pt>
                <c:pt idx="45">
                  <c:v>3397.6929954149718</c:v>
                </c:pt>
                <c:pt idx="46">
                  <c:v>3397.6219378845249</c:v>
                </c:pt>
                <c:pt idx="47">
                  <c:v>3397.4242361070528</c:v>
                </c:pt>
                <c:pt idx="48">
                  <c:v>3386.2197146814269</c:v>
                </c:pt>
                <c:pt idx="49">
                  <c:v>3387.0545455516908</c:v>
                </c:pt>
                <c:pt idx="50">
                  <c:v>3385.0017064723697</c:v>
                </c:pt>
                <c:pt idx="51">
                  <c:v>3387.0313231131713</c:v>
                </c:pt>
                <c:pt idx="52">
                  <c:v>3387.8482177951132</c:v>
                </c:pt>
                <c:pt idx="53">
                  <c:v>3379.2980665560199</c:v>
                </c:pt>
                <c:pt idx="54">
                  <c:v>3377.7024466571879</c:v>
                </c:pt>
                <c:pt idx="55">
                  <c:v>3377.9981712190529</c:v>
                </c:pt>
                <c:pt idx="56">
                  <c:v>3378.0190322445696</c:v>
                </c:pt>
                <c:pt idx="57">
                  <c:v>3382.5770324672158</c:v>
                </c:pt>
                <c:pt idx="58">
                  <c:v>3380.1161898335781</c:v>
                </c:pt>
                <c:pt idx="59">
                  <c:v>3380.1304025959198</c:v>
                </c:pt>
                <c:pt idx="60">
                  <c:v>3380.5624677033443</c:v>
                </c:pt>
                <c:pt idx="61">
                  <c:v>3371.5613422410229</c:v>
                </c:pt>
                <c:pt idx="62">
                  <c:v>3372.6711897396099</c:v>
                </c:pt>
                <c:pt idx="63">
                  <c:v>3372.4199884840082</c:v>
                </c:pt>
                <c:pt idx="64">
                  <c:v>3376.0781561225281</c:v>
                </c:pt>
                <c:pt idx="65">
                  <c:v>3376.0781561225281</c:v>
                </c:pt>
                <c:pt idx="66">
                  <c:v>3376.2079461921544</c:v>
                </c:pt>
                <c:pt idx="67">
                  <c:v>3424.3314683701515</c:v>
                </c:pt>
                <c:pt idx="68">
                  <c:v>3427.1039206049213</c:v>
                </c:pt>
                <c:pt idx="69">
                  <c:v>3427.7430132384143</c:v>
                </c:pt>
                <c:pt idx="70">
                  <c:v>3411.5891097563986</c:v>
                </c:pt>
                <c:pt idx="71">
                  <c:v>3415.0317203233781</c:v>
                </c:pt>
                <c:pt idx="72">
                  <c:v>3412.611623715562</c:v>
                </c:pt>
                <c:pt idx="73">
                  <c:v>3332.53240652151</c:v>
                </c:pt>
                <c:pt idx="74">
                  <c:v>3335.3648528829162</c:v>
                </c:pt>
                <c:pt idx="75">
                  <c:v>3342.2268976858713</c:v>
                </c:pt>
                <c:pt idx="76">
                  <c:v>3345.5550339403244</c:v>
                </c:pt>
                <c:pt idx="77">
                  <c:v>3338.5321839643857</c:v>
                </c:pt>
                <c:pt idx="78">
                  <c:v>3327.7718072568446</c:v>
                </c:pt>
                <c:pt idx="79">
                  <c:v>3337.7783526198486</c:v>
                </c:pt>
                <c:pt idx="80">
                  <c:v>3328.6708152222013</c:v>
                </c:pt>
                <c:pt idx="81">
                  <c:v>3333.1629519043072</c:v>
                </c:pt>
                <c:pt idx="82">
                  <c:v>3332.4380184909987</c:v>
                </c:pt>
                <c:pt idx="83">
                  <c:v>3333.3119169699548</c:v>
                </c:pt>
                <c:pt idx="84">
                  <c:v>3342.2351847682257</c:v>
                </c:pt>
                <c:pt idx="85">
                  <c:v>3343.3402423284656</c:v>
                </c:pt>
                <c:pt idx="86">
                  <c:v>3345.9834104917441</c:v>
                </c:pt>
                <c:pt idx="87">
                  <c:v>3345.9834104917441</c:v>
                </c:pt>
                <c:pt idx="88">
                  <c:v>3345.3879638687445</c:v>
                </c:pt>
                <c:pt idx="89">
                  <c:v>3341.7367444148472</c:v>
                </c:pt>
                <c:pt idx="90">
                  <c:v>3811.5195512485725</c:v>
                </c:pt>
                <c:pt idx="91">
                  <c:v>3815.5846369192232</c:v>
                </c:pt>
                <c:pt idx="92">
                  <c:v>3818.5031359077097</c:v>
                </c:pt>
                <c:pt idx="93">
                  <c:v>3816.654293919034</c:v>
                </c:pt>
                <c:pt idx="94">
                  <c:v>3826.4070122372659</c:v>
                </c:pt>
                <c:pt idx="95">
                  <c:v>3827.9098225998464</c:v>
                </c:pt>
                <c:pt idx="96">
                  <c:v>3833.7319607893296</c:v>
                </c:pt>
                <c:pt idx="97">
                  <c:v>3815.7814560243391</c:v>
                </c:pt>
                <c:pt idx="98">
                  <c:v>3814.9378039639378</c:v>
                </c:pt>
                <c:pt idx="99">
                  <c:v>3807.4291363678331</c:v>
                </c:pt>
                <c:pt idx="100">
                  <c:v>3807.3458974926284</c:v>
                </c:pt>
                <c:pt idx="101">
                  <c:v>3788.8637148090324</c:v>
                </c:pt>
                <c:pt idx="102">
                  <c:v>3789.2809288213498</c:v>
                </c:pt>
                <c:pt idx="103">
                  <c:v>3780.6327794653366</c:v>
                </c:pt>
                <c:pt idx="104">
                  <c:v>3778.497921499636</c:v>
                </c:pt>
                <c:pt idx="105">
                  <c:v>3766.5366684023857</c:v>
                </c:pt>
                <c:pt idx="106">
                  <c:v>3766.5366684023857</c:v>
                </c:pt>
                <c:pt idx="107">
                  <c:v>3768.5121515842129</c:v>
                </c:pt>
                <c:pt idx="108">
                  <c:v>3789.4065566685786</c:v>
                </c:pt>
                <c:pt idx="109">
                  <c:v>3827.8367525294161</c:v>
                </c:pt>
                <c:pt idx="110">
                  <c:v>3810.4455037573393</c:v>
                </c:pt>
                <c:pt idx="111">
                  <c:v>3815.7348276923835</c:v>
                </c:pt>
                <c:pt idx="112">
                  <c:v>3811.3645937158808</c:v>
                </c:pt>
                <c:pt idx="113">
                  <c:v>3815.2449707083101</c:v>
                </c:pt>
                <c:pt idx="114">
                  <c:v>3814.4786467512572</c:v>
                </c:pt>
                <c:pt idx="115">
                  <c:v>3802.4368705714824</c:v>
                </c:pt>
                <c:pt idx="116">
                  <c:v>3804.7167597559978</c:v>
                </c:pt>
                <c:pt idx="117">
                  <c:v>3808.9570022843718</c:v>
                </c:pt>
                <c:pt idx="118">
                  <c:v>3810.8891919076373</c:v>
                </c:pt>
                <c:pt idx="119">
                  <c:v>3816.0146181752762</c:v>
                </c:pt>
                <c:pt idx="120">
                  <c:v>3839.4201388641186</c:v>
                </c:pt>
                <c:pt idx="121">
                  <c:v>3845.5084577008543</c:v>
                </c:pt>
                <c:pt idx="122">
                  <c:v>3852.0008086389034</c:v>
                </c:pt>
                <c:pt idx="123">
                  <c:v>3861.159981313237</c:v>
                </c:pt>
                <c:pt idx="124">
                  <c:v>3919.1322728630907</c:v>
                </c:pt>
                <c:pt idx="125">
                  <c:v>3918.6350012956295</c:v>
                </c:pt>
                <c:pt idx="126">
                  <c:v>3917.8432065860507</c:v>
                </c:pt>
                <c:pt idx="127">
                  <c:v>3924.9139008393363</c:v>
                </c:pt>
                <c:pt idx="128">
                  <c:v>3925.7078689536829</c:v>
                </c:pt>
                <c:pt idx="129">
                  <c:v>3959.1348335548146</c:v>
                </c:pt>
                <c:pt idx="130">
                  <c:v>3962.5653205001331</c:v>
                </c:pt>
                <c:pt idx="131">
                  <c:v>3986.56862231697</c:v>
                </c:pt>
                <c:pt idx="132">
                  <c:v>3986.56862231697</c:v>
                </c:pt>
                <c:pt idx="133">
                  <c:v>3983.1674256828346</c:v>
                </c:pt>
                <c:pt idx="134">
                  <c:v>4014.5464703615971</c:v>
                </c:pt>
                <c:pt idx="135">
                  <c:v>3993.1831028902257</c:v>
                </c:pt>
                <c:pt idx="136">
                  <c:v>3965.6370611868397</c:v>
                </c:pt>
                <c:pt idx="137">
                  <c:v>3969.695450284762</c:v>
                </c:pt>
                <c:pt idx="138">
                  <c:v>3969.7849723974732</c:v>
                </c:pt>
                <c:pt idx="139">
                  <c:v>3969.7849723974732</c:v>
                </c:pt>
                <c:pt idx="140">
                  <c:v>4029.6833158320078</c:v>
                </c:pt>
                <c:pt idx="141">
                  <c:v>4047.1112297254567</c:v>
                </c:pt>
                <c:pt idx="142">
                  <c:v>4045.4237946451203</c:v>
                </c:pt>
                <c:pt idx="143">
                  <c:v>4045.4237946451203</c:v>
                </c:pt>
                <c:pt idx="144">
                  <c:v>4048.5444146150189</c:v>
                </c:pt>
                <c:pt idx="145">
                  <c:v>4047.2750013812124</c:v>
                </c:pt>
                <c:pt idx="146">
                  <c:v>4046.9318807277014</c:v>
                </c:pt>
                <c:pt idx="147">
                  <c:v>4163.1094222978372</c:v>
                </c:pt>
                <c:pt idx="148">
                  <c:v>4163.1094222978372</c:v>
                </c:pt>
                <c:pt idx="149">
                  <c:v>4169.7151701498206</c:v>
                </c:pt>
                <c:pt idx="150">
                  <c:v>4169.7151701498206</c:v>
                </c:pt>
                <c:pt idx="151">
                  <c:v>4135.8426106556162</c:v>
                </c:pt>
                <c:pt idx="152">
                  <c:v>4137.151196142715</c:v>
                </c:pt>
                <c:pt idx="153">
                  <c:v>4167.9996605892829</c:v>
                </c:pt>
                <c:pt idx="154">
                  <c:v>4183.1818194527104</c:v>
                </c:pt>
                <c:pt idx="155">
                  <c:v>4188.5830075303738</c:v>
                </c:pt>
                <c:pt idx="156">
                  <c:v>4188.3447056044597</c:v>
                </c:pt>
                <c:pt idx="157">
                  <c:v>4183.0516823104454</c:v>
                </c:pt>
                <c:pt idx="158">
                  <c:v>4172.5818707408998</c:v>
                </c:pt>
                <c:pt idx="159">
                  <c:v>4172.0444724655717</c:v>
                </c:pt>
                <c:pt idx="160">
                  <c:v>4045.2641907469424</c:v>
                </c:pt>
                <c:pt idx="161">
                  <c:v>4042.9737807262691</c:v>
                </c:pt>
                <c:pt idx="162">
                  <c:v>4050.0645553917675</c:v>
                </c:pt>
                <c:pt idx="163">
                  <c:v>4051.52414345439</c:v>
                </c:pt>
                <c:pt idx="164">
                  <c:v>4126.9884048981703</c:v>
                </c:pt>
                <c:pt idx="165">
                  <c:v>4132.193574055259</c:v>
                </c:pt>
                <c:pt idx="166">
                  <c:v>4133.3099300994372</c:v>
                </c:pt>
                <c:pt idx="167">
                  <c:v>4127.6045136352659</c:v>
                </c:pt>
                <c:pt idx="168">
                  <c:v>4131.257584635483</c:v>
                </c:pt>
                <c:pt idx="169">
                  <c:v>4129.33976687418</c:v>
                </c:pt>
                <c:pt idx="170">
                  <c:v>4116.0654767361539</c:v>
                </c:pt>
                <c:pt idx="171">
                  <c:v>4115.4957248367891</c:v>
                </c:pt>
                <c:pt idx="172">
                  <c:v>4116.1872016540465</c:v>
                </c:pt>
                <c:pt idx="173">
                  <c:v>4118.0833230780045</c:v>
                </c:pt>
                <c:pt idx="174">
                  <c:v>4136.4629092119994</c:v>
                </c:pt>
                <c:pt idx="175">
                  <c:v>4132.3922756601723</c:v>
                </c:pt>
                <c:pt idx="176">
                  <c:v>4127.9225888767332</c:v>
                </c:pt>
                <c:pt idx="177">
                  <c:v>4128.3731455096886</c:v>
                </c:pt>
                <c:pt idx="178">
                  <c:v>4126.4375585686648</c:v>
                </c:pt>
                <c:pt idx="179">
                  <c:v>4126.8184429484554</c:v>
                </c:pt>
                <c:pt idx="180">
                  <c:v>4120.4408097342894</c:v>
                </c:pt>
                <c:pt idx="181">
                  <c:v>4117.0474055006271</c:v>
                </c:pt>
                <c:pt idx="182">
                  <c:v>4104.8180175881844</c:v>
                </c:pt>
                <c:pt idx="183">
                  <c:v>4042.444189291436</c:v>
                </c:pt>
                <c:pt idx="184">
                  <c:v>4071.7360219142092</c:v>
                </c:pt>
                <c:pt idx="185">
                  <c:v>4071.7360219142092</c:v>
                </c:pt>
                <c:pt idx="186">
                  <c:v>4071.7360219142092</c:v>
                </c:pt>
                <c:pt idx="187">
                  <c:v>4094.1630481324355</c:v>
                </c:pt>
                <c:pt idx="188">
                  <c:v>4091.4284648425</c:v>
                </c:pt>
                <c:pt idx="189">
                  <c:v>4098.6234942677647</c:v>
                </c:pt>
                <c:pt idx="190">
                  <c:v>4096.7972654719633</c:v>
                </c:pt>
                <c:pt idx="191">
                  <c:v>4087.1697345124253</c:v>
                </c:pt>
                <c:pt idx="192">
                  <c:v>4076.1748315987834</c:v>
                </c:pt>
                <c:pt idx="193">
                  <c:v>4069.280951332642</c:v>
                </c:pt>
                <c:pt idx="194">
                  <c:v>4069.88806001891</c:v>
                </c:pt>
                <c:pt idx="195">
                  <c:v>4070.9714128338155</c:v>
                </c:pt>
                <c:pt idx="196">
                  <c:v>4079.6805541033386</c:v>
                </c:pt>
                <c:pt idx="197">
                  <c:v>4077.7450189030765</c:v>
                </c:pt>
                <c:pt idx="198">
                  <c:v>4082.3882043776407</c:v>
                </c:pt>
                <c:pt idx="199">
                  <c:v>4080.2288395849077</c:v>
                </c:pt>
                <c:pt idx="200">
                  <c:v>4087.8415365756555</c:v>
                </c:pt>
                <c:pt idx="201">
                  <c:v>4087.1560246875601</c:v>
                </c:pt>
                <c:pt idx="202">
                  <c:v>4085.7982505428486</c:v>
                </c:pt>
                <c:pt idx="203">
                  <c:v>4089.783971828364</c:v>
                </c:pt>
                <c:pt idx="204">
                  <c:v>4094.2987785780961</c:v>
                </c:pt>
                <c:pt idx="205">
                  <c:v>4064.0522015064385</c:v>
                </c:pt>
                <c:pt idx="206">
                  <c:v>4078.5820108540911</c:v>
                </c:pt>
                <c:pt idx="207">
                  <c:v>4080.8173222822065</c:v>
                </c:pt>
                <c:pt idx="208">
                  <c:v>4283.3607172086895</c:v>
                </c:pt>
                <c:pt idx="209">
                  <c:v>4280.2687675061343</c:v>
                </c:pt>
                <c:pt idx="210">
                  <c:v>4276.3498801005999</c:v>
                </c:pt>
                <c:pt idx="211">
                  <c:v>4271.4489577926961</c:v>
                </c:pt>
                <c:pt idx="212">
                  <c:v>4304.1851544505762</c:v>
                </c:pt>
                <c:pt idx="213">
                  <c:v>4323.9947315595864</c:v>
                </c:pt>
                <c:pt idx="214">
                  <c:v>4323.9947315595864</c:v>
                </c:pt>
                <c:pt idx="215">
                  <c:v>4326.5785977444757</c:v>
                </c:pt>
                <c:pt idx="216">
                  <c:v>4326.3470097899126</c:v>
                </c:pt>
                <c:pt idx="217">
                  <c:v>4330.0784405628938</c:v>
                </c:pt>
                <c:pt idx="218">
                  <c:v>4993.0300457811027</c:v>
                </c:pt>
                <c:pt idx="219">
                  <c:v>4975.0293780069524</c:v>
                </c:pt>
                <c:pt idx="220">
                  <c:v>4965.6759949697635</c:v>
                </c:pt>
                <c:pt idx="221">
                  <c:v>4964.3018148955834</c:v>
                </c:pt>
                <c:pt idx="222">
                  <c:v>4966.0720082332045</c:v>
                </c:pt>
                <c:pt idx="223">
                  <c:v>4970.8647706885567</c:v>
                </c:pt>
                <c:pt idx="224">
                  <c:v>4992.3678813866482</c:v>
                </c:pt>
                <c:pt idx="225">
                  <c:v>5029.089686286392</c:v>
                </c:pt>
                <c:pt idx="226">
                  <c:v>5030.4595055462423</c:v>
                </c:pt>
                <c:pt idx="227">
                  <c:v>5020.9358213127061</c:v>
                </c:pt>
                <c:pt idx="228">
                  <c:v>4998.6373814854351</c:v>
                </c:pt>
                <c:pt idx="229">
                  <c:v>4995.0464237245387</c:v>
                </c:pt>
                <c:pt idx="230">
                  <c:v>4995.0464237245387</c:v>
                </c:pt>
                <c:pt idx="231">
                  <c:v>4993.0846620044413</c:v>
                </c:pt>
                <c:pt idx="232">
                  <c:v>4994.8429507989185</c:v>
                </c:pt>
                <c:pt idx="233">
                  <c:v>4971.6693195361449</c:v>
                </c:pt>
                <c:pt idx="234">
                  <c:v>4979.0735259563207</c:v>
                </c:pt>
                <c:pt idx="235">
                  <c:v>4986.5117122638967</c:v>
                </c:pt>
                <c:pt idx="236">
                  <c:v>4950.1343500262365</c:v>
                </c:pt>
                <c:pt idx="237">
                  <c:v>4950.1343500262365</c:v>
                </c:pt>
                <c:pt idx="238">
                  <c:v>4948.138938887334</c:v>
                </c:pt>
                <c:pt idx="239">
                  <c:v>4962.3668909673515</c:v>
                </c:pt>
                <c:pt idx="240">
                  <c:v>4975.611419311077</c:v>
                </c:pt>
                <c:pt idx="241">
                  <c:v>4984.2847886578447</c:v>
                </c:pt>
                <c:pt idx="242">
                  <c:v>4979.2809606842357</c:v>
                </c:pt>
                <c:pt idx="243">
                  <c:v>5012.1325641411077</c:v>
                </c:pt>
                <c:pt idx="244">
                  <c:v>5017.5170094961813</c:v>
                </c:pt>
                <c:pt idx="245">
                  <c:v>5009.4276501956092</c:v>
                </c:pt>
                <c:pt idx="246">
                  <c:v>4999.9263149164244</c:v>
                </c:pt>
                <c:pt idx="247">
                  <c:v>5021.7109478756811</c:v>
                </c:pt>
                <c:pt idx="248">
                  <c:v>5014.2597252812684</c:v>
                </c:pt>
                <c:pt idx="249">
                  <c:v>4990.0230852168506</c:v>
                </c:pt>
                <c:pt idx="250">
                  <c:v>4985.4848988564809</c:v>
                </c:pt>
                <c:pt idx="251">
                  <c:v>4983.7547237276822</c:v>
                </c:pt>
                <c:pt idx="252">
                  <c:v>4980.1509991292869</c:v>
                </c:pt>
                <c:pt idx="253">
                  <c:v>4988.6276401064115</c:v>
                </c:pt>
                <c:pt idx="254">
                  <c:v>4987.719023562795</c:v>
                </c:pt>
                <c:pt idx="255">
                  <c:v>4984.4804826095196</c:v>
                </c:pt>
                <c:pt idx="256">
                  <c:v>4980.2670822635</c:v>
                </c:pt>
                <c:pt idx="257">
                  <c:v>4979.5185881334828</c:v>
                </c:pt>
                <c:pt idx="258">
                  <c:v>4977.5451401988748</c:v>
                </c:pt>
                <c:pt idx="259">
                  <c:v>4975.0853164354867</c:v>
                </c:pt>
                <c:pt idx="260">
                  <c:v>4974.8781588739557</c:v>
                </c:pt>
                <c:pt idx="261">
                  <c:v>4975.9868080260594</c:v>
                </c:pt>
                <c:pt idx="262">
                  <c:v>4974.8243207644173</c:v>
                </c:pt>
                <c:pt idx="263">
                  <c:v>4971.6252066036823</c:v>
                </c:pt>
                <c:pt idx="264">
                  <c:v>4972.5311727471981</c:v>
                </c:pt>
                <c:pt idx="265">
                  <c:v>4997.9366108624954</c:v>
                </c:pt>
                <c:pt idx="266">
                  <c:v>4998.0281510254135</c:v>
                </c:pt>
                <c:pt idx="267">
                  <c:v>5004.6835335788965</c:v>
                </c:pt>
                <c:pt idx="268">
                  <c:v>4964.06031339946</c:v>
                </c:pt>
                <c:pt idx="269">
                  <c:v>4965.8407924485455</c:v>
                </c:pt>
                <c:pt idx="270">
                  <c:v>4936.8767584598318</c:v>
                </c:pt>
                <c:pt idx="271">
                  <c:v>4933.339608287275</c:v>
                </c:pt>
                <c:pt idx="272">
                  <c:v>4932.9843859184348</c:v>
                </c:pt>
                <c:pt idx="273">
                  <c:v>4938.196757819881</c:v>
                </c:pt>
                <c:pt idx="274">
                  <c:v>4971.2297683932175</c:v>
                </c:pt>
                <c:pt idx="275">
                  <c:v>5014.8086041183451</c:v>
                </c:pt>
                <c:pt idx="276">
                  <c:v>5008.7372665590101</c:v>
                </c:pt>
                <c:pt idx="277">
                  <c:v>4989.3333963613422</c:v>
                </c:pt>
                <c:pt idx="278">
                  <c:v>4950.8792302555794</c:v>
                </c:pt>
                <c:pt idx="279">
                  <c:v>4945.2906541091716</c:v>
                </c:pt>
                <c:pt idx="280">
                  <c:v>5061.5844291311259</c:v>
                </c:pt>
                <c:pt idx="281">
                  <c:v>5058.2297130959478</c:v>
                </c:pt>
                <c:pt idx="282">
                  <c:v>5035.0766198081901</c:v>
                </c:pt>
                <c:pt idx="283">
                  <c:v>5084.8930691922615</c:v>
                </c:pt>
                <c:pt idx="284">
                  <c:v>5084.3319460203311</c:v>
                </c:pt>
                <c:pt idx="285">
                  <c:v>5121.0316019611055</c:v>
                </c:pt>
                <c:pt idx="286">
                  <c:v>5116.0529367220879</c:v>
                </c:pt>
                <c:pt idx="287">
                  <c:v>5138.8430553430853</c:v>
                </c:pt>
                <c:pt idx="288">
                  <c:v>5158.336704748076</c:v>
                </c:pt>
                <c:pt idx="289">
                  <c:v>5161.8019303640858</c:v>
                </c:pt>
                <c:pt idx="290">
                  <c:v>5162.0670466974143</c:v>
                </c:pt>
                <c:pt idx="291">
                  <c:v>5164.6628749826887</c:v>
                </c:pt>
                <c:pt idx="292">
                  <c:v>5180.7893540432606</c:v>
                </c:pt>
                <c:pt idx="293">
                  <c:v>5188.4451626352347</c:v>
                </c:pt>
                <c:pt idx="294">
                  <c:v>5192.7209504286266</c:v>
                </c:pt>
                <c:pt idx="295">
                  <c:v>5162.2697974417579</c:v>
                </c:pt>
                <c:pt idx="296">
                  <c:v>5163.7787555266186</c:v>
                </c:pt>
                <c:pt idx="297">
                  <c:v>5164.6248700422575</c:v>
                </c:pt>
                <c:pt idx="298">
                  <c:v>5365.9789018138999</c:v>
                </c:pt>
                <c:pt idx="299">
                  <c:v>5382.799512902453</c:v>
                </c:pt>
                <c:pt idx="300">
                  <c:v>5382.524032264585</c:v>
                </c:pt>
                <c:pt idx="301">
                  <c:v>5392.5368973641798</c:v>
                </c:pt>
                <c:pt idx="302">
                  <c:v>5399.9504879613496</c:v>
                </c:pt>
                <c:pt idx="303">
                  <c:v>5394.3287525819906</c:v>
                </c:pt>
                <c:pt idx="304">
                  <c:v>5367.8864345212614</c:v>
                </c:pt>
                <c:pt idx="305">
                  <c:v>5323.2022994744402</c:v>
                </c:pt>
                <c:pt idx="306">
                  <c:v>5323.9849679980043</c:v>
                </c:pt>
                <c:pt idx="307">
                  <c:v>5357.7259961033715</c:v>
                </c:pt>
              </c:numCache>
            </c:numRef>
          </c:val>
          <c:smooth val="0"/>
          <c:extLst>
            <c:ext xmlns:c16="http://schemas.microsoft.com/office/drawing/2014/chart" uri="{C3380CC4-5D6E-409C-BE32-E72D297353CC}">
              <c16:uniqueId val="{00000000-9DAA-4D58-A36D-FE058192A710}"/>
            </c:ext>
          </c:extLst>
        </c:ser>
        <c:ser>
          <c:idx val="1"/>
          <c:order val="1"/>
          <c:tx>
            <c:strRef>
              <c:f>'Ibovespa EPS - Quarter'!$T$5</c:f>
              <c:strCache>
                <c:ptCount val="1"/>
                <c:pt idx="0">
                  <c:v>3T26</c:v>
                </c:pt>
              </c:strCache>
            </c:strRef>
          </c:tx>
          <c:spPr>
            <a:ln w="22225" cap="rnd">
              <a:solidFill>
                <a:schemeClr val="bg2"/>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Quarter'!$T$6:$T$313</c:f>
              <c:numCache>
                <c:formatCode>0.0</c:formatCode>
                <c:ptCount val="308"/>
                <c:pt idx="0">
                  <c:v>3718.2264496465682</c:v>
                </c:pt>
                <c:pt idx="1">
                  <c:v>3719.3227456720228</c:v>
                </c:pt>
                <c:pt idx="2">
                  <c:v>3709.5564171141064</c:v>
                </c:pt>
                <c:pt idx="3">
                  <c:v>3704.7341669185516</c:v>
                </c:pt>
                <c:pt idx="4">
                  <c:v>3704.160703237545</c:v>
                </c:pt>
                <c:pt idx="5">
                  <c:v>3713.2695116818713</c:v>
                </c:pt>
                <c:pt idx="6">
                  <c:v>3714.768933857692</c:v>
                </c:pt>
                <c:pt idx="7">
                  <c:v>3727.8539959267541</c:v>
                </c:pt>
                <c:pt idx="8">
                  <c:v>3726.5038384699619</c:v>
                </c:pt>
                <c:pt idx="9">
                  <c:v>3726.1488442636269</c:v>
                </c:pt>
                <c:pt idx="10">
                  <c:v>3725.6688239077262</c:v>
                </c:pt>
                <c:pt idx="11">
                  <c:v>3749.9417731855087</c:v>
                </c:pt>
                <c:pt idx="12">
                  <c:v>3750.2416220064365</c:v>
                </c:pt>
                <c:pt idx="13">
                  <c:v>3745.9172184154249</c:v>
                </c:pt>
                <c:pt idx="14">
                  <c:v>3743.7323508910208</c:v>
                </c:pt>
                <c:pt idx="15">
                  <c:v>3736.3158988128712</c:v>
                </c:pt>
                <c:pt idx="16">
                  <c:v>3730.5895257618245</c:v>
                </c:pt>
                <c:pt idx="17">
                  <c:v>3754.6797932038367</c:v>
                </c:pt>
                <c:pt idx="18">
                  <c:v>3758.7468611770846</c:v>
                </c:pt>
                <c:pt idx="19">
                  <c:v>3761.3632402867988</c:v>
                </c:pt>
                <c:pt idx="20">
                  <c:v>3768.7223647302931</c:v>
                </c:pt>
                <c:pt idx="21">
                  <c:v>3769.3675256479351</c:v>
                </c:pt>
                <c:pt idx="22">
                  <c:v>3771.5680010564638</c:v>
                </c:pt>
                <c:pt idx="23">
                  <c:v>3780.0437813704111</c:v>
                </c:pt>
                <c:pt idx="24">
                  <c:v>3791.9433425417351</c:v>
                </c:pt>
                <c:pt idx="25">
                  <c:v>3804.1065082178375</c:v>
                </c:pt>
                <c:pt idx="26">
                  <c:v>3814.6202092444191</c:v>
                </c:pt>
                <c:pt idx="27">
                  <c:v>3814.6202092444191</c:v>
                </c:pt>
                <c:pt idx="28">
                  <c:v>3814.6202092444191</c:v>
                </c:pt>
                <c:pt idx="29">
                  <c:v>3821.7618842994334</c:v>
                </c:pt>
                <c:pt idx="30">
                  <c:v>3824.4946535898175</c:v>
                </c:pt>
                <c:pt idx="31">
                  <c:v>3821.6756769710596</c:v>
                </c:pt>
                <c:pt idx="32">
                  <c:v>3805.0544641247784</c:v>
                </c:pt>
                <c:pt idx="33">
                  <c:v>3811.1988760742388</c:v>
                </c:pt>
                <c:pt idx="34">
                  <c:v>3811.1988760742388</c:v>
                </c:pt>
                <c:pt idx="35">
                  <c:v>3817.0342376186554</c:v>
                </c:pt>
                <c:pt idx="36">
                  <c:v>3803.7999353940322</c:v>
                </c:pt>
                <c:pt idx="37">
                  <c:v>3807.9322264913426</c:v>
                </c:pt>
                <c:pt idx="38">
                  <c:v>3807.2672446416145</c:v>
                </c:pt>
                <c:pt idx="39">
                  <c:v>3800.9350081244343</c:v>
                </c:pt>
                <c:pt idx="40">
                  <c:v>3801.3754854583681</c:v>
                </c:pt>
                <c:pt idx="41">
                  <c:v>3816.4359553568975</c:v>
                </c:pt>
                <c:pt idx="42">
                  <c:v>3809.9316208730779</c:v>
                </c:pt>
                <c:pt idx="43">
                  <c:v>3699.3504478278091</c:v>
                </c:pt>
                <c:pt idx="44">
                  <c:v>3700.4312600585422</c:v>
                </c:pt>
                <c:pt idx="45">
                  <c:v>3685.1952851030192</c:v>
                </c:pt>
                <c:pt idx="46">
                  <c:v>3685.0566646747707</c:v>
                </c:pt>
                <c:pt idx="47">
                  <c:v>3685.7758151658613</c:v>
                </c:pt>
                <c:pt idx="48">
                  <c:v>3671.2933537359559</c:v>
                </c:pt>
                <c:pt idx="49">
                  <c:v>3672.4970349577338</c:v>
                </c:pt>
                <c:pt idx="50">
                  <c:v>3663.9697393667038</c:v>
                </c:pt>
                <c:pt idx="51">
                  <c:v>3666.024844890354</c:v>
                </c:pt>
                <c:pt idx="52">
                  <c:v>3667.4515042133967</c:v>
                </c:pt>
                <c:pt idx="53">
                  <c:v>3656.9601786806747</c:v>
                </c:pt>
                <c:pt idx="54">
                  <c:v>3654.7715535793554</c:v>
                </c:pt>
                <c:pt idx="55">
                  <c:v>3655.094113161093</c:v>
                </c:pt>
                <c:pt idx="56">
                  <c:v>3654.802960677021</c:v>
                </c:pt>
                <c:pt idx="57">
                  <c:v>3659.4265372594591</c:v>
                </c:pt>
                <c:pt idx="58">
                  <c:v>3655.3894659199609</c:v>
                </c:pt>
                <c:pt idx="59">
                  <c:v>3655.403834866504</c:v>
                </c:pt>
                <c:pt idx="60">
                  <c:v>3655.8120193269419</c:v>
                </c:pt>
                <c:pt idx="61">
                  <c:v>3648.9616620899051</c:v>
                </c:pt>
                <c:pt idx="62">
                  <c:v>3647.2930837744448</c:v>
                </c:pt>
                <c:pt idx="63">
                  <c:v>3647.2407473332164</c:v>
                </c:pt>
                <c:pt idx="64">
                  <c:v>3650.2376918588029</c:v>
                </c:pt>
                <c:pt idx="65">
                  <c:v>3650.2376918588029</c:v>
                </c:pt>
                <c:pt idx="66">
                  <c:v>3650.099687227807</c:v>
                </c:pt>
                <c:pt idx="67">
                  <c:v>3696.0759375060334</c:v>
                </c:pt>
                <c:pt idx="68">
                  <c:v>3699.0297335609948</c:v>
                </c:pt>
                <c:pt idx="69">
                  <c:v>3700.4110286531195</c:v>
                </c:pt>
                <c:pt idx="70">
                  <c:v>3699.0905427721214</c:v>
                </c:pt>
                <c:pt idx="71">
                  <c:v>3702.7228799949285</c:v>
                </c:pt>
                <c:pt idx="72">
                  <c:v>3700.2147776394568</c:v>
                </c:pt>
                <c:pt idx="73">
                  <c:v>3611.4120244939868</c:v>
                </c:pt>
                <c:pt idx="74">
                  <c:v>3609.3230417585255</c:v>
                </c:pt>
                <c:pt idx="75">
                  <c:v>3628.3166833239184</c:v>
                </c:pt>
                <c:pt idx="76">
                  <c:v>3633.07515448812</c:v>
                </c:pt>
                <c:pt idx="77">
                  <c:v>3621.9768130968268</c:v>
                </c:pt>
                <c:pt idx="78">
                  <c:v>3615.9901583299725</c:v>
                </c:pt>
                <c:pt idx="79">
                  <c:v>3620.4103209183754</c:v>
                </c:pt>
                <c:pt idx="80">
                  <c:v>3612.2676187360298</c:v>
                </c:pt>
                <c:pt idx="81">
                  <c:v>3600.7195743849747</c:v>
                </c:pt>
                <c:pt idx="82">
                  <c:v>3595.5548499000865</c:v>
                </c:pt>
                <c:pt idx="83">
                  <c:v>3596.0564116780961</c:v>
                </c:pt>
                <c:pt idx="84">
                  <c:v>3617.2004673473243</c:v>
                </c:pt>
                <c:pt idx="85">
                  <c:v>3615.7052364114529</c:v>
                </c:pt>
                <c:pt idx="86">
                  <c:v>3617.2517004756282</c:v>
                </c:pt>
                <c:pt idx="87">
                  <c:v>3617.2517004756282</c:v>
                </c:pt>
                <c:pt idx="88">
                  <c:v>3617.0950039958921</c:v>
                </c:pt>
                <c:pt idx="89">
                  <c:v>3615.8700596310287</c:v>
                </c:pt>
                <c:pt idx="90">
                  <c:v>4096.9728319212645</c:v>
                </c:pt>
                <c:pt idx="91">
                  <c:v>4100.104371315917</c:v>
                </c:pt>
                <c:pt idx="92">
                  <c:v>4109.9768897595713</c:v>
                </c:pt>
                <c:pt idx="93">
                  <c:v>4109.0181043530902</c:v>
                </c:pt>
                <c:pt idx="94">
                  <c:v>4116.7279755048357</c:v>
                </c:pt>
                <c:pt idx="95">
                  <c:v>4119.502856907483</c:v>
                </c:pt>
                <c:pt idx="96">
                  <c:v>4127.788061107035</c:v>
                </c:pt>
                <c:pt idx="97">
                  <c:v>4104.4687397304142</c:v>
                </c:pt>
                <c:pt idx="98">
                  <c:v>4101.9674071990057</c:v>
                </c:pt>
                <c:pt idx="99">
                  <c:v>4097.2497311554098</c:v>
                </c:pt>
                <c:pt idx="100">
                  <c:v>4097.1655775672916</c:v>
                </c:pt>
                <c:pt idx="101">
                  <c:v>4113.2143679920164</c:v>
                </c:pt>
                <c:pt idx="102">
                  <c:v>4117.239935224371</c:v>
                </c:pt>
                <c:pt idx="103">
                  <c:v>4108.857438363294</c:v>
                </c:pt>
                <c:pt idx="104">
                  <c:v>4106.4882030507943</c:v>
                </c:pt>
                <c:pt idx="105">
                  <c:v>4092.5135029065418</c:v>
                </c:pt>
                <c:pt idx="106">
                  <c:v>4092.5135029065418</c:v>
                </c:pt>
                <c:pt idx="107">
                  <c:v>4082.6000401575993</c:v>
                </c:pt>
                <c:pt idx="108">
                  <c:v>4106.9498581543176</c:v>
                </c:pt>
                <c:pt idx="109">
                  <c:v>4151.4345211461368</c:v>
                </c:pt>
                <c:pt idx="110">
                  <c:v>4132.3151696096029</c:v>
                </c:pt>
                <c:pt idx="111">
                  <c:v>4137.0417995090047</c:v>
                </c:pt>
                <c:pt idx="112">
                  <c:v>4132.9324965874166</c:v>
                </c:pt>
                <c:pt idx="113">
                  <c:v>4136.855515085258</c:v>
                </c:pt>
                <c:pt idx="114">
                  <c:v>4137.7599262462754</c:v>
                </c:pt>
                <c:pt idx="115">
                  <c:v>4131.1127837762206</c:v>
                </c:pt>
                <c:pt idx="116">
                  <c:v>4134.8801956674333</c:v>
                </c:pt>
                <c:pt idx="117">
                  <c:v>4138.8975400478812</c:v>
                </c:pt>
                <c:pt idx="118">
                  <c:v>4142.3682120721396</c:v>
                </c:pt>
                <c:pt idx="119">
                  <c:v>4146.3533754299015</c:v>
                </c:pt>
                <c:pt idx="120">
                  <c:v>4160.9021979325353</c:v>
                </c:pt>
                <c:pt idx="121">
                  <c:v>4166.1704292401892</c:v>
                </c:pt>
                <c:pt idx="122">
                  <c:v>4184.4226552145119</c:v>
                </c:pt>
                <c:pt idx="123">
                  <c:v>4177.3663147556535</c:v>
                </c:pt>
                <c:pt idx="124">
                  <c:v>4262.4540065958936</c:v>
                </c:pt>
                <c:pt idx="125">
                  <c:v>4259.8193026285853</c:v>
                </c:pt>
                <c:pt idx="126">
                  <c:v>4259.6673710763444</c:v>
                </c:pt>
                <c:pt idx="127">
                  <c:v>4266.1533724292176</c:v>
                </c:pt>
                <c:pt idx="128">
                  <c:v>4264.8632702882742</c:v>
                </c:pt>
                <c:pt idx="129">
                  <c:v>4298.4619315678192</c:v>
                </c:pt>
                <c:pt idx="130">
                  <c:v>4292.3240006286615</c:v>
                </c:pt>
                <c:pt idx="131">
                  <c:v>4311.5997335637458</c:v>
                </c:pt>
                <c:pt idx="132">
                  <c:v>4311.5997335637458</c:v>
                </c:pt>
                <c:pt idx="133">
                  <c:v>4304.7724377076247</c:v>
                </c:pt>
                <c:pt idx="134">
                  <c:v>4331.9298176952025</c:v>
                </c:pt>
                <c:pt idx="135">
                  <c:v>4319.0257945405365</c:v>
                </c:pt>
                <c:pt idx="136">
                  <c:v>4289.8190391835069</c:v>
                </c:pt>
                <c:pt idx="137">
                  <c:v>4304.8932809876396</c:v>
                </c:pt>
                <c:pt idx="138">
                  <c:v>4305.0544207905195</c:v>
                </c:pt>
                <c:pt idx="139">
                  <c:v>4305.0544207905195</c:v>
                </c:pt>
                <c:pt idx="140">
                  <c:v>4364.9160457672788</c:v>
                </c:pt>
                <c:pt idx="141">
                  <c:v>4381.9220497070046</c:v>
                </c:pt>
                <c:pt idx="142">
                  <c:v>4380.2160713840267</c:v>
                </c:pt>
                <c:pt idx="143">
                  <c:v>4380.2160713840267</c:v>
                </c:pt>
                <c:pt idx="144">
                  <c:v>4384.4300449720658</c:v>
                </c:pt>
                <c:pt idx="145">
                  <c:v>4385.0929239453317</c:v>
                </c:pt>
                <c:pt idx="146">
                  <c:v>4385.7174519504697</c:v>
                </c:pt>
                <c:pt idx="147">
                  <c:v>4502.7249004408195</c:v>
                </c:pt>
                <c:pt idx="148">
                  <c:v>4502.7249004408195</c:v>
                </c:pt>
                <c:pt idx="149">
                  <c:v>4512.6970339307782</c:v>
                </c:pt>
                <c:pt idx="150">
                  <c:v>4512.6970339307782</c:v>
                </c:pt>
                <c:pt idx="151">
                  <c:v>4461.2584875801977</c:v>
                </c:pt>
                <c:pt idx="152">
                  <c:v>4452.586574241468</c:v>
                </c:pt>
                <c:pt idx="153">
                  <c:v>4457.085421821128</c:v>
                </c:pt>
                <c:pt idx="154">
                  <c:v>4472.2316966330773</c:v>
                </c:pt>
                <c:pt idx="155">
                  <c:v>4478.2535230460862</c:v>
                </c:pt>
                <c:pt idx="156">
                  <c:v>4478.343148693104</c:v>
                </c:pt>
                <c:pt idx="157">
                  <c:v>4470.2892917346699</c:v>
                </c:pt>
                <c:pt idx="158">
                  <c:v>4464.4579088667779</c:v>
                </c:pt>
                <c:pt idx="159">
                  <c:v>4459.1363321099134</c:v>
                </c:pt>
                <c:pt idx="160">
                  <c:v>4631.1046587573528</c:v>
                </c:pt>
                <c:pt idx="161">
                  <c:v>4670.6176954562543</c:v>
                </c:pt>
                <c:pt idx="162">
                  <c:v>4672.0282871034296</c:v>
                </c:pt>
                <c:pt idx="163">
                  <c:v>4673.894508432084</c:v>
                </c:pt>
                <c:pt idx="164">
                  <c:v>4585.243155256233</c:v>
                </c:pt>
                <c:pt idx="165">
                  <c:v>4585.8389928370789</c:v>
                </c:pt>
                <c:pt idx="166">
                  <c:v>4582.0784586044656</c:v>
                </c:pt>
                <c:pt idx="167">
                  <c:v>4568.7131531325531</c:v>
                </c:pt>
                <c:pt idx="168">
                  <c:v>4572.4216224296069</c:v>
                </c:pt>
                <c:pt idx="169">
                  <c:v>4568.2683220753706</c:v>
                </c:pt>
                <c:pt idx="170">
                  <c:v>4557.3831060671901</c:v>
                </c:pt>
                <c:pt idx="171">
                  <c:v>4553.4684843173764</c:v>
                </c:pt>
                <c:pt idx="172">
                  <c:v>4552.6520858171789</c:v>
                </c:pt>
                <c:pt idx="173">
                  <c:v>4548.6959524008535</c:v>
                </c:pt>
                <c:pt idx="174">
                  <c:v>4555.5490155006764</c:v>
                </c:pt>
                <c:pt idx="175">
                  <c:v>4552.1183685024753</c:v>
                </c:pt>
                <c:pt idx="176">
                  <c:v>4548.5554397393407</c:v>
                </c:pt>
                <c:pt idx="177">
                  <c:v>4549.969878350179</c:v>
                </c:pt>
                <c:pt idx="178">
                  <c:v>4542.9533843230547</c:v>
                </c:pt>
                <c:pt idx="179">
                  <c:v>4547.5191832400305</c:v>
                </c:pt>
                <c:pt idx="180">
                  <c:v>4522.4031340972988</c:v>
                </c:pt>
                <c:pt idx="181">
                  <c:v>4520.0230779087651</c:v>
                </c:pt>
                <c:pt idx="182">
                  <c:v>4520.3101481552958</c:v>
                </c:pt>
                <c:pt idx="183">
                  <c:v>4469.289731475079</c:v>
                </c:pt>
                <c:pt idx="184">
                  <c:v>4479.7320475375482</c:v>
                </c:pt>
                <c:pt idx="185">
                  <c:v>4479.7320475375482</c:v>
                </c:pt>
                <c:pt idx="186">
                  <c:v>4479.7320475375482</c:v>
                </c:pt>
                <c:pt idx="187">
                  <c:v>4504.7613681306048</c:v>
                </c:pt>
                <c:pt idx="188">
                  <c:v>4505.2409529852866</c:v>
                </c:pt>
                <c:pt idx="189">
                  <c:v>4512.5077231789446</c:v>
                </c:pt>
                <c:pt idx="190">
                  <c:v>4505.9164881385977</c:v>
                </c:pt>
                <c:pt idx="191">
                  <c:v>4505.5170789540798</c:v>
                </c:pt>
                <c:pt idx="192">
                  <c:v>4490.4466654709568</c:v>
                </c:pt>
                <c:pt idx="193">
                  <c:v>4490.9286760087662</c:v>
                </c:pt>
                <c:pt idx="194">
                  <c:v>4487.0425606052659</c:v>
                </c:pt>
                <c:pt idx="195">
                  <c:v>4488.1241800556672</c:v>
                </c:pt>
                <c:pt idx="196">
                  <c:v>4500.7007181452764</c:v>
                </c:pt>
                <c:pt idx="197">
                  <c:v>4498.0468295673818</c:v>
                </c:pt>
                <c:pt idx="198">
                  <c:v>4503.1685979972708</c:v>
                </c:pt>
                <c:pt idx="199">
                  <c:v>4499.8477826725402</c:v>
                </c:pt>
                <c:pt idx="200">
                  <c:v>4495.7888479567173</c:v>
                </c:pt>
                <c:pt idx="201">
                  <c:v>4497.1480525624247</c:v>
                </c:pt>
                <c:pt idx="202">
                  <c:v>4496.2993809772761</c:v>
                </c:pt>
                <c:pt idx="203">
                  <c:v>4494.6245128034916</c:v>
                </c:pt>
                <c:pt idx="204">
                  <c:v>4500.8999064125255</c:v>
                </c:pt>
                <c:pt idx="205">
                  <c:v>4503.108928362808</c:v>
                </c:pt>
                <c:pt idx="206">
                  <c:v>4515.4256013304202</c:v>
                </c:pt>
                <c:pt idx="207">
                  <c:v>4508.2076677009827</c:v>
                </c:pt>
                <c:pt idx="208">
                  <c:v>4659.5675845400419</c:v>
                </c:pt>
                <c:pt idx="209">
                  <c:v>4656.042629615732</c:v>
                </c:pt>
                <c:pt idx="210">
                  <c:v>4654.9117324784329</c:v>
                </c:pt>
                <c:pt idx="211">
                  <c:v>4649.0975746055647</c:v>
                </c:pt>
                <c:pt idx="212">
                  <c:v>4685.5714258919388</c:v>
                </c:pt>
                <c:pt idx="213">
                  <c:v>4698.1611702811515</c:v>
                </c:pt>
                <c:pt idx="214">
                  <c:v>4698.1611702811515</c:v>
                </c:pt>
                <c:pt idx="215">
                  <c:v>4700.4571493485873</c:v>
                </c:pt>
                <c:pt idx="216">
                  <c:v>4700.0933529766153</c:v>
                </c:pt>
                <c:pt idx="217">
                  <c:v>4697.0257315553308</c:v>
                </c:pt>
                <c:pt idx="218">
                  <c:v>5242.6462679046126</c:v>
                </c:pt>
                <c:pt idx="219">
                  <c:v>5243.0657313543988</c:v>
                </c:pt>
                <c:pt idx="220">
                  <c:v>5233.64215522413</c:v>
                </c:pt>
                <c:pt idx="221">
                  <c:v>5233.6142183742986</c:v>
                </c:pt>
                <c:pt idx="222">
                  <c:v>5238.2491335099548</c:v>
                </c:pt>
                <c:pt idx="223">
                  <c:v>5244.6687473552765</c:v>
                </c:pt>
                <c:pt idx="224">
                  <c:v>5222.8395678864945</c:v>
                </c:pt>
                <c:pt idx="225">
                  <c:v>5203.8966152855037</c:v>
                </c:pt>
                <c:pt idx="226">
                  <c:v>5197.1305628171403</c:v>
                </c:pt>
                <c:pt idx="227">
                  <c:v>5179.3836735901714</c:v>
                </c:pt>
                <c:pt idx="228">
                  <c:v>5147.4522980081383</c:v>
                </c:pt>
                <c:pt idx="229">
                  <c:v>5139.4488129919346</c:v>
                </c:pt>
                <c:pt idx="230">
                  <c:v>5139.4488129919346</c:v>
                </c:pt>
                <c:pt idx="231">
                  <c:v>5138.2406200244241</c:v>
                </c:pt>
                <c:pt idx="232">
                  <c:v>5139.9728200222735</c:v>
                </c:pt>
                <c:pt idx="233">
                  <c:v>5113.465753242237</c:v>
                </c:pt>
                <c:pt idx="234">
                  <c:v>5121.5605741319396</c:v>
                </c:pt>
                <c:pt idx="235">
                  <c:v>5121.8785768768457</c:v>
                </c:pt>
                <c:pt idx="236">
                  <c:v>5084.5625819421812</c:v>
                </c:pt>
                <c:pt idx="237">
                  <c:v>5084.5625819421812</c:v>
                </c:pt>
                <c:pt idx="238">
                  <c:v>5083.2635305625136</c:v>
                </c:pt>
                <c:pt idx="239">
                  <c:v>5089.5203553100528</c:v>
                </c:pt>
                <c:pt idx="240">
                  <c:v>5090.4625049045389</c:v>
                </c:pt>
                <c:pt idx="241">
                  <c:v>5097.0733521094789</c:v>
                </c:pt>
                <c:pt idx="242">
                  <c:v>5092.1763694815327</c:v>
                </c:pt>
                <c:pt idx="243">
                  <c:v>5106.3890550124243</c:v>
                </c:pt>
                <c:pt idx="244">
                  <c:v>5107.2882469890019</c:v>
                </c:pt>
                <c:pt idx="245">
                  <c:v>5110.7512063509075</c:v>
                </c:pt>
                <c:pt idx="246">
                  <c:v>5084.2751522413591</c:v>
                </c:pt>
                <c:pt idx="247">
                  <c:v>5059.9029826241067</c:v>
                </c:pt>
                <c:pt idx="248">
                  <c:v>5047.6959774456418</c:v>
                </c:pt>
                <c:pt idx="249">
                  <c:v>5046.6297637343032</c:v>
                </c:pt>
                <c:pt idx="250">
                  <c:v>5253.5255256332421</c:v>
                </c:pt>
                <c:pt idx="251">
                  <c:v>5249.9562593483788</c:v>
                </c:pt>
                <c:pt idx="252">
                  <c:v>5254.2242047639766</c:v>
                </c:pt>
                <c:pt idx="253">
                  <c:v>5258.5352957592795</c:v>
                </c:pt>
                <c:pt idx="254">
                  <c:v>5258.0385853821026</c:v>
                </c:pt>
                <c:pt idx="255">
                  <c:v>5254.9971962046011</c:v>
                </c:pt>
                <c:pt idx="256">
                  <c:v>5260.6731246191193</c:v>
                </c:pt>
                <c:pt idx="257">
                  <c:v>5253.7704672570617</c:v>
                </c:pt>
                <c:pt idx="258">
                  <c:v>5252.836172145021</c:v>
                </c:pt>
                <c:pt idx="259">
                  <c:v>5238.8831772835993</c:v>
                </c:pt>
                <c:pt idx="260">
                  <c:v>5238.6365611389192</c:v>
                </c:pt>
                <c:pt idx="261">
                  <c:v>5238.4693779292784</c:v>
                </c:pt>
                <c:pt idx="262">
                  <c:v>5238.6760735617081</c:v>
                </c:pt>
                <c:pt idx="263">
                  <c:v>5235.1284958884607</c:v>
                </c:pt>
                <c:pt idx="264">
                  <c:v>5239.3756678206601</c:v>
                </c:pt>
                <c:pt idx="265">
                  <c:v>5265.221644621437</c:v>
                </c:pt>
                <c:pt idx="266">
                  <c:v>5265.373591699964</c:v>
                </c:pt>
                <c:pt idx="267">
                  <c:v>5272.6479409447929</c:v>
                </c:pt>
                <c:pt idx="268">
                  <c:v>5269.5874725722051</c:v>
                </c:pt>
                <c:pt idx="269">
                  <c:v>5236.9933409631567</c:v>
                </c:pt>
                <c:pt idx="270">
                  <c:v>5221.7903950493228</c:v>
                </c:pt>
                <c:pt idx="271">
                  <c:v>5225.1767789160185</c:v>
                </c:pt>
                <c:pt idx="272">
                  <c:v>5224.7993289373226</c:v>
                </c:pt>
                <c:pt idx="273">
                  <c:v>5230.0689796508723</c:v>
                </c:pt>
                <c:pt idx="274">
                  <c:v>5256.1147050289092</c:v>
                </c:pt>
                <c:pt idx="275">
                  <c:v>5270.8212196369086</c:v>
                </c:pt>
                <c:pt idx="276">
                  <c:v>5265.2290613438954</c:v>
                </c:pt>
                <c:pt idx="277">
                  <c:v>5255.4806820510139</c:v>
                </c:pt>
                <c:pt idx="278">
                  <c:v>5274.7504001135485</c:v>
                </c:pt>
                <c:pt idx="279">
                  <c:v>5271.7352340333955</c:v>
                </c:pt>
                <c:pt idx="280">
                  <c:v>5247.1912616978743</c:v>
                </c:pt>
                <c:pt idx="281">
                  <c:v>5255.8334017992993</c:v>
                </c:pt>
                <c:pt idx="282">
                  <c:v>5251.4009428069194</c:v>
                </c:pt>
                <c:pt idx="283">
                  <c:v>5229.5586019943812</c:v>
                </c:pt>
                <c:pt idx="284">
                  <c:v>5227.7362584811272</c:v>
                </c:pt>
                <c:pt idx="285">
                  <c:v>5237.6152072398017</c:v>
                </c:pt>
                <c:pt idx="286">
                  <c:v>5231.8723193264977</c:v>
                </c:pt>
                <c:pt idx="287">
                  <c:v>5242.5216570682596</c:v>
                </c:pt>
                <c:pt idx="288">
                  <c:v>5237.7004937543852</c:v>
                </c:pt>
                <c:pt idx="289">
                  <c:v>5242.2277635285727</c:v>
                </c:pt>
                <c:pt idx="290">
                  <c:v>5241.5757165043178</c:v>
                </c:pt>
                <c:pt idx="291">
                  <c:v>5243.7914224678134</c:v>
                </c:pt>
                <c:pt idx="292">
                  <c:v>5256.8540337508912</c:v>
                </c:pt>
                <c:pt idx="293">
                  <c:v>5261.2668146399392</c:v>
                </c:pt>
                <c:pt idx="294">
                  <c:v>5273.4207400077057</c:v>
                </c:pt>
                <c:pt idx="295">
                  <c:v>5281.7159508246932</c:v>
                </c:pt>
                <c:pt idx="296">
                  <c:v>5283.2598236362001</c:v>
                </c:pt>
                <c:pt idx="297">
                  <c:v>5282.539522892971</c:v>
                </c:pt>
                <c:pt idx="298">
                  <c:v>5266.5684654392562</c:v>
                </c:pt>
                <c:pt idx="299">
                  <c:v>5274.5751970678457</c:v>
                </c:pt>
                <c:pt idx="300">
                  <c:v>5276.6825814855001</c:v>
                </c:pt>
                <c:pt idx="301">
                  <c:v>5287.0813351848246</c:v>
                </c:pt>
                <c:pt idx="302">
                  <c:v>5260.045999391129</c:v>
                </c:pt>
                <c:pt idx="303">
                  <c:v>5241.2441336192933</c:v>
                </c:pt>
                <c:pt idx="304">
                  <c:v>5245.3601455543885</c:v>
                </c:pt>
                <c:pt idx="305">
                  <c:v>5244.7673676635623</c:v>
                </c:pt>
                <c:pt idx="306">
                  <c:v>5244.4807154593036</c:v>
                </c:pt>
                <c:pt idx="307">
                  <c:v>5250.0859601727816</c:v>
                </c:pt>
              </c:numCache>
            </c:numRef>
          </c:val>
          <c:smooth val="0"/>
          <c:extLst>
            <c:ext xmlns:c16="http://schemas.microsoft.com/office/drawing/2014/chart" uri="{C3380CC4-5D6E-409C-BE32-E72D297353CC}">
              <c16:uniqueId val="{00000001-9DAA-4D58-A36D-FE058192A710}"/>
            </c:ext>
          </c:extLst>
        </c:ser>
        <c:ser>
          <c:idx val="2"/>
          <c:order val="2"/>
          <c:tx>
            <c:strRef>
              <c:f>'Ibovespa EPS - Quarter'!$U$5</c:f>
              <c:strCache>
                <c:ptCount val="1"/>
                <c:pt idx="0">
                  <c:v>4T26</c:v>
                </c:pt>
              </c:strCache>
            </c:strRef>
          </c:tx>
          <c:spPr>
            <a:ln w="22225" cap="rnd">
              <a:solidFill>
                <a:srgbClr val="F9C113"/>
              </a:solidFill>
              <a:round/>
            </a:ln>
            <a:effectLst/>
          </c:spPr>
          <c:marker>
            <c:symbol val="none"/>
          </c:marker>
          <c:cat>
            <c:numRef>
              <c:f>'Ibovespa EPS - Quarter'!$R$6:$R$313</c:f>
              <c:numCache>
                <c:formatCode>m/d/yyyy</c:formatCode>
                <c:ptCount val="308"/>
                <c:pt idx="0">
                  <c:v>45853</c:v>
                </c:pt>
                <c:pt idx="1">
                  <c:v>45854</c:v>
                </c:pt>
                <c:pt idx="2">
                  <c:v>45855</c:v>
                </c:pt>
                <c:pt idx="3">
                  <c:v>45856</c:v>
                </c:pt>
                <c:pt idx="4">
                  <c:v>45859</c:v>
                </c:pt>
                <c:pt idx="5">
                  <c:v>45860</c:v>
                </c:pt>
                <c:pt idx="6">
                  <c:v>45861</c:v>
                </c:pt>
                <c:pt idx="7">
                  <c:v>45862</c:v>
                </c:pt>
                <c:pt idx="8">
                  <c:v>45863</c:v>
                </c:pt>
                <c:pt idx="9">
                  <c:v>45865</c:v>
                </c:pt>
                <c:pt idx="10">
                  <c:v>45866</c:v>
                </c:pt>
                <c:pt idx="11">
                  <c:v>45867</c:v>
                </c:pt>
                <c:pt idx="12">
                  <c:v>45868</c:v>
                </c:pt>
                <c:pt idx="13">
                  <c:v>45869</c:v>
                </c:pt>
                <c:pt idx="14">
                  <c:v>45870</c:v>
                </c:pt>
                <c:pt idx="15">
                  <c:v>45872</c:v>
                </c:pt>
                <c:pt idx="16">
                  <c:v>45873</c:v>
                </c:pt>
                <c:pt idx="17">
                  <c:v>45874</c:v>
                </c:pt>
                <c:pt idx="18">
                  <c:v>45875</c:v>
                </c:pt>
                <c:pt idx="19">
                  <c:v>45876</c:v>
                </c:pt>
                <c:pt idx="20">
                  <c:v>45877</c:v>
                </c:pt>
                <c:pt idx="21">
                  <c:v>45878</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45894</c:v>
                </c:pt>
                <c:pt idx="36">
                  <c:v>45895</c:v>
                </c:pt>
                <c:pt idx="37">
                  <c:v>45896</c:v>
                </c:pt>
                <c:pt idx="38">
                  <c:v>45897</c:v>
                </c:pt>
                <c:pt idx="39">
                  <c:v>45898</c:v>
                </c:pt>
                <c:pt idx="40">
                  <c:v>45900</c:v>
                </c:pt>
                <c:pt idx="41">
                  <c:v>45901</c:v>
                </c:pt>
                <c:pt idx="42">
                  <c:v>45902</c:v>
                </c:pt>
                <c:pt idx="43">
                  <c:v>45903</c:v>
                </c:pt>
                <c:pt idx="44">
                  <c:v>45904</c:v>
                </c:pt>
                <c:pt idx="45">
                  <c:v>45905</c:v>
                </c:pt>
                <c:pt idx="46">
                  <c:v>45906</c:v>
                </c:pt>
                <c:pt idx="47">
                  <c:v>45907</c:v>
                </c:pt>
                <c:pt idx="48">
                  <c:v>45908</c:v>
                </c:pt>
                <c:pt idx="49">
                  <c:v>45909</c:v>
                </c:pt>
                <c:pt idx="50">
                  <c:v>45910</c:v>
                </c:pt>
                <c:pt idx="51">
                  <c:v>45911</c:v>
                </c:pt>
                <c:pt idx="52">
                  <c:v>45912</c:v>
                </c:pt>
                <c:pt idx="53">
                  <c:v>45915</c:v>
                </c:pt>
                <c:pt idx="54">
                  <c:v>45916</c:v>
                </c:pt>
                <c:pt idx="55">
                  <c:v>45917</c:v>
                </c:pt>
                <c:pt idx="56">
                  <c:v>45918</c:v>
                </c:pt>
                <c:pt idx="57">
                  <c:v>45919</c:v>
                </c:pt>
                <c:pt idx="58">
                  <c:v>45920</c:v>
                </c:pt>
                <c:pt idx="59">
                  <c:v>45921</c:v>
                </c:pt>
                <c:pt idx="60">
                  <c:v>45922</c:v>
                </c:pt>
                <c:pt idx="61">
                  <c:v>45923</c:v>
                </c:pt>
                <c:pt idx="62">
                  <c:v>45924</c:v>
                </c:pt>
                <c:pt idx="63">
                  <c:v>45925</c:v>
                </c:pt>
                <c:pt idx="64">
                  <c:v>45926</c:v>
                </c:pt>
                <c:pt idx="65">
                  <c:v>45927</c:v>
                </c:pt>
                <c:pt idx="66">
                  <c:v>45928</c:v>
                </c:pt>
                <c:pt idx="67">
                  <c:v>45929</c:v>
                </c:pt>
                <c:pt idx="68">
                  <c:v>45930</c:v>
                </c:pt>
                <c:pt idx="69">
                  <c:v>45931</c:v>
                </c:pt>
                <c:pt idx="70">
                  <c:v>45932</c:v>
                </c:pt>
                <c:pt idx="71">
                  <c:v>45933</c:v>
                </c:pt>
                <c:pt idx="72">
                  <c:v>45936</c:v>
                </c:pt>
                <c:pt idx="73">
                  <c:v>45937</c:v>
                </c:pt>
                <c:pt idx="74">
                  <c:v>45938</c:v>
                </c:pt>
                <c:pt idx="75">
                  <c:v>45939</c:v>
                </c:pt>
                <c:pt idx="76">
                  <c:v>45940</c:v>
                </c:pt>
                <c:pt idx="77">
                  <c:v>45943</c:v>
                </c:pt>
                <c:pt idx="78">
                  <c:v>45944</c:v>
                </c:pt>
                <c:pt idx="79">
                  <c:v>45945</c:v>
                </c:pt>
                <c:pt idx="80">
                  <c:v>45946</c:v>
                </c:pt>
                <c:pt idx="81">
                  <c:v>45947</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45964</c:v>
                </c:pt>
                <c:pt idx="95">
                  <c:v>45965</c:v>
                </c:pt>
                <c:pt idx="96">
                  <c:v>45966</c:v>
                </c:pt>
                <c:pt idx="97">
                  <c:v>45967</c:v>
                </c:pt>
                <c:pt idx="98">
                  <c:v>45968</c:v>
                </c:pt>
                <c:pt idx="99">
                  <c:v>45969</c:v>
                </c:pt>
                <c:pt idx="100">
                  <c:v>45970</c:v>
                </c:pt>
                <c:pt idx="101">
                  <c:v>45971</c:v>
                </c:pt>
                <c:pt idx="102">
                  <c:v>45972</c:v>
                </c:pt>
                <c:pt idx="103">
                  <c:v>45973</c:v>
                </c:pt>
                <c:pt idx="104">
                  <c:v>45974</c:v>
                </c:pt>
                <c:pt idx="105">
                  <c:v>45975</c:v>
                </c:pt>
                <c:pt idx="106">
                  <c:v>45976</c:v>
                </c:pt>
                <c:pt idx="107">
                  <c:v>45977</c:v>
                </c:pt>
                <c:pt idx="108">
                  <c:v>45978</c:v>
                </c:pt>
                <c:pt idx="109">
                  <c:v>45979</c:v>
                </c:pt>
                <c:pt idx="110">
                  <c:v>45980</c:v>
                </c:pt>
                <c:pt idx="111">
                  <c:v>45981</c:v>
                </c:pt>
                <c:pt idx="112">
                  <c:v>45982</c:v>
                </c:pt>
                <c:pt idx="113">
                  <c:v>45984</c:v>
                </c:pt>
                <c:pt idx="114">
                  <c:v>45985</c:v>
                </c:pt>
                <c:pt idx="115">
                  <c:v>45986</c:v>
                </c:pt>
                <c:pt idx="116">
                  <c:v>45987</c:v>
                </c:pt>
                <c:pt idx="117">
                  <c:v>45988</c:v>
                </c:pt>
                <c:pt idx="118">
                  <c:v>45989</c:v>
                </c:pt>
                <c:pt idx="119">
                  <c:v>45990</c:v>
                </c:pt>
                <c:pt idx="120">
                  <c:v>45992</c:v>
                </c:pt>
                <c:pt idx="121">
                  <c:v>45993</c:v>
                </c:pt>
                <c:pt idx="122">
                  <c:v>45994</c:v>
                </c:pt>
                <c:pt idx="123">
                  <c:v>45995</c:v>
                </c:pt>
                <c:pt idx="124">
                  <c:v>45996</c:v>
                </c:pt>
                <c:pt idx="125">
                  <c:v>45997</c:v>
                </c:pt>
                <c:pt idx="126">
                  <c:v>45998</c:v>
                </c:pt>
                <c:pt idx="127">
                  <c:v>45999</c:v>
                </c:pt>
                <c:pt idx="128">
                  <c:v>46000</c:v>
                </c:pt>
                <c:pt idx="129">
                  <c:v>46001</c:v>
                </c:pt>
                <c:pt idx="130">
                  <c:v>46002</c:v>
                </c:pt>
                <c:pt idx="131">
                  <c:v>46003</c:v>
                </c:pt>
                <c:pt idx="132">
                  <c:v>46004</c:v>
                </c:pt>
                <c:pt idx="133">
                  <c:v>46006</c:v>
                </c:pt>
                <c:pt idx="134">
                  <c:v>46007</c:v>
                </c:pt>
                <c:pt idx="135">
                  <c:v>46008</c:v>
                </c:pt>
                <c:pt idx="136">
                  <c:v>46009</c:v>
                </c:pt>
                <c:pt idx="137">
                  <c:v>46010</c:v>
                </c:pt>
                <c:pt idx="138">
                  <c:v>46011</c:v>
                </c:pt>
                <c:pt idx="139">
                  <c:v>46012</c:v>
                </c:pt>
                <c:pt idx="140">
                  <c:v>46013</c:v>
                </c:pt>
                <c:pt idx="141">
                  <c:v>46014</c:v>
                </c:pt>
                <c:pt idx="142">
                  <c:v>46015</c:v>
                </c:pt>
                <c:pt idx="143">
                  <c:v>46016</c:v>
                </c:pt>
                <c:pt idx="144">
                  <c:v>46017</c:v>
                </c:pt>
                <c:pt idx="145">
                  <c:v>46019</c:v>
                </c:pt>
                <c:pt idx="146">
                  <c:v>46020</c:v>
                </c:pt>
                <c:pt idx="147">
                  <c:v>46021</c:v>
                </c:pt>
                <c:pt idx="148">
                  <c:v>46023</c:v>
                </c:pt>
                <c:pt idx="149">
                  <c:v>46024</c:v>
                </c:pt>
                <c:pt idx="150">
                  <c:v>46025</c:v>
                </c:pt>
                <c:pt idx="151">
                  <c:v>46027</c:v>
                </c:pt>
                <c:pt idx="152">
                  <c:v>46028</c:v>
                </c:pt>
                <c:pt idx="153">
                  <c:v>46029</c:v>
                </c:pt>
                <c:pt idx="154">
                  <c:v>46030</c:v>
                </c:pt>
                <c:pt idx="155">
                  <c:v>46031</c:v>
                </c:pt>
                <c:pt idx="156">
                  <c:v>46033</c:v>
                </c:pt>
                <c:pt idx="157">
                  <c:v>46034</c:v>
                </c:pt>
                <c:pt idx="158">
                  <c:v>46035</c:v>
                </c:pt>
                <c:pt idx="159">
                  <c:v>46036</c:v>
                </c:pt>
                <c:pt idx="160">
                  <c:v>46037</c:v>
                </c:pt>
                <c:pt idx="161">
                  <c:v>46038</c:v>
                </c:pt>
                <c:pt idx="162">
                  <c:v>46040</c:v>
                </c:pt>
                <c:pt idx="163">
                  <c:v>46041</c:v>
                </c:pt>
                <c:pt idx="164">
                  <c:v>46042</c:v>
                </c:pt>
                <c:pt idx="165">
                  <c:v>46043</c:v>
                </c:pt>
                <c:pt idx="166">
                  <c:v>46044</c:v>
                </c:pt>
                <c:pt idx="167">
                  <c:v>46045</c:v>
                </c:pt>
                <c:pt idx="168">
                  <c:v>46048</c:v>
                </c:pt>
                <c:pt idx="169">
                  <c:v>46049</c:v>
                </c:pt>
                <c:pt idx="170">
                  <c:v>46050</c:v>
                </c:pt>
                <c:pt idx="171">
                  <c:v>46051</c:v>
                </c:pt>
                <c:pt idx="172">
                  <c:v>46052</c:v>
                </c:pt>
                <c:pt idx="173">
                  <c:v>46054</c:v>
                </c:pt>
                <c:pt idx="174">
                  <c:v>46055</c:v>
                </c:pt>
                <c:pt idx="175">
                  <c:v>46056</c:v>
                </c:pt>
                <c:pt idx="176">
                  <c:v>46057</c:v>
                </c:pt>
                <c:pt idx="177">
                  <c:v>46058</c:v>
                </c:pt>
                <c:pt idx="178">
                  <c:v>46059</c:v>
                </c:pt>
                <c:pt idx="179">
                  <c:v>46061</c:v>
                </c:pt>
                <c:pt idx="180">
                  <c:v>46062</c:v>
                </c:pt>
                <c:pt idx="181">
                  <c:v>46063</c:v>
                </c:pt>
                <c:pt idx="182">
                  <c:v>46064</c:v>
                </c:pt>
                <c:pt idx="183">
                  <c:v>46065</c:v>
                </c:pt>
                <c:pt idx="184">
                  <c:v>46066</c:v>
                </c:pt>
                <c:pt idx="185">
                  <c:v>46067</c:v>
                </c:pt>
                <c:pt idx="186">
                  <c:v>46070</c:v>
                </c:pt>
                <c:pt idx="187">
                  <c:v>46071</c:v>
                </c:pt>
                <c:pt idx="188">
                  <c:v>46072</c:v>
                </c:pt>
                <c:pt idx="189">
                  <c:v>46073</c:v>
                </c:pt>
                <c:pt idx="190">
                  <c:v>46076</c:v>
                </c:pt>
                <c:pt idx="191">
                  <c:v>46077</c:v>
                </c:pt>
                <c:pt idx="192">
                  <c:v>46078</c:v>
                </c:pt>
                <c:pt idx="193">
                  <c:v>46079</c:v>
                </c:pt>
                <c:pt idx="194">
                  <c:v>46080</c:v>
                </c:pt>
                <c:pt idx="195">
                  <c:v>46082</c:v>
                </c:pt>
                <c:pt idx="196">
                  <c:v>46083</c:v>
                </c:pt>
                <c:pt idx="197">
                  <c:v>46084</c:v>
                </c:pt>
                <c:pt idx="198">
                  <c:v>46085</c:v>
                </c:pt>
                <c:pt idx="199">
                  <c:v>46086</c:v>
                </c:pt>
                <c:pt idx="200">
                  <c:v>46087</c:v>
                </c:pt>
                <c:pt idx="201">
                  <c:v>46088</c:v>
                </c:pt>
                <c:pt idx="202">
                  <c:v>46089</c:v>
                </c:pt>
                <c:pt idx="203">
                  <c:v>46090</c:v>
                </c:pt>
                <c:pt idx="204">
                  <c:v>46091</c:v>
                </c:pt>
                <c:pt idx="205">
                  <c:v>46092</c:v>
                </c:pt>
                <c:pt idx="206">
                  <c:v>46093</c:v>
                </c:pt>
                <c:pt idx="207">
                  <c:v>46094</c:v>
                </c:pt>
                <c:pt idx="208">
                  <c:v>46096</c:v>
                </c:pt>
                <c:pt idx="209">
                  <c:v>46097</c:v>
                </c:pt>
                <c:pt idx="210">
                  <c:v>46098</c:v>
                </c:pt>
                <c:pt idx="211">
                  <c:v>46099</c:v>
                </c:pt>
                <c:pt idx="212">
                  <c:v>46100</c:v>
                </c:pt>
                <c:pt idx="213">
                  <c:v>46101</c:v>
                </c:pt>
                <c:pt idx="214">
                  <c:v>46102</c:v>
                </c:pt>
                <c:pt idx="215">
                  <c:v>46104</c:v>
                </c:pt>
                <c:pt idx="216">
                  <c:v>46105</c:v>
                </c:pt>
                <c:pt idx="217">
                  <c:v>46106</c:v>
                </c:pt>
                <c:pt idx="218">
                  <c:v>46107</c:v>
                </c:pt>
                <c:pt idx="219">
                  <c:v>46108</c:v>
                </c:pt>
                <c:pt idx="220">
                  <c:v>46109</c:v>
                </c:pt>
                <c:pt idx="221">
                  <c:v>46111</c:v>
                </c:pt>
                <c:pt idx="222">
                  <c:v>46112</c:v>
                </c:pt>
                <c:pt idx="223">
                  <c:v>46113</c:v>
                </c:pt>
                <c:pt idx="224">
                  <c:v>46114</c:v>
                </c:pt>
                <c:pt idx="225">
                  <c:v>46118</c:v>
                </c:pt>
                <c:pt idx="226">
                  <c:v>46119</c:v>
                </c:pt>
                <c:pt idx="227">
                  <c:v>46120</c:v>
                </c:pt>
                <c:pt idx="228">
                  <c:v>46121</c:v>
                </c:pt>
                <c:pt idx="229">
                  <c:v>46122</c:v>
                </c:pt>
                <c:pt idx="230">
                  <c:v>46123</c:v>
                </c:pt>
                <c:pt idx="231">
                  <c:v>46124</c:v>
                </c:pt>
                <c:pt idx="232">
                  <c:v>46125</c:v>
                </c:pt>
                <c:pt idx="233">
                  <c:v>46126</c:v>
                </c:pt>
                <c:pt idx="234">
                  <c:v>46127</c:v>
                </c:pt>
                <c:pt idx="235">
                  <c:v>46128</c:v>
                </c:pt>
                <c:pt idx="236">
                  <c:v>46129</c:v>
                </c:pt>
                <c:pt idx="237">
                  <c:v>46130</c:v>
                </c:pt>
                <c:pt idx="238">
                  <c:v>46132</c:v>
                </c:pt>
                <c:pt idx="239">
                  <c:v>46133</c:v>
                </c:pt>
                <c:pt idx="240">
                  <c:v>46134</c:v>
                </c:pt>
                <c:pt idx="241">
                  <c:v>46135</c:v>
                </c:pt>
                <c:pt idx="242">
                  <c:v>46136</c:v>
                </c:pt>
                <c:pt idx="243">
                  <c:v>46139</c:v>
                </c:pt>
                <c:pt idx="244">
                  <c:v>46140</c:v>
                </c:pt>
                <c:pt idx="245">
                  <c:v>46141</c:v>
                </c:pt>
                <c:pt idx="246">
                  <c:v>46142</c:v>
                </c:pt>
                <c:pt idx="247">
                  <c:v>46143</c:v>
                </c:pt>
                <c:pt idx="248">
                  <c:v>46145</c:v>
                </c:pt>
                <c:pt idx="249">
                  <c:v>46146</c:v>
                </c:pt>
                <c:pt idx="250">
                  <c:v>46147</c:v>
                </c:pt>
                <c:pt idx="251">
                  <c:v>46148</c:v>
                </c:pt>
                <c:pt idx="252">
                  <c:v>46149</c:v>
                </c:pt>
                <c:pt idx="253">
                  <c:v>46150</c:v>
                </c:pt>
                <c:pt idx="254">
                  <c:v>46152</c:v>
                </c:pt>
                <c:pt idx="255">
                  <c:v>46153</c:v>
                </c:pt>
                <c:pt idx="256">
                  <c:v>46154</c:v>
                </c:pt>
                <c:pt idx="257">
                  <c:v>46155</c:v>
                </c:pt>
                <c:pt idx="258">
                  <c:v>46156</c:v>
                </c:pt>
                <c:pt idx="259">
                  <c:v>46157</c:v>
                </c:pt>
                <c:pt idx="260">
                  <c:v>46158</c:v>
                </c:pt>
                <c:pt idx="261">
                  <c:v>46159</c:v>
                </c:pt>
                <c:pt idx="262">
                  <c:v>46160</c:v>
                </c:pt>
                <c:pt idx="263">
                  <c:v>46161</c:v>
                </c:pt>
                <c:pt idx="264">
                  <c:v>46162</c:v>
                </c:pt>
                <c:pt idx="265">
                  <c:v>46163</c:v>
                </c:pt>
                <c:pt idx="266">
                  <c:v>46164</c:v>
                </c:pt>
                <c:pt idx="267">
                  <c:v>46167</c:v>
                </c:pt>
                <c:pt idx="268">
                  <c:v>46168</c:v>
                </c:pt>
                <c:pt idx="269">
                  <c:v>46169</c:v>
                </c:pt>
                <c:pt idx="270">
                  <c:v>46170</c:v>
                </c:pt>
                <c:pt idx="271">
                  <c:v>46171</c:v>
                </c:pt>
                <c:pt idx="272">
                  <c:v>46172</c:v>
                </c:pt>
                <c:pt idx="273">
                  <c:v>46173</c:v>
                </c:pt>
                <c:pt idx="274">
                  <c:v>46174</c:v>
                </c:pt>
                <c:pt idx="275">
                  <c:v>46175</c:v>
                </c:pt>
                <c:pt idx="276">
                  <c:v>46176</c:v>
                </c:pt>
                <c:pt idx="277">
                  <c:v>46177</c:v>
                </c:pt>
                <c:pt idx="278">
                  <c:v>46178</c:v>
                </c:pt>
                <c:pt idx="279">
                  <c:v>46179</c:v>
                </c:pt>
                <c:pt idx="280">
                  <c:v>46181</c:v>
                </c:pt>
                <c:pt idx="281">
                  <c:v>46182</c:v>
                </c:pt>
                <c:pt idx="282">
                  <c:v>46183</c:v>
                </c:pt>
                <c:pt idx="283">
                  <c:v>46184</c:v>
                </c:pt>
                <c:pt idx="284">
                  <c:v>46185</c:v>
                </c:pt>
                <c:pt idx="285">
                  <c:v>46188</c:v>
                </c:pt>
                <c:pt idx="286">
                  <c:v>46189</c:v>
                </c:pt>
                <c:pt idx="287">
                  <c:v>46190</c:v>
                </c:pt>
                <c:pt idx="288">
                  <c:v>46191</c:v>
                </c:pt>
                <c:pt idx="289">
                  <c:v>46192</c:v>
                </c:pt>
                <c:pt idx="290">
                  <c:v>46194</c:v>
                </c:pt>
                <c:pt idx="291">
                  <c:v>46195</c:v>
                </c:pt>
                <c:pt idx="292">
                  <c:v>46196</c:v>
                </c:pt>
                <c:pt idx="293">
                  <c:v>46197</c:v>
                </c:pt>
                <c:pt idx="294">
                  <c:v>46198</c:v>
                </c:pt>
                <c:pt idx="295">
                  <c:v>46199</c:v>
                </c:pt>
                <c:pt idx="296">
                  <c:v>46202</c:v>
                </c:pt>
                <c:pt idx="297">
                  <c:v>46203</c:v>
                </c:pt>
                <c:pt idx="298">
                  <c:v>46204</c:v>
                </c:pt>
                <c:pt idx="299">
                  <c:v>46205</c:v>
                </c:pt>
                <c:pt idx="300">
                  <c:v>46206</c:v>
                </c:pt>
                <c:pt idx="301">
                  <c:v>46209</c:v>
                </c:pt>
                <c:pt idx="302">
                  <c:v>46210</c:v>
                </c:pt>
                <c:pt idx="303">
                  <c:v>46212</c:v>
                </c:pt>
                <c:pt idx="304">
                  <c:v>46213</c:v>
                </c:pt>
                <c:pt idx="305">
                  <c:v>46216</c:v>
                </c:pt>
                <c:pt idx="306">
                  <c:v>46217</c:v>
                </c:pt>
                <c:pt idx="307">
                  <c:v>46218</c:v>
                </c:pt>
              </c:numCache>
            </c:numRef>
          </c:cat>
          <c:val>
            <c:numRef>
              <c:f>'Ibovespa EPS - Quarter'!$U$6:$U$313</c:f>
              <c:numCache>
                <c:formatCode>0.0</c:formatCode>
                <c:ptCount val="308"/>
                <c:pt idx="0">
                  <c:v>3718.2264496465682</c:v>
                </c:pt>
                <c:pt idx="1">
                  <c:v>3916.4289184986524</c:v>
                </c:pt>
                <c:pt idx="2">
                  <c:v>3925.4115371400571</c:v>
                </c:pt>
                <c:pt idx="3">
                  <c:v>3953.7347022790518</c:v>
                </c:pt>
                <c:pt idx="4">
                  <c:v>3955.2490119539011</c:v>
                </c:pt>
                <c:pt idx="5">
                  <c:v>3959.3397837668617</c:v>
                </c:pt>
                <c:pt idx="6">
                  <c:v>3961.6075172717165</c:v>
                </c:pt>
                <c:pt idx="7">
                  <c:v>3973.1404108647403</c:v>
                </c:pt>
                <c:pt idx="8">
                  <c:v>3971.2793181270995</c:v>
                </c:pt>
                <c:pt idx="9">
                  <c:v>3974.5704077527139</c:v>
                </c:pt>
                <c:pt idx="10">
                  <c:v>3974.0583845401634</c:v>
                </c:pt>
                <c:pt idx="11">
                  <c:v>3986.4326579606436</c:v>
                </c:pt>
                <c:pt idx="12">
                  <c:v>3986.5388439892995</c:v>
                </c:pt>
                <c:pt idx="13">
                  <c:v>3984.4794148340479</c:v>
                </c:pt>
                <c:pt idx="14">
                  <c:v>3982.5596899331745</c:v>
                </c:pt>
                <c:pt idx="15">
                  <c:v>3980.4538448363151</c:v>
                </c:pt>
                <c:pt idx="16">
                  <c:v>3977.0362704160698</c:v>
                </c:pt>
                <c:pt idx="17">
                  <c:v>4006.3406441163361</c:v>
                </c:pt>
                <c:pt idx="18">
                  <c:v>4012.6976939250794</c:v>
                </c:pt>
                <c:pt idx="19">
                  <c:v>4012.9449975960997</c:v>
                </c:pt>
                <c:pt idx="20">
                  <c:v>4019.8735329074152</c:v>
                </c:pt>
                <c:pt idx="21">
                  <c:v>4020.6598227757927</c:v>
                </c:pt>
                <c:pt idx="22">
                  <c:v>4013.6560126803206</c:v>
                </c:pt>
                <c:pt idx="23">
                  <c:v>4024.9841314553178</c:v>
                </c:pt>
                <c:pt idx="24">
                  <c:v>4038.9843701123109</c:v>
                </c:pt>
                <c:pt idx="25">
                  <c:v>4045.826817100547</c:v>
                </c:pt>
                <c:pt idx="26">
                  <c:v>4055.6542658853405</c:v>
                </c:pt>
                <c:pt idx="27">
                  <c:v>4044.6409127582265</c:v>
                </c:pt>
                <c:pt idx="28">
                  <c:v>4044.6409127582265</c:v>
                </c:pt>
                <c:pt idx="29">
                  <c:v>4052.6735441973351</c:v>
                </c:pt>
                <c:pt idx="30">
                  <c:v>4056.2358685170452</c:v>
                </c:pt>
                <c:pt idx="31">
                  <c:v>4051.9553677830513</c:v>
                </c:pt>
                <c:pt idx="32">
                  <c:v>4064.7058594042464</c:v>
                </c:pt>
                <c:pt idx="33">
                  <c:v>4075.7550536284807</c:v>
                </c:pt>
                <c:pt idx="34">
                  <c:v>4075.7550536284807</c:v>
                </c:pt>
                <c:pt idx="35">
                  <c:v>4067.3342008263871</c:v>
                </c:pt>
                <c:pt idx="36">
                  <c:v>4039.4824282485511</c:v>
                </c:pt>
                <c:pt idx="37">
                  <c:v>4039.8838734500769</c:v>
                </c:pt>
                <c:pt idx="38">
                  <c:v>4039.2059160174695</c:v>
                </c:pt>
                <c:pt idx="39">
                  <c:v>4029.9908739319917</c:v>
                </c:pt>
                <c:pt idx="40">
                  <c:v>4031.4647788570774</c:v>
                </c:pt>
                <c:pt idx="41">
                  <c:v>4051.1112454669646</c:v>
                </c:pt>
                <c:pt idx="42">
                  <c:v>4047.9188419850175</c:v>
                </c:pt>
                <c:pt idx="43">
                  <c:v>4001.2604649565601</c:v>
                </c:pt>
                <c:pt idx="44">
                  <c:v>4001.9712282173723</c:v>
                </c:pt>
                <c:pt idx="45">
                  <c:v>3982.5149250211421</c:v>
                </c:pt>
                <c:pt idx="46">
                  <c:v>3981.7321273086809</c:v>
                </c:pt>
                <c:pt idx="47">
                  <c:v>3982.5484023265672</c:v>
                </c:pt>
                <c:pt idx="48">
                  <c:v>3964.0814437653225</c:v>
                </c:pt>
                <c:pt idx="49">
                  <c:v>3964.9589575359973</c:v>
                </c:pt>
                <c:pt idx="50">
                  <c:v>3959.4206414117621</c:v>
                </c:pt>
                <c:pt idx="51">
                  <c:v>3961.6970275350568</c:v>
                </c:pt>
                <c:pt idx="52">
                  <c:v>3963.8584088544908</c:v>
                </c:pt>
                <c:pt idx="53">
                  <c:v>3953.5225037911059</c:v>
                </c:pt>
                <c:pt idx="54">
                  <c:v>3950.9471442879162</c:v>
                </c:pt>
                <c:pt idx="55">
                  <c:v>3951.2988155445332</c:v>
                </c:pt>
                <c:pt idx="56">
                  <c:v>3951.0967342807962</c:v>
                </c:pt>
                <c:pt idx="57">
                  <c:v>3955.6859985242531</c:v>
                </c:pt>
                <c:pt idx="58">
                  <c:v>3952.4221043489219</c:v>
                </c:pt>
                <c:pt idx="59">
                  <c:v>3952.4364732954637</c:v>
                </c:pt>
                <c:pt idx="60">
                  <c:v>3952.8089475818706</c:v>
                </c:pt>
                <c:pt idx="61">
                  <c:v>3944.6594748481871</c:v>
                </c:pt>
                <c:pt idx="62">
                  <c:v>3944.7453856982947</c:v>
                </c:pt>
                <c:pt idx="63">
                  <c:v>3946.2526850232757</c:v>
                </c:pt>
                <c:pt idx="64">
                  <c:v>3952.1434729632401</c:v>
                </c:pt>
                <c:pt idx="65">
                  <c:v>3952.1434729632401</c:v>
                </c:pt>
                <c:pt idx="66">
                  <c:v>3951.3384459490981</c:v>
                </c:pt>
                <c:pt idx="67">
                  <c:v>3985.3971813153571</c:v>
                </c:pt>
                <c:pt idx="68">
                  <c:v>3988.5374332300271</c:v>
                </c:pt>
                <c:pt idx="69">
                  <c:v>3992.8057321674883</c:v>
                </c:pt>
                <c:pt idx="70">
                  <c:v>3980.5152132916123</c:v>
                </c:pt>
                <c:pt idx="71">
                  <c:v>3984.2522298189615</c:v>
                </c:pt>
                <c:pt idx="72">
                  <c:v>3981.4421711713426</c:v>
                </c:pt>
                <c:pt idx="73">
                  <c:v>3892.3092210429222</c:v>
                </c:pt>
                <c:pt idx="74">
                  <c:v>3890.8523574648734</c:v>
                </c:pt>
                <c:pt idx="75">
                  <c:v>3918.1572104668044</c:v>
                </c:pt>
                <c:pt idx="76">
                  <c:v>3925.3342679205571</c:v>
                </c:pt>
                <c:pt idx="77">
                  <c:v>3914.6228637155277</c:v>
                </c:pt>
                <c:pt idx="78">
                  <c:v>3908.5531681592506</c:v>
                </c:pt>
                <c:pt idx="79">
                  <c:v>3922.8873225655743</c:v>
                </c:pt>
                <c:pt idx="80">
                  <c:v>3914.4663001903295</c:v>
                </c:pt>
                <c:pt idx="81">
                  <c:v>3911.7849746887632</c:v>
                </c:pt>
                <c:pt idx="82">
                  <c:v>3910.0629594117254</c:v>
                </c:pt>
                <c:pt idx="83">
                  <c:v>3911.949377647552</c:v>
                </c:pt>
                <c:pt idx="84">
                  <c:v>3927.79482142809</c:v>
                </c:pt>
                <c:pt idx="85">
                  <c:v>3929.4703692226781</c:v>
                </c:pt>
                <c:pt idx="86">
                  <c:v>3934.3178338715675</c:v>
                </c:pt>
                <c:pt idx="87">
                  <c:v>3934.3178338715675</c:v>
                </c:pt>
                <c:pt idx="88">
                  <c:v>3934.8192626067244</c:v>
                </c:pt>
                <c:pt idx="89">
                  <c:v>3934.7629147868192</c:v>
                </c:pt>
                <c:pt idx="90">
                  <c:v>4400.3616564374843</c:v>
                </c:pt>
                <c:pt idx="91">
                  <c:v>4403.8947693344962</c:v>
                </c:pt>
                <c:pt idx="92">
                  <c:v>4417.3089113806391</c:v>
                </c:pt>
                <c:pt idx="93">
                  <c:v>4414.7243275267401</c:v>
                </c:pt>
                <c:pt idx="94">
                  <c:v>4414.7586606916675</c:v>
                </c:pt>
                <c:pt idx="95">
                  <c:v>4417.2150546146158</c:v>
                </c:pt>
                <c:pt idx="96">
                  <c:v>4430.2488927447203</c:v>
                </c:pt>
                <c:pt idx="97">
                  <c:v>4404.6543182025489</c:v>
                </c:pt>
                <c:pt idx="98">
                  <c:v>4407.8268059837637</c:v>
                </c:pt>
                <c:pt idx="99">
                  <c:v>4401.7586501566948</c:v>
                </c:pt>
                <c:pt idx="100">
                  <c:v>4401.6744965685766</c:v>
                </c:pt>
                <c:pt idx="101">
                  <c:v>4418.9220925371428</c:v>
                </c:pt>
                <c:pt idx="102">
                  <c:v>4420.6483951050332</c:v>
                </c:pt>
                <c:pt idx="103">
                  <c:v>4412.7067030217631</c:v>
                </c:pt>
                <c:pt idx="104">
                  <c:v>4416.4051171096744</c:v>
                </c:pt>
                <c:pt idx="105">
                  <c:v>4408.8009083008055</c:v>
                </c:pt>
                <c:pt idx="106">
                  <c:v>4408.8009083008055</c:v>
                </c:pt>
                <c:pt idx="107">
                  <c:v>4408.13541256601</c:v>
                </c:pt>
                <c:pt idx="108">
                  <c:v>4423.8659847427543</c:v>
                </c:pt>
                <c:pt idx="109">
                  <c:v>4457.9616826879337</c:v>
                </c:pt>
                <c:pt idx="110">
                  <c:v>4429.3726420325711</c:v>
                </c:pt>
                <c:pt idx="111">
                  <c:v>4432.3361639536242</c:v>
                </c:pt>
                <c:pt idx="112">
                  <c:v>4431.3174886167189</c:v>
                </c:pt>
                <c:pt idx="113">
                  <c:v>4435.2405071145604</c:v>
                </c:pt>
                <c:pt idx="114">
                  <c:v>4436.4828627889556</c:v>
                </c:pt>
                <c:pt idx="115">
                  <c:v>4438.4927802110515</c:v>
                </c:pt>
                <c:pt idx="116">
                  <c:v>4440.0384399279719</c:v>
                </c:pt>
                <c:pt idx="117">
                  <c:v>4478.1592323005461</c:v>
                </c:pt>
                <c:pt idx="118">
                  <c:v>4479.9356700669296</c:v>
                </c:pt>
                <c:pt idx="119">
                  <c:v>4483.0578234059003</c:v>
                </c:pt>
                <c:pt idx="120">
                  <c:v>4479.179251335162</c:v>
                </c:pt>
                <c:pt idx="121">
                  <c:v>4489.0319316222722</c:v>
                </c:pt>
                <c:pt idx="122">
                  <c:v>4510.7348785832019</c:v>
                </c:pt>
                <c:pt idx="123">
                  <c:v>4505.6670675695386</c:v>
                </c:pt>
                <c:pt idx="124">
                  <c:v>4581.6153941046832</c:v>
                </c:pt>
                <c:pt idx="125">
                  <c:v>4588.930023189253</c:v>
                </c:pt>
                <c:pt idx="126">
                  <c:v>4590.9536292756502</c:v>
                </c:pt>
                <c:pt idx="127">
                  <c:v>4594.4048250775577</c:v>
                </c:pt>
                <c:pt idx="128">
                  <c:v>4591.2525951459866</c:v>
                </c:pt>
                <c:pt idx="129">
                  <c:v>4625.4483239183301</c:v>
                </c:pt>
                <c:pt idx="130">
                  <c:v>4624.028122980877</c:v>
                </c:pt>
                <c:pt idx="131">
                  <c:v>4635.6995274411083</c:v>
                </c:pt>
                <c:pt idx="132">
                  <c:v>4635.6995274411083</c:v>
                </c:pt>
                <c:pt idx="133">
                  <c:v>4628.3224649379563</c:v>
                </c:pt>
                <c:pt idx="134">
                  <c:v>4658.2925949008895</c:v>
                </c:pt>
                <c:pt idx="135">
                  <c:v>4632.2596921362092</c:v>
                </c:pt>
                <c:pt idx="136">
                  <c:v>4599.7691552967581</c:v>
                </c:pt>
                <c:pt idx="137">
                  <c:v>4614.7620964515236</c:v>
                </c:pt>
                <c:pt idx="138">
                  <c:v>4615.1201849023664</c:v>
                </c:pt>
                <c:pt idx="139">
                  <c:v>4615.1201849023664</c:v>
                </c:pt>
                <c:pt idx="140">
                  <c:v>4677.3352146974321</c:v>
                </c:pt>
                <c:pt idx="141">
                  <c:v>4697.6059029343614</c:v>
                </c:pt>
                <c:pt idx="142">
                  <c:v>4695.8999246113835</c:v>
                </c:pt>
                <c:pt idx="143">
                  <c:v>4695.8999246113835</c:v>
                </c:pt>
                <c:pt idx="144">
                  <c:v>4698.0465374513751</c:v>
                </c:pt>
                <c:pt idx="145">
                  <c:v>4697.6750112310428</c:v>
                </c:pt>
                <c:pt idx="146">
                  <c:v>4699.9833632318632</c:v>
                </c:pt>
                <c:pt idx="147">
                  <c:v>4822.4527872017934</c:v>
                </c:pt>
                <c:pt idx="148">
                  <c:v>4822.4527872017934</c:v>
                </c:pt>
                <c:pt idx="149">
                  <c:v>4833.4109999426391</c:v>
                </c:pt>
                <c:pt idx="150">
                  <c:v>4833.4109999426391</c:v>
                </c:pt>
                <c:pt idx="151">
                  <c:v>4803.5803210435679</c:v>
                </c:pt>
                <c:pt idx="152">
                  <c:v>4806.3244329283734</c:v>
                </c:pt>
                <c:pt idx="153">
                  <c:v>4813.6436493846631</c:v>
                </c:pt>
                <c:pt idx="154">
                  <c:v>4815.7645535270658</c:v>
                </c:pt>
                <c:pt idx="155">
                  <c:v>4829.768725087546</c:v>
                </c:pt>
                <c:pt idx="156">
                  <c:v>4826.4210021735398</c:v>
                </c:pt>
                <c:pt idx="157">
                  <c:v>4809.0355461824956</c:v>
                </c:pt>
                <c:pt idx="158">
                  <c:v>4820.4298110638483</c:v>
                </c:pt>
                <c:pt idx="159">
                  <c:v>4815.6694959642355</c:v>
                </c:pt>
                <c:pt idx="160">
                  <c:v>4878.8245012258467</c:v>
                </c:pt>
                <c:pt idx="161">
                  <c:v>4877.7358113963373</c:v>
                </c:pt>
                <c:pt idx="162">
                  <c:v>4885.4191461756518</c:v>
                </c:pt>
                <c:pt idx="163">
                  <c:v>4885.4650684300605</c:v>
                </c:pt>
                <c:pt idx="164">
                  <c:v>4857.6346899600258</c:v>
                </c:pt>
                <c:pt idx="165">
                  <c:v>4834.2850874106698</c:v>
                </c:pt>
                <c:pt idx="166">
                  <c:v>4839.4393245694146</c:v>
                </c:pt>
                <c:pt idx="167">
                  <c:v>4837.0583763362247</c:v>
                </c:pt>
                <c:pt idx="168">
                  <c:v>4838.0337641479546</c:v>
                </c:pt>
                <c:pt idx="169">
                  <c:v>4830.0385795369248</c:v>
                </c:pt>
                <c:pt idx="170">
                  <c:v>4819.0890135382297</c:v>
                </c:pt>
                <c:pt idx="171">
                  <c:v>4815.118446879449</c:v>
                </c:pt>
                <c:pt idx="172">
                  <c:v>4813.696225143678</c:v>
                </c:pt>
                <c:pt idx="173">
                  <c:v>4813.0130884033942</c:v>
                </c:pt>
                <c:pt idx="174">
                  <c:v>4821.571595326488</c:v>
                </c:pt>
                <c:pt idx="175">
                  <c:v>4830.1339998418016</c:v>
                </c:pt>
                <c:pt idx="176">
                  <c:v>4826.5518367954164</c:v>
                </c:pt>
                <c:pt idx="177">
                  <c:v>4824.6393538269795</c:v>
                </c:pt>
                <c:pt idx="178">
                  <c:v>4822.6895429358774</c:v>
                </c:pt>
                <c:pt idx="179">
                  <c:v>4823.0614370995645</c:v>
                </c:pt>
                <c:pt idx="180">
                  <c:v>4799.0542553742662</c:v>
                </c:pt>
                <c:pt idx="181">
                  <c:v>4793.3599220015876</c:v>
                </c:pt>
                <c:pt idx="182">
                  <c:v>4770.0011748077713</c:v>
                </c:pt>
                <c:pt idx="183">
                  <c:v>4724.5798360197387</c:v>
                </c:pt>
                <c:pt idx="184">
                  <c:v>4759.0952657246698</c:v>
                </c:pt>
                <c:pt idx="185">
                  <c:v>4759.0952657246698</c:v>
                </c:pt>
                <c:pt idx="186">
                  <c:v>4759.0952657246698</c:v>
                </c:pt>
                <c:pt idx="187">
                  <c:v>4781.662700822244</c:v>
                </c:pt>
                <c:pt idx="188">
                  <c:v>4777.1695471627427</c:v>
                </c:pt>
                <c:pt idx="189">
                  <c:v>4785.7966135962815</c:v>
                </c:pt>
                <c:pt idx="190">
                  <c:v>4779.7702852391949</c:v>
                </c:pt>
                <c:pt idx="191">
                  <c:v>4784.5246787416609</c:v>
                </c:pt>
                <c:pt idx="192">
                  <c:v>4767.4451062897106</c:v>
                </c:pt>
                <c:pt idx="193">
                  <c:v>4770.2047504608763</c:v>
                </c:pt>
                <c:pt idx="194">
                  <c:v>4765.62394698964</c:v>
                </c:pt>
                <c:pt idx="195">
                  <c:v>4765.3743425010862</c:v>
                </c:pt>
                <c:pt idx="196">
                  <c:v>4788.3205180748282</c:v>
                </c:pt>
                <c:pt idx="197">
                  <c:v>4784.4991675625579</c:v>
                </c:pt>
                <c:pt idx="198">
                  <c:v>4789.9471092398589</c:v>
                </c:pt>
                <c:pt idx="199">
                  <c:v>4775.7180908394466</c:v>
                </c:pt>
                <c:pt idx="200">
                  <c:v>4774.670786198988</c:v>
                </c:pt>
                <c:pt idx="201">
                  <c:v>4772.9333681377793</c:v>
                </c:pt>
                <c:pt idx="202">
                  <c:v>4773.3517566391465</c:v>
                </c:pt>
                <c:pt idx="203">
                  <c:v>4778.8839779116852</c:v>
                </c:pt>
                <c:pt idx="204">
                  <c:v>4786.7823691170088</c:v>
                </c:pt>
                <c:pt idx="205">
                  <c:v>4763.3521758925808</c:v>
                </c:pt>
                <c:pt idx="206">
                  <c:v>4768.8973786276956</c:v>
                </c:pt>
                <c:pt idx="207">
                  <c:v>4770.297421378682</c:v>
                </c:pt>
                <c:pt idx="208">
                  <c:v>4851.3949370846349</c:v>
                </c:pt>
                <c:pt idx="209">
                  <c:v>4841.110614580145</c:v>
                </c:pt>
                <c:pt idx="210">
                  <c:v>4839.7299225983124</c:v>
                </c:pt>
                <c:pt idx="211">
                  <c:v>4830.9180372950723</c:v>
                </c:pt>
                <c:pt idx="212">
                  <c:v>4879.456890244729</c:v>
                </c:pt>
                <c:pt idx="213">
                  <c:v>4886.8172672892324</c:v>
                </c:pt>
                <c:pt idx="214">
                  <c:v>4886.8172672892324</c:v>
                </c:pt>
                <c:pt idx="215">
                  <c:v>4888.0385727389457</c:v>
                </c:pt>
                <c:pt idx="216">
                  <c:v>4888.2818313979242</c:v>
                </c:pt>
                <c:pt idx="217">
                  <c:v>4882.746354784359</c:v>
                </c:pt>
                <c:pt idx="218">
                  <c:v>5431.5044192570285</c:v>
                </c:pt>
                <c:pt idx="219">
                  <c:v>5433.6645716919666</c:v>
                </c:pt>
                <c:pt idx="220">
                  <c:v>5432.8530257649891</c:v>
                </c:pt>
                <c:pt idx="221">
                  <c:v>5432.3829334256661</c:v>
                </c:pt>
                <c:pt idx="222">
                  <c:v>5436.1662269554699</c:v>
                </c:pt>
                <c:pt idx="223">
                  <c:v>5439.8232311094298</c:v>
                </c:pt>
                <c:pt idx="224">
                  <c:v>5431.9035344048089</c:v>
                </c:pt>
                <c:pt idx="225">
                  <c:v>5422.1063649498192</c:v>
                </c:pt>
                <c:pt idx="226">
                  <c:v>5444.4916358610835</c:v>
                </c:pt>
                <c:pt idx="227">
                  <c:v>5423.9052818011914</c:v>
                </c:pt>
                <c:pt idx="228">
                  <c:v>5372.0120678993144</c:v>
                </c:pt>
                <c:pt idx="229">
                  <c:v>5367.749880090988</c:v>
                </c:pt>
                <c:pt idx="230">
                  <c:v>5367.749880090988</c:v>
                </c:pt>
                <c:pt idx="231">
                  <c:v>5366.4051254150818</c:v>
                </c:pt>
                <c:pt idx="232">
                  <c:v>5368.7178040830731</c:v>
                </c:pt>
                <c:pt idx="233">
                  <c:v>5357.9275440568881</c:v>
                </c:pt>
                <c:pt idx="234">
                  <c:v>5366.4279216522964</c:v>
                </c:pt>
                <c:pt idx="235">
                  <c:v>5376.5284017310078</c:v>
                </c:pt>
                <c:pt idx="236">
                  <c:v>5351.1367136908711</c:v>
                </c:pt>
                <c:pt idx="237">
                  <c:v>5351.1367136908711</c:v>
                </c:pt>
                <c:pt idx="238">
                  <c:v>5346.5329374759949</c:v>
                </c:pt>
                <c:pt idx="239">
                  <c:v>5352.1557186135378</c:v>
                </c:pt>
                <c:pt idx="240">
                  <c:v>5358.3933922091592</c:v>
                </c:pt>
                <c:pt idx="241">
                  <c:v>5363.094018263514</c:v>
                </c:pt>
                <c:pt idx="242">
                  <c:v>5356.5897510968462</c:v>
                </c:pt>
                <c:pt idx="243">
                  <c:v>5353.7414243278745</c:v>
                </c:pt>
                <c:pt idx="244">
                  <c:v>5356.910869107588</c:v>
                </c:pt>
                <c:pt idx="245">
                  <c:v>5314.9453981950983</c:v>
                </c:pt>
                <c:pt idx="246">
                  <c:v>5300.6899048216501</c:v>
                </c:pt>
                <c:pt idx="247">
                  <c:v>5282.53296908827</c:v>
                </c:pt>
                <c:pt idx="248">
                  <c:v>5279.8935935812815</c:v>
                </c:pt>
                <c:pt idx="249">
                  <c:v>5304.2727717908811</c:v>
                </c:pt>
                <c:pt idx="250">
                  <c:v>5532.4235959116786</c:v>
                </c:pt>
                <c:pt idx="251">
                  <c:v>5539.9208913808025</c:v>
                </c:pt>
                <c:pt idx="252">
                  <c:v>5549.5177806448901</c:v>
                </c:pt>
                <c:pt idx="253">
                  <c:v>5554.9456939202701</c:v>
                </c:pt>
                <c:pt idx="254">
                  <c:v>5556.2056421940842</c:v>
                </c:pt>
                <c:pt idx="255">
                  <c:v>5552.8753657203852</c:v>
                </c:pt>
                <c:pt idx="256">
                  <c:v>5558.9453013983266</c:v>
                </c:pt>
                <c:pt idx="257">
                  <c:v>5553.7645548727078</c:v>
                </c:pt>
                <c:pt idx="258">
                  <c:v>5551.6100169070078</c:v>
                </c:pt>
                <c:pt idx="259">
                  <c:v>5542.0716687182385</c:v>
                </c:pt>
                <c:pt idx="260">
                  <c:v>5541.9434283230048</c:v>
                </c:pt>
                <c:pt idx="261">
                  <c:v>5542.2911116736941</c:v>
                </c:pt>
                <c:pt idx="262">
                  <c:v>5545.60900496057</c:v>
                </c:pt>
                <c:pt idx="263">
                  <c:v>5542.7774365687956</c:v>
                </c:pt>
                <c:pt idx="264">
                  <c:v>5546.6756206553318</c:v>
                </c:pt>
                <c:pt idx="265">
                  <c:v>5549.3311061438535</c:v>
                </c:pt>
                <c:pt idx="266">
                  <c:v>5549.7927766253633</c:v>
                </c:pt>
                <c:pt idx="267">
                  <c:v>5556.9467506906194</c:v>
                </c:pt>
                <c:pt idx="268">
                  <c:v>5562.5575198511378</c:v>
                </c:pt>
                <c:pt idx="269">
                  <c:v>5531.7054013440702</c:v>
                </c:pt>
                <c:pt idx="270">
                  <c:v>5494.3008788906845</c:v>
                </c:pt>
                <c:pt idx="271">
                  <c:v>5497.5681468865878</c:v>
                </c:pt>
                <c:pt idx="272">
                  <c:v>5498.4027307283723</c:v>
                </c:pt>
                <c:pt idx="273">
                  <c:v>5503.672381441922</c:v>
                </c:pt>
                <c:pt idx="274">
                  <c:v>5540.2954662550592</c:v>
                </c:pt>
                <c:pt idx="275">
                  <c:v>5550.7838402345496</c:v>
                </c:pt>
                <c:pt idx="276">
                  <c:v>5537.76259496282</c:v>
                </c:pt>
                <c:pt idx="277">
                  <c:v>5545.8291040525737</c:v>
                </c:pt>
                <c:pt idx="278">
                  <c:v>5581.4914610394326</c:v>
                </c:pt>
                <c:pt idx="279">
                  <c:v>5590.9098886427792</c:v>
                </c:pt>
                <c:pt idx="280">
                  <c:v>5604.4647864935223</c:v>
                </c:pt>
                <c:pt idx="281">
                  <c:v>5615.0414557597123</c:v>
                </c:pt>
                <c:pt idx="282">
                  <c:v>5602.0715839483919</c:v>
                </c:pt>
                <c:pt idx="283">
                  <c:v>5612.1556683247345</c:v>
                </c:pt>
                <c:pt idx="284">
                  <c:v>5614.0302846930508</c:v>
                </c:pt>
                <c:pt idx="285">
                  <c:v>5618.3606215332966</c:v>
                </c:pt>
                <c:pt idx="286">
                  <c:v>5611.0948403035145</c:v>
                </c:pt>
                <c:pt idx="287">
                  <c:v>5614.0108768496066</c:v>
                </c:pt>
                <c:pt idx="288">
                  <c:v>5611.4383398737009</c:v>
                </c:pt>
                <c:pt idx="289">
                  <c:v>5615.2641294178384</c:v>
                </c:pt>
                <c:pt idx="290">
                  <c:v>5612.5892227569193</c:v>
                </c:pt>
                <c:pt idx="291">
                  <c:v>5613.8816646128726</c:v>
                </c:pt>
                <c:pt idx="292">
                  <c:v>5624.2809211728563</c:v>
                </c:pt>
                <c:pt idx="293">
                  <c:v>5626.7579750701279</c:v>
                </c:pt>
                <c:pt idx="294">
                  <c:v>5633.2454921262079</c:v>
                </c:pt>
                <c:pt idx="295">
                  <c:v>5642.7139908863637</c:v>
                </c:pt>
                <c:pt idx="296">
                  <c:v>5644.3633852867342</c:v>
                </c:pt>
                <c:pt idx="297">
                  <c:v>5643.2848541125768</c:v>
                </c:pt>
                <c:pt idx="298">
                  <c:v>5478.8538780782237</c:v>
                </c:pt>
                <c:pt idx="299">
                  <c:v>5484.1756415459195</c:v>
                </c:pt>
                <c:pt idx="300">
                  <c:v>5486.5972572236988</c:v>
                </c:pt>
                <c:pt idx="301">
                  <c:v>5496.5047368762689</c:v>
                </c:pt>
                <c:pt idx="302">
                  <c:v>5481.2581566239069</c:v>
                </c:pt>
                <c:pt idx="303">
                  <c:v>5458.542086549367</c:v>
                </c:pt>
                <c:pt idx="304">
                  <c:v>5461.1880913156001</c:v>
                </c:pt>
                <c:pt idx="305">
                  <c:v>5450.7997548626126</c:v>
                </c:pt>
                <c:pt idx="306">
                  <c:v>5450.6510252112721</c:v>
                </c:pt>
                <c:pt idx="307">
                  <c:v>5448.6217930970979</c:v>
                </c:pt>
              </c:numCache>
            </c:numRef>
          </c:val>
          <c:smooth val="0"/>
          <c:extLst>
            <c:ext xmlns:c16="http://schemas.microsoft.com/office/drawing/2014/chart" uri="{C3380CC4-5D6E-409C-BE32-E72D297353CC}">
              <c16:uniqueId val="{00000002-9DAA-4D58-A36D-FE058192A710}"/>
            </c:ext>
          </c:extLst>
        </c:ser>
        <c:dLbls>
          <c:showLegendKey val="0"/>
          <c:showVal val="0"/>
          <c:showCatName val="0"/>
          <c:showSerName val="0"/>
          <c:showPercent val="0"/>
          <c:showBubbleSize val="0"/>
        </c:dLbls>
        <c:smooth val="0"/>
        <c:axId val="603625183"/>
        <c:axId val="603608863"/>
      </c:lineChart>
      <c:dateAx>
        <c:axId val="603625183"/>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603608863"/>
        <c:crosses val="autoZero"/>
        <c:auto val="1"/>
        <c:lblOffset val="100"/>
        <c:baseTimeUnit val="days"/>
      </c:dateAx>
      <c:valAx>
        <c:axId val="603608863"/>
        <c:scaling>
          <c:orientation val="minMax"/>
          <c:min val="300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60362518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22750831592791"/>
          <c:y val="0.19199742023355798"/>
          <c:w val="0.79474209879408297"/>
          <c:h val="0.57863410612926847"/>
        </c:manualLayout>
      </c:layout>
      <c:lineChart>
        <c:grouping val="standard"/>
        <c:varyColors val="0"/>
        <c:ser>
          <c:idx val="0"/>
          <c:order val="0"/>
          <c:tx>
            <c:strRef>
              <c:f>'Ibovespa EPS - Year'!$P$5</c:f>
              <c:strCache>
                <c:ptCount val="1"/>
                <c:pt idx="0">
                  <c:v>2026</c:v>
                </c:pt>
              </c:strCache>
            </c:strRef>
          </c:tx>
          <c:spPr>
            <a:ln w="28575" cap="rnd">
              <a:solidFill>
                <a:schemeClr val="accent3"/>
              </a:solidFill>
              <a:round/>
            </a:ln>
            <a:effectLst/>
          </c:spPr>
          <c:marker>
            <c:symbol val="none"/>
          </c:marker>
          <c:cat>
            <c:numRef>
              <c:f>'Ibovespa EPS - Year'!$O$6:$O$347</c:f>
              <c:numCache>
                <c:formatCode>m/d/yyyy</c:formatCode>
                <c:ptCount val="342"/>
                <c:pt idx="0">
                  <c:v>45853</c:v>
                </c:pt>
                <c:pt idx="1">
                  <c:v>45854</c:v>
                </c:pt>
                <c:pt idx="2">
                  <c:v>45855</c:v>
                </c:pt>
                <c:pt idx="3">
                  <c:v>45856</c:v>
                </c:pt>
                <c:pt idx="4">
                  <c:v>45857</c:v>
                </c:pt>
                <c:pt idx="5">
                  <c:v>45858</c:v>
                </c:pt>
                <c:pt idx="6">
                  <c:v>45859</c:v>
                </c:pt>
                <c:pt idx="7">
                  <c:v>45860</c:v>
                </c:pt>
                <c:pt idx="8">
                  <c:v>45861</c:v>
                </c:pt>
                <c:pt idx="9">
                  <c:v>45862</c:v>
                </c:pt>
                <c:pt idx="10">
                  <c:v>45863</c:v>
                </c:pt>
                <c:pt idx="11">
                  <c:v>45865</c:v>
                </c:pt>
                <c:pt idx="12">
                  <c:v>45866</c:v>
                </c:pt>
                <c:pt idx="13">
                  <c:v>45867</c:v>
                </c:pt>
                <c:pt idx="14">
                  <c:v>45868</c:v>
                </c:pt>
                <c:pt idx="15">
                  <c:v>45869</c:v>
                </c:pt>
                <c:pt idx="16">
                  <c:v>45870</c:v>
                </c:pt>
                <c:pt idx="17">
                  <c:v>45872</c:v>
                </c:pt>
                <c:pt idx="18">
                  <c:v>45873</c:v>
                </c:pt>
                <c:pt idx="19">
                  <c:v>45874</c:v>
                </c:pt>
                <c:pt idx="20">
                  <c:v>45875</c:v>
                </c:pt>
                <c:pt idx="21">
                  <c:v>45876</c:v>
                </c:pt>
                <c:pt idx="22">
                  <c:v>45877</c:v>
                </c:pt>
                <c:pt idx="23">
                  <c:v>45878</c:v>
                </c:pt>
                <c:pt idx="24">
                  <c:v>45879</c:v>
                </c:pt>
                <c:pt idx="25">
                  <c:v>45880</c:v>
                </c:pt>
                <c:pt idx="26">
                  <c:v>45881</c:v>
                </c:pt>
                <c:pt idx="27">
                  <c:v>45882</c:v>
                </c:pt>
                <c:pt idx="28">
                  <c:v>45883</c:v>
                </c:pt>
                <c:pt idx="29">
                  <c:v>45884</c:v>
                </c:pt>
                <c:pt idx="30">
                  <c:v>45885</c:v>
                </c:pt>
                <c:pt idx="31">
                  <c:v>45886</c:v>
                </c:pt>
                <c:pt idx="32">
                  <c:v>45887</c:v>
                </c:pt>
                <c:pt idx="33">
                  <c:v>45888</c:v>
                </c:pt>
                <c:pt idx="34">
                  <c:v>45889</c:v>
                </c:pt>
                <c:pt idx="35">
                  <c:v>45890</c:v>
                </c:pt>
                <c:pt idx="36">
                  <c:v>45891</c:v>
                </c:pt>
                <c:pt idx="37">
                  <c:v>45892</c:v>
                </c:pt>
                <c:pt idx="38">
                  <c:v>45894</c:v>
                </c:pt>
                <c:pt idx="39">
                  <c:v>45895</c:v>
                </c:pt>
                <c:pt idx="40">
                  <c:v>45896</c:v>
                </c:pt>
                <c:pt idx="41">
                  <c:v>45897</c:v>
                </c:pt>
                <c:pt idx="42">
                  <c:v>45898</c:v>
                </c:pt>
                <c:pt idx="43">
                  <c:v>45899</c:v>
                </c:pt>
                <c:pt idx="44">
                  <c:v>45900</c:v>
                </c:pt>
                <c:pt idx="45">
                  <c:v>45901</c:v>
                </c:pt>
                <c:pt idx="46">
                  <c:v>45902</c:v>
                </c:pt>
                <c:pt idx="47">
                  <c:v>45903</c:v>
                </c:pt>
                <c:pt idx="48">
                  <c:v>45904</c:v>
                </c:pt>
                <c:pt idx="49">
                  <c:v>45905</c:v>
                </c:pt>
                <c:pt idx="50">
                  <c:v>45906</c:v>
                </c:pt>
                <c:pt idx="51">
                  <c:v>45907</c:v>
                </c:pt>
                <c:pt idx="52">
                  <c:v>45908</c:v>
                </c:pt>
                <c:pt idx="53">
                  <c:v>45909</c:v>
                </c:pt>
                <c:pt idx="54">
                  <c:v>45910</c:v>
                </c:pt>
                <c:pt idx="55">
                  <c:v>45911</c:v>
                </c:pt>
                <c:pt idx="56">
                  <c:v>45912</c:v>
                </c:pt>
                <c:pt idx="57">
                  <c:v>45914</c:v>
                </c:pt>
                <c:pt idx="58">
                  <c:v>45915</c:v>
                </c:pt>
                <c:pt idx="59">
                  <c:v>45916</c:v>
                </c:pt>
                <c:pt idx="60">
                  <c:v>45917</c:v>
                </c:pt>
                <c:pt idx="61">
                  <c:v>45918</c:v>
                </c:pt>
                <c:pt idx="62">
                  <c:v>45919</c:v>
                </c:pt>
                <c:pt idx="63">
                  <c:v>45920</c:v>
                </c:pt>
                <c:pt idx="64">
                  <c:v>45921</c:v>
                </c:pt>
                <c:pt idx="65">
                  <c:v>45922</c:v>
                </c:pt>
                <c:pt idx="66">
                  <c:v>45923</c:v>
                </c:pt>
                <c:pt idx="67">
                  <c:v>45924</c:v>
                </c:pt>
                <c:pt idx="68">
                  <c:v>45925</c:v>
                </c:pt>
                <c:pt idx="69">
                  <c:v>45926</c:v>
                </c:pt>
                <c:pt idx="70">
                  <c:v>45927</c:v>
                </c:pt>
                <c:pt idx="71">
                  <c:v>45928</c:v>
                </c:pt>
                <c:pt idx="72">
                  <c:v>45929</c:v>
                </c:pt>
                <c:pt idx="73">
                  <c:v>45930</c:v>
                </c:pt>
                <c:pt idx="74">
                  <c:v>45931</c:v>
                </c:pt>
                <c:pt idx="75">
                  <c:v>45932</c:v>
                </c:pt>
                <c:pt idx="76">
                  <c:v>45933</c:v>
                </c:pt>
                <c:pt idx="77">
                  <c:v>45935</c:v>
                </c:pt>
                <c:pt idx="78">
                  <c:v>45936</c:v>
                </c:pt>
                <c:pt idx="79">
                  <c:v>45937</c:v>
                </c:pt>
                <c:pt idx="80">
                  <c:v>45938</c:v>
                </c:pt>
                <c:pt idx="81">
                  <c:v>45939</c:v>
                </c:pt>
                <c:pt idx="82">
                  <c:v>45940</c:v>
                </c:pt>
                <c:pt idx="83">
                  <c:v>45942</c:v>
                </c:pt>
                <c:pt idx="84">
                  <c:v>45943</c:v>
                </c:pt>
                <c:pt idx="85">
                  <c:v>45944</c:v>
                </c:pt>
                <c:pt idx="86">
                  <c:v>45945</c:v>
                </c:pt>
                <c:pt idx="87">
                  <c:v>45946</c:v>
                </c:pt>
                <c:pt idx="88">
                  <c:v>45947</c:v>
                </c:pt>
                <c:pt idx="89">
                  <c:v>45949</c:v>
                </c:pt>
                <c:pt idx="90">
                  <c:v>45950</c:v>
                </c:pt>
                <c:pt idx="91">
                  <c:v>45951</c:v>
                </c:pt>
                <c:pt idx="92">
                  <c:v>45952</c:v>
                </c:pt>
                <c:pt idx="93">
                  <c:v>45953</c:v>
                </c:pt>
                <c:pt idx="94">
                  <c:v>45954</c:v>
                </c:pt>
                <c:pt idx="95">
                  <c:v>45955</c:v>
                </c:pt>
                <c:pt idx="96">
                  <c:v>45956</c:v>
                </c:pt>
                <c:pt idx="97">
                  <c:v>45957</c:v>
                </c:pt>
                <c:pt idx="98">
                  <c:v>45958</c:v>
                </c:pt>
                <c:pt idx="99">
                  <c:v>45959</c:v>
                </c:pt>
                <c:pt idx="100">
                  <c:v>45960</c:v>
                </c:pt>
                <c:pt idx="101">
                  <c:v>45961</c:v>
                </c:pt>
                <c:pt idx="102">
                  <c:v>45962</c:v>
                </c:pt>
                <c:pt idx="103">
                  <c:v>45964</c:v>
                </c:pt>
                <c:pt idx="104">
                  <c:v>45965</c:v>
                </c:pt>
                <c:pt idx="105">
                  <c:v>45966</c:v>
                </c:pt>
                <c:pt idx="106">
                  <c:v>45967</c:v>
                </c:pt>
                <c:pt idx="107">
                  <c:v>45968</c:v>
                </c:pt>
                <c:pt idx="108">
                  <c:v>45969</c:v>
                </c:pt>
                <c:pt idx="109">
                  <c:v>45970</c:v>
                </c:pt>
                <c:pt idx="110">
                  <c:v>45971</c:v>
                </c:pt>
                <c:pt idx="111">
                  <c:v>45972</c:v>
                </c:pt>
                <c:pt idx="112">
                  <c:v>45973</c:v>
                </c:pt>
                <c:pt idx="113">
                  <c:v>45974</c:v>
                </c:pt>
                <c:pt idx="114">
                  <c:v>45975</c:v>
                </c:pt>
                <c:pt idx="115">
                  <c:v>45976</c:v>
                </c:pt>
                <c:pt idx="116">
                  <c:v>45977</c:v>
                </c:pt>
                <c:pt idx="117">
                  <c:v>45978</c:v>
                </c:pt>
                <c:pt idx="118">
                  <c:v>45979</c:v>
                </c:pt>
                <c:pt idx="119">
                  <c:v>45980</c:v>
                </c:pt>
                <c:pt idx="120">
                  <c:v>45981</c:v>
                </c:pt>
                <c:pt idx="121">
                  <c:v>45982</c:v>
                </c:pt>
                <c:pt idx="122">
                  <c:v>45984</c:v>
                </c:pt>
                <c:pt idx="123">
                  <c:v>45985</c:v>
                </c:pt>
                <c:pt idx="124">
                  <c:v>45986</c:v>
                </c:pt>
                <c:pt idx="125">
                  <c:v>45987</c:v>
                </c:pt>
                <c:pt idx="126">
                  <c:v>45988</c:v>
                </c:pt>
                <c:pt idx="127">
                  <c:v>45989</c:v>
                </c:pt>
                <c:pt idx="128">
                  <c:v>45990</c:v>
                </c:pt>
                <c:pt idx="129">
                  <c:v>45991</c:v>
                </c:pt>
                <c:pt idx="130">
                  <c:v>45992</c:v>
                </c:pt>
                <c:pt idx="131">
                  <c:v>45993</c:v>
                </c:pt>
                <c:pt idx="132">
                  <c:v>45994</c:v>
                </c:pt>
                <c:pt idx="133">
                  <c:v>45995</c:v>
                </c:pt>
                <c:pt idx="134">
                  <c:v>45996</c:v>
                </c:pt>
                <c:pt idx="135">
                  <c:v>45997</c:v>
                </c:pt>
                <c:pt idx="136">
                  <c:v>45998</c:v>
                </c:pt>
                <c:pt idx="137">
                  <c:v>45999</c:v>
                </c:pt>
                <c:pt idx="138">
                  <c:v>46000</c:v>
                </c:pt>
                <c:pt idx="139">
                  <c:v>46001</c:v>
                </c:pt>
                <c:pt idx="140">
                  <c:v>46002</c:v>
                </c:pt>
                <c:pt idx="141">
                  <c:v>46003</c:v>
                </c:pt>
                <c:pt idx="142">
                  <c:v>46004</c:v>
                </c:pt>
                <c:pt idx="143">
                  <c:v>46005</c:v>
                </c:pt>
                <c:pt idx="144">
                  <c:v>46006</c:v>
                </c:pt>
                <c:pt idx="145">
                  <c:v>46007</c:v>
                </c:pt>
                <c:pt idx="146">
                  <c:v>46008</c:v>
                </c:pt>
                <c:pt idx="147">
                  <c:v>46009</c:v>
                </c:pt>
                <c:pt idx="148">
                  <c:v>46010</c:v>
                </c:pt>
                <c:pt idx="149">
                  <c:v>46011</c:v>
                </c:pt>
                <c:pt idx="150">
                  <c:v>46012</c:v>
                </c:pt>
                <c:pt idx="151">
                  <c:v>46013</c:v>
                </c:pt>
                <c:pt idx="152">
                  <c:v>46014</c:v>
                </c:pt>
                <c:pt idx="153">
                  <c:v>46015</c:v>
                </c:pt>
                <c:pt idx="154">
                  <c:v>46016</c:v>
                </c:pt>
                <c:pt idx="155">
                  <c:v>46017</c:v>
                </c:pt>
                <c:pt idx="156">
                  <c:v>46019</c:v>
                </c:pt>
                <c:pt idx="157">
                  <c:v>46020</c:v>
                </c:pt>
                <c:pt idx="158">
                  <c:v>46021</c:v>
                </c:pt>
                <c:pt idx="159">
                  <c:v>46022</c:v>
                </c:pt>
                <c:pt idx="160">
                  <c:v>46023</c:v>
                </c:pt>
                <c:pt idx="161">
                  <c:v>46024</c:v>
                </c:pt>
                <c:pt idx="162">
                  <c:v>46025</c:v>
                </c:pt>
                <c:pt idx="163">
                  <c:v>46027</c:v>
                </c:pt>
                <c:pt idx="164">
                  <c:v>46028</c:v>
                </c:pt>
                <c:pt idx="165">
                  <c:v>46029</c:v>
                </c:pt>
                <c:pt idx="166">
                  <c:v>46030</c:v>
                </c:pt>
                <c:pt idx="167">
                  <c:v>46031</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46047</c:v>
                </c:pt>
                <c:pt idx="182">
                  <c:v>46048</c:v>
                </c:pt>
                <c:pt idx="183">
                  <c:v>46049</c:v>
                </c:pt>
                <c:pt idx="184">
                  <c:v>46050</c:v>
                </c:pt>
                <c:pt idx="185">
                  <c:v>46051</c:v>
                </c:pt>
                <c:pt idx="186">
                  <c:v>46052</c:v>
                </c:pt>
                <c:pt idx="187">
                  <c:v>46054</c:v>
                </c:pt>
                <c:pt idx="188">
                  <c:v>46055</c:v>
                </c:pt>
                <c:pt idx="189">
                  <c:v>46056</c:v>
                </c:pt>
                <c:pt idx="190">
                  <c:v>46057</c:v>
                </c:pt>
                <c:pt idx="191">
                  <c:v>46058</c:v>
                </c:pt>
                <c:pt idx="192">
                  <c:v>46059</c:v>
                </c:pt>
                <c:pt idx="193">
                  <c:v>46060</c:v>
                </c:pt>
                <c:pt idx="194">
                  <c:v>46061</c:v>
                </c:pt>
                <c:pt idx="195">
                  <c:v>46062</c:v>
                </c:pt>
                <c:pt idx="196">
                  <c:v>46063</c:v>
                </c:pt>
                <c:pt idx="197">
                  <c:v>46064</c:v>
                </c:pt>
                <c:pt idx="198">
                  <c:v>46065</c:v>
                </c:pt>
                <c:pt idx="199">
                  <c:v>46066</c:v>
                </c:pt>
                <c:pt idx="200">
                  <c:v>46067</c:v>
                </c:pt>
                <c:pt idx="201">
                  <c:v>46068</c:v>
                </c:pt>
                <c:pt idx="202">
                  <c:v>46069</c:v>
                </c:pt>
                <c:pt idx="203">
                  <c:v>46070</c:v>
                </c:pt>
                <c:pt idx="204">
                  <c:v>46071</c:v>
                </c:pt>
                <c:pt idx="205">
                  <c:v>46072</c:v>
                </c:pt>
                <c:pt idx="206">
                  <c:v>46073</c:v>
                </c:pt>
                <c:pt idx="207">
                  <c:v>46075</c:v>
                </c:pt>
                <c:pt idx="208">
                  <c:v>46076</c:v>
                </c:pt>
                <c:pt idx="209">
                  <c:v>46077</c:v>
                </c:pt>
                <c:pt idx="210">
                  <c:v>46078</c:v>
                </c:pt>
                <c:pt idx="211">
                  <c:v>46079</c:v>
                </c:pt>
                <c:pt idx="212">
                  <c:v>46080</c:v>
                </c:pt>
                <c:pt idx="213">
                  <c:v>46082</c:v>
                </c:pt>
                <c:pt idx="214">
                  <c:v>46083</c:v>
                </c:pt>
                <c:pt idx="215">
                  <c:v>46084</c:v>
                </c:pt>
                <c:pt idx="216">
                  <c:v>46085</c:v>
                </c:pt>
                <c:pt idx="217">
                  <c:v>46086</c:v>
                </c:pt>
                <c:pt idx="218">
                  <c:v>46087</c:v>
                </c:pt>
                <c:pt idx="219">
                  <c:v>46088</c:v>
                </c:pt>
                <c:pt idx="220">
                  <c:v>46089</c:v>
                </c:pt>
                <c:pt idx="221">
                  <c:v>46090</c:v>
                </c:pt>
                <c:pt idx="222">
                  <c:v>46091</c:v>
                </c:pt>
                <c:pt idx="223">
                  <c:v>46092</c:v>
                </c:pt>
                <c:pt idx="224">
                  <c:v>46093</c:v>
                </c:pt>
                <c:pt idx="225">
                  <c:v>46094</c:v>
                </c:pt>
                <c:pt idx="226">
                  <c:v>46095</c:v>
                </c:pt>
                <c:pt idx="227">
                  <c:v>46096</c:v>
                </c:pt>
                <c:pt idx="228">
                  <c:v>46097</c:v>
                </c:pt>
                <c:pt idx="229">
                  <c:v>46098</c:v>
                </c:pt>
                <c:pt idx="230">
                  <c:v>46099</c:v>
                </c:pt>
                <c:pt idx="231">
                  <c:v>46100</c:v>
                </c:pt>
                <c:pt idx="232">
                  <c:v>46101</c:v>
                </c:pt>
                <c:pt idx="233">
                  <c:v>46102</c:v>
                </c:pt>
                <c:pt idx="234">
                  <c:v>46103</c:v>
                </c:pt>
                <c:pt idx="235">
                  <c:v>46104</c:v>
                </c:pt>
                <c:pt idx="236">
                  <c:v>46105</c:v>
                </c:pt>
                <c:pt idx="237">
                  <c:v>46106</c:v>
                </c:pt>
                <c:pt idx="238">
                  <c:v>46107</c:v>
                </c:pt>
                <c:pt idx="239">
                  <c:v>46108</c:v>
                </c:pt>
                <c:pt idx="240">
                  <c:v>46109</c:v>
                </c:pt>
                <c:pt idx="241">
                  <c:v>46110</c:v>
                </c:pt>
                <c:pt idx="242">
                  <c:v>46111</c:v>
                </c:pt>
                <c:pt idx="243">
                  <c:v>46112</c:v>
                </c:pt>
                <c:pt idx="244">
                  <c:v>46113</c:v>
                </c:pt>
                <c:pt idx="245">
                  <c:v>46114</c:v>
                </c:pt>
                <c:pt idx="246">
                  <c:v>46115</c:v>
                </c:pt>
                <c:pt idx="247">
                  <c:v>46117</c:v>
                </c:pt>
                <c:pt idx="248">
                  <c:v>46118</c:v>
                </c:pt>
                <c:pt idx="249">
                  <c:v>46119</c:v>
                </c:pt>
                <c:pt idx="250">
                  <c:v>46120</c:v>
                </c:pt>
                <c:pt idx="251">
                  <c:v>46121</c:v>
                </c:pt>
                <c:pt idx="252">
                  <c:v>46122</c:v>
                </c:pt>
                <c:pt idx="253">
                  <c:v>46123</c:v>
                </c:pt>
                <c:pt idx="254">
                  <c:v>46124</c:v>
                </c:pt>
                <c:pt idx="255">
                  <c:v>46125</c:v>
                </c:pt>
                <c:pt idx="256">
                  <c:v>46126</c:v>
                </c:pt>
                <c:pt idx="257">
                  <c:v>46127</c:v>
                </c:pt>
                <c:pt idx="258">
                  <c:v>46128</c:v>
                </c:pt>
                <c:pt idx="259">
                  <c:v>46129</c:v>
                </c:pt>
                <c:pt idx="260">
                  <c:v>46130</c:v>
                </c:pt>
                <c:pt idx="261">
                  <c:v>46131</c:v>
                </c:pt>
                <c:pt idx="262">
                  <c:v>46132</c:v>
                </c:pt>
                <c:pt idx="263">
                  <c:v>46133</c:v>
                </c:pt>
                <c:pt idx="264">
                  <c:v>46134</c:v>
                </c:pt>
                <c:pt idx="265">
                  <c:v>46135</c:v>
                </c:pt>
                <c:pt idx="266">
                  <c:v>46136</c:v>
                </c:pt>
                <c:pt idx="267">
                  <c:v>46137</c:v>
                </c:pt>
                <c:pt idx="268">
                  <c:v>46139</c:v>
                </c:pt>
                <c:pt idx="269">
                  <c:v>46140</c:v>
                </c:pt>
                <c:pt idx="270">
                  <c:v>46141</c:v>
                </c:pt>
                <c:pt idx="271">
                  <c:v>46142</c:v>
                </c:pt>
                <c:pt idx="272">
                  <c:v>46143</c:v>
                </c:pt>
                <c:pt idx="273">
                  <c:v>46145</c:v>
                </c:pt>
                <c:pt idx="274">
                  <c:v>46146</c:v>
                </c:pt>
                <c:pt idx="275">
                  <c:v>46147</c:v>
                </c:pt>
                <c:pt idx="276">
                  <c:v>46148</c:v>
                </c:pt>
                <c:pt idx="277">
                  <c:v>46149</c:v>
                </c:pt>
                <c:pt idx="278">
                  <c:v>46150</c:v>
                </c:pt>
                <c:pt idx="279">
                  <c:v>46152</c:v>
                </c:pt>
                <c:pt idx="280">
                  <c:v>46153</c:v>
                </c:pt>
                <c:pt idx="281">
                  <c:v>46154</c:v>
                </c:pt>
                <c:pt idx="282">
                  <c:v>46155</c:v>
                </c:pt>
                <c:pt idx="283">
                  <c:v>46156</c:v>
                </c:pt>
                <c:pt idx="284">
                  <c:v>46157</c:v>
                </c:pt>
                <c:pt idx="285">
                  <c:v>46158</c:v>
                </c:pt>
                <c:pt idx="286">
                  <c:v>46159</c:v>
                </c:pt>
                <c:pt idx="287">
                  <c:v>46160</c:v>
                </c:pt>
                <c:pt idx="288">
                  <c:v>46161</c:v>
                </c:pt>
                <c:pt idx="289">
                  <c:v>46162</c:v>
                </c:pt>
                <c:pt idx="290">
                  <c:v>46163</c:v>
                </c:pt>
                <c:pt idx="291">
                  <c:v>46164</c:v>
                </c:pt>
                <c:pt idx="292">
                  <c:v>46166</c:v>
                </c:pt>
                <c:pt idx="293">
                  <c:v>46167</c:v>
                </c:pt>
                <c:pt idx="294">
                  <c:v>46168</c:v>
                </c:pt>
                <c:pt idx="295">
                  <c:v>46169</c:v>
                </c:pt>
                <c:pt idx="296">
                  <c:v>46170</c:v>
                </c:pt>
                <c:pt idx="297">
                  <c:v>46171</c:v>
                </c:pt>
                <c:pt idx="298">
                  <c:v>46172</c:v>
                </c:pt>
                <c:pt idx="299">
                  <c:v>46173</c:v>
                </c:pt>
                <c:pt idx="300">
                  <c:v>46174</c:v>
                </c:pt>
                <c:pt idx="301">
                  <c:v>46175</c:v>
                </c:pt>
                <c:pt idx="302">
                  <c:v>46176</c:v>
                </c:pt>
                <c:pt idx="303">
                  <c:v>46177</c:v>
                </c:pt>
                <c:pt idx="304">
                  <c:v>46178</c:v>
                </c:pt>
                <c:pt idx="305">
                  <c:v>46179</c:v>
                </c:pt>
                <c:pt idx="306">
                  <c:v>46180</c:v>
                </c:pt>
                <c:pt idx="307">
                  <c:v>46181</c:v>
                </c:pt>
                <c:pt idx="308">
                  <c:v>46182</c:v>
                </c:pt>
                <c:pt idx="309">
                  <c:v>46183</c:v>
                </c:pt>
                <c:pt idx="310">
                  <c:v>46184</c:v>
                </c:pt>
                <c:pt idx="311">
                  <c:v>46185</c:v>
                </c:pt>
                <c:pt idx="312">
                  <c:v>46187</c:v>
                </c:pt>
                <c:pt idx="313">
                  <c:v>46188</c:v>
                </c:pt>
                <c:pt idx="314">
                  <c:v>46189</c:v>
                </c:pt>
                <c:pt idx="315">
                  <c:v>46190</c:v>
                </c:pt>
                <c:pt idx="316">
                  <c:v>46191</c:v>
                </c:pt>
                <c:pt idx="317">
                  <c:v>46192</c:v>
                </c:pt>
                <c:pt idx="318">
                  <c:v>46194</c:v>
                </c:pt>
                <c:pt idx="319">
                  <c:v>46195</c:v>
                </c:pt>
                <c:pt idx="320">
                  <c:v>46196</c:v>
                </c:pt>
                <c:pt idx="321">
                  <c:v>46197</c:v>
                </c:pt>
                <c:pt idx="322">
                  <c:v>46198</c:v>
                </c:pt>
                <c:pt idx="323">
                  <c:v>46199</c:v>
                </c:pt>
                <c:pt idx="324">
                  <c:v>46202</c:v>
                </c:pt>
                <c:pt idx="325">
                  <c:v>46203</c:v>
                </c:pt>
                <c:pt idx="326">
                  <c:v>46204</c:v>
                </c:pt>
                <c:pt idx="327">
                  <c:v>46205</c:v>
                </c:pt>
                <c:pt idx="328">
                  <c:v>46206</c:v>
                </c:pt>
                <c:pt idx="329">
                  <c:v>46208</c:v>
                </c:pt>
                <c:pt idx="330">
                  <c:v>46209</c:v>
                </c:pt>
                <c:pt idx="331">
                  <c:v>46210</c:v>
                </c:pt>
                <c:pt idx="332">
                  <c:v>46211</c:v>
                </c:pt>
                <c:pt idx="333">
                  <c:v>46212</c:v>
                </c:pt>
                <c:pt idx="334">
                  <c:v>46213</c:v>
                </c:pt>
                <c:pt idx="335">
                  <c:v>46215</c:v>
                </c:pt>
                <c:pt idx="336">
                  <c:v>46216</c:v>
                </c:pt>
                <c:pt idx="337">
                  <c:v>46217</c:v>
                </c:pt>
                <c:pt idx="338">
                  <c:v>46218</c:v>
                </c:pt>
              </c:numCache>
            </c:numRef>
          </c:cat>
          <c:val>
            <c:numRef>
              <c:f>'Ibovespa EPS - Year'!$P$6:$P$347</c:f>
              <c:numCache>
                <c:formatCode>0.0</c:formatCode>
                <c:ptCount val="342"/>
                <c:pt idx="0">
                  <c:v>17106.818826608931</c:v>
                </c:pt>
                <c:pt idx="1">
                  <c:v>17071.123339343052</c:v>
                </c:pt>
                <c:pt idx="2">
                  <c:v>17078.062206028648</c:v>
                </c:pt>
                <c:pt idx="3">
                  <c:v>17040.01629513103</c:v>
                </c:pt>
                <c:pt idx="4">
                  <c:v>16947.618268764214</c:v>
                </c:pt>
                <c:pt idx="5">
                  <c:v>16949.997465067281</c:v>
                </c:pt>
                <c:pt idx="6">
                  <c:v>16900.245657691703</c:v>
                </c:pt>
                <c:pt idx="7">
                  <c:v>16843.557047402395</c:v>
                </c:pt>
                <c:pt idx="8">
                  <c:v>16840.808282661332</c:v>
                </c:pt>
                <c:pt idx="9">
                  <c:v>16844.00361911083</c:v>
                </c:pt>
                <c:pt idx="10">
                  <c:v>16707.322569940188</c:v>
                </c:pt>
                <c:pt idx="11">
                  <c:v>16708.313821703789</c:v>
                </c:pt>
                <c:pt idx="12">
                  <c:v>16787.62450147764</c:v>
                </c:pt>
                <c:pt idx="13">
                  <c:v>16788.860614851576</c:v>
                </c:pt>
                <c:pt idx="14">
                  <c:v>16918.19022223727</c:v>
                </c:pt>
                <c:pt idx="15">
                  <c:v>17033.218182008932</c:v>
                </c:pt>
                <c:pt idx="16">
                  <c:v>17021.822466154805</c:v>
                </c:pt>
                <c:pt idx="17">
                  <c:v>17004.981012951539</c:v>
                </c:pt>
                <c:pt idx="18">
                  <c:v>16910.714996976854</c:v>
                </c:pt>
                <c:pt idx="19">
                  <c:v>16969.245752850235</c:v>
                </c:pt>
                <c:pt idx="20">
                  <c:v>16970.381833424202</c:v>
                </c:pt>
                <c:pt idx="21">
                  <c:v>16996.412256194446</c:v>
                </c:pt>
                <c:pt idx="22">
                  <c:v>16894.179563559701</c:v>
                </c:pt>
                <c:pt idx="23">
                  <c:v>16893.865047612355</c:v>
                </c:pt>
                <c:pt idx="24">
                  <c:v>16895.338007394344</c:v>
                </c:pt>
                <c:pt idx="25">
                  <c:v>16941.164163689689</c:v>
                </c:pt>
                <c:pt idx="26">
                  <c:v>16970.46387868172</c:v>
                </c:pt>
                <c:pt idx="27">
                  <c:v>17026.011302708481</c:v>
                </c:pt>
                <c:pt idx="28">
                  <c:v>17044.878853779686</c:v>
                </c:pt>
                <c:pt idx="29">
                  <c:v>17082.0925205108</c:v>
                </c:pt>
                <c:pt idx="30">
                  <c:v>17102.497523813836</c:v>
                </c:pt>
                <c:pt idx="31">
                  <c:v>17106.150444741932</c:v>
                </c:pt>
                <c:pt idx="32">
                  <c:v>17088.119934701557</c:v>
                </c:pt>
                <c:pt idx="33">
                  <c:v>17094.821049359096</c:v>
                </c:pt>
                <c:pt idx="34">
                  <c:v>17073.231994237547</c:v>
                </c:pt>
                <c:pt idx="35">
                  <c:v>17067.841926136662</c:v>
                </c:pt>
                <c:pt idx="36">
                  <c:v>17109.771595603594</c:v>
                </c:pt>
                <c:pt idx="37">
                  <c:v>17109.771595603594</c:v>
                </c:pt>
                <c:pt idx="38">
                  <c:v>17129.746252096593</c:v>
                </c:pt>
                <c:pt idx="39">
                  <c:v>17109.34854682114</c:v>
                </c:pt>
                <c:pt idx="40">
                  <c:v>17124.987572681584</c:v>
                </c:pt>
                <c:pt idx="41">
                  <c:v>17136.932338340932</c:v>
                </c:pt>
                <c:pt idx="42">
                  <c:v>17106.069266917017</c:v>
                </c:pt>
                <c:pt idx="43">
                  <c:v>17101.550728632585</c:v>
                </c:pt>
                <c:pt idx="44">
                  <c:v>17102.0740117282</c:v>
                </c:pt>
                <c:pt idx="45">
                  <c:v>17280.407481856928</c:v>
                </c:pt>
                <c:pt idx="46">
                  <c:v>17300.931974584255</c:v>
                </c:pt>
                <c:pt idx="47">
                  <c:v>17255.54037257293</c:v>
                </c:pt>
                <c:pt idx="48">
                  <c:v>17269.191083823542</c:v>
                </c:pt>
                <c:pt idx="49">
                  <c:v>17232.744811035056</c:v>
                </c:pt>
                <c:pt idx="50">
                  <c:v>17238.963516688735</c:v>
                </c:pt>
                <c:pt idx="51">
                  <c:v>17240.189877825112</c:v>
                </c:pt>
                <c:pt idx="52">
                  <c:v>17179.498866819038</c:v>
                </c:pt>
                <c:pt idx="53">
                  <c:v>17182.335057343236</c:v>
                </c:pt>
                <c:pt idx="54">
                  <c:v>17123.996510629207</c:v>
                </c:pt>
                <c:pt idx="55">
                  <c:v>17134.626116256579</c:v>
                </c:pt>
                <c:pt idx="56">
                  <c:v>17130.372051116945</c:v>
                </c:pt>
                <c:pt idx="57">
                  <c:v>17135.383422321484</c:v>
                </c:pt>
                <c:pt idx="58">
                  <c:v>17100.238637890034</c:v>
                </c:pt>
                <c:pt idx="59">
                  <c:v>17090.380873036454</c:v>
                </c:pt>
                <c:pt idx="60">
                  <c:v>17095.527025703093</c:v>
                </c:pt>
                <c:pt idx="61">
                  <c:v>17064.894010835535</c:v>
                </c:pt>
                <c:pt idx="62">
                  <c:v>17024.642683833241</c:v>
                </c:pt>
                <c:pt idx="63">
                  <c:v>17014.125124617694</c:v>
                </c:pt>
                <c:pt idx="64">
                  <c:v>17014.566395313326</c:v>
                </c:pt>
                <c:pt idx="65">
                  <c:v>17018.72136381474</c:v>
                </c:pt>
                <c:pt idx="66">
                  <c:v>16975.001649831778</c:v>
                </c:pt>
                <c:pt idx="67">
                  <c:v>17137.095482675857</c:v>
                </c:pt>
                <c:pt idx="68">
                  <c:v>17137.920698334929</c:v>
                </c:pt>
                <c:pt idx="69">
                  <c:v>17140.431210242383</c:v>
                </c:pt>
                <c:pt idx="70">
                  <c:v>17140.431210242383</c:v>
                </c:pt>
                <c:pt idx="71">
                  <c:v>16979.450610505439</c:v>
                </c:pt>
                <c:pt idx="72">
                  <c:v>17023.957630351</c:v>
                </c:pt>
                <c:pt idx="73">
                  <c:v>17042.273664673878</c:v>
                </c:pt>
                <c:pt idx="74">
                  <c:v>17039.503437987481</c:v>
                </c:pt>
                <c:pt idx="75">
                  <c:v>17030.713728796611</c:v>
                </c:pt>
                <c:pt idx="76">
                  <c:v>17040.110838490164</c:v>
                </c:pt>
                <c:pt idx="77">
                  <c:v>17040.292722918242</c:v>
                </c:pt>
                <c:pt idx="78">
                  <c:v>17033.545680321178</c:v>
                </c:pt>
                <c:pt idx="79">
                  <c:v>16889.818249351119</c:v>
                </c:pt>
                <c:pt idx="80">
                  <c:v>16890.321395479434</c:v>
                </c:pt>
                <c:pt idx="81">
                  <c:v>16912.538670562401</c:v>
                </c:pt>
                <c:pt idx="82">
                  <c:v>16933.226161893817</c:v>
                </c:pt>
                <c:pt idx="83">
                  <c:v>16931.503248891986</c:v>
                </c:pt>
                <c:pt idx="84">
                  <c:v>16921.102916672527</c:v>
                </c:pt>
                <c:pt idx="85">
                  <c:v>16979.132159219673</c:v>
                </c:pt>
                <c:pt idx="86">
                  <c:v>17055.440143718628</c:v>
                </c:pt>
                <c:pt idx="87">
                  <c:v>17041.076802046751</c:v>
                </c:pt>
                <c:pt idx="88">
                  <c:v>17042.744932076952</c:v>
                </c:pt>
                <c:pt idx="89">
                  <c:v>17048.235876163166</c:v>
                </c:pt>
                <c:pt idx="90">
                  <c:v>17054.680429903947</c:v>
                </c:pt>
                <c:pt idx="91">
                  <c:v>17053.934922553817</c:v>
                </c:pt>
                <c:pt idx="92">
                  <c:v>17057.348146365315</c:v>
                </c:pt>
                <c:pt idx="93">
                  <c:v>17054.186069437219</c:v>
                </c:pt>
                <c:pt idx="94">
                  <c:v>17066.274413339925</c:v>
                </c:pt>
                <c:pt idx="95">
                  <c:v>17066.439734089687</c:v>
                </c:pt>
                <c:pt idx="96">
                  <c:v>17061.834571552648</c:v>
                </c:pt>
                <c:pt idx="97">
                  <c:v>17119.802304257129</c:v>
                </c:pt>
                <c:pt idx="98">
                  <c:v>17108.097602052261</c:v>
                </c:pt>
                <c:pt idx="99">
                  <c:v>17184.81337972156</c:v>
                </c:pt>
                <c:pt idx="100">
                  <c:v>17181.251980211568</c:v>
                </c:pt>
                <c:pt idx="101">
                  <c:v>17173.344884937796</c:v>
                </c:pt>
                <c:pt idx="102">
                  <c:v>17175.198145111117</c:v>
                </c:pt>
                <c:pt idx="103">
                  <c:v>17262.706672381933</c:v>
                </c:pt>
                <c:pt idx="104">
                  <c:v>17284.619508700947</c:v>
                </c:pt>
                <c:pt idx="105">
                  <c:v>17257.995277362865</c:v>
                </c:pt>
                <c:pt idx="106">
                  <c:v>17192.311280291087</c:v>
                </c:pt>
                <c:pt idx="107">
                  <c:v>17136.314894124313</c:v>
                </c:pt>
                <c:pt idx="108">
                  <c:v>17133.172301116105</c:v>
                </c:pt>
                <c:pt idx="109">
                  <c:v>17114.868046583637</c:v>
                </c:pt>
                <c:pt idx="110">
                  <c:v>17041.10971935909</c:v>
                </c:pt>
                <c:pt idx="111">
                  <c:v>17018.098439622769</c:v>
                </c:pt>
                <c:pt idx="112">
                  <c:v>16991.653086423346</c:v>
                </c:pt>
                <c:pt idx="113">
                  <c:v>16988.800090088527</c:v>
                </c:pt>
                <c:pt idx="114">
                  <c:v>16976.077961184739</c:v>
                </c:pt>
                <c:pt idx="115">
                  <c:v>16985.271198696184</c:v>
                </c:pt>
                <c:pt idx="116">
                  <c:v>16989.840670474336</c:v>
                </c:pt>
                <c:pt idx="117">
                  <c:v>17015.699075201675</c:v>
                </c:pt>
                <c:pt idx="118">
                  <c:v>17064.195099728451</c:v>
                </c:pt>
                <c:pt idx="119">
                  <c:v>17001.123842060613</c:v>
                </c:pt>
                <c:pt idx="120">
                  <c:v>16991.355764231022</c:v>
                </c:pt>
                <c:pt idx="121">
                  <c:v>16976.836083095302</c:v>
                </c:pt>
                <c:pt idx="122">
                  <c:v>17038.356537999818</c:v>
                </c:pt>
                <c:pt idx="123">
                  <c:v>17035.770187180176</c:v>
                </c:pt>
                <c:pt idx="124">
                  <c:v>17011.594552280854</c:v>
                </c:pt>
                <c:pt idx="125">
                  <c:v>17009.688889331625</c:v>
                </c:pt>
                <c:pt idx="126">
                  <c:v>17034.979332656814</c:v>
                </c:pt>
                <c:pt idx="127">
                  <c:v>17049.1224358777</c:v>
                </c:pt>
                <c:pt idx="128">
                  <c:v>17059.666166976825</c:v>
                </c:pt>
                <c:pt idx="129">
                  <c:v>17043.628136773634</c:v>
                </c:pt>
                <c:pt idx="130">
                  <c:v>17096.352005533601</c:v>
                </c:pt>
                <c:pt idx="131">
                  <c:v>17211.696963491089</c:v>
                </c:pt>
                <c:pt idx="132">
                  <c:v>17192.250417533069</c:v>
                </c:pt>
                <c:pt idx="133">
                  <c:v>17199.084901656617</c:v>
                </c:pt>
                <c:pt idx="134">
                  <c:v>17274.265964889371</c:v>
                </c:pt>
                <c:pt idx="135">
                  <c:v>17266.63821464717</c:v>
                </c:pt>
                <c:pt idx="136">
                  <c:v>17268.2544559382</c:v>
                </c:pt>
                <c:pt idx="137">
                  <c:v>17283.234883804791</c:v>
                </c:pt>
                <c:pt idx="138">
                  <c:v>17086.188332314789</c:v>
                </c:pt>
                <c:pt idx="139">
                  <c:v>17231.134933975678</c:v>
                </c:pt>
                <c:pt idx="140">
                  <c:v>17260.975785832266</c:v>
                </c:pt>
                <c:pt idx="141">
                  <c:v>17349.070065936889</c:v>
                </c:pt>
                <c:pt idx="142">
                  <c:v>17349.070065936889</c:v>
                </c:pt>
                <c:pt idx="143">
                  <c:v>17355.686957138318</c:v>
                </c:pt>
                <c:pt idx="144">
                  <c:v>17364.988391224382</c:v>
                </c:pt>
                <c:pt idx="145">
                  <c:v>17312.857295065554</c:v>
                </c:pt>
                <c:pt idx="146">
                  <c:v>17336.058750633772</c:v>
                </c:pt>
                <c:pt idx="147">
                  <c:v>17310.507542272266</c:v>
                </c:pt>
                <c:pt idx="148">
                  <c:v>17278.191204214709</c:v>
                </c:pt>
                <c:pt idx="149">
                  <c:v>17278.574068889186</c:v>
                </c:pt>
                <c:pt idx="150">
                  <c:v>17302.446615594861</c:v>
                </c:pt>
                <c:pt idx="151">
                  <c:v>17473.275658343839</c:v>
                </c:pt>
                <c:pt idx="152">
                  <c:v>17528.325236921351</c:v>
                </c:pt>
                <c:pt idx="153">
                  <c:v>17564.044631729754</c:v>
                </c:pt>
                <c:pt idx="154">
                  <c:v>17563.760713820338</c:v>
                </c:pt>
                <c:pt idx="155">
                  <c:v>17576.66245247921</c:v>
                </c:pt>
                <c:pt idx="156">
                  <c:v>17575.187846327575</c:v>
                </c:pt>
                <c:pt idx="157">
                  <c:v>17568.50320890914</c:v>
                </c:pt>
                <c:pt idx="158">
                  <c:v>17606.077036208739</c:v>
                </c:pt>
                <c:pt idx="159">
                  <c:v>17606.077036208739</c:v>
                </c:pt>
                <c:pt idx="160">
                  <c:v>17606.077036208739</c:v>
                </c:pt>
                <c:pt idx="161">
                  <c:v>17638.715330670188</c:v>
                </c:pt>
                <c:pt idx="162">
                  <c:v>17638.168567965204</c:v>
                </c:pt>
                <c:pt idx="163">
                  <c:v>17474.460278157858</c:v>
                </c:pt>
                <c:pt idx="164">
                  <c:v>17414.529428629481</c:v>
                </c:pt>
                <c:pt idx="165">
                  <c:v>17440.362923115084</c:v>
                </c:pt>
                <c:pt idx="166">
                  <c:v>17474.777872837258</c:v>
                </c:pt>
                <c:pt idx="167">
                  <c:v>17489.603594742646</c:v>
                </c:pt>
                <c:pt idx="168">
                  <c:v>17484.668081965458</c:v>
                </c:pt>
                <c:pt idx="169">
                  <c:v>17456.728833773144</c:v>
                </c:pt>
                <c:pt idx="170">
                  <c:v>17450.785932351864</c:v>
                </c:pt>
                <c:pt idx="171">
                  <c:v>17427.664145015071</c:v>
                </c:pt>
                <c:pt idx="172">
                  <c:v>17429.434275599022</c:v>
                </c:pt>
                <c:pt idx="173">
                  <c:v>17446.723734496351</c:v>
                </c:pt>
                <c:pt idx="174">
                  <c:v>17455.064286623885</c:v>
                </c:pt>
                <c:pt idx="175">
                  <c:v>17488.517216306751</c:v>
                </c:pt>
                <c:pt idx="176">
                  <c:v>17493.744841004969</c:v>
                </c:pt>
                <c:pt idx="177">
                  <c:v>17503.787977594551</c:v>
                </c:pt>
                <c:pt idx="178">
                  <c:v>17517.152665700345</c:v>
                </c:pt>
                <c:pt idx="179">
                  <c:v>17513.233766328893</c:v>
                </c:pt>
                <c:pt idx="180">
                  <c:v>17496.702255002325</c:v>
                </c:pt>
                <c:pt idx="181">
                  <c:v>17496.702255002325</c:v>
                </c:pt>
                <c:pt idx="182">
                  <c:v>17503.937878772227</c:v>
                </c:pt>
                <c:pt idx="183">
                  <c:v>17487.933067190432</c:v>
                </c:pt>
                <c:pt idx="184">
                  <c:v>17466.487408570851</c:v>
                </c:pt>
                <c:pt idx="185">
                  <c:v>17446.897848232784</c:v>
                </c:pt>
                <c:pt idx="186">
                  <c:v>17441.955819778595</c:v>
                </c:pt>
                <c:pt idx="187">
                  <c:v>17438.463076425403</c:v>
                </c:pt>
                <c:pt idx="188">
                  <c:v>17425.040424234579</c:v>
                </c:pt>
                <c:pt idx="189">
                  <c:v>17387.032680972021</c:v>
                </c:pt>
                <c:pt idx="190">
                  <c:v>17370.051348083867</c:v>
                </c:pt>
                <c:pt idx="191">
                  <c:v>17369.7622991893</c:v>
                </c:pt>
                <c:pt idx="192">
                  <c:v>17358.260692623106</c:v>
                </c:pt>
                <c:pt idx="193">
                  <c:v>17358.260692623106</c:v>
                </c:pt>
                <c:pt idx="194">
                  <c:v>17328.775397080528</c:v>
                </c:pt>
                <c:pt idx="195">
                  <c:v>17256.464144161615</c:v>
                </c:pt>
                <c:pt idx="196">
                  <c:v>17244.781110199281</c:v>
                </c:pt>
                <c:pt idx="197">
                  <c:v>17242.916184185353</c:v>
                </c:pt>
                <c:pt idx="198">
                  <c:v>17214.391547110485</c:v>
                </c:pt>
                <c:pt idx="199">
                  <c:v>17234.756791778338</c:v>
                </c:pt>
                <c:pt idx="200">
                  <c:v>17235.440449453996</c:v>
                </c:pt>
                <c:pt idx="201">
                  <c:v>17256.149061956628</c:v>
                </c:pt>
                <c:pt idx="202">
                  <c:v>17266.361629276918</c:v>
                </c:pt>
                <c:pt idx="203">
                  <c:v>17292.251438043091</c:v>
                </c:pt>
                <c:pt idx="204">
                  <c:v>17325.482967510019</c:v>
                </c:pt>
                <c:pt idx="205">
                  <c:v>17333.634213327616</c:v>
                </c:pt>
                <c:pt idx="206">
                  <c:v>17343.645894154586</c:v>
                </c:pt>
                <c:pt idx="207">
                  <c:v>17391.034090442528</c:v>
                </c:pt>
                <c:pt idx="208">
                  <c:v>17360.19908099953</c:v>
                </c:pt>
                <c:pt idx="209">
                  <c:v>17357.942743598152</c:v>
                </c:pt>
                <c:pt idx="210">
                  <c:v>17269.254593019399</c:v>
                </c:pt>
                <c:pt idx="211">
                  <c:v>17275.475685035981</c:v>
                </c:pt>
                <c:pt idx="212">
                  <c:v>17252.582379046416</c:v>
                </c:pt>
                <c:pt idx="213">
                  <c:v>17255.969424135277</c:v>
                </c:pt>
                <c:pt idx="214">
                  <c:v>17253.197466085887</c:v>
                </c:pt>
                <c:pt idx="215">
                  <c:v>17242.959095983471</c:v>
                </c:pt>
                <c:pt idx="216">
                  <c:v>17264.858793651299</c:v>
                </c:pt>
                <c:pt idx="217">
                  <c:v>17269.639516985677</c:v>
                </c:pt>
                <c:pt idx="218">
                  <c:v>17353.64378924889</c:v>
                </c:pt>
                <c:pt idx="219">
                  <c:v>17426.779834020763</c:v>
                </c:pt>
                <c:pt idx="220">
                  <c:v>17426.120046485299</c:v>
                </c:pt>
                <c:pt idx="221">
                  <c:v>17431.620901314109</c:v>
                </c:pt>
                <c:pt idx="222">
                  <c:v>17447.478763353625</c:v>
                </c:pt>
                <c:pt idx="223">
                  <c:v>17415.041488973016</c:v>
                </c:pt>
                <c:pt idx="224">
                  <c:v>17504.792950120056</c:v>
                </c:pt>
                <c:pt idx="225">
                  <c:v>17522.921339371645</c:v>
                </c:pt>
                <c:pt idx="226">
                  <c:v>17522.921339371645</c:v>
                </c:pt>
                <c:pt idx="227">
                  <c:v>17687.233287042502</c:v>
                </c:pt>
                <c:pt idx="228">
                  <c:v>17718.967067608432</c:v>
                </c:pt>
                <c:pt idx="229">
                  <c:v>17756.667501210584</c:v>
                </c:pt>
                <c:pt idx="230">
                  <c:v>18444.44880177165</c:v>
                </c:pt>
                <c:pt idx="231">
                  <c:v>18930.418630200915</c:v>
                </c:pt>
                <c:pt idx="232">
                  <c:v>18950.753429761644</c:v>
                </c:pt>
                <c:pt idx="233">
                  <c:v>18948.197966718973</c:v>
                </c:pt>
                <c:pt idx="234">
                  <c:v>18948.084518461488</c:v>
                </c:pt>
                <c:pt idx="235">
                  <c:v>18968.741414851131</c:v>
                </c:pt>
                <c:pt idx="236">
                  <c:v>18970.475230273321</c:v>
                </c:pt>
                <c:pt idx="237">
                  <c:v>19000.762898641908</c:v>
                </c:pt>
                <c:pt idx="238">
                  <c:v>19451.485573921091</c:v>
                </c:pt>
                <c:pt idx="239">
                  <c:v>19470.186896731626</c:v>
                </c:pt>
                <c:pt idx="240">
                  <c:v>19458.950684119314</c:v>
                </c:pt>
                <c:pt idx="241">
                  <c:v>19459.324879633055</c:v>
                </c:pt>
                <c:pt idx="242">
                  <c:v>19473.24885912938</c:v>
                </c:pt>
                <c:pt idx="243">
                  <c:v>19432.665800615461</c:v>
                </c:pt>
                <c:pt idx="244">
                  <c:v>19452.882007824541</c:v>
                </c:pt>
                <c:pt idx="245">
                  <c:v>19450.691344448642</c:v>
                </c:pt>
                <c:pt idx="246">
                  <c:v>19450.691344448642</c:v>
                </c:pt>
                <c:pt idx="247">
                  <c:v>19450.526933882771</c:v>
                </c:pt>
                <c:pt idx="248">
                  <c:v>19478.031203073122</c:v>
                </c:pt>
                <c:pt idx="249">
                  <c:v>19488.742721745421</c:v>
                </c:pt>
                <c:pt idx="250">
                  <c:v>19499.75779448207</c:v>
                </c:pt>
                <c:pt idx="251">
                  <c:v>19512.078240155835</c:v>
                </c:pt>
                <c:pt idx="252">
                  <c:v>19493.326138637749</c:v>
                </c:pt>
                <c:pt idx="253">
                  <c:v>19493.326138637749</c:v>
                </c:pt>
                <c:pt idx="254">
                  <c:v>19459.89669557548</c:v>
                </c:pt>
                <c:pt idx="255">
                  <c:v>19466.171630389472</c:v>
                </c:pt>
                <c:pt idx="256">
                  <c:v>19383.693528363983</c:v>
                </c:pt>
                <c:pt idx="257">
                  <c:v>19495.883178591117</c:v>
                </c:pt>
                <c:pt idx="258">
                  <c:v>19553.907158178947</c:v>
                </c:pt>
                <c:pt idx="259">
                  <c:v>19809.553413798294</c:v>
                </c:pt>
                <c:pt idx="260">
                  <c:v>19949.969422564358</c:v>
                </c:pt>
                <c:pt idx="261">
                  <c:v>19904.599270605155</c:v>
                </c:pt>
                <c:pt idx="262">
                  <c:v>19889.319475387434</c:v>
                </c:pt>
                <c:pt idx="263">
                  <c:v>19873.649109716305</c:v>
                </c:pt>
                <c:pt idx="264">
                  <c:v>19902.923863793407</c:v>
                </c:pt>
                <c:pt idx="265">
                  <c:v>19919.671143258944</c:v>
                </c:pt>
                <c:pt idx="266">
                  <c:v>19893.504447687141</c:v>
                </c:pt>
                <c:pt idx="267">
                  <c:v>19891.066071827314</c:v>
                </c:pt>
                <c:pt idx="268">
                  <c:v>19913.85643354951</c:v>
                </c:pt>
                <c:pt idx="269">
                  <c:v>19926.980641208778</c:v>
                </c:pt>
                <c:pt idx="270">
                  <c:v>20231.045245909852</c:v>
                </c:pt>
                <c:pt idx="271">
                  <c:v>20211.870191938251</c:v>
                </c:pt>
                <c:pt idx="272">
                  <c:v>20050.664349582647</c:v>
                </c:pt>
                <c:pt idx="273">
                  <c:v>20052.77712973137</c:v>
                </c:pt>
                <c:pt idx="274">
                  <c:v>20004.314797374496</c:v>
                </c:pt>
                <c:pt idx="275">
                  <c:v>20037.290862748458</c:v>
                </c:pt>
                <c:pt idx="276">
                  <c:v>20033.300827929113</c:v>
                </c:pt>
                <c:pt idx="277">
                  <c:v>20022.0191135928</c:v>
                </c:pt>
                <c:pt idx="278">
                  <c:v>19996.922088340325</c:v>
                </c:pt>
                <c:pt idx="279">
                  <c:v>19995.701754711954</c:v>
                </c:pt>
                <c:pt idx="280">
                  <c:v>19924.331435570155</c:v>
                </c:pt>
                <c:pt idx="281">
                  <c:v>19993.330755004394</c:v>
                </c:pt>
                <c:pt idx="282">
                  <c:v>20059.066225636197</c:v>
                </c:pt>
                <c:pt idx="283">
                  <c:v>20058.289861754885</c:v>
                </c:pt>
                <c:pt idx="284">
                  <c:v>19980.58704062305</c:v>
                </c:pt>
                <c:pt idx="285">
                  <c:v>19980.176671358306</c:v>
                </c:pt>
                <c:pt idx="286">
                  <c:v>19967.230824126513</c:v>
                </c:pt>
                <c:pt idx="287">
                  <c:v>19973.250013320168</c:v>
                </c:pt>
                <c:pt idx="288">
                  <c:v>19987.835982650773</c:v>
                </c:pt>
                <c:pt idx="289">
                  <c:v>19993.930282883397</c:v>
                </c:pt>
                <c:pt idx="290">
                  <c:v>19996.10361451939</c:v>
                </c:pt>
                <c:pt idx="291">
                  <c:v>19994.091675115083</c:v>
                </c:pt>
                <c:pt idx="292">
                  <c:v>19994.091675115083</c:v>
                </c:pt>
                <c:pt idx="293">
                  <c:v>20025.665379251855</c:v>
                </c:pt>
                <c:pt idx="294">
                  <c:v>19906.737905157337</c:v>
                </c:pt>
                <c:pt idx="295">
                  <c:v>19866.399842992116</c:v>
                </c:pt>
                <c:pt idx="296">
                  <c:v>19675.437904786824</c:v>
                </c:pt>
                <c:pt idx="297">
                  <c:v>19687.478131361117</c:v>
                </c:pt>
                <c:pt idx="298">
                  <c:v>19685.612689688627</c:v>
                </c:pt>
                <c:pt idx="299">
                  <c:v>19784.103043361432</c:v>
                </c:pt>
                <c:pt idx="300">
                  <c:v>19848.40112650907</c:v>
                </c:pt>
                <c:pt idx="301">
                  <c:v>19910.950191805387</c:v>
                </c:pt>
                <c:pt idx="302">
                  <c:v>19889.750041404586</c:v>
                </c:pt>
                <c:pt idx="303">
                  <c:v>20049.941667751038</c:v>
                </c:pt>
                <c:pt idx="304">
                  <c:v>20109.921178560606</c:v>
                </c:pt>
                <c:pt idx="305">
                  <c:v>20098.672997468679</c:v>
                </c:pt>
                <c:pt idx="306">
                  <c:v>20099.131963290136</c:v>
                </c:pt>
                <c:pt idx="307">
                  <c:v>20234.040103088169</c:v>
                </c:pt>
                <c:pt idx="308">
                  <c:v>20212.417716517331</c:v>
                </c:pt>
                <c:pt idx="309">
                  <c:v>20194.993573707281</c:v>
                </c:pt>
                <c:pt idx="310">
                  <c:v>20226.55334384169</c:v>
                </c:pt>
                <c:pt idx="311">
                  <c:v>20227.186949629489</c:v>
                </c:pt>
                <c:pt idx="312">
                  <c:v>20240.341434155609</c:v>
                </c:pt>
                <c:pt idx="313">
                  <c:v>20268.832103071974</c:v>
                </c:pt>
                <c:pt idx="314">
                  <c:v>20273.556341765139</c:v>
                </c:pt>
                <c:pt idx="315">
                  <c:v>20244.255079173196</c:v>
                </c:pt>
                <c:pt idx="316">
                  <c:v>20243.733212144209</c:v>
                </c:pt>
                <c:pt idx="317">
                  <c:v>20270.90954884611</c:v>
                </c:pt>
                <c:pt idx="318">
                  <c:v>20267.684694684518</c:v>
                </c:pt>
                <c:pt idx="319">
                  <c:v>20276.133074370304</c:v>
                </c:pt>
                <c:pt idx="320">
                  <c:v>20298.465433699846</c:v>
                </c:pt>
                <c:pt idx="321">
                  <c:v>20317.037893929282</c:v>
                </c:pt>
                <c:pt idx="322">
                  <c:v>20313.333100286549</c:v>
                </c:pt>
                <c:pt idx="323">
                  <c:v>20294.350935443592</c:v>
                </c:pt>
                <c:pt idx="324">
                  <c:v>20300.283078884877</c:v>
                </c:pt>
                <c:pt idx="325">
                  <c:v>20309.590181158823</c:v>
                </c:pt>
                <c:pt idx="326">
                  <c:v>20141.902024585808</c:v>
                </c:pt>
                <c:pt idx="327">
                  <c:v>20159.79600630697</c:v>
                </c:pt>
                <c:pt idx="328">
                  <c:v>20173.473675618443</c:v>
                </c:pt>
                <c:pt idx="329">
                  <c:v>20177.078492284683</c:v>
                </c:pt>
                <c:pt idx="330">
                  <c:v>20185.354384959424</c:v>
                </c:pt>
                <c:pt idx="331">
                  <c:v>20136.050457778474</c:v>
                </c:pt>
                <c:pt idx="332">
                  <c:v>20136.377328264891</c:v>
                </c:pt>
                <c:pt idx="333">
                  <c:v>20098.598718840538</c:v>
                </c:pt>
                <c:pt idx="334">
                  <c:v>20112.075433995338</c:v>
                </c:pt>
                <c:pt idx="335">
                  <c:v>20112.379985370153</c:v>
                </c:pt>
                <c:pt idx="336">
                  <c:v>20052.034394744052</c:v>
                </c:pt>
                <c:pt idx="337">
                  <c:v>20042.931240981579</c:v>
                </c:pt>
                <c:pt idx="338">
                  <c:v>20148.374771891766</c:v>
                </c:pt>
              </c:numCache>
            </c:numRef>
          </c:val>
          <c:smooth val="0"/>
          <c:extLst>
            <c:ext xmlns:c16="http://schemas.microsoft.com/office/drawing/2014/chart" uri="{C3380CC4-5D6E-409C-BE32-E72D297353CC}">
              <c16:uniqueId val="{00000000-B719-4037-9085-D0296CC37AC1}"/>
            </c:ext>
          </c:extLst>
        </c:ser>
        <c:ser>
          <c:idx val="1"/>
          <c:order val="1"/>
          <c:tx>
            <c:strRef>
              <c:f>'Ibovespa EPS - Year'!$Q$5</c:f>
              <c:strCache>
                <c:ptCount val="1"/>
                <c:pt idx="0">
                  <c:v>2027</c:v>
                </c:pt>
              </c:strCache>
            </c:strRef>
          </c:tx>
          <c:spPr>
            <a:ln w="28575" cap="rnd">
              <a:solidFill>
                <a:schemeClr val="bg2"/>
              </a:solidFill>
              <a:round/>
            </a:ln>
            <a:effectLst/>
          </c:spPr>
          <c:marker>
            <c:symbol val="none"/>
          </c:marker>
          <c:cat>
            <c:numRef>
              <c:f>'Ibovespa EPS - Year'!$O$6:$O$347</c:f>
              <c:numCache>
                <c:formatCode>m/d/yyyy</c:formatCode>
                <c:ptCount val="342"/>
                <c:pt idx="0">
                  <c:v>45853</c:v>
                </c:pt>
                <c:pt idx="1">
                  <c:v>45854</c:v>
                </c:pt>
                <c:pt idx="2">
                  <c:v>45855</c:v>
                </c:pt>
                <c:pt idx="3">
                  <c:v>45856</c:v>
                </c:pt>
                <c:pt idx="4">
                  <c:v>45857</c:v>
                </c:pt>
                <c:pt idx="5">
                  <c:v>45858</c:v>
                </c:pt>
                <c:pt idx="6">
                  <c:v>45859</c:v>
                </c:pt>
                <c:pt idx="7">
                  <c:v>45860</c:v>
                </c:pt>
                <c:pt idx="8">
                  <c:v>45861</c:v>
                </c:pt>
                <c:pt idx="9">
                  <c:v>45862</c:v>
                </c:pt>
                <c:pt idx="10">
                  <c:v>45863</c:v>
                </c:pt>
                <c:pt idx="11">
                  <c:v>45865</c:v>
                </c:pt>
                <c:pt idx="12">
                  <c:v>45866</c:v>
                </c:pt>
                <c:pt idx="13">
                  <c:v>45867</c:v>
                </c:pt>
                <c:pt idx="14">
                  <c:v>45868</c:v>
                </c:pt>
                <c:pt idx="15">
                  <c:v>45869</c:v>
                </c:pt>
                <c:pt idx="16">
                  <c:v>45870</c:v>
                </c:pt>
                <c:pt idx="17">
                  <c:v>45872</c:v>
                </c:pt>
                <c:pt idx="18">
                  <c:v>45873</c:v>
                </c:pt>
                <c:pt idx="19">
                  <c:v>45874</c:v>
                </c:pt>
                <c:pt idx="20">
                  <c:v>45875</c:v>
                </c:pt>
                <c:pt idx="21">
                  <c:v>45876</c:v>
                </c:pt>
                <c:pt idx="22">
                  <c:v>45877</c:v>
                </c:pt>
                <c:pt idx="23">
                  <c:v>45878</c:v>
                </c:pt>
                <c:pt idx="24">
                  <c:v>45879</c:v>
                </c:pt>
                <c:pt idx="25">
                  <c:v>45880</c:v>
                </c:pt>
                <c:pt idx="26">
                  <c:v>45881</c:v>
                </c:pt>
                <c:pt idx="27">
                  <c:v>45882</c:v>
                </c:pt>
                <c:pt idx="28">
                  <c:v>45883</c:v>
                </c:pt>
                <c:pt idx="29">
                  <c:v>45884</c:v>
                </c:pt>
                <c:pt idx="30">
                  <c:v>45885</c:v>
                </c:pt>
                <c:pt idx="31">
                  <c:v>45886</c:v>
                </c:pt>
                <c:pt idx="32">
                  <c:v>45887</c:v>
                </c:pt>
                <c:pt idx="33">
                  <c:v>45888</c:v>
                </c:pt>
                <c:pt idx="34">
                  <c:v>45889</c:v>
                </c:pt>
                <c:pt idx="35">
                  <c:v>45890</c:v>
                </c:pt>
                <c:pt idx="36">
                  <c:v>45891</c:v>
                </c:pt>
                <c:pt idx="37">
                  <c:v>45892</c:v>
                </c:pt>
                <c:pt idx="38">
                  <c:v>45894</c:v>
                </c:pt>
                <c:pt idx="39">
                  <c:v>45895</c:v>
                </c:pt>
                <c:pt idx="40">
                  <c:v>45896</c:v>
                </c:pt>
                <c:pt idx="41">
                  <c:v>45897</c:v>
                </c:pt>
                <c:pt idx="42">
                  <c:v>45898</c:v>
                </c:pt>
                <c:pt idx="43">
                  <c:v>45899</c:v>
                </c:pt>
                <c:pt idx="44">
                  <c:v>45900</c:v>
                </c:pt>
                <c:pt idx="45">
                  <c:v>45901</c:v>
                </c:pt>
                <c:pt idx="46">
                  <c:v>45902</c:v>
                </c:pt>
                <c:pt idx="47">
                  <c:v>45903</c:v>
                </c:pt>
                <c:pt idx="48">
                  <c:v>45904</c:v>
                </c:pt>
                <c:pt idx="49">
                  <c:v>45905</c:v>
                </c:pt>
                <c:pt idx="50">
                  <c:v>45906</c:v>
                </c:pt>
                <c:pt idx="51">
                  <c:v>45907</c:v>
                </c:pt>
                <c:pt idx="52">
                  <c:v>45908</c:v>
                </c:pt>
                <c:pt idx="53">
                  <c:v>45909</c:v>
                </c:pt>
                <c:pt idx="54">
                  <c:v>45910</c:v>
                </c:pt>
                <c:pt idx="55">
                  <c:v>45911</c:v>
                </c:pt>
                <c:pt idx="56">
                  <c:v>45912</c:v>
                </c:pt>
                <c:pt idx="57">
                  <c:v>45914</c:v>
                </c:pt>
                <c:pt idx="58">
                  <c:v>45915</c:v>
                </c:pt>
                <c:pt idx="59">
                  <c:v>45916</c:v>
                </c:pt>
                <c:pt idx="60">
                  <c:v>45917</c:v>
                </c:pt>
                <c:pt idx="61">
                  <c:v>45918</c:v>
                </c:pt>
                <c:pt idx="62">
                  <c:v>45919</c:v>
                </c:pt>
                <c:pt idx="63">
                  <c:v>45920</c:v>
                </c:pt>
                <c:pt idx="64">
                  <c:v>45921</c:v>
                </c:pt>
                <c:pt idx="65">
                  <c:v>45922</c:v>
                </c:pt>
                <c:pt idx="66">
                  <c:v>45923</c:v>
                </c:pt>
                <c:pt idx="67">
                  <c:v>45924</c:v>
                </c:pt>
                <c:pt idx="68">
                  <c:v>45925</c:v>
                </c:pt>
                <c:pt idx="69">
                  <c:v>45926</c:v>
                </c:pt>
                <c:pt idx="70">
                  <c:v>45927</c:v>
                </c:pt>
                <c:pt idx="71">
                  <c:v>45928</c:v>
                </c:pt>
                <c:pt idx="72">
                  <c:v>45929</c:v>
                </c:pt>
                <c:pt idx="73">
                  <c:v>45930</c:v>
                </c:pt>
                <c:pt idx="74">
                  <c:v>45931</c:v>
                </c:pt>
                <c:pt idx="75">
                  <c:v>45932</c:v>
                </c:pt>
                <c:pt idx="76">
                  <c:v>45933</c:v>
                </c:pt>
                <c:pt idx="77">
                  <c:v>45935</c:v>
                </c:pt>
                <c:pt idx="78">
                  <c:v>45936</c:v>
                </c:pt>
                <c:pt idx="79">
                  <c:v>45937</c:v>
                </c:pt>
                <c:pt idx="80">
                  <c:v>45938</c:v>
                </c:pt>
                <c:pt idx="81">
                  <c:v>45939</c:v>
                </c:pt>
                <c:pt idx="82">
                  <c:v>45940</c:v>
                </c:pt>
                <c:pt idx="83">
                  <c:v>45942</c:v>
                </c:pt>
                <c:pt idx="84">
                  <c:v>45943</c:v>
                </c:pt>
                <c:pt idx="85">
                  <c:v>45944</c:v>
                </c:pt>
                <c:pt idx="86">
                  <c:v>45945</c:v>
                </c:pt>
                <c:pt idx="87">
                  <c:v>45946</c:v>
                </c:pt>
                <c:pt idx="88">
                  <c:v>45947</c:v>
                </c:pt>
                <c:pt idx="89">
                  <c:v>45949</c:v>
                </c:pt>
                <c:pt idx="90">
                  <c:v>45950</c:v>
                </c:pt>
                <c:pt idx="91">
                  <c:v>45951</c:v>
                </c:pt>
                <c:pt idx="92">
                  <c:v>45952</c:v>
                </c:pt>
                <c:pt idx="93">
                  <c:v>45953</c:v>
                </c:pt>
                <c:pt idx="94">
                  <c:v>45954</c:v>
                </c:pt>
                <c:pt idx="95">
                  <c:v>45955</c:v>
                </c:pt>
                <c:pt idx="96">
                  <c:v>45956</c:v>
                </c:pt>
                <c:pt idx="97">
                  <c:v>45957</c:v>
                </c:pt>
                <c:pt idx="98">
                  <c:v>45958</c:v>
                </c:pt>
                <c:pt idx="99">
                  <c:v>45959</c:v>
                </c:pt>
                <c:pt idx="100">
                  <c:v>45960</c:v>
                </c:pt>
                <c:pt idx="101">
                  <c:v>45961</c:v>
                </c:pt>
                <c:pt idx="102">
                  <c:v>45962</c:v>
                </c:pt>
                <c:pt idx="103">
                  <c:v>45964</c:v>
                </c:pt>
                <c:pt idx="104">
                  <c:v>45965</c:v>
                </c:pt>
                <c:pt idx="105">
                  <c:v>45966</c:v>
                </c:pt>
                <c:pt idx="106">
                  <c:v>45967</c:v>
                </c:pt>
                <c:pt idx="107">
                  <c:v>45968</c:v>
                </c:pt>
                <c:pt idx="108">
                  <c:v>45969</c:v>
                </c:pt>
                <c:pt idx="109">
                  <c:v>45970</c:v>
                </c:pt>
                <c:pt idx="110">
                  <c:v>45971</c:v>
                </c:pt>
                <c:pt idx="111">
                  <c:v>45972</c:v>
                </c:pt>
                <c:pt idx="112">
                  <c:v>45973</c:v>
                </c:pt>
                <c:pt idx="113">
                  <c:v>45974</c:v>
                </c:pt>
                <c:pt idx="114">
                  <c:v>45975</c:v>
                </c:pt>
                <c:pt idx="115">
                  <c:v>45976</c:v>
                </c:pt>
                <c:pt idx="116">
                  <c:v>45977</c:v>
                </c:pt>
                <c:pt idx="117">
                  <c:v>45978</c:v>
                </c:pt>
                <c:pt idx="118">
                  <c:v>45979</c:v>
                </c:pt>
                <c:pt idx="119">
                  <c:v>45980</c:v>
                </c:pt>
                <c:pt idx="120">
                  <c:v>45981</c:v>
                </c:pt>
                <c:pt idx="121">
                  <c:v>45982</c:v>
                </c:pt>
                <c:pt idx="122">
                  <c:v>45984</c:v>
                </c:pt>
                <c:pt idx="123">
                  <c:v>45985</c:v>
                </c:pt>
                <c:pt idx="124">
                  <c:v>45986</c:v>
                </c:pt>
                <c:pt idx="125">
                  <c:v>45987</c:v>
                </c:pt>
                <c:pt idx="126">
                  <c:v>45988</c:v>
                </c:pt>
                <c:pt idx="127">
                  <c:v>45989</c:v>
                </c:pt>
                <c:pt idx="128">
                  <c:v>45990</c:v>
                </c:pt>
                <c:pt idx="129">
                  <c:v>45991</c:v>
                </c:pt>
                <c:pt idx="130">
                  <c:v>45992</c:v>
                </c:pt>
                <c:pt idx="131">
                  <c:v>45993</c:v>
                </c:pt>
                <c:pt idx="132">
                  <c:v>45994</c:v>
                </c:pt>
                <c:pt idx="133">
                  <c:v>45995</c:v>
                </c:pt>
                <c:pt idx="134">
                  <c:v>45996</c:v>
                </c:pt>
                <c:pt idx="135">
                  <c:v>45997</c:v>
                </c:pt>
                <c:pt idx="136">
                  <c:v>45998</c:v>
                </c:pt>
                <c:pt idx="137">
                  <c:v>45999</c:v>
                </c:pt>
                <c:pt idx="138">
                  <c:v>46000</c:v>
                </c:pt>
                <c:pt idx="139">
                  <c:v>46001</c:v>
                </c:pt>
                <c:pt idx="140">
                  <c:v>46002</c:v>
                </c:pt>
                <c:pt idx="141">
                  <c:v>46003</c:v>
                </c:pt>
                <c:pt idx="142">
                  <c:v>46004</c:v>
                </c:pt>
                <c:pt idx="143">
                  <c:v>46005</c:v>
                </c:pt>
                <c:pt idx="144">
                  <c:v>46006</c:v>
                </c:pt>
                <c:pt idx="145">
                  <c:v>46007</c:v>
                </c:pt>
                <c:pt idx="146">
                  <c:v>46008</c:v>
                </c:pt>
                <c:pt idx="147">
                  <c:v>46009</c:v>
                </c:pt>
                <c:pt idx="148">
                  <c:v>46010</c:v>
                </c:pt>
                <c:pt idx="149">
                  <c:v>46011</c:v>
                </c:pt>
                <c:pt idx="150">
                  <c:v>46012</c:v>
                </c:pt>
                <c:pt idx="151">
                  <c:v>46013</c:v>
                </c:pt>
                <c:pt idx="152">
                  <c:v>46014</c:v>
                </c:pt>
                <c:pt idx="153">
                  <c:v>46015</c:v>
                </c:pt>
                <c:pt idx="154">
                  <c:v>46016</c:v>
                </c:pt>
                <c:pt idx="155">
                  <c:v>46017</c:v>
                </c:pt>
                <c:pt idx="156">
                  <c:v>46019</c:v>
                </c:pt>
                <c:pt idx="157">
                  <c:v>46020</c:v>
                </c:pt>
                <c:pt idx="158">
                  <c:v>46021</c:v>
                </c:pt>
                <c:pt idx="159">
                  <c:v>46022</c:v>
                </c:pt>
                <c:pt idx="160">
                  <c:v>46023</c:v>
                </c:pt>
                <c:pt idx="161">
                  <c:v>46024</c:v>
                </c:pt>
                <c:pt idx="162">
                  <c:v>46025</c:v>
                </c:pt>
                <c:pt idx="163">
                  <c:v>46027</c:v>
                </c:pt>
                <c:pt idx="164">
                  <c:v>46028</c:v>
                </c:pt>
                <c:pt idx="165">
                  <c:v>46029</c:v>
                </c:pt>
                <c:pt idx="166">
                  <c:v>46030</c:v>
                </c:pt>
                <c:pt idx="167">
                  <c:v>46031</c:v>
                </c:pt>
                <c:pt idx="168">
                  <c:v>46033</c:v>
                </c:pt>
                <c:pt idx="169">
                  <c:v>46034</c:v>
                </c:pt>
                <c:pt idx="170">
                  <c:v>46035</c:v>
                </c:pt>
                <c:pt idx="171">
                  <c:v>46036</c:v>
                </c:pt>
                <c:pt idx="172">
                  <c:v>46037</c:v>
                </c:pt>
                <c:pt idx="173">
                  <c:v>46038</c:v>
                </c:pt>
                <c:pt idx="174">
                  <c:v>46039</c:v>
                </c:pt>
                <c:pt idx="175">
                  <c:v>46040</c:v>
                </c:pt>
                <c:pt idx="176">
                  <c:v>46041</c:v>
                </c:pt>
                <c:pt idx="177">
                  <c:v>46042</c:v>
                </c:pt>
                <c:pt idx="178">
                  <c:v>46043</c:v>
                </c:pt>
                <c:pt idx="179">
                  <c:v>46044</c:v>
                </c:pt>
                <c:pt idx="180">
                  <c:v>46045</c:v>
                </c:pt>
                <c:pt idx="181">
                  <c:v>46047</c:v>
                </c:pt>
                <c:pt idx="182">
                  <c:v>46048</c:v>
                </c:pt>
                <c:pt idx="183">
                  <c:v>46049</c:v>
                </c:pt>
                <c:pt idx="184">
                  <c:v>46050</c:v>
                </c:pt>
                <c:pt idx="185">
                  <c:v>46051</c:v>
                </c:pt>
                <c:pt idx="186">
                  <c:v>46052</c:v>
                </c:pt>
                <c:pt idx="187">
                  <c:v>46054</c:v>
                </c:pt>
                <c:pt idx="188">
                  <c:v>46055</c:v>
                </c:pt>
                <c:pt idx="189">
                  <c:v>46056</c:v>
                </c:pt>
                <c:pt idx="190">
                  <c:v>46057</c:v>
                </c:pt>
                <c:pt idx="191">
                  <c:v>46058</c:v>
                </c:pt>
                <c:pt idx="192">
                  <c:v>46059</c:v>
                </c:pt>
                <c:pt idx="193">
                  <c:v>46060</c:v>
                </c:pt>
                <c:pt idx="194">
                  <c:v>46061</c:v>
                </c:pt>
                <c:pt idx="195">
                  <c:v>46062</c:v>
                </c:pt>
                <c:pt idx="196">
                  <c:v>46063</c:v>
                </c:pt>
                <c:pt idx="197">
                  <c:v>46064</c:v>
                </c:pt>
                <c:pt idx="198">
                  <c:v>46065</c:v>
                </c:pt>
                <c:pt idx="199">
                  <c:v>46066</c:v>
                </c:pt>
                <c:pt idx="200">
                  <c:v>46067</c:v>
                </c:pt>
                <c:pt idx="201">
                  <c:v>46068</c:v>
                </c:pt>
                <c:pt idx="202">
                  <c:v>46069</c:v>
                </c:pt>
                <c:pt idx="203">
                  <c:v>46070</c:v>
                </c:pt>
                <c:pt idx="204">
                  <c:v>46071</c:v>
                </c:pt>
                <c:pt idx="205">
                  <c:v>46072</c:v>
                </c:pt>
                <c:pt idx="206">
                  <c:v>46073</c:v>
                </c:pt>
                <c:pt idx="207">
                  <c:v>46075</c:v>
                </c:pt>
                <c:pt idx="208">
                  <c:v>46076</c:v>
                </c:pt>
                <c:pt idx="209">
                  <c:v>46077</c:v>
                </c:pt>
                <c:pt idx="210">
                  <c:v>46078</c:v>
                </c:pt>
                <c:pt idx="211">
                  <c:v>46079</c:v>
                </c:pt>
                <c:pt idx="212">
                  <c:v>46080</c:v>
                </c:pt>
                <c:pt idx="213">
                  <c:v>46082</c:v>
                </c:pt>
                <c:pt idx="214">
                  <c:v>46083</c:v>
                </c:pt>
                <c:pt idx="215">
                  <c:v>46084</c:v>
                </c:pt>
                <c:pt idx="216">
                  <c:v>46085</c:v>
                </c:pt>
                <c:pt idx="217">
                  <c:v>46086</c:v>
                </c:pt>
                <c:pt idx="218">
                  <c:v>46087</c:v>
                </c:pt>
                <c:pt idx="219">
                  <c:v>46088</c:v>
                </c:pt>
                <c:pt idx="220">
                  <c:v>46089</c:v>
                </c:pt>
                <c:pt idx="221">
                  <c:v>46090</c:v>
                </c:pt>
                <c:pt idx="222">
                  <c:v>46091</c:v>
                </c:pt>
                <c:pt idx="223">
                  <c:v>46092</c:v>
                </c:pt>
                <c:pt idx="224">
                  <c:v>46093</c:v>
                </c:pt>
                <c:pt idx="225">
                  <c:v>46094</c:v>
                </c:pt>
                <c:pt idx="226">
                  <c:v>46095</c:v>
                </c:pt>
                <c:pt idx="227">
                  <c:v>46096</c:v>
                </c:pt>
                <c:pt idx="228">
                  <c:v>46097</c:v>
                </c:pt>
                <c:pt idx="229">
                  <c:v>46098</c:v>
                </c:pt>
                <c:pt idx="230">
                  <c:v>46099</c:v>
                </c:pt>
                <c:pt idx="231">
                  <c:v>46100</c:v>
                </c:pt>
                <c:pt idx="232">
                  <c:v>46101</c:v>
                </c:pt>
                <c:pt idx="233">
                  <c:v>46102</c:v>
                </c:pt>
                <c:pt idx="234">
                  <c:v>46103</c:v>
                </c:pt>
                <c:pt idx="235">
                  <c:v>46104</c:v>
                </c:pt>
                <c:pt idx="236">
                  <c:v>46105</c:v>
                </c:pt>
                <c:pt idx="237">
                  <c:v>46106</c:v>
                </c:pt>
                <c:pt idx="238">
                  <c:v>46107</c:v>
                </c:pt>
                <c:pt idx="239">
                  <c:v>46108</c:v>
                </c:pt>
                <c:pt idx="240">
                  <c:v>46109</c:v>
                </c:pt>
                <c:pt idx="241">
                  <c:v>46110</c:v>
                </c:pt>
                <c:pt idx="242">
                  <c:v>46111</c:v>
                </c:pt>
                <c:pt idx="243">
                  <c:v>46112</c:v>
                </c:pt>
                <c:pt idx="244">
                  <c:v>46113</c:v>
                </c:pt>
                <c:pt idx="245">
                  <c:v>46114</c:v>
                </c:pt>
                <c:pt idx="246">
                  <c:v>46115</c:v>
                </c:pt>
                <c:pt idx="247">
                  <c:v>46117</c:v>
                </c:pt>
                <c:pt idx="248">
                  <c:v>46118</c:v>
                </c:pt>
                <c:pt idx="249">
                  <c:v>46119</c:v>
                </c:pt>
                <c:pt idx="250">
                  <c:v>46120</c:v>
                </c:pt>
                <c:pt idx="251">
                  <c:v>46121</c:v>
                </c:pt>
                <c:pt idx="252">
                  <c:v>46122</c:v>
                </c:pt>
                <c:pt idx="253">
                  <c:v>46123</c:v>
                </c:pt>
                <c:pt idx="254">
                  <c:v>46124</c:v>
                </c:pt>
                <c:pt idx="255">
                  <c:v>46125</c:v>
                </c:pt>
                <c:pt idx="256">
                  <c:v>46126</c:v>
                </c:pt>
                <c:pt idx="257">
                  <c:v>46127</c:v>
                </c:pt>
                <c:pt idx="258">
                  <c:v>46128</c:v>
                </c:pt>
                <c:pt idx="259">
                  <c:v>46129</c:v>
                </c:pt>
                <c:pt idx="260">
                  <c:v>46130</c:v>
                </c:pt>
                <c:pt idx="261">
                  <c:v>46131</c:v>
                </c:pt>
                <c:pt idx="262">
                  <c:v>46132</c:v>
                </c:pt>
                <c:pt idx="263">
                  <c:v>46133</c:v>
                </c:pt>
                <c:pt idx="264">
                  <c:v>46134</c:v>
                </c:pt>
                <c:pt idx="265">
                  <c:v>46135</c:v>
                </c:pt>
                <c:pt idx="266">
                  <c:v>46136</c:v>
                </c:pt>
                <c:pt idx="267">
                  <c:v>46137</c:v>
                </c:pt>
                <c:pt idx="268">
                  <c:v>46139</c:v>
                </c:pt>
                <c:pt idx="269">
                  <c:v>46140</c:v>
                </c:pt>
                <c:pt idx="270">
                  <c:v>46141</c:v>
                </c:pt>
                <c:pt idx="271">
                  <c:v>46142</c:v>
                </c:pt>
                <c:pt idx="272">
                  <c:v>46143</c:v>
                </c:pt>
                <c:pt idx="273">
                  <c:v>46145</c:v>
                </c:pt>
                <c:pt idx="274">
                  <c:v>46146</c:v>
                </c:pt>
                <c:pt idx="275">
                  <c:v>46147</c:v>
                </c:pt>
                <c:pt idx="276">
                  <c:v>46148</c:v>
                </c:pt>
                <c:pt idx="277">
                  <c:v>46149</c:v>
                </c:pt>
                <c:pt idx="278">
                  <c:v>46150</c:v>
                </c:pt>
                <c:pt idx="279">
                  <c:v>46152</c:v>
                </c:pt>
                <c:pt idx="280">
                  <c:v>46153</c:v>
                </c:pt>
                <c:pt idx="281">
                  <c:v>46154</c:v>
                </c:pt>
                <c:pt idx="282">
                  <c:v>46155</c:v>
                </c:pt>
                <c:pt idx="283">
                  <c:v>46156</c:v>
                </c:pt>
                <c:pt idx="284">
                  <c:v>46157</c:v>
                </c:pt>
                <c:pt idx="285">
                  <c:v>46158</c:v>
                </c:pt>
                <c:pt idx="286">
                  <c:v>46159</c:v>
                </c:pt>
                <c:pt idx="287">
                  <c:v>46160</c:v>
                </c:pt>
                <c:pt idx="288">
                  <c:v>46161</c:v>
                </c:pt>
                <c:pt idx="289">
                  <c:v>46162</c:v>
                </c:pt>
                <c:pt idx="290">
                  <c:v>46163</c:v>
                </c:pt>
                <c:pt idx="291">
                  <c:v>46164</c:v>
                </c:pt>
                <c:pt idx="292">
                  <c:v>46166</c:v>
                </c:pt>
                <c:pt idx="293">
                  <c:v>46167</c:v>
                </c:pt>
                <c:pt idx="294">
                  <c:v>46168</c:v>
                </c:pt>
                <c:pt idx="295">
                  <c:v>46169</c:v>
                </c:pt>
                <c:pt idx="296">
                  <c:v>46170</c:v>
                </c:pt>
                <c:pt idx="297">
                  <c:v>46171</c:v>
                </c:pt>
                <c:pt idx="298">
                  <c:v>46172</c:v>
                </c:pt>
                <c:pt idx="299">
                  <c:v>46173</c:v>
                </c:pt>
                <c:pt idx="300">
                  <c:v>46174</c:v>
                </c:pt>
                <c:pt idx="301">
                  <c:v>46175</c:v>
                </c:pt>
                <c:pt idx="302">
                  <c:v>46176</c:v>
                </c:pt>
                <c:pt idx="303">
                  <c:v>46177</c:v>
                </c:pt>
                <c:pt idx="304">
                  <c:v>46178</c:v>
                </c:pt>
                <c:pt idx="305">
                  <c:v>46179</c:v>
                </c:pt>
                <c:pt idx="306">
                  <c:v>46180</c:v>
                </c:pt>
                <c:pt idx="307">
                  <c:v>46181</c:v>
                </c:pt>
                <c:pt idx="308">
                  <c:v>46182</c:v>
                </c:pt>
                <c:pt idx="309">
                  <c:v>46183</c:v>
                </c:pt>
                <c:pt idx="310">
                  <c:v>46184</c:v>
                </c:pt>
                <c:pt idx="311">
                  <c:v>46185</c:v>
                </c:pt>
                <c:pt idx="312">
                  <c:v>46187</c:v>
                </c:pt>
                <c:pt idx="313">
                  <c:v>46188</c:v>
                </c:pt>
                <c:pt idx="314">
                  <c:v>46189</c:v>
                </c:pt>
                <c:pt idx="315">
                  <c:v>46190</c:v>
                </c:pt>
                <c:pt idx="316">
                  <c:v>46191</c:v>
                </c:pt>
                <c:pt idx="317">
                  <c:v>46192</c:v>
                </c:pt>
                <c:pt idx="318">
                  <c:v>46194</c:v>
                </c:pt>
                <c:pt idx="319">
                  <c:v>46195</c:v>
                </c:pt>
                <c:pt idx="320">
                  <c:v>46196</c:v>
                </c:pt>
                <c:pt idx="321">
                  <c:v>46197</c:v>
                </c:pt>
                <c:pt idx="322">
                  <c:v>46198</c:v>
                </c:pt>
                <c:pt idx="323">
                  <c:v>46199</c:v>
                </c:pt>
                <c:pt idx="324">
                  <c:v>46202</c:v>
                </c:pt>
                <c:pt idx="325">
                  <c:v>46203</c:v>
                </c:pt>
                <c:pt idx="326">
                  <c:v>46204</c:v>
                </c:pt>
                <c:pt idx="327">
                  <c:v>46205</c:v>
                </c:pt>
                <c:pt idx="328">
                  <c:v>46206</c:v>
                </c:pt>
                <c:pt idx="329">
                  <c:v>46208</c:v>
                </c:pt>
                <c:pt idx="330">
                  <c:v>46209</c:v>
                </c:pt>
                <c:pt idx="331">
                  <c:v>46210</c:v>
                </c:pt>
                <c:pt idx="332">
                  <c:v>46211</c:v>
                </c:pt>
                <c:pt idx="333">
                  <c:v>46212</c:v>
                </c:pt>
                <c:pt idx="334">
                  <c:v>46213</c:v>
                </c:pt>
                <c:pt idx="335">
                  <c:v>46215</c:v>
                </c:pt>
                <c:pt idx="336">
                  <c:v>46216</c:v>
                </c:pt>
                <c:pt idx="337">
                  <c:v>46217</c:v>
                </c:pt>
                <c:pt idx="338">
                  <c:v>46218</c:v>
                </c:pt>
              </c:numCache>
            </c:numRef>
          </c:cat>
          <c:val>
            <c:numRef>
              <c:f>'Ibovespa EPS - Year'!$Q$6:$Q$347</c:f>
              <c:numCache>
                <c:formatCode>0.0</c:formatCode>
                <c:ptCount val="342"/>
                <c:pt idx="0">
                  <c:v>19351.49516319489</c:v>
                </c:pt>
                <c:pt idx="1">
                  <c:v>19395.286339577986</c:v>
                </c:pt>
                <c:pt idx="2">
                  <c:v>19399.464782172534</c:v>
                </c:pt>
                <c:pt idx="3">
                  <c:v>19352.349766580261</c:v>
                </c:pt>
                <c:pt idx="4">
                  <c:v>19352.349766580261</c:v>
                </c:pt>
                <c:pt idx="5">
                  <c:v>19354.515010048428</c:v>
                </c:pt>
                <c:pt idx="6">
                  <c:v>19251.129324907139</c:v>
                </c:pt>
                <c:pt idx="7">
                  <c:v>19220.137138146878</c:v>
                </c:pt>
                <c:pt idx="8">
                  <c:v>19257.322028182167</c:v>
                </c:pt>
                <c:pt idx="9">
                  <c:v>19251.247464207045</c:v>
                </c:pt>
                <c:pt idx="10">
                  <c:v>19185.913602607179</c:v>
                </c:pt>
                <c:pt idx="11">
                  <c:v>19186.945272391233</c:v>
                </c:pt>
                <c:pt idx="12">
                  <c:v>19321.885010820301</c:v>
                </c:pt>
                <c:pt idx="13">
                  <c:v>19318.577522197513</c:v>
                </c:pt>
                <c:pt idx="14">
                  <c:v>19533.589679157816</c:v>
                </c:pt>
                <c:pt idx="15">
                  <c:v>19581.730416690643</c:v>
                </c:pt>
                <c:pt idx="16">
                  <c:v>19571.479220591584</c:v>
                </c:pt>
                <c:pt idx="17">
                  <c:v>19530.561850018934</c:v>
                </c:pt>
                <c:pt idx="18">
                  <c:v>19506.358129801494</c:v>
                </c:pt>
                <c:pt idx="19">
                  <c:v>19528.761449788195</c:v>
                </c:pt>
                <c:pt idx="20">
                  <c:v>19549.766991997734</c:v>
                </c:pt>
                <c:pt idx="21">
                  <c:v>19585.85847314425</c:v>
                </c:pt>
                <c:pt idx="22">
                  <c:v>19400.835807190047</c:v>
                </c:pt>
                <c:pt idx="23">
                  <c:v>19400.273590923651</c:v>
                </c:pt>
                <c:pt idx="24">
                  <c:v>19402.077233447777</c:v>
                </c:pt>
                <c:pt idx="25">
                  <c:v>19427.95082448619</c:v>
                </c:pt>
                <c:pt idx="26">
                  <c:v>19494.323085138418</c:v>
                </c:pt>
                <c:pt idx="27">
                  <c:v>19547.742630496548</c:v>
                </c:pt>
                <c:pt idx="28">
                  <c:v>19566.495703644945</c:v>
                </c:pt>
                <c:pt idx="29">
                  <c:v>19621.17542871934</c:v>
                </c:pt>
                <c:pt idx="30">
                  <c:v>19621.571177904068</c:v>
                </c:pt>
                <c:pt idx="31">
                  <c:v>19625.89088415046</c:v>
                </c:pt>
                <c:pt idx="32">
                  <c:v>19607.939178258741</c:v>
                </c:pt>
                <c:pt idx="33">
                  <c:v>19614.670189732718</c:v>
                </c:pt>
                <c:pt idx="34">
                  <c:v>19599.650892869951</c:v>
                </c:pt>
                <c:pt idx="35">
                  <c:v>19593.595705332693</c:v>
                </c:pt>
                <c:pt idx="36">
                  <c:v>19562.949994728118</c:v>
                </c:pt>
                <c:pt idx="37">
                  <c:v>19562.949994728118</c:v>
                </c:pt>
                <c:pt idx="38">
                  <c:v>19580.545531956381</c:v>
                </c:pt>
                <c:pt idx="39">
                  <c:v>19573.15487977356</c:v>
                </c:pt>
                <c:pt idx="40">
                  <c:v>19589.730749459835</c:v>
                </c:pt>
                <c:pt idx="41">
                  <c:v>19592.903547571732</c:v>
                </c:pt>
                <c:pt idx="42">
                  <c:v>19591.990819183015</c:v>
                </c:pt>
                <c:pt idx="43">
                  <c:v>19597.713239917295</c:v>
                </c:pt>
                <c:pt idx="44">
                  <c:v>19601.799145626144</c:v>
                </c:pt>
                <c:pt idx="45">
                  <c:v>19645.351712370491</c:v>
                </c:pt>
                <c:pt idx="46">
                  <c:v>19588.880711289879</c:v>
                </c:pt>
                <c:pt idx="47">
                  <c:v>19493.056172799286</c:v>
                </c:pt>
                <c:pt idx="48">
                  <c:v>19511.395917436923</c:v>
                </c:pt>
                <c:pt idx="49">
                  <c:v>19486.625508394238</c:v>
                </c:pt>
                <c:pt idx="50">
                  <c:v>19489.49351960553</c:v>
                </c:pt>
                <c:pt idx="51">
                  <c:v>19490.953362771081</c:v>
                </c:pt>
                <c:pt idx="52">
                  <c:v>19454.814895721654</c:v>
                </c:pt>
                <c:pt idx="53">
                  <c:v>19450.445231113095</c:v>
                </c:pt>
                <c:pt idx="54">
                  <c:v>19403.843116669246</c:v>
                </c:pt>
                <c:pt idx="55">
                  <c:v>19420.678619912236</c:v>
                </c:pt>
                <c:pt idx="56">
                  <c:v>19437.454732221824</c:v>
                </c:pt>
                <c:pt idx="57">
                  <c:v>19442.948584510948</c:v>
                </c:pt>
                <c:pt idx="58">
                  <c:v>19392.192168459576</c:v>
                </c:pt>
                <c:pt idx="59">
                  <c:v>19375.218541315884</c:v>
                </c:pt>
                <c:pt idx="60">
                  <c:v>19332.88455198715</c:v>
                </c:pt>
                <c:pt idx="61">
                  <c:v>19298.882526352027</c:v>
                </c:pt>
                <c:pt idx="62">
                  <c:v>19322.590173709374</c:v>
                </c:pt>
                <c:pt idx="63">
                  <c:v>19313.759255589568</c:v>
                </c:pt>
                <c:pt idx="64">
                  <c:v>19307.523726695854</c:v>
                </c:pt>
                <c:pt idx="65">
                  <c:v>19309.902981763636</c:v>
                </c:pt>
                <c:pt idx="66">
                  <c:v>19346.225883709471</c:v>
                </c:pt>
                <c:pt idx="67">
                  <c:v>19360.484134258983</c:v>
                </c:pt>
                <c:pt idx="68">
                  <c:v>19361.124882668046</c:v>
                </c:pt>
                <c:pt idx="69">
                  <c:v>19354.777590937887</c:v>
                </c:pt>
                <c:pt idx="70">
                  <c:v>19354.777590937887</c:v>
                </c:pt>
                <c:pt idx="71">
                  <c:v>19386.621240056214</c:v>
                </c:pt>
                <c:pt idx="72">
                  <c:v>19454.024028131869</c:v>
                </c:pt>
                <c:pt idx="73">
                  <c:v>19456.420103069613</c:v>
                </c:pt>
                <c:pt idx="74">
                  <c:v>19458.106394418024</c:v>
                </c:pt>
                <c:pt idx="75">
                  <c:v>19428.765734494384</c:v>
                </c:pt>
                <c:pt idx="76">
                  <c:v>19441.431649462102</c:v>
                </c:pt>
                <c:pt idx="77">
                  <c:v>19441.431649462102</c:v>
                </c:pt>
                <c:pt idx="78">
                  <c:v>19440.240986255281</c:v>
                </c:pt>
                <c:pt idx="79">
                  <c:v>19288.068304727822</c:v>
                </c:pt>
                <c:pt idx="80">
                  <c:v>19265.591029183059</c:v>
                </c:pt>
                <c:pt idx="81">
                  <c:v>19297.573756564649</c:v>
                </c:pt>
                <c:pt idx="82">
                  <c:v>19331.500523230632</c:v>
                </c:pt>
                <c:pt idx="83">
                  <c:v>19321.901317533098</c:v>
                </c:pt>
                <c:pt idx="84">
                  <c:v>19330.950014590144</c:v>
                </c:pt>
                <c:pt idx="85">
                  <c:v>19408.854921597584</c:v>
                </c:pt>
                <c:pt idx="86">
                  <c:v>19539.387644521234</c:v>
                </c:pt>
                <c:pt idx="87">
                  <c:v>19519.656385192775</c:v>
                </c:pt>
                <c:pt idx="88">
                  <c:v>19520.606586765574</c:v>
                </c:pt>
                <c:pt idx="89">
                  <c:v>19524.443670131066</c:v>
                </c:pt>
                <c:pt idx="90">
                  <c:v>19502.39495902801</c:v>
                </c:pt>
                <c:pt idx="91">
                  <c:v>19504.247113713664</c:v>
                </c:pt>
                <c:pt idx="92">
                  <c:v>19511.977726402678</c:v>
                </c:pt>
                <c:pt idx="93">
                  <c:v>19469.502545715892</c:v>
                </c:pt>
                <c:pt idx="94">
                  <c:v>19483.734656805223</c:v>
                </c:pt>
                <c:pt idx="95">
                  <c:v>19483.734656805223</c:v>
                </c:pt>
                <c:pt idx="96">
                  <c:v>19499.983489894181</c:v>
                </c:pt>
                <c:pt idx="97">
                  <c:v>19493.354757647481</c:v>
                </c:pt>
                <c:pt idx="98">
                  <c:v>19493.946562483026</c:v>
                </c:pt>
                <c:pt idx="99">
                  <c:v>19578.918747855303</c:v>
                </c:pt>
                <c:pt idx="100">
                  <c:v>19576.092845020983</c:v>
                </c:pt>
                <c:pt idx="101">
                  <c:v>19567.792300415011</c:v>
                </c:pt>
                <c:pt idx="102">
                  <c:v>19560.911449999847</c:v>
                </c:pt>
                <c:pt idx="103">
                  <c:v>19555.948647890149</c:v>
                </c:pt>
                <c:pt idx="104">
                  <c:v>19576.126889436615</c:v>
                </c:pt>
                <c:pt idx="105">
                  <c:v>19550.433347289538</c:v>
                </c:pt>
                <c:pt idx="106">
                  <c:v>19494.358409105851</c:v>
                </c:pt>
                <c:pt idx="107">
                  <c:v>19458.421433465985</c:v>
                </c:pt>
                <c:pt idx="108">
                  <c:v>19458.421433465985</c:v>
                </c:pt>
                <c:pt idx="109">
                  <c:v>19463.373808573015</c:v>
                </c:pt>
                <c:pt idx="110">
                  <c:v>19477.148949193772</c:v>
                </c:pt>
                <c:pt idx="111">
                  <c:v>19429.485641209678</c:v>
                </c:pt>
                <c:pt idx="112">
                  <c:v>19428.779931735469</c:v>
                </c:pt>
                <c:pt idx="113">
                  <c:v>19444.170536720983</c:v>
                </c:pt>
                <c:pt idx="114">
                  <c:v>19418.108087353008</c:v>
                </c:pt>
                <c:pt idx="115">
                  <c:v>19418.108087353008</c:v>
                </c:pt>
                <c:pt idx="116">
                  <c:v>19408.221615888717</c:v>
                </c:pt>
                <c:pt idx="117">
                  <c:v>19438.345290343219</c:v>
                </c:pt>
                <c:pt idx="118">
                  <c:v>19461.406299539598</c:v>
                </c:pt>
                <c:pt idx="119">
                  <c:v>19388.212508321289</c:v>
                </c:pt>
                <c:pt idx="120">
                  <c:v>19375.150756619667</c:v>
                </c:pt>
                <c:pt idx="121">
                  <c:v>19358.252473431065</c:v>
                </c:pt>
                <c:pt idx="122">
                  <c:v>19353.611914134559</c:v>
                </c:pt>
                <c:pt idx="123">
                  <c:v>19353.20708677109</c:v>
                </c:pt>
                <c:pt idx="124">
                  <c:v>19321.611742668749</c:v>
                </c:pt>
                <c:pt idx="125">
                  <c:v>19325.896525203261</c:v>
                </c:pt>
                <c:pt idx="126">
                  <c:v>19332.23389641109</c:v>
                </c:pt>
                <c:pt idx="127">
                  <c:v>19354.976946355218</c:v>
                </c:pt>
                <c:pt idx="128">
                  <c:v>19377.578650751508</c:v>
                </c:pt>
                <c:pt idx="129">
                  <c:v>19364.348195413524</c:v>
                </c:pt>
                <c:pt idx="130">
                  <c:v>19473.973887571738</c:v>
                </c:pt>
                <c:pt idx="131">
                  <c:v>19773.044868781759</c:v>
                </c:pt>
                <c:pt idx="132">
                  <c:v>19798.050871409498</c:v>
                </c:pt>
                <c:pt idx="133">
                  <c:v>19813.099982395142</c:v>
                </c:pt>
                <c:pt idx="134">
                  <c:v>19822.626761107276</c:v>
                </c:pt>
                <c:pt idx="135">
                  <c:v>19831.771275951272</c:v>
                </c:pt>
                <c:pt idx="136">
                  <c:v>19833.656629715922</c:v>
                </c:pt>
                <c:pt idx="137">
                  <c:v>19838.884548260176</c:v>
                </c:pt>
                <c:pt idx="138">
                  <c:v>19791.922978812763</c:v>
                </c:pt>
                <c:pt idx="139">
                  <c:v>20005.16830208182</c:v>
                </c:pt>
                <c:pt idx="140">
                  <c:v>20005.936796079714</c:v>
                </c:pt>
                <c:pt idx="141">
                  <c:v>20100.037772527223</c:v>
                </c:pt>
                <c:pt idx="142">
                  <c:v>20100.037772527223</c:v>
                </c:pt>
                <c:pt idx="143">
                  <c:v>20128.87370964517</c:v>
                </c:pt>
                <c:pt idx="144">
                  <c:v>20178.311744848084</c:v>
                </c:pt>
                <c:pt idx="145">
                  <c:v>19984.250367447228</c:v>
                </c:pt>
                <c:pt idx="146">
                  <c:v>20118.267083900577</c:v>
                </c:pt>
                <c:pt idx="147">
                  <c:v>20068.309741143861</c:v>
                </c:pt>
                <c:pt idx="148">
                  <c:v>20132.111968662652</c:v>
                </c:pt>
                <c:pt idx="149">
                  <c:v>20132.644667220735</c:v>
                </c:pt>
                <c:pt idx="150">
                  <c:v>20172.040686535922</c:v>
                </c:pt>
                <c:pt idx="151">
                  <c:v>20395.664228606398</c:v>
                </c:pt>
                <c:pt idx="152">
                  <c:v>20481.695085390842</c:v>
                </c:pt>
                <c:pt idx="153">
                  <c:v>20531.71180532682</c:v>
                </c:pt>
                <c:pt idx="154">
                  <c:v>20530.769520868318</c:v>
                </c:pt>
                <c:pt idx="155">
                  <c:v>20546.063515913567</c:v>
                </c:pt>
                <c:pt idx="156">
                  <c:v>20546.063515913567</c:v>
                </c:pt>
                <c:pt idx="157">
                  <c:v>20545.897597365525</c:v>
                </c:pt>
                <c:pt idx="158">
                  <c:v>20589.90886838681</c:v>
                </c:pt>
                <c:pt idx="159">
                  <c:v>20589.90886838681</c:v>
                </c:pt>
                <c:pt idx="160">
                  <c:v>20589.90886838681</c:v>
                </c:pt>
                <c:pt idx="161">
                  <c:v>20636.570378215478</c:v>
                </c:pt>
                <c:pt idx="162">
                  <c:v>20635.75372415896</c:v>
                </c:pt>
                <c:pt idx="163">
                  <c:v>20448.141017700957</c:v>
                </c:pt>
                <c:pt idx="164">
                  <c:v>20290.018591788743</c:v>
                </c:pt>
                <c:pt idx="165">
                  <c:v>20351.827270639074</c:v>
                </c:pt>
                <c:pt idx="166">
                  <c:v>20324.953360299492</c:v>
                </c:pt>
                <c:pt idx="167">
                  <c:v>20342.425400597811</c:v>
                </c:pt>
                <c:pt idx="168">
                  <c:v>20333.990157977281</c:v>
                </c:pt>
                <c:pt idx="169">
                  <c:v>20315.415031735371</c:v>
                </c:pt>
                <c:pt idx="170">
                  <c:v>20312.220710780755</c:v>
                </c:pt>
                <c:pt idx="171">
                  <c:v>20286.865117260491</c:v>
                </c:pt>
                <c:pt idx="172">
                  <c:v>20301.905664981496</c:v>
                </c:pt>
                <c:pt idx="173">
                  <c:v>20315.593702722756</c:v>
                </c:pt>
                <c:pt idx="174">
                  <c:v>20350.374563175548</c:v>
                </c:pt>
                <c:pt idx="175">
                  <c:v>20372.506112406245</c:v>
                </c:pt>
                <c:pt idx="176">
                  <c:v>20377.172978335751</c:v>
                </c:pt>
                <c:pt idx="177">
                  <c:v>20397.349406249541</c:v>
                </c:pt>
                <c:pt idx="178">
                  <c:v>20405.382162706024</c:v>
                </c:pt>
                <c:pt idx="179">
                  <c:v>20404.57642912319</c:v>
                </c:pt>
                <c:pt idx="180">
                  <c:v>20385.585825611299</c:v>
                </c:pt>
                <c:pt idx="181">
                  <c:v>20385.581507033934</c:v>
                </c:pt>
                <c:pt idx="182">
                  <c:v>20392.130327423067</c:v>
                </c:pt>
                <c:pt idx="183">
                  <c:v>20370.337867741873</c:v>
                </c:pt>
                <c:pt idx="184">
                  <c:v>20244.890179658458</c:v>
                </c:pt>
                <c:pt idx="185">
                  <c:v>20236.579701374878</c:v>
                </c:pt>
                <c:pt idx="186">
                  <c:v>20233.66325794013</c:v>
                </c:pt>
                <c:pt idx="187">
                  <c:v>20229.915267679098</c:v>
                </c:pt>
                <c:pt idx="188">
                  <c:v>20210.52420457562</c:v>
                </c:pt>
                <c:pt idx="189">
                  <c:v>20205.184384394102</c:v>
                </c:pt>
                <c:pt idx="190">
                  <c:v>20184.378093940752</c:v>
                </c:pt>
                <c:pt idx="191">
                  <c:v>20156.041627591461</c:v>
                </c:pt>
                <c:pt idx="192">
                  <c:v>20136.537290670301</c:v>
                </c:pt>
                <c:pt idx="193">
                  <c:v>20135.811419532351</c:v>
                </c:pt>
                <c:pt idx="194">
                  <c:v>20133.590383168517</c:v>
                </c:pt>
                <c:pt idx="195">
                  <c:v>20116.75564718786</c:v>
                </c:pt>
                <c:pt idx="196">
                  <c:v>20096.779876007124</c:v>
                </c:pt>
                <c:pt idx="197">
                  <c:v>20072.340767100573</c:v>
                </c:pt>
                <c:pt idx="198">
                  <c:v>20077.896888015235</c:v>
                </c:pt>
                <c:pt idx="199">
                  <c:v>20090.021324292258</c:v>
                </c:pt>
                <c:pt idx="200">
                  <c:v>20090.831528037328</c:v>
                </c:pt>
                <c:pt idx="201">
                  <c:v>20111.1390055269</c:v>
                </c:pt>
                <c:pt idx="202">
                  <c:v>20114.119236589559</c:v>
                </c:pt>
                <c:pt idx="203">
                  <c:v>20140.281181617669</c:v>
                </c:pt>
                <c:pt idx="204">
                  <c:v>20176.896060730731</c:v>
                </c:pt>
                <c:pt idx="205">
                  <c:v>20187.954551424464</c:v>
                </c:pt>
                <c:pt idx="206">
                  <c:v>20192.967374475105</c:v>
                </c:pt>
                <c:pt idx="207">
                  <c:v>20167.977785132738</c:v>
                </c:pt>
                <c:pt idx="208">
                  <c:v>20139.259795303511</c:v>
                </c:pt>
                <c:pt idx="209">
                  <c:v>20135.995583634412</c:v>
                </c:pt>
                <c:pt idx="210">
                  <c:v>20140.262575510311</c:v>
                </c:pt>
                <c:pt idx="211">
                  <c:v>20142.119013453652</c:v>
                </c:pt>
                <c:pt idx="212">
                  <c:v>20110.819206218253</c:v>
                </c:pt>
                <c:pt idx="213">
                  <c:v>20115.167660122548</c:v>
                </c:pt>
                <c:pt idx="214">
                  <c:v>20089.473433504052</c:v>
                </c:pt>
                <c:pt idx="215">
                  <c:v>20075.392999868425</c:v>
                </c:pt>
                <c:pt idx="216">
                  <c:v>20090.21231016588</c:v>
                </c:pt>
                <c:pt idx="217">
                  <c:v>20092.327001724996</c:v>
                </c:pt>
                <c:pt idx="218">
                  <c:v>20168.443005665762</c:v>
                </c:pt>
                <c:pt idx="219">
                  <c:v>20173.283692215886</c:v>
                </c:pt>
                <c:pt idx="220">
                  <c:v>20174.814923642371</c:v>
                </c:pt>
                <c:pt idx="221">
                  <c:v>20173.947651112023</c:v>
                </c:pt>
                <c:pt idx="222">
                  <c:v>20168.301434047444</c:v>
                </c:pt>
                <c:pt idx="223">
                  <c:v>20097.359673283489</c:v>
                </c:pt>
                <c:pt idx="224">
                  <c:v>20187.72205569825</c:v>
                </c:pt>
                <c:pt idx="225">
                  <c:v>20209.04641657383</c:v>
                </c:pt>
                <c:pt idx="226">
                  <c:v>20209.04641657383</c:v>
                </c:pt>
                <c:pt idx="227">
                  <c:v>20278.072316629245</c:v>
                </c:pt>
                <c:pt idx="228">
                  <c:v>20292.203882917256</c:v>
                </c:pt>
                <c:pt idx="229">
                  <c:v>20306.57991229726</c:v>
                </c:pt>
                <c:pt idx="230">
                  <c:v>20298.798581593994</c:v>
                </c:pt>
                <c:pt idx="231">
                  <c:v>20320.488182454097</c:v>
                </c:pt>
                <c:pt idx="232">
                  <c:v>20323.652521445772</c:v>
                </c:pt>
                <c:pt idx="233">
                  <c:v>20321.304151594479</c:v>
                </c:pt>
                <c:pt idx="234">
                  <c:v>20321.304151594479</c:v>
                </c:pt>
                <c:pt idx="235">
                  <c:v>20343.905011112467</c:v>
                </c:pt>
                <c:pt idx="236">
                  <c:v>20346.412135805003</c:v>
                </c:pt>
                <c:pt idx="237">
                  <c:v>20360.412150374737</c:v>
                </c:pt>
                <c:pt idx="238">
                  <c:v>21087.219795814122</c:v>
                </c:pt>
                <c:pt idx="239">
                  <c:v>21111.916559065256</c:v>
                </c:pt>
                <c:pt idx="240">
                  <c:v>21108.915460448865</c:v>
                </c:pt>
                <c:pt idx="241">
                  <c:v>21111.770672388797</c:v>
                </c:pt>
                <c:pt idx="242">
                  <c:v>21140.669235748424</c:v>
                </c:pt>
                <c:pt idx="243">
                  <c:v>21133.095482034598</c:v>
                </c:pt>
                <c:pt idx="244">
                  <c:v>21188.865559854177</c:v>
                </c:pt>
                <c:pt idx="245">
                  <c:v>21183.474188573084</c:v>
                </c:pt>
                <c:pt idx="246">
                  <c:v>21183.474188573084</c:v>
                </c:pt>
                <c:pt idx="247">
                  <c:v>21182.871399216274</c:v>
                </c:pt>
                <c:pt idx="248">
                  <c:v>21236.685565122607</c:v>
                </c:pt>
                <c:pt idx="249">
                  <c:v>21226.110434698396</c:v>
                </c:pt>
                <c:pt idx="250">
                  <c:v>21258.999226746964</c:v>
                </c:pt>
                <c:pt idx="251">
                  <c:v>21416.357354524538</c:v>
                </c:pt>
                <c:pt idx="252">
                  <c:v>21394.813025857868</c:v>
                </c:pt>
                <c:pt idx="253">
                  <c:v>21394.603968839063</c:v>
                </c:pt>
                <c:pt idx="254">
                  <c:v>21396.574004134673</c:v>
                </c:pt>
                <c:pt idx="255">
                  <c:v>21396.993124752818</c:v>
                </c:pt>
                <c:pt idx="256">
                  <c:v>21336.457668655541</c:v>
                </c:pt>
                <c:pt idx="257">
                  <c:v>21525.700885626669</c:v>
                </c:pt>
                <c:pt idx="258">
                  <c:v>21589.088323943823</c:v>
                </c:pt>
                <c:pt idx="259">
                  <c:v>21700.461361053385</c:v>
                </c:pt>
                <c:pt idx="260">
                  <c:v>21699.721896972853</c:v>
                </c:pt>
                <c:pt idx="261">
                  <c:v>21658.207860028753</c:v>
                </c:pt>
                <c:pt idx="262">
                  <c:v>21664.140953473598</c:v>
                </c:pt>
                <c:pt idx="263">
                  <c:v>21650.662601823933</c:v>
                </c:pt>
                <c:pt idx="264">
                  <c:v>21646.713565788261</c:v>
                </c:pt>
                <c:pt idx="265">
                  <c:v>21667.489710282622</c:v>
                </c:pt>
                <c:pt idx="266">
                  <c:v>21643.130212720869</c:v>
                </c:pt>
                <c:pt idx="267">
                  <c:v>21612.14508993048</c:v>
                </c:pt>
                <c:pt idx="268">
                  <c:v>21624.761502387984</c:v>
                </c:pt>
                <c:pt idx="269">
                  <c:v>21626.028786227031</c:v>
                </c:pt>
                <c:pt idx="270">
                  <c:v>21742.340086867927</c:v>
                </c:pt>
                <c:pt idx="271">
                  <c:v>21663.848824707358</c:v>
                </c:pt>
                <c:pt idx="272">
                  <c:v>21495.704772752513</c:v>
                </c:pt>
                <c:pt idx="273">
                  <c:v>21456.74725466115</c:v>
                </c:pt>
                <c:pt idx="274">
                  <c:v>21501.646201321968</c:v>
                </c:pt>
                <c:pt idx="275">
                  <c:v>21528.93091742821</c:v>
                </c:pt>
                <c:pt idx="276">
                  <c:v>21511.473630436165</c:v>
                </c:pt>
                <c:pt idx="277">
                  <c:v>21516.387550668678</c:v>
                </c:pt>
                <c:pt idx="278">
                  <c:v>21532.446156421011</c:v>
                </c:pt>
                <c:pt idx="279">
                  <c:v>21531.347320215496</c:v>
                </c:pt>
                <c:pt idx="280">
                  <c:v>21424.046608015433</c:v>
                </c:pt>
                <c:pt idx="281">
                  <c:v>21469.042880776637</c:v>
                </c:pt>
                <c:pt idx="282">
                  <c:v>21482.284491640497</c:v>
                </c:pt>
                <c:pt idx="283">
                  <c:v>21479.451481781707</c:v>
                </c:pt>
                <c:pt idx="284">
                  <c:v>21446.707477953354</c:v>
                </c:pt>
                <c:pt idx="285">
                  <c:v>21446.818826491071</c:v>
                </c:pt>
                <c:pt idx="286">
                  <c:v>21445.016798473651</c:v>
                </c:pt>
                <c:pt idx="287">
                  <c:v>21445.379836783199</c:v>
                </c:pt>
                <c:pt idx="288">
                  <c:v>21457.789787635927</c:v>
                </c:pt>
                <c:pt idx="289">
                  <c:v>21521.132266979348</c:v>
                </c:pt>
                <c:pt idx="290">
                  <c:v>21568.476874752865</c:v>
                </c:pt>
                <c:pt idx="291">
                  <c:v>21568.51237213194</c:v>
                </c:pt>
                <c:pt idx="292">
                  <c:v>21568.51237213194</c:v>
                </c:pt>
                <c:pt idx="293">
                  <c:v>21595.188452645194</c:v>
                </c:pt>
                <c:pt idx="294">
                  <c:v>21502.218330526266</c:v>
                </c:pt>
                <c:pt idx="295">
                  <c:v>21489.054339068411</c:v>
                </c:pt>
                <c:pt idx="296">
                  <c:v>21370.117239043873</c:v>
                </c:pt>
                <c:pt idx="297">
                  <c:v>21367.425913615905</c:v>
                </c:pt>
                <c:pt idx="298">
                  <c:v>21366.438529709001</c:v>
                </c:pt>
                <c:pt idx="299">
                  <c:v>21379.879527838875</c:v>
                </c:pt>
                <c:pt idx="300">
                  <c:v>21375.57985467017</c:v>
                </c:pt>
                <c:pt idx="301">
                  <c:v>21414.82645623065</c:v>
                </c:pt>
                <c:pt idx="302">
                  <c:v>21381.539066619243</c:v>
                </c:pt>
                <c:pt idx="303">
                  <c:v>21498.78848421204</c:v>
                </c:pt>
                <c:pt idx="304">
                  <c:v>21520.795152280658</c:v>
                </c:pt>
                <c:pt idx="305">
                  <c:v>21492.796648849566</c:v>
                </c:pt>
                <c:pt idx="306">
                  <c:v>21493.410827222473</c:v>
                </c:pt>
                <c:pt idx="307">
                  <c:v>21715.024480216824</c:v>
                </c:pt>
                <c:pt idx="308">
                  <c:v>21707.009347975323</c:v>
                </c:pt>
                <c:pt idx="309">
                  <c:v>21687.789542929528</c:v>
                </c:pt>
                <c:pt idx="310">
                  <c:v>21727.248061259106</c:v>
                </c:pt>
                <c:pt idx="311">
                  <c:v>21731.735231927767</c:v>
                </c:pt>
                <c:pt idx="312">
                  <c:v>21748.624475368557</c:v>
                </c:pt>
                <c:pt idx="313">
                  <c:v>21746.81711371693</c:v>
                </c:pt>
                <c:pt idx="314">
                  <c:v>21762.481371069236</c:v>
                </c:pt>
                <c:pt idx="315">
                  <c:v>21715.527750710902</c:v>
                </c:pt>
                <c:pt idx="316">
                  <c:v>21724.941993742326</c:v>
                </c:pt>
                <c:pt idx="317">
                  <c:v>21728.129895975766</c:v>
                </c:pt>
                <c:pt idx="318">
                  <c:v>21724.888778358527</c:v>
                </c:pt>
                <c:pt idx="319">
                  <c:v>21733.708704808694</c:v>
                </c:pt>
                <c:pt idx="320">
                  <c:v>21747.10773209947</c:v>
                </c:pt>
                <c:pt idx="321">
                  <c:v>21768.263325767759</c:v>
                </c:pt>
                <c:pt idx="322">
                  <c:v>21754.911012206485</c:v>
                </c:pt>
                <c:pt idx="323">
                  <c:v>21754.346872680293</c:v>
                </c:pt>
                <c:pt idx="324">
                  <c:v>21760.976130819538</c:v>
                </c:pt>
                <c:pt idx="325">
                  <c:v>21755.115066205937</c:v>
                </c:pt>
                <c:pt idx="326">
                  <c:v>21527.813137070982</c:v>
                </c:pt>
                <c:pt idx="327">
                  <c:v>21530.912532644157</c:v>
                </c:pt>
                <c:pt idx="328">
                  <c:v>21538.649080435996</c:v>
                </c:pt>
                <c:pt idx="329">
                  <c:v>21545.809695614007</c:v>
                </c:pt>
                <c:pt idx="330">
                  <c:v>21552.91838853489</c:v>
                </c:pt>
                <c:pt idx="331">
                  <c:v>21505.355950510228</c:v>
                </c:pt>
                <c:pt idx="332">
                  <c:v>21504.591117307365</c:v>
                </c:pt>
                <c:pt idx="333">
                  <c:v>21458.260936040031</c:v>
                </c:pt>
                <c:pt idx="334">
                  <c:v>21478.159927740526</c:v>
                </c:pt>
                <c:pt idx="335">
                  <c:v>21479.120793127411</c:v>
                </c:pt>
                <c:pt idx="336">
                  <c:v>21457.897266822576</c:v>
                </c:pt>
                <c:pt idx="337">
                  <c:v>21456.930093141644</c:v>
                </c:pt>
                <c:pt idx="338">
                  <c:v>21429.523415553223</c:v>
                </c:pt>
              </c:numCache>
            </c:numRef>
          </c:val>
          <c:smooth val="0"/>
          <c:extLst>
            <c:ext xmlns:c16="http://schemas.microsoft.com/office/drawing/2014/chart" uri="{C3380CC4-5D6E-409C-BE32-E72D297353CC}">
              <c16:uniqueId val="{00000001-B719-4037-9085-D0296CC37AC1}"/>
            </c:ext>
          </c:extLst>
        </c:ser>
        <c:dLbls>
          <c:showLegendKey val="0"/>
          <c:showVal val="0"/>
          <c:showCatName val="0"/>
          <c:showSerName val="0"/>
          <c:showPercent val="0"/>
          <c:showBubbleSize val="0"/>
        </c:dLbls>
        <c:smooth val="0"/>
        <c:axId val="1269898767"/>
        <c:axId val="1269897327"/>
      </c:lineChart>
      <c:dateAx>
        <c:axId val="1269898767"/>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69897327"/>
        <c:crosses val="autoZero"/>
        <c:auto val="1"/>
        <c:lblOffset val="100"/>
        <c:baseTimeUnit val="days"/>
      </c:dateAx>
      <c:valAx>
        <c:axId val="1269897327"/>
        <c:scaling>
          <c:orientation val="minMax"/>
          <c:min val="1600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69898767"/>
        <c:crosses val="autoZero"/>
        <c:crossBetween val="between"/>
        <c:majorUnit val="2000"/>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Painel!$O$29</c:f>
              <c:strCache>
                <c:ptCount val="1"/>
                <c:pt idx="0">
                  <c:v>Revisão %</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Painel!$J$31:$J$39</c:f>
              <c:strCache>
                <c:ptCount val="9"/>
                <c:pt idx="0">
                  <c:v>Materiais</c:v>
                </c:pt>
                <c:pt idx="1">
                  <c:v>Energia</c:v>
                </c:pt>
                <c:pt idx="2">
                  <c:v>Cons. Básico</c:v>
                </c:pt>
                <c:pt idx="3">
                  <c:v>Serv. de Comunicação</c:v>
                </c:pt>
                <c:pt idx="4">
                  <c:v>Industriais</c:v>
                </c:pt>
                <c:pt idx="5">
                  <c:v>Financeiro</c:v>
                </c:pt>
                <c:pt idx="6">
                  <c:v>Saúde</c:v>
                </c:pt>
                <c:pt idx="7">
                  <c:v>Utilities</c:v>
                </c:pt>
                <c:pt idx="8">
                  <c:v>Cons. Discricionário</c:v>
                </c:pt>
              </c:strCache>
              <c:extLst/>
            </c:strRef>
          </c:cat>
          <c:val>
            <c:numRef>
              <c:f>Painel!$O$31:$O$39</c:f>
              <c:numCache>
                <c:formatCode>0.0%</c:formatCode>
                <c:ptCount val="9"/>
                <c:pt idx="0">
                  <c:v>-3.1096799016093635E-2</c:v>
                </c:pt>
                <c:pt idx="1">
                  <c:v>-2.3171376431958657E-2</c:v>
                </c:pt>
                <c:pt idx="2">
                  <c:v>-1.6435558312829501E-2</c:v>
                </c:pt>
                <c:pt idx="3">
                  <c:v>2.3214587202431414E-3</c:v>
                </c:pt>
                <c:pt idx="4">
                  <c:v>8.8689415251141934E-3</c:v>
                </c:pt>
                <c:pt idx="5">
                  <c:v>9.8832671384709858E-3</c:v>
                </c:pt>
                <c:pt idx="6">
                  <c:v>1.7719990608964009E-2</c:v>
                </c:pt>
                <c:pt idx="7">
                  <c:v>4.5589610899892996E-2</c:v>
                </c:pt>
                <c:pt idx="8">
                  <c:v>0.14248715355882546</c:v>
                </c:pt>
              </c:numCache>
              <c:extLst/>
            </c:numRef>
          </c:val>
          <c:extLst>
            <c:ext xmlns:c16="http://schemas.microsoft.com/office/drawing/2014/chart" uri="{C3380CC4-5D6E-409C-BE32-E72D297353CC}">
              <c16:uniqueId val="{00000000-B3AC-4F60-9F6A-C97E51247AB3}"/>
            </c:ext>
          </c:extLst>
        </c:ser>
        <c:dLbls>
          <c:showLegendKey val="0"/>
          <c:showVal val="0"/>
          <c:showCatName val="0"/>
          <c:showSerName val="0"/>
          <c:showPercent val="0"/>
          <c:showBubbleSize val="0"/>
        </c:dLbls>
        <c:gapWidth val="100"/>
        <c:overlap val="-27"/>
        <c:axId val="2116383903"/>
        <c:axId val="2116384383"/>
      </c:barChart>
      <c:catAx>
        <c:axId val="211638390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2116384383"/>
        <c:crosses val="autoZero"/>
        <c:auto val="1"/>
        <c:lblAlgn val="ctr"/>
        <c:lblOffset val="400"/>
        <c:noMultiLvlLbl val="0"/>
      </c:catAx>
      <c:valAx>
        <c:axId val="2116384383"/>
        <c:scaling>
          <c:orientation val="minMax"/>
        </c:scaling>
        <c:delete val="1"/>
        <c:axPos val="l"/>
        <c:numFmt formatCode="0.0%" sourceLinked="1"/>
        <c:majorTickMark val="none"/>
        <c:minorTickMark val="none"/>
        <c:tickLblPos val="nextTo"/>
        <c:crossAx val="2116383903"/>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'[Ibovespa FA - 2Q26.xlsx]Sheet1'!$D$2</c:f>
              <c:strCache>
                <c:ptCount val="1"/>
                <c:pt idx="0">
                  <c:v>EBITDA</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'[Ibovespa FA - 2Q26.xlsx]Sheet1'!$C$3:$C$7</c:f>
              <c:strCache>
                <c:ptCount val="5"/>
                <c:pt idx="0">
                  <c:v>2T25</c:v>
                </c:pt>
                <c:pt idx="1">
                  <c:v>3T25</c:v>
                </c:pt>
                <c:pt idx="2">
                  <c:v>4T25</c:v>
                </c:pt>
                <c:pt idx="3">
                  <c:v>1T26</c:v>
                </c:pt>
                <c:pt idx="4">
                  <c:v>2T26E</c:v>
                </c:pt>
              </c:strCache>
            </c:strRef>
          </c:cat>
          <c:val>
            <c:numRef>
              <c:f>'[Ibovespa FA - 2Q26.xlsx]Sheet1'!$D$3:$D$7</c:f>
              <c:numCache>
                <c:formatCode>0.0%</c:formatCode>
                <c:ptCount val="5"/>
                <c:pt idx="0">
                  <c:v>6.4133884427541102E-2</c:v>
                </c:pt>
                <c:pt idx="1">
                  <c:v>0.104787196917868</c:v>
                </c:pt>
                <c:pt idx="2">
                  <c:v>-0.16121169452849599</c:v>
                </c:pt>
                <c:pt idx="3">
                  <c:v>9.4014053122369698E-2</c:v>
                </c:pt>
                <c:pt idx="4">
                  <c:v>0.44878652445022538</c:v>
                </c:pt>
              </c:numCache>
            </c:numRef>
          </c:val>
          <c:extLst>
            <c:ext xmlns:c16="http://schemas.microsoft.com/office/drawing/2014/chart" uri="{C3380CC4-5D6E-409C-BE32-E72D297353CC}">
              <c16:uniqueId val="{00000000-1FD5-42EA-B74A-AF779D869518}"/>
            </c:ext>
          </c:extLst>
        </c:ser>
        <c:ser>
          <c:idx val="1"/>
          <c:order val="1"/>
          <c:tx>
            <c:strRef>
              <c:f>'[Ibovespa FA - 2Q26.xlsx]Sheet1'!$E$2</c:f>
              <c:strCache>
                <c:ptCount val="1"/>
                <c:pt idx="0">
                  <c:v>LPA</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'[Ibovespa FA - 2Q26.xlsx]Sheet1'!$C$3:$C$7</c:f>
              <c:strCache>
                <c:ptCount val="5"/>
                <c:pt idx="0">
                  <c:v>2T25</c:v>
                </c:pt>
                <c:pt idx="1">
                  <c:v>3T25</c:v>
                </c:pt>
                <c:pt idx="2">
                  <c:v>4T25</c:v>
                </c:pt>
                <c:pt idx="3">
                  <c:v>1T26</c:v>
                </c:pt>
                <c:pt idx="4">
                  <c:v>2T26E</c:v>
                </c:pt>
              </c:strCache>
            </c:strRef>
          </c:cat>
          <c:val>
            <c:numRef>
              <c:f>'[Ibovespa FA - 2Q26.xlsx]Sheet1'!$E$3:$E$7</c:f>
              <c:numCache>
                <c:formatCode>0.0%</c:formatCode>
                <c:ptCount val="5"/>
                <c:pt idx="0">
                  <c:v>0.34326035575459102</c:v>
                </c:pt>
                <c:pt idx="1">
                  <c:v>0.33676175653721202</c:v>
                </c:pt>
                <c:pt idx="2">
                  <c:v>-2.5573586779191901E-2</c:v>
                </c:pt>
                <c:pt idx="3">
                  <c:v>-1.1711176997929999E-2</c:v>
                </c:pt>
                <c:pt idx="4">
                  <c:v>0.35021003535847028</c:v>
                </c:pt>
              </c:numCache>
            </c:numRef>
          </c:val>
          <c:extLst>
            <c:ext xmlns:c16="http://schemas.microsoft.com/office/drawing/2014/chart" uri="{C3380CC4-5D6E-409C-BE32-E72D297353CC}">
              <c16:uniqueId val="{00000001-1FD5-42EA-B74A-AF779D869518}"/>
            </c:ext>
          </c:extLst>
        </c:ser>
        <c:ser>
          <c:idx val="2"/>
          <c:order val="2"/>
          <c:tx>
            <c:strRef>
              <c:f>'[Ibovespa FA - 2Q26.xlsx]Sheet1'!$F$2</c:f>
              <c:strCache>
                <c:ptCount val="1"/>
                <c:pt idx="0">
                  <c:v>Receita</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'[Ibovespa FA - 2Q26.xlsx]Sheet1'!$C$3:$C$7</c:f>
              <c:strCache>
                <c:ptCount val="5"/>
                <c:pt idx="0">
                  <c:v>2T25</c:v>
                </c:pt>
                <c:pt idx="1">
                  <c:v>3T25</c:v>
                </c:pt>
                <c:pt idx="2">
                  <c:v>4T25</c:v>
                </c:pt>
                <c:pt idx="3">
                  <c:v>1T26</c:v>
                </c:pt>
                <c:pt idx="4">
                  <c:v>2T26E</c:v>
                </c:pt>
              </c:strCache>
            </c:strRef>
          </c:cat>
          <c:val>
            <c:numRef>
              <c:f>'[Ibovespa FA - 2Q26.xlsx]Sheet1'!$F$3:$F$7</c:f>
              <c:numCache>
                <c:formatCode>0.0%</c:formatCode>
                <c:ptCount val="5"/>
                <c:pt idx="0">
                  <c:v>0.126112983930591</c:v>
                </c:pt>
                <c:pt idx="1">
                  <c:v>2.3294983100133601E-2</c:v>
                </c:pt>
                <c:pt idx="2">
                  <c:v>3.6840714917712597E-2</c:v>
                </c:pt>
                <c:pt idx="3">
                  <c:v>5.7013615300472595E-2</c:v>
                </c:pt>
                <c:pt idx="4">
                  <c:v>6.8045597350163023E-2</c:v>
                </c:pt>
              </c:numCache>
            </c:numRef>
          </c:val>
          <c:extLst>
            <c:ext xmlns:c16="http://schemas.microsoft.com/office/drawing/2014/chart" uri="{C3380CC4-5D6E-409C-BE32-E72D297353CC}">
              <c16:uniqueId val="{00000002-1FD5-42EA-B74A-AF779D869518}"/>
            </c:ext>
          </c:extLst>
        </c:ser>
        <c:dLbls>
          <c:dLblPos val="outEnd"/>
          <c:showLegendKey val="0"/>
          <c:showVal val="1"/>
          <c:showCatName val="0"/>
          <c:showSerName val="0"/>
          <c:showPercent val="0"/>
          <c:showBubbleSize val="0"/>
        </c:dLbls>
        <c:gapWidth val="30"/>
        <c:overlap val="-27"/>
        <c:axId val="1457521488"/>
        <c:axId val="1579406448"/>
      </c:barChart>
      <c:catAx>
        <c:axId val="1457521488"/>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579406448"/>
        <c:crosses val="autoZero"/>
        <c:auto val="1"/>
        <c:lblAlgn val="ctr"/>
        <c:lblOffset val="100"/>
        <c:noMultiLvlLbl val="0"/>
      </c:catAx>
      <c:valAx>
        <c:axId val="1579406448"/>
        <c:scaling>
          <c:orientation val="minMax"/>
        </c:scaling>
        <c:delete val="1"/>
        <c:axPos val="l"/>
        <c:numFmt formatCode="0.0%" sourceLinked="1"/>
        <c:majorTickMark val="none"/>
        <c:minorTickMark val="none"/>
        <c:tickLblPos val="nextTo"/>
        <c:crossAx val="14575214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570247052558297E-2"/>
          <c:y val="0.32774258653213367"/>
          <c:w val="0.89782317107937382"/>
          <c:h val="0.37595696439458565"/>
        </c:manualLayout>
      </c:layout>
      <c:lineChart>
        <c:grouping val="standard"/>
        <c:varyColors val="0"/>
        <c:ser>
          <c:idx val="0"/>
          <c:order val="0"/>
          <c:tx>
            <c:strRef>
              <c:f>'[IBOV Implied Move on Earnings - 2Q26.xlsx]Chart'!$C$4</c:f>
              <c:strCache>
                <c:ptCount val="1"/>
                <c:pt idx="0">
                  <c:v>Movimento implícito médio das ações individuais do IBOV (esq.)</c:v>
                </c:pt>
              </c:strCache>
            </c:strRef>
          </c:tx>
          <c:spPr>
            <a:ln w="19050" cap="rnd">
              <a:solidFill>
                <a:schemeClr val="accent1"/>
              </a:solidFill>
              <a:round/>
            </a:ln>
            <a:effectLst/>
          </c:spPr>
          <c:marker>
            <c:symbol val="none"/>
          </c:marker>
          <c:cat>
            <c:numRef>
              <c:f>'[IBOV Implied Move on Earnings - 2Q26.xlsx]Chart'!$B$5:$B$60</c:f>
              <c:numCache>
                <c:formatCode>m/d/yyyy</c:formatCode>
                <c:ptCount val="56"/>
                <c:pt idx="0">
                  <c:v>44560</c:v>
                </c:pt>
                <c:pt idx="1">
                  <c:v>44591</c:v>
                </c:pt>
                <c:pt idx="2">
                  <c:v>44620</c:v>
                </c:pt>
                <c:pt idx="3">
                  <c:v>44650</c:v>
                </c:pt>
                <c:pt idx="4">
                  <c:v>44681</c:v>
                </c:pt>
                <c:pt idx="5">
                  <c:v>44711</c:v>
                </c:pt>
                <c:pt idx="6">
                  <c:v>44742</c:v>
                </c:pt>
                <c:pt idx="7">
                  <c:v>44772</c:v>
                </c:pt>
                <c:pt idx="8">
                  <c:v>44803</c:v>
                </c:pt>
                <c:pt idx="9">
                  <c:v>44834</c:v>
                </c:pt>
                <c:pt idx="10">
                  <c:v>44864</c:v>
                </c:pt>
                <c:pt idx="11">
                  <c:v>44895</c:v>
                </c:pt>
                <c:pt idx="12">
                  <c:v>44925</c:v>
                </c:pt>
                <c:pt idx="13">
                  <c:v>44956</c:v>
                </c:pt>
                <c:pt idx="14">
                  <c:v>44985</c:v>
                </c:pt>
                <c:pt idx="15">
                  <c:v>45015</c:v>
                </c:pt>
                <c:pt idx="16">
                  <c:v>45046</c:v>
                </c:pt>
                <c:pt idx="17">
                  <c:v>45076</c:v>
                </c:pt>
                <c:pt idx="18">
                  <c:v>45107</c:v>
                </c:pt>
                <c:pt idx="19">
                  <c:v>45137</c:v>
                </c:pt>
                <c:pt idx="20">
                  <c:v>45168</c:v>
                </c:pt>
                <c:pt idx="21">
                  <c:v>45199</c:v>
                </c:pt>
                <c:pt idx="22">
                  <c:v>45229</c:v>
                </c:pt>
                <c:pt idx="23">
                  <c:v>45260</c:v>
                </c:pt>
                <c:pt idx="24">
                  <c:v>45290</c:v>
                </c:pt>
                <c:pt idx="25">
                  <c:v>45321</c:v>
                </c:pt>
                <c:pt idx="26">
                  <c:v>45351</c:v>
                </c:pt>
                <c:pt idx="27">
                  <c:v>45381</c:v>
                </c:pt>
                <c:pt idx="28">
                  <c:v>45412</c:v>
                </c:pt>
                <c:pt idx="29">
                  <c:v>45442</c:v>
                </c:pt>
                <c:pt idx="30">
                  <c:v>45473</c:v>
                </c:pt>
                <c:pt idx="31">
                  <c:v>45503</c:v>
                </c:pt>
                <c:pt idx="32">
                  <c:v>45534</c:v>
                </c:pt>
                <c:pt idx="33">
                  <c:v>45565</c:v>
                </c:pt>
                <c:pt idx="34">
                  <c:v>45595</c:v>
                </c:pt>
                <c:pt idx="35">
                  <c:v>45626</c:v>
                </c:pt>
                <c:pt idx="36">
                  <c:v>45656</c:v>
                </c:pt>
                <c:pt idx="37">
                  <c:v>45687</c:v>
                </c:pt>
                <c:pt idx="38">
                  <c:v>45716</c:v>
                </c:pt>
                <c:pt idx="39">
                  <c:v>45746</c:v>
                </c:pt>
                <c:pt idx="40">
                  <c:v>45777</c:v>
                </c:pt>
                <c:pt idx="41">
                  <c:v>45807</c:v>
                </c:pt>
                <c:pt idx="42">
                  <c:v>45838</c:v>
                </c:pt>
                <c:pt idx="43">
                  <c:v>45868</c:v>
                </c:pt>
                <c:pt idx="44">
                  <c:v>45899</c:v>
                </c:pt>
                <c:pt idx="45">
                  <c:v>45930</c:v>
                </c:pt>
                <c:pt idx="46">
                  <c:v>45960</c:v>
                </c:pt>
                <c:pt idx="47">
                  <c:v>45991</c:v>
                </c:pt>
                <c:pt idx="48">
                  <c:v>46021</c:v>
                </c:pt>
                <c:pt idx="49">
                  <c:v>46052</c:v>
                </c:pt>
                <c:pt idx="50">
                  <c:v>46081</c:v>
                </c:pt>
                <c:pt idx="51">
                  <c:v>46111</c:v>
                </c:pt>
                <c:pt idx="52">
                  <c:v>46142</c:v>
                </c:pt>
                <c:pt idx="53">
                  <c:v>46172</c:v>
                </c:pt>
                <c:pt idx="54">
                  <c:v>46203</c:v>
                </c:pt>
                <c:pt idx="55">
                  <c:v>46220</c:v>
                </c:pt>
              </c:numCache>
            </c:numRef>
          </c:cat>
          <c:val>
            <c:numRef>
              <c:f>'[IBOV Implied Move on Earnings - 2Q26.xlsx]Chart'!$C$5:$C$60</c:f>
              <c:numCache>
                <c:formatCode>General</c:formatCode>
                <c:ptCount val="56"/>
                <c:pt idx="0">
                  <c:v>4.7371412009523812</c:v>
                </c:pt>
                <c:pt idx="1">
                  <c:v>4.8920351134848508</c:v>
                </c:pt>
                <c:pt idx="2">
                  <c:v>4.0541473715151524</c:v>
                </c:pt>
                <c:pt idx="3">
                  <c:v>5.8880861852238793</c:v>
                </c:pt>
                <c:pt idx="4">
                  <c:v>4.643157897014925</c:v>
                </c:pt>
                <c:pt idx="5">
                  <c:v>3.0752042061194027</c:v>
                </c:pt>
                <c:pt idx="6">
                  <c:v>4.0251891408823512</c:v>
                </c:pt>
                <c:pt idx="7">
                  <c:v>2.9030877808823528</c:v>
                </c:pt>
                <c:pt idx="8">
                  <c:v>3.8504998769117651</c:v>
                </c:pt>
                <c:pt idx="9">
                  <c:v>3.9313784198529409</c:v>
                </c:pt>
                <c:pt idx="10">
                  <c:v>5.948973109999999</c:v>
                </c:pt>
                <c:pt idx="11">
                  <c:v>3.7023819295588236</c:v>
                </c:pt>
                <c:pt idx="12">
                  <c:v>3.5656764849999987</c:v>
                </c:pt>
                <c:pt idx="13">
                  <c:v>3.9145379976470576</c:v>
                </c:pt>
                <c:pt idx="14">
                  <c:v>3.2634907760294123</c:v>
                </c:pt>
                <c:pt idx="15">
                  <c:v>4.0545065308823522</c:v>
                </c:pt>
                <c:pt idx="16">
                  <c:v>3.5844577180882355</c:v>
                </c:pt>
                <c:pt idx="17">
                  <c:v>3.2686365092647054</c:v>
                </c:pt>
                <c:pt idx="18">
                  <c:v>4.0050275916176465</c:v>
                </c:pt>
                <c:pt idx="19">
                  <c:v>3.2762179188235301</c:v>
                </c:pt>
                <c:pt idx="20">
                  <c:v>3.2369915464705876</c:v>
                </c:pt>
                <c:pt idx="21">
                  <c:v>4.3099735102941157</c:v>
                </c:pt>
                <c:pt idx="22">
                  <c:v>3.3913426134782618</c:v>
                </c:pt>
                <c:pt idx="23">
                  <c:v>4.0088869094202888</c:v>
                </c:pt>
                <c:pt idx="24">
                  <c:v>3.2254463528985506</c:v>
                </c:pt>
                <c:pt idx="25">
                  <c:v>3.167615224202899</c:v>
                </c:pt>
                <c:pt idx="26">
                  <c:v>3.0775214646376816</c:v>
                </c:pt>
                <c:pt idx="27">
                  <c:v>3.3036306537681162</c:v>
                </c:pt>
                <c:pt idx="28">
                  <c:v>3.1988622628985515</c:v>
                </c:pt>
                <c:pt idx="29">
                  <c:v>3.0823220563768112</c:v>
                </c:pt>
                <c:pt idx="30">
                  <c:v>3.5477384897101447</c:v>
                </c:pt>
                <c:pt idx="31">
                  <c:v>3.3561762205797101</c:v>
                </c:pt>
                <c:pt idx="32">
                  <c:v>4.9580667111267624</c:v>
                </c:pt>
                <c:pt idx="33">
                  <c:v>3.4299936268055564</c:v>
                </c:pt>
                <c:pt idx="34">
                  <c:v>4.0951017152777798</c:v>
                </c:pt>
                <c:pt idx="35">
                  <c:v>3.0649126724657547</c:v>
                </c:pt>
                <c:pt idx="36">
                  <c:v>4.0652085315068485</c:v>
                </c:pt>
                <c:pt idx="37">
                  <c:v>3.4661089541095884</c:v>
                </c:pt>
                <c:pt idx="38">
                  <c:v>3.7332240136986283</c:v>
                </c:pt>
                <c:pt idx="39">
                  <c:v>3.1556949710958908</c:v>
                </c:pt>
                <c:pt idx="40">
                  <c:v>3.7570569535616443</c:v>
                </c:pt>
                <c:pt idx="41">
                  <c:v>3.9628048117567571</c:v>
                </c:pt>
                <c:pt idx="42">
                  <c:v>3.4762989025675681</c:v>
                </c:pt>
                <c:pt idx="43">
                  <c:v>3.4482015325675675</c:v>
                </c:pt>
                <c:pt idx="44">
                  <c:v>3.6868682770270267</c:v>
                </c:pt>
                <c:pt idx="45">
                  <c:v>3.9300102717333334</c:v>
                </c:pt>
                <c:pt idx="46">
                  <c:v>3.3550199422666664</c:v>
                </c:pt>
                <c:pt idx="47">
                  <c:v>5.3768484584415583</c:v>
                </c:pt>
                <c:pt idx="48">
                  <c:v>4.6937125146753242</c:v>
                </c:pt>
                <c:pt idx="49">
                  <c:v>4.0503221915584424</c:v>
                </c:pt>
                <c:pt idx="50">
                  <c:v>4.3877802479220787</c:v>
                </c:pt>
                <c:pt idx="51">
                  <c:v>3.2506655658441574</c:v>
                </c:pt>
                <c:pt idx="52">
                  <c:v>3.8243045224675312</c:v>
                </c:pt>
                <c:pt idx="53">
                  <c:v>5.6534913737662338</c:v>
                </c:pt>
                <c:pt idx="54">
                  <c:v>3.8025434909090916</c:v>
                </c:pt>
                <c:pt idx="55">
                  <c:v>3.7435659580519478</c:v>
                </c:pt>
              </c:numCache>
            </c:numRef>
          </c:val>
          <c:smooth val="0"/>
          <c:extLst>
            <c:ext xmlns:c16="http://schemas.microsoft.com/office/drawing/2014/chart" uri="{C3380CC4-5D6E-409C-BE32-E72D297353CC}">
              <c16:uniqueId val="{00000000-692C-42BC-8D21-915158D1E5CD}"/>
            </c:ext>
          </c:extLst>
        </c:ser>
        <c:dLbls>
          <c:showLegendKey val="0"/>
          <c:showVal val="0"/>
          <c:showCatName val="0"/>
          <c:showSerName val="0"/>
          <c:showPercent val="0"/>
          <c:showBubbleSize val="0"/>
        </c:dLbls>
        <c:marker val="1"/>
        <c:smooth val="0"/>
        <c:axId val="2041432991"/>
        <c:axId val="2041436351"/>
      </c:lineChart>
      <c:lineChart>
        <c:grouping val="standard"/>
        <c:varyColors val="0"/>
        <c:ser>
          <c:idx val="1"/>
          <c:order val="1"/>
          <c:tx>
            <c:strRef>
              <c:f>'[IBOV Implied Move on Earnings - 2Q26.xlsx]Chart'!$D$4</c:f>
              <c:strCache>
                <c:ptCount val="1"/>
                <c:pt idx="0">
                  <c:v>Vol. implícita 30d 100% moneyness do IBOV (dir.)</c:v>
                </c:pt>
              </c:strCache>
            </c:strRef>
          </c:tx>
          <c:spPr>
            <a:ln w="19050" cap="rnd">
              <a:solidFill>
                <a:schemeClr val="accent3"/>
              </a:solidFill>
              <a:round/>
            </a:ln>
            <a:effectLst/>
          </c:spPr>
          <c:marker>
            <c:symbol val="none"/>
          </c:marker>
          <c:cat>
            <c:numRef>
              <c:f>'[IBOV Implied Move on Earnings - 2Q26.xlsx]Chart'!$B$5:$B$60</c:f>
              <c:numCache>
                <c:formatCode>m/d/yyyy</c:formatCode>
                <c:ptCount val="56"/>
                <c:pt idx="0">
                  <c:v>44560</c:v>
                </c:pt>
                <c:pt idx="1">
                  <c:v>44591</c:v>
                </c:pt>
                <c:pt idx="2">
                  <c:v>44620</c:v>
                </c:pt>
                <c:pt idx="3">
                  <c:v>44650</c:v>
                </c:pt>
                <c:pt idx="4">
                  <c:v>44681</c:v>
                </c:pt>
                <c:pt idx="5">
                  <c:v>44711</c:v>
                </c:pt>
                <c:pt idx="6">
                  <c:v>44742</c:v>
                </c:pt>
                <c:pt idx="7">
                  <c:v>44772</c:v>
                </c:pt>
                <c:pt idx="8">
                  <c:v>44803</c:v>
                </c:pt>
                <c:pt idx="9">
                  <c:v>44834</c:v>
                </c:pt>
                <c:pt idx="10">
                  <c:v>44864</c:v>
                </c:pt>
                <c:pt idx="11">
                  <c:v>44895</c:v>
                </c:pt>
                <c:pt idx="12">
                  <c:v>44925</c:v>
                </c:pt>
                <c:pt idx="13">
                  <c:v>44956</c:v>
                </c:pt>
                <c:pt idx="14">
                  <c:v>44985</c:v>
                </c:pt>
                <c:pt idx="15">
                  <c:v>45015</c:v>
                </c:pt>
                <c:pt idx="16">
                  <c:v>45046</c:v>
                </c:pt>
                <c:pt idx="17">
                  <c:v>45076</c:v>
                </c:pt>
                <c:pt idx="18">
                  <c:v>45107</c:v>
                </c:pt>
                <c:pt idx="19">
                  <c:v>45137</c:v>
                </c:pt>
                <c:pt idx="20">
                  <c:v>45168</c:v>
                </c:pt>
                <c:pt idx="21">
                  <c:v>45199</c:v>
                </c:pt>
                <c:pt idx="22">
                  <c:v>45229</c:v>
                </c:pt>
                <c:pt idx="23">
                  <c:v>45260</c:v>
                </c:pt>
                <c:pt idx="24">
                  <c:v>45290</c:v>
                </c:pt>
                <c:pt idx="25">
                  <c:v>45321</c:v>
                </c:pt>
                <c:pt idx="26">
                  <c:v>45351</c:v>
                </c:pt>
                <c:pt idx="27">
                  <c:v>45381</c:v>
                </c:pt>
                <c:pt idx="28">
                  <c:v>45412</c:v>
                </c:pt>
                <c:pt idx="29">
                  <c:v>45442</c:v>
                </c:pt>
                <c:pt idx="30">
                  <c:v>45473</c:v>
                </c:pt>
                <c:pt idx="31">
                  <c:v>45503</c:v>
                </c:pt>
                <c:pt idx="32">
                  <c:v>45534</c:v>
                </c:pt>
                <c:pt idx="33">
                  <c:v>45565</c:v>
                </c:pt>
                <c:pt idx="34">
                  <c:v>45595</c:v>
                </c:pt>
                <c:pt idx="35">
                  <c:v>45626</c:v>
                </c:pt>
                <c:pt idx="36">
                  <c:v>45656</c:v>
                </c:pt>
                <c:pt idx="37">
                  <c:v>45687</c:v>
                </c:pt>
                <c:pt idx="38">
                  <c:v>45716</c:v>
                </c:pt>
                <c:pt idx="39">
                  <c:v>45746</c:v>
                </c:pt>
                <c:pt idx="40">
                  <c:v>45777</c:v>
                </c:pt>
                <c:pt idx="41">
                  <c:v>45807</c:v>
                </c:pt>
                <c:pt idx="42">
                  <c:v>45838</c:v>
                </c:pt>
                <c:pt idx="43">
                  <c:v>45868</c:v>
                </c:pt>
                <c:pt idx="44">
                  <c:v>45899</c:v>
                </c:pt>
                <c:pt idx="45">
                  <c:v>45930</c:v>
                </c:pt>
                <c:pt idx="46">
                  <c:v>45960</c:v>
                </c:pt>
                <c:pt idx="47">
                  <c:v>45991</c:v>
                </c:pt>
                <c:pt idx="48">
                  <c:v>46021</c:v>
                </c:pt>
                <c:pt idx="49">
                  <c:v>46052</c:v>
                </c:pt>
                <c:pt idx="50">
                  <c:v>46081</c:v>
                </c:pt>
                <c:pt idx="51">
                  <c:v>46111</c:v>
                </c:pt>
                <c:pt idx="52">
                  <c:v>46142</c:v>
                </c:pt>
                <c:pt idx="53">
                  <c:v>46172</c:v>
                </c:pt>
                <c:pt idx="54">
                  <c:v>46203</c:v>
                </c:pt>
                <c:pt idx="55">
                  <c:v>46220</c:v>
                </c:pt>
              </c:numCache>
            </c:numRef>
          </c:cat>
          <c:val>
            <c:numRef>
              <c:f>'[IBOV Implied Move on Earnings - 2Q26.xlsx]Chart'!$D$5:$D$60</c:f>
              <c:numCache>
                <c:formatCode>General</c:formatCode>
                <c:ptCount val="56"/>
                <c:pt idx="0">
                  <c:v>24.48</c:v>
                </c:pt>
                <c:pt idx="1">
                  <c:v>22.38</c:v>
                </c:pt>
                <c:pt idx="2">
                  <c:v>23.8</c:v>
                </c:pt>
                <c:pt idx="3">
                  <c:v>19.059999999999999</c:v>
                </c:pt>
                <c:pt idx="4">
                  <c:v>26.7</c:v>
                </c:pt>
                <c:pt idx="5">
                  <c:v>21.34</c:v>
                </c:pt>
                <c:pt idx="6">
                  <c:v>25.19</c:v>
                </c:pt>
                <c:pt idx="7">
                  <c:v>21.18</c:v>
                </c:pt>
                <c:pt idx="8">
                  <c:v>29.34</c:v>
                </c:pt>
                <c:pt idx="9">
                  <c:v>35.39</c:v>
                </c:pt>
                <c:pt idx="10">
                  <c:v>25.55</c:v>
                </c:pt>
                <c:pt idx="11">
                  <c:v>25.42</c:v>
                </c:pt>
                <c:pt idx="12">
                  <c:v>24.85</c:v>
                </c:pt>
                <c:pt idx="13">
                  <c:v>21.34</c:v>
                </c:pt>
                <c:pt idx="14">
                  <c:v>21.86</c:v>
                </c:pt>
                <c:pt idx="15">
                  <c:v>23.48</c:v>
                </c:pt>
                <c:pt idx="16">
                  <c:v>20.43</c:v>
                </c:pt>
                <c:pt idx="17">
                  <c:v>20.350000000000001</c:v>
                </c:pt>
                <c:pt idx="18">
                  <c:v>19.739999999999998</c:v>
                </c:pt>
                <c:pt idx="19">
                  <c:v>18.510000000000002</c:v>
                </c:pt>
                <c:pt idx="20">
                  <c:v>18.5</c:v>
                </c:pt>
                <c:pt idx="21">
                  <c:v>17.78</c:v>
                </c:pt>
                <c:pt idx="22">
                  <c:v>19.3</c:v>
                </c:pt>
                <c:pt idx="23">
                  <c:v>16.37</c:v>
                </c:pt>
                <c:pt idx="24">
                  <c:v>15.8</c:v>
                </c:pt>
                <c:pt idx="25">
                  <c:v>16.190000000000001</c:v>
                </c:pt>
                <c:pt idx="26">
                  <c:v>15.73</c:v>
                </c:pt>
                <c:pt idx="27">
                  <c:v>13.91</c:v>
                </c:pt>
                <c:pt idx="28">
                  <c:v>15.49</c:v>
                </c:pt>
                <c:pt idx="29">
                  <c:v>14.98</c:v>
                </c:pt>
                <c:pt idx="30">
                  <c:v>14.01</c:v>
                </c:pt>
                <c:pt idx="31">
                  <c:v>13.55</c:v>
                </c:pt>
                <c:pt idx="32">
                  <c:v>15.06</c:v>
                </c:pt>
                <c:pt idx="33">
                  <c:v>16.670000000000002</c:v>
                </c:pt>
                <c:pt idx="34">
                  <c:v>16.510000000000002</c:v>
                </c:pt>
                <c:pt idx="35">
                  <c:v>14.44</c:v>
                </c:pt>
                <c:pt idx="36">
                  <c:v>14.81</c:v>
                </c:pt>
                <c:pt idx="37">
                  <c:v>14.28</c:v>
                </c:pt>
                <c:pt idx="38">
                  <c:v>16.649999999999999</c:v>
                </c:pt>
                <c:pt idx="39">
                  <c:v>15.84</c:v>
                </c:pt>
                <c:pt idx="40">
                  <c:v>16.5</c:v>
                </c:pt>
                <c:pt idx="41">
                  <c:v>16.11</c:v>
                </c:pt>
                <c:pt idx="42">
                  <c:v>14.48</c:v>
                </c:pt>
                <c:pt idx="43">
                  <c:v>14.63</c:v>
                </c:pt>
                <c:pt idx="44">
                  <c:v>14.2</c:v>
                </c:pt>
                <c:pt idx="45">
                  <c:v>14.26</c:v>
                </c:pt>
                <c:pt idx="46">
                  <c:v>13.66</c:v>
                </c:pt>
                <c:pt idx="47">
                  <c:v>15.26</c:v>
                </c:pt>
                <c:pt idx="48">
                  <c:v>16.23</c:v>
                </c:pt>
                <c:pt idx="49">
                  <c:v>20.89</c:v>
                </c:pt>
                <c:pt idx="50">
                  <c:v>20.23</c:v>
                </c:pt>
                <c:pt idx="51">
                  <c:v>25.9</c:v>
                </c:pt>
                <c:pt idx="52">
                  <c:v>19.190000000000001</c:v>
                </c:pt>
                <c:pt idx="53">
                  <c:v>18.510000000000002</c:v>
                </c:pt>
                <c:pt idx="54">
                  <c:v>17.68</c:v>
                </c:pt>
                <c:pt idx="55">
                  <c:v>18.66</c:v>
                </c:pt>
              </c:numCache>
            </c:numRef>
          </c:val>
          <c:smooth val="0"/>
          <c:extLst>
            <c:ext xmlns:c16="http://schemas.microsoft.com/office/drawing/2014/chart" uri="{C3380CC4-5D6E-409C-BE32-E72D297353CC}">
              <c16:uniqueId val="{00000001-692C-42BC-8D21-915158D1E5CD}"/>
            </c:ext>
          </c:extLst>
        </c:ser>
        <c:dLbls>
          <c:showLegendKey val="0"/>
          <c:showVal val="0"/>
          <c:showCatName val="0"/>
          <c:showSerName val="0"/>
          <c:showPercent val="0"/>
          <c:showBubbleSize val="0"/>
        </c:dLbls>
        <c:marker val="1"/>
        <c:smooth val="0"/>
        <c:axId val="902270559"/>
        <c:axId val="902267679"/>
      </c:lineChart>
      <c:dateAx>
        <c:axId val="2041432991"/>
        <c:scaling>
          <c:orientation val="minMax"/>
        </c:scaling>
        <c:delete val="0"/>
        <c:axPos val="b"/>
        <c:numFmt formatCode="[$-416]mmm\-yy;@" sourceLinked="0"/>
        <c:majorTickMark val="out"/>
        <c:minorTickMark val="out"/>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2041436351"/>
        <c:crosses val="autoZero"/>
        <c:auto val="1"/>
        <c:lblOffset val="100"/>
        <c:baseTimeUnit val="months"/>
        <c:majorUnit val="3"/>
        <c:majorTimeUnit val="months"/>
      </c:dateAx>
      <c:valAx>
        <c:axId val="2041436351"/>
        <c:scaling>
          <c:orientation val="minMax"/>
          <c:max val="6"/>
          <c:min val="2.8"/>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2041432991"/>
        <c:crosses val="autoZero"/>
        <c:crossBetween val="midCat"/>
      </c:valAx>
      <c:valAx>
        <c:axId val="90226767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902270559"/>
        <c:crosses val="max"/>
        <c:crossBetween val="between"/>
      </c:valAx>
      <c:dateAx>
        <c:axId val="902270559"/>
        <c:scaling>
          <c:orientation val="minMax"/>
        </c:scaling>
        <c:delete val="1"/>
        <c:axPos val="b"/>
        <c:numFmt formatCode="m/d/yyyy" sourceLinked="1"/>
        <c:majorTickMark val="out"/>
        <c:minorTickMark val="none"/>
        <c:tickLblPos val="nextTo"/>
        <c:crossAx val="902267679"/>
        <c:crosses val="autoZero"/>
        <c:auto val="1"/>
        <c:lblOffset val="100"/>
        <c:baseTimeUnit val="days"/>
      </c:date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latin typeface="Roboto Light" panose="02000000000000000000" pitchFamily="2" charset="0"/>
          <a:ea typeface="Roboto Light" panose="02000000000000000000" pitchFamily="2" charset="0"/>
          <a:cs typeface="Roboto Light" panose="02000000000000000000" pitchFamily="2"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'[IBOV Implied Move on Earnings.xlsx]Chart'!$C$4</c:f>
              <c:strCache>
                <c:ptCount val="1"/>
                <c:pt idx="0">
                  <c:v>Movimento implícito médio das ações individuais do IBOV (esq.)</c:v>
                </c:pt>
              </c:strCache>
            </c:strRef>
          </c:tx>
          <c:spPr>
            <a:ln w="19050" cap="rnd">
              <a:solidFill>
                <a:schemeClr val="accent1"/>
              </a:solidFill>
              <a:round/>
            </a:ln>
            <a:effectLst/>
          </c:spPr>
          <c:marker>
            <c:symbol val="none"/>
          </c:marker>
          <c:cat>
            <c:numRef>
              <c:f>'[IBOV Implied Move on Earnings.xlsx]Chart'!$B$5:$B$58</c:f>
              <c:numCache>
                <c:formatCode>m/d/yyyy</c:formatCode>
                <c:ptCount val="54"/>
                <c:pt idx="0">
                  <c:v>44560</c:v>
                </c:pt>
                <c:pt idx="1">
                  <c:v>44591</c:v>
                </c:pt>
                <c:pt idx="2">
                  <c:v>44620</c:v>
                </c:pt>
                <c:pt idx="3">
                  <c:v>44650</c:v>
                </c:pt>
                <c:pt idx="4">
                  <c:v>44681</c:v>
                </c:pt>
                <c:pt idx="5">
                  <c:v>44711</c:v>
                </c:pt>
                <c:pt idx="6">
                  <c:v>44742</c:v>
                </c:pt>
                <c:pt idx="7">
                  <c:v>44772</c:v>
                </c:pt>
                <c:pt idx="8">
                  <c:v>44803</c:v>
                </c:pt>
                <c:pt idx="9">
                  <c:v>44834</c:v>
                </c:pt>
                <c:pt idx="10">
                  <c:v>44864</c:v>
                </c:pt>
                <c:pt idx="11">
                  <c:v>44895</c:v>
                </c:pt>
                <c:pt idx="12">
                  <c:v>44925</c:v>
                </c:pt>
                <c:pt idx="13">
                  <c:v>44956</c:v>
                </c:pt>
                <c:pt idx="14">
                  <c:v>44985</c:v>
                </c:pt>
                <c:pt idx="15">
                  <c:v>45015</c:v>
                </c:pt>
                <c:pt idx="16">
                  <c:v>45046</c:v>
                </c:pt>
                <c:pt idx="17">
                  <c:v>45076</c:v>
                </c:pt>
                <c:pt idx="18">
                  <c:v>45107</c:v>
                </c:pt>
                <c:pt idx="19">
                  <c:v>45137</c:v>
                </c:pt>
                <c:pt idx="20">
                  <c:v>45168</c:v>
                </c:pt>
                <c:pt idx="21">
                  <c:v>45199</c:v>
                </c:pt>
                <c:pt idx="22">
                  <c:v>45229</c:v>
                </c:pt>
                <c:pt idx="23">
                  <c:v>45260</c:v>
                </c:pt>
                <c:pt idx="24">
                  <c:v>45290</c:v>
                </c:pt>
                <c:pt idx="25">
                  <c:v>45321</c:v>
                </c:pt>
                <c:pt idx="26">
                  <c:v>45351</c:v>
                </c:pt>
                <c:pt idx="27">
                  <c:v>45381</c:v>
                </c:pt>
                <c:pt idx="28">
                  <c:v>45412</c:v>
                </c:pt>
                <c:pt idx="29">
                  <c:v>45442</c:v>
                </c:pt>
                <c:pt idx="30">
                  <c:v>45473</c:v>
                </c:pt>
                <c:pt idx="31">
                  <c:v>45503</c:v>
                </c:pt>
                <c:pt idx="32">
                  <c:v>45534</c:v>
                </c:pt>
                <c:pt idx="33">
                  <c:v>45565</c:v>
                </c:pt>
                <c:pt idx="34">
                  <c:v>45595</c:v>
                </c:pt>
                <c:pt idx="35">
                  <c:v>45626</c:v>
                </c:pt>
                <c:pt idx="36">
                  <c:v>45656</c:v>
                </c:pt>
                <c:pt idx="37">
                  <c:v>45687</c:v>
                </c:pt>
                <c:pt idx="38">
                  <c:v>45716</c:v>
                </c:pt>
                <c:pt idx="39">
                  <c:v>45746</c:v>
                </c:pt>
                <c:pt idx="40">
                  <c:v>45777</c:v>
                </c:pt>
                <c:pt idx="41">
                  <c:v>45807</c:v>
                </c:pt>
                <c:pt idx="42">
                  <c:v>45838</c:v>
                </c:pt>
                <c:pt idx="43">
                  <c:v>45868</c:v>
                </c:pt>
                <c:pt idx="44">
                  <c:v>45899</c:v>
                </c:pt>
                <c:pt idx="45">
                  <c:v>45930</c:v>
                </c:pt>
                <c:pt idx="46">
                  <c:v>45960</c:v>
                </c:pt>
                <c:pt idx="47">
                  <c:v>45991</c:v>
                </c:pt>
                <c:pt idx="48">
                  <c:v>46021</c:v>
                </c:pt>
                <c:pt idx="49">
                  <c:v>46052</c:v>
                </c:pt>
                <c:pt idx="50">
                  <c:v>46081</c:v>
                </c:pt>
                <c:pt idx="51">
                  <c:v>46111</c:v>
                </c:pt>
                <c:pt idx="52">
                  <c:v>46142</c:v>
                </c:pt>
                <c:pt idx="53">
                  <c:v>46160</c:v>
                </c:pt>
              </c:numCache>
            </c:numRef>
          </c:cat>
          <c:val>
            <c:numRef>
              <c:f>'[IBOV Implied Move on Earnings.xlsx]Chart'!$C$5:$C$58</c:f>
              <c:numCache>
                <c:formatCode>General</c:formatCode>
                <c:ptCount val="54"/>
                <c:pt idx="0">
                  <c:v>4.7371412009523812</c:v>
                </c:pt>
                <c:pt idx="1">
                  <c:v>4.8920351134848508</c:v>
                </c:pt>
                <c:pt idx="2">
                  <c:v>4.0541473715151524</c:v>
                </c:pt>
                <c:pt idx="3">
                  <c:v>5.8880861852238793</c:v>
                </c:pt>
                <c:pt idx="4">
                  <c:v>4.643157897014925</c:v>
                </c:pt>
                <c:pt idx="5">
                  <c:v>3.0752042061194027</c:v>
                </c:pt>
                <c:pt idx="6">
                  <c:v>4.0251891408823512</c:v>
                </c:pt>
                <c:pt idx="7">
                  <c:v>2.9030877808823528</c:v>
                </c:pt>
                <c:pt idx="8">
                  <c:v>3.8504998769117651</c:v>
                </c:pt>
                <c:pt idx="9">
                  <c:v>3.9313784198529409</c:v>
                </c:pt>
                <c:pt idx="10">
                  <c:v>5.948973109999999</c:v>
                </c:pt>
                <c:pt idx="11">
                  <c:v>3.7023819295588236</c:v>
                </c:pt>
                <c:pt idx="12">
                  <c:v>3.5656764849999987</c:v>
                </c:pt>
                <c:pt idx="13">
                  <c:v>3.9145379976470576</c:v>
                </c:pt>
                <c:pt idx="14">
                  <c:v>3.2634907760294123</c:v>
                </c:pt>
                <c:pt idx="15">
                  <c:v>4.0545065308823522</c:v>
                </c:pt>
                <c:pt idx="16">
                  <c:v>3.5844577180882355</c:v>
                </c:pt>
                <c:pt idx="17">
                  <c:v>3.2686365092647054</c:v>
                </c:pt>
                <c:pt idx="18">
                  <c:v>4.0050275916176465</c:v>
                </c:pt>
                <c:pt idx="19">
                  <c:v>3.2762179188235301</c:v>
                </c:pt>
                <c:pt idx="20">
                  <c:v>3.2369915464705876</c:v>
                </c:pt>
                <c:pt idx="21">
                  <c:v>4.3099735102941157</c:v>
                </c:pt>
                <c:pt idx="22">
                  <c:v>3.3913426134782618</c:v>
                </c:pt>
                <c:pt idx="23">
                  <c:v>4.0088869094202888</c:v>
                </c:pt>
                <c:pt idx="24">
                  <c:v>3.2254463528985506</c:v>
                </c:pt>
                <c:pt idx="25">
                  <c:v>3.167615224202899</c:v>
                </c:pt>
                <c:pt idx="26">
                  <c:v>3.0775214646376816</c:v>
                </c:pt>
                <c:pt idx="27">
                  <c:v>3.3036306537681162</c:v>
                </c:pt>
                <c:pt idx="28">
                  <c:v>3.1988622628985515</c:v>
                </c:pt>
                <c:pt idx="29">
                  <c:v>3.0823220563768112</c:v>
                </c:pt>
                <c:pt idx="30">
                  <c:v>3.5477384897101447</c:v>
                </c:pt>
                <c:pt idx="31">
                  <c:v>3.3561762205797101</c:v>
                </c:pt>
                <c:pt idx="32">
                  <c:v>4.9580667111267624</c:v>
                </c:pt>
                <c:pt idx="33">
                  <c:v>3.4299936268055564</c:v>
                </c:pt>
                <c:pt idx="34">
                  <c:v>4.0951017152777798</c:v>
                </c:pt>
                <c:pt idx="35">
                  <c:v>3.0649126724657547</c:v>
                </c:pt>
                <c:pt idx="36">
                  <c:v>4.0652085315068485</c:v>
                </c:pt>
                <c:pt idx="37">
                  <c:v>3.4661089541095884</c:v>
                </c:pt>
                <c:pt idx="38">
                  <c:v>3.7332240136986283</c:v>
                </c:pt>
                <c:pt idx="39">
                  <c:v>3.1556949710958908</c:v>
                </c:pt>
                <c:pt idx="40">
                  <c:v>3.7570569535616443</c:v>
                </c:pt>
                <c:pt idx="41">
                  <c:v>3.9628048117567571</c:v>
                </c:pt>
                <c:pt idx="42">
                  <c:v>3.4762989025675681</c:v>
                </c:pt>
                <c:pt idx="43">
                  <c:v>3.4482015325675675</c:v>
                </c:pt>
                <c:pt idx="44">
                  <c:v>3.6868682770270267</c:v>
                </c:pt>
                <c:pt idx="45">
                  <c:v>3.9300102717333334</c:v>
                </c:pt>
                <c:pt idx="46">
                  <c:v>3.3550199422666664</c:v>
                </c:pt>
                <c:pt idx="47">
                  <c:v>5.3208853744871787</c:v>
                </c:pt>
                <c:pt idx="48">
                  <c:v>4.6496072646153843</c:v>
                </c:pt>
                <c:pt idx="49">
                  <c:v>4.0145465071794879</c:v>
                </c:pt>
                <c:pt idx="50">
                  <c:v>4.3528128964102581</c:v>
                </c:pt>
                <c:pt idx="51">
                  <c:v>3.233907684615386</c:v>
                </c:pt>
                <c:pt idx="52">
                  <c:v>3.812919407564102</c:v>
                </c:pt>
                <c:pt idx="53">
                  <c:v>5.4147350966666661</c:v>
                </c:pt>
              </c:numCache>
            </c:numRef>
          </c:val>
          <c:smooth val="0"/>
          <c:extLst>
            <c:ext xmlns:c16="http://schemas.microsoft.com/office/drawing/2014/chart" uri="{C3380CC4-5D6E-409C-BE32-E72D297353CC}">
              <c16:uniqueId val="{00000000-FA0E-4388-81E1-3499D31C8952}"/>
            </c:ext>
          </c:extLst>
        </c:ser>
        <c:dLbls>
          <c:showLegendKey val="0"/>
          <c:showVal val="0"/>
          <c:showCatName val="0"/>
          <c:showSerName val="0"/>
          <c:showPercent val="0"/>
          <c:showBubbleSize val="0"/>
        </c:dLbls>
        <c:marker val="1"/>
        <c:smooth val="0"/>
        <c:axId val="2041432991"/>
        <c:axId val="2041436351"/>
      </c:lineChart>
      <c:lineChart>
        <c:grouping val="standard"/>
        <c:varyColors val="0"/>
        <c:ser>
          <c:idx val="1"/>
          <c:order val="1"/>
          <c:tx>
            <c:strRef>
              <c:f>'[IBOV Implied Move on Earnings.xlsx]Chart'!$D$4</c:f>
              <c:strCache>
                <c:ptCount val="1"/>
                <c:pt idx="0">
                  <c:v>Vol. implícita 30d 100% moneyness do IBOV (dir.)</c:v>
                </c:pt>
              </c:strCache>
            </c:strRef>
          </c:tx>
          <c:spPr>
            <a:ln w="19050" cap="rnd">
              <a:solidFill>
                <a:schemeClr val="accent3"/>
              </a:solidFill>
              <a:round/>
            </a:ln>
            <a:effectLst/>
          </c:spPr>
          <c:marker>
            <c:symbol val="none"/>
          </c:marker>
          <c:cat>
            <c:numRef>
              <c:f>'[IBOV Implied Move on Earnings.xlsx]Chart'!$B$5:$B$58</c:f>
              <c:numCache>
                <c:formatCode>m/d/yyyy</c:formatCode>
                <c:ptCount val="54"/>
                <c:pt idx="0">
                  <c:v>44560</c:v>
                </c:pt>
                <c:pt idx="1">
                  <c:v>44591</c:v>
                </c:pt>
                <c:pt idx="2">
                  <c:v>44620</c:v>
                </c:pt>
                <c:pt idx="3">
                  <c:v>44650</c:v>
                </c:pt>
                <c:pt idx="4">
                  <c:v>44681</c:v>
                </c:pt>
                <c:pt idx="5">
                  <c:v>44711</c:v>
                </c:pt>
                <c:pt idx="6">
                  <c:v>44742</c:v>
                </c:pt>
                <c:pt idx="7">
                  <c:v>44772</c:v>
                </c:pt>
                <c:pt idx="8">
                  <c:v>44803</c:v>
                </c:pt>
                <c:pt idx="9">
                  <c:v>44834</c:v>
                </c:pt>
                <c:pt idx="10">
                  <c:v>44864</c:v>
                </c:pt>
                <c:pt idx="11">
                  <c:v>44895</c:v>
                </c:pt>
                <c:pt idx="12">
                  <c:v>44925</c:v>
                </c:pt>
                <c:pt idx="13">
                  <c:v>44956</c:v>
                </c:pt>
                <c:pt idx="14">
                  <c:v>44985</c:v>
                </c:pt>
                <c:pt idx="15">
                  <c:v>45015</c:v>
                </c:pt>
                <c:pt idx="16">
                  <c:v>45046</c:v>
                </c:pt>
                <c:pt idx="17">
                  <c:v>45076</c:v>
                </c:pt>
                <c:pt idx="18">
                  <c:v>45107</c:v>
                </c:pt>
                <c:pt idx="19">
                  <c:v>45137</c:v>
                </c:pt>
                <c:pt idx="20">
                  <c:v>45168</c:v>
                </c:pt>
                <c:pt idx="21">
                  <c:v>45199</c:v>
                </c:pt>
                <c:pt idx="22">
                  <c:v>45229</c:v>
                </c:pt>
                <c:pt idx="23">
                  <c:v>45260</c:v>
                </c:pt>
                <c:pt idx="24">
                  <c:v>45290</c:v>
                </c:pt>
                <c:pt idx="25">
                  <c:v>45321</c:v>
                </c:pt>
                <c:pt idx="26">
                  <c:v>45351</c:v>
                </c:pt>
                <c:pt idx="27">
                  <c:v>45381</c:v>
                </c:pt>
                <c:pt idx="28">
                  <c:v>45412</c:v>
                </c:pt>
                <c:pt idx="29">
                  <c:v>45442</c:v>
                </c:pt>
                <c:pt idx="30">
                  <c:v>45473</c:v>
                </c:pt>
                <c:pt idx="31">
                  <c:v>45503</c:v>
                </c:pt>
                <c:pt idx="32">
                  <c:v>45534</c:v>
                </c:pt>
                <c:pt idx="33">
                  <c:v>45565</c:v>
                </c:pt>
                <c:pt idx="34">
                  <c:v>45595</c:v>
                </c:pt>
                <c:pt idx="35">
                  <c:v>45626</c:v>
                </c:pt>
                <c:pt idx="36">
                  <c:v>45656</c:v>
                </c:pt>
                <c:pt idx="37">
                  <c:v>45687</c:v>
                </c:pt>
                <c:pt idx="38">
                  <c:v>45716</c:v>
                </c:pt>
                <c:pt idx="39">
                  <c:v>45746</c:v>
                </c:pt>
                <c:pt idx="40">
                  <c:v>45777</c:v>
                </c:pt>
                <c:pt idx="41">
                  <c:v>45807</c:v>
                </c:pt>
                <c:pt idx="42">
                  <c:v>45838</c:v>
                </c:pt>
                <c:pt idx="43">
                  <c:v>45868</c:v>
                </c:pt>
                <c:pt idx="44">
                  <c:v>45899</c:v>
                </c:pt>
                <c:pt idx="45">
                  <c:v>45930</c:v>
                </c:pt>
                <c:pt idx="46">
                  <c:v>45960</c:v>
                </c:pt>
                <c:pt idx="47">
                  <c:v>45991</c:v>
                </c:pt>
                <c:pt idx="48">
                  <c:v>46021</c:v>
                </c:pt>
                <c:pt idx="49">
                  <c:v>46052</c:v>
                </c:pt>
                <c:pt idx="50">
                  <c:v>46081</c:v>
                </c:pt>
                <c:pt idx="51">
                  <c:v>46111</c:v>
                </c:pt>
                <c:pt idx="52">
                  <c:v>46142</c:v>
                </c:pt>
                <c:pt idx="53">
                  <c:v>46160</c:v>
                </c:pt>
              </c:numCache>
            </c:numRef>
          </c:cat>
          <c:val>
            <c:numRef>
              <c:f>'[IBOV Implied Move on Earnings.xlsx]Chart'!$D$5:$D$58</c:f>
              <c:numCache>
                <c:formatCode>General</c:formatCode>
                <c:ptCount val="54"/>
                <c:pt idx="0">
                  <c:v>24.48</c:v>
                </c:pt>
                <c:pt idx="1">
                  <c:v>22.38</c:v>
                </c:pt>
                <c:pt idx="2">
                  <c:v>23.8</c:v>
                </c:pt>
                <c:pt idx="3">
                  <c:v>19.059999999999999</c:v>
                </c:pt>
                <c:pt idx="4">
                  <c:v>26.7</c:v>
                </c:pt>
                <c:pt idx="5">
                  <c:v>21.34</c:v>
                </c:pt>
                <c:pt idx="6">
                  <c:v>25.19</c:v>
                </c:pt>
                <c:pt idx="7">
                  <c:v>21.18</c:v>
                </c:pt>
                <c:pt idx="8">
                  <c:v>29.34</c:v>
                </c:pt>
                <c:pt idx="9">
                  <c:v>35.39</c:v>
                </c:pt>
                <c:pt idx="10">
                  <c:v>25.55</c:v>
                </c:pt>
                <c:pt idx="11">
                  <c:v>25.42</c:v>
                </c:pt>
                <c:pt idx="12">
                  <c:v>24.85</c:v>
                </c:pt>
                <c:pt idx="13">
                  <c:v>21.34</c:v>
                </c:pt>
                <c:pt idx="14">
                  <c:v>21.86</c:v>
                </c:pt>
                <c:pt idx="15">
                  <c:v>23.48</c:v>
                </c:pt>
                <c:pt idx="16">
                  <c:v>20.43</c:v>
                </c:pt>
                <c:pt idx="17">
                  <c:v>20.350000000000001</c:v>
                </c:pt>
                <c:pt idx="18">
                  <c:v>19.739999999999998</c:v>
                </c:pt>
                <c:pt idx="19">
                  <c:v>18.510000000000002</c:v>
                </c:pt>
                <c:pt idx="20">
                  <c:v>18.5</c:v>
                </c:pt>
                <c:pt idx="21">
                  <c:v>17.78</c:v>
                </c:pt>
                <c:pt idx="22">
                  <c:v>19.3</c:v>
                </c:pt>
                <c:pt idx="23">
                  <c:v>16.37</c:v>
                </c:pt>
                <c:pt idx="24">
                  <c:v>15.8</c:v>
                </c:pt>
                <c:pt idx="25">
                  <c:v>16.190000000000001</c:v>
                </c:pt>
                <c:pt idx="26">
                  <c:v>15.73</c:v>
                </c:pt>
                <c:pt idx="27">
                  <c:v>13.91</c:v>
                </c:pt>
                <c:pt idx="28">
                  <c:v>15.49</c:v>
                </c:pt>
                <c:pt idx="29">
                  <c:v>14.98</c:v>
                </c:pt>
                <c:pt idx="30">
                  <c:v>14.01</c:v>
                </c:pt>
                <c:pt idx="31">
                  <c:v>13.55</c:v>
                </c:pt>
                <c:pt idx="32">
                  <c:v>15.06</c:v>
                </c:pt>
                <c:pt idx="33">
                  <c:v>16.670000000000002</c:v>
                </c:pt>
                <c:pt idx="34">
                  <c:v>16.510000000000002</c:v>
                </c:pt>
                <c:pt idx="35">
                  <c:v>14.44</c:v>
                </c:pt>
                <c:pt idx="36">
                  <c:v>14.81</c:v>
                </c:pt>
                <c:pt idx="37">
                  <c:v>14.28</c:v>
                </c:pt>
                <c:pt idx="38">
                  <c:v>16.649999999999999</c:v>
                </c:pt>
                <c:pt idx="39">
                  <c:v>15.84</c:v>
                </c:pt>
                <c:pt idx="40">
                  <c:v>16.5</c:v>
                </c:pt>
                <c:pt idx="41">
                  <c:v>16.11</c:v>
                </c:pt>
                <c:pt idx="42">
                  <c:v>14.48</c:v>
                </c:pt>
                <c:pt idx="43">
                  <c:v>14.63</c:v>
                </c:pt>
                <c:pt idx="44">
                  <c:v>14.2</c:v>
                </c:pt>
                <c:pt idx="45">
                  <c:v>14.26</c:v>
                </c:pt>
                <c:pt idx="46">
                  <c:v>13.66</c:v>
                </c:pt>
                <c:pt idx="47">
                  <c:v>15.26</c:v>
                </c:pt>
                <c:pt idx="48">
                  <c:v>16.23</c:v>
                </c:pt>
                <c:pt idx="49">
                  <c:v>20.89</c:v>
                </c:pt>
                <c:pt idx="50">
                  <c:v>20.23</c:v>
                </c:pt>
                <c:pt idx="51">
                  <c:v>25.9</c:v>
                </c:pt>
                <c:pt idx="52">
                  <c:v>19.190000000000001</c:v>
                </c:pt>
                <c:pt idx="53">
                  <c:v>19.54</c:v>
                </c:pt>
              </c:numCache>
            </c:numRef>
          </c:val>
          <c:smooth val="0"/>
          <c:extLst>
            <c:ext xmlns:c16="http://schemas.microsoft.com/office/drawing/2014/chart" uri="{C3380CC4-5D6E-409C-BE32-E72D297353CC}">
              <c16:uniqueId val="{00000001-FA0E-4388-81E1-3499D31C8952}"/>
            </c:ext>
          </c:extLst>
        </c:ser>
        <c:dLbls>
          <c:showLegendKey val="0"/>
          <c:showVal val="0"/>
          <c:showCatName val="0"/>
          <c:showSerName val="0"/>
          <c:showPercent val="0"/>
          <c:showBubbleSize val="0"/>
        </c:dLbls>
        <c:marker val="1"/>
        <c:smooth val="0"/>
        <c:axId val="902270559"/>
        <c:axId val="902267679"/>
      </c:lineChart>
      <c:dateAx>
        <c:axId val="2041432991"/>
        <c:scaling>
          <c:orientation val="minMax"/>
        </c:scaling>
        <c:delete val="0"/>
        <c:axPos val="b"/>
        <c:numFmt formatCode="[$-416]mmm\-yy;@" sourceLinked="0"/>
        <c:majorTickMark val="out"/>
        <c:minorTickMark val="out"/>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2041436351"/>
        <c:crosses val="autoZero"/>
        <c:auto val="1"/>
        <c:lblOffset val="100"/>
        <c:baseTimeUnit val="months"/>
        <c:majorUnit val="3"/>
        <c:majorTimeUnit val="months"/>
      </c:dateAx>
      <c:valAx>
        <c:axId val="2041436351"/>
        <c:scaling>
          <c:orientation val="minMax"/>
          <c:max val="6"/>
          <c:min val="2.8"/>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2041432991"/>
        <c:crosses val="autoZero"/>
        <c:crossBetween val="midCat"/>
      </c:valAx>
      <c:valAx>
        <c:axId val="90226767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902270559"/>
        <c:crosses val="max"/>
        <c:crossBetween val="between"/>
      </c:valAx>
      <c:dateAx>
        <c:axId val="902270559"/>
        <c:scaling>
          <c:orientation val="minMax"/>
        </c:scaling>
        <c:delete val="1"/>
        <c:axPos val="b"/>
        <c:numFmt formatCode="m/d/yyyy" sourceLinked="1"/>
        <c:majorTickMark val="out"/>
        <c:minorTickMark val="none"/>
        <c:tickLblPos val="nextTo"/>
        <c:crossAx val="902267679"/>
        <c:crosses val="autoZero"/>
        <c:auto val="1"/>
        <c:lblOffset val="100"/>
        <c:baseTimeUnit val="days"/>
      </c:dateAx>
      <c:spPr>
        <a:noFill/>
        <a:ln>
          <a:noFill/>
        </a:ln>
        <a:effectLst/>
      </c:spPr>
    </c:plotArea>
    <c:legend>
      <c:legendPos val="t"/>
      <c:layout>
        <c:manualLayout>
          <c:xMode val="edge"/>
          <c:yMode val="edge"/>
          <c:x val="9.9279703378956322E-2"/>
          <c:y val="3.0417558835223055E-2"/>
          <c:w val="0.8014402542311112"/>
          <c:h val="0.2220960811645853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latin typeface="Roboto Light" panose="02000000000000000000" pitchFamily="2" charset="0"/>
          <a:ea typeface="Roboto Light" panose="02000000000000000000" pitchFamily="2" charset="0"/>
          <a:cs typeface="Roboto Light" panose="02000000000000000000" pitchFamily="2"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7448510944501702E-2"/>
          <c:y val="5.1969850790354662E-2"/>
          <c:w val="0.8681043507809959"/>
          <c:h val="0.63277807209439696"/>
        </c:manualLayout>
      </c:layout>
      <c:lineChart>
        <c:grouping val="standard"/>
        <c:varyColors val="0"/>
        <c:ser>
          <c:idx val="0"/>
          <c:order val="0"/>
          <c:tx>
            <c:strRef>
              <c:f>Graficos!$D$4</c:f>
              <c:strCache>
                <c:ptCount val="1"/>
                <c:pt idx="0">
                  <c:v>Ações do Ibovespa</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5"/>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CE4A-41A8-B97C-64296AC4C87B}"/>
              </c:ext>
            </c:extLst>
          </c:dPt>
          <c:dPt>
            <c:idx val="6"/>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1-CE4A-41A8-B97C-64296AC4C87B}"/>
              </c:ext>
            </c:extLst>
          </c:dPt>
          <c:dPt>
            <c:idx val="7"/>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2-CE4A-41A8-B97C-64296AC4C87B}"/>
              </c:ext>
            </c:extLst>
          </c:dPt>
          <c:dPt>
            <c:idx val="8"/>
            <c:marker>
              <c:symbol val="circle"/>
              <c:size val="5"/>
              <c:spPr>
                <a:solidFill>
                  <a:schemeClr val="accent1"/>
                </a:solidFill>
                <a:ln w="9525">
                  <a:solidFill>
                    <a:schemeClr val="accent1"/>
                  </a:solidFill>
                </a:ln>
                <a:effectLst/>
              </c:spPr>
            </c:marker>
            <c:bubble3D val="0"/>
            <c:spPr>
              <a:ln w="28575" cap="rnd">
                <a:noFill/>
                <a:round/>
              </a:ln>
              <a:effectLst/>
            </c:spPr>
            <c:extLst>
              <c:ext xmlns:c16="http://schemas.microsoft.com/office/drawing/2014/chart" uri="{C3380CC4-5D6E-409C-BE32-E72D297353CC}">
                <c16:uniqueId val="{00000004-CE4A-41A8-B97C-64296AC4C87B}"/>
              </c:ext>
            </c:extLst>
          </c:dPt>
          <c:dLbls>
            <c:dLbl>
              <c:idx val="1"/>
              <c:layout>
                <c:manualLayout>
                  <c:x val="-3.6225881379154175E-2"/>
                  <c:y val="8.28921303603849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E4A-41A8-B97C-64296AC4C87B}"/>
                </c:ext>
              </c:extLst>
            </c:dLbl>
            <c:dLbl>
              <c:idx val="2"/>
              <c:layout>
                <c:manualLayout>
                  <c:x val="-2.933595260870548E-2"/>
                  <c:y val="5.58217221221045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E4A-41A8-B97C-64296AC4C87B}"/>
                </c:ext>
              </c:extLst>
            </c:dLbl>
            <c:dLbl>
              <c:idx val="3"/>
              <c:layout>
                <c:manualLayout>
                  <c:x val="-5.3459661905541411E-2"/>
                  <c:y val="-3.83773862654428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E4A-41A8-B97C-64296AC4C87B}"/>
                </c:ext>
              </c:extLst>
            </c:dLbl>
            <c:dLbl>
              <c:idx val="4"/>
              <c:layout>
                <c:manualLayout>
                  <c:x val="-1.1162148889443091E-2"/>
                  <c:y val="1.8394020783074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E4A-41A8-B97C-64296AC4C87B}"/>
                </c:ext>
              </c:extLst>
            </c:dLbl>
            <c:dLbl>
              <c:idx val="5"/>
              <c:layout>
                <c:manualLayout>
                  <c:x val="-6.3757235925791952E-2"/>
                  <c:y val="-5.08670520231214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4A-41A8-B97C-64296AC4C87B}"/>
                </c:ext>
              </c:extLst>
            </c:dLbl>
            <c:dLbl>
              <c:idx val="6"/>
              <c:layout>
                <c:manualLayout>
                  <c:x val="-7.4666171249976002E-2"/>
                  <c:y val="7.323226005067017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4A-41A8-B97C-64296AC4C87B}"/>
                </c:ext>
              </c:extLst>
            </c:dLbl>
            <c:dLbl>
              <c:idx val="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E4A-41A8-B97C-64296AC4C87B}"/>
                </c:ext>
              </c:extLst>
            </c:dLbl>
            <c:dLbl>
              <c:idx val="8"/>
              <c:layout>
                <c:manualLayout>
                  <c:x val="-8.7380637167899736E-3"/>
                  <c:y val="-8.929940920320211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E4A-41A8-B97C-64296AC4C87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Graficos!$C$5:$C$13</c:f>
              <c:strCache>
                <c:ptCount val="9"/>
                <c:pt idx="0">
                  <c:v>1T26</c:v>
                </c:pt>
                <c:pt idx="1">
                  <c:v>4T25</c:v>
                </c:pt>
                <c:pt idx="2">
                  <c:v>3T25</c:v>
                </c:pt>
                <c:pt idx="3">
                  <c:v>2T25</c:v>
                </c:pt>
                <c:pt idx="4">
                  <c:v>1T25</c:v>
                </c:pt>
                <c:pt idx="5">
                  <c:v>4T24</c:v>
                </c:pt>
                <c:pt idx="6">
                  <c:v>3T24</c:v>
                </c:pt>
                <c:pt idx="7">
                  <c:v>2T24</c:v>
                </c:pt>
                <c:pt idx="8">
                  <c:v>Média dos últimos 5 trimestres</c:v>
                </c:pt>
              </c:strCache>
            </c:strRef>
          </c:cat>
          <c:val>
            <c:numRef>
              <c:f>Graficos!$D$5:$D$13</c:f>
              <c:numCache>
                <c:formatCode>0.00%</c:formatCode>
                <c:ptCount val="9"/>
                <c:pt idx="0">
                  <c:v>-2.4525897436842099E-3</c:v>
                </c:pt>
                <c:pt idx="1">
                  <c:v>-4.545492506876754E-3</c:v>
                </c:pt>
                <c:pt idx="2">
                  <c:v>-3.9306682257506317E-3</c:v>
                </c:pt>
                <c:pt idx="3">
                  <c:v>4.1000000000000003E-3</c:v>
                </c:pt>
                <c:pt idx="4">
                  <c:v>0</c:v>
                </c:pt>
                <c:pt idx="5">
                  <c:v>-3.7000000000000002E-3</c:v>
                </c:pt>
                <c:pt idx="6">
                  <c:v>-3.3E-3</c:v>
                </c:pt>
                <c:pt idx="7">
                  <c:v>1.11E-2</c:v>
                </c:pt>
                <c:pt idx="8">
                  <c:v>-1.6152321465254769E-3</c:v>
                </c:pt>
              </c:numCache>
            </c:numRef>
          </c:val>
          <c:smooth val="0"/>
          <c:extLst>
            <c:ext xmlns:c16="http://schemas.microsoft.com/office/drawing/2014/chart" uri="{C3380CC4-5D6E-409C-BE32-E72D297353CC}">
              <c16:uniqueId val="{00000009-CE4A-41A8-B97C-64296AC4C87B}"/>
            </c:ext>
          </c:extLst>
        </c:ser>
        <c:ser>
          <c:idx val="1"/>
          <c:order val="1"/>
          <c:tx>
            <c:strRef>
              <c:f>Graficos!$E$4</c:f>
              <c:strCache>
                <c:ptCount val="1"/>
                <c:pt idx="0">
                  <c:v>Surpresas positivas</c:v>
                </c:pt>
              </c:strCache>
            </c:strRef>
          </c:tx>
          <c:spPr>
            <a:ln w="28575" cap="rnd">
              <a:solidFill>
                <a:schemeClr val="bg2"/>
              </a:solidFill>
              <a:round/>
            </a:ln>
            <a:effectLst/>
          </c:spPr>
          <c:marker>
            <c:symbol val="circle"/>
            <c:size val="5"/>
            <c:spPr>
              <a:solidFill>
                <a:schemeClr val="bg2"/>
              </a:solidFill>
              <a:ln w="9525">
                <a:solidFill>
                  <a:schemeClr val="bg2"/>
                </a:solidFill>
              </a:ln>
              <a:effectLst/>
            </c:spPr>
          </c:marker>
          <c:dPt>
            <c:idx val="5"/>
            <c:marker>
              <c:symbol val="circle"/>
              <c:size val="5"/>
              <c:spPr>
                <a:solidFill>
                  <a:schemeClr val="bg2"/>
                </a:solidFill>
                <a:ln w="9525">
                  <a:solidFill>
                    <a:schemeClr val="bg2"/>
                  </a:solidFill>
                </a:ln>
                <a:effectLst/>
              </c:spPr>
            </c:marker>
            <c:bubble3D val="0"/>
            <c:extLst>
              <c:ext xmlns:c16="http://schemas.microsoft.com/office/drawing/2014/chart" uri="{C3380CC4-5D6E-409C-BE32-E72D297353CC}">
                <c16:uniqueId val="{0000000A-CE4A-41A8-B97C-64296AC4C87B}"/>
              </c:ext>
            </c:extLst>
          </c:dPt>
          <c:dPt>
            <c:idx val="6"/>
            <c:marker>
              <c:symbol val="circle"/>
              <c:size val="5"/>
              <c:spPr>
                <a:solidFill>
                  <a:schemeClr val="bg2"/>
                </a:solidFill>
                <a:ln w="9525">
                  <a:solidFill>
                    <a:schemeClr val="bg2"/>
                  </a:solidFill>
                </a:ln>
                <a:effectLst/>
              </c:spPr>
            </c:marker>
            <c:bubble3D val="0"/>
            <c:extLst>
              <c:ext xmlns:c16="http://schemas.microsoft.com/office/drawing/2014/chart" uri="{C3380CC4-5D6E-409C-BE32-E72D297353CC}">
                <c16:uniqueId val="{0000000B-CE4A-41A8-B97C-64296AC4C87B}"/>
              </c:ext>
            </c:extLst>
          </c:dPt>
          <c:dPt>
            <c:idx val="7"/>
            <c:marker>
              <c:symbol val="circle"/>
              <c:size val="5"/>
              <c:spPr>
                <a:solidFill>
                  <a:schemeClr val="bg2"/>
                </a:solidFill>
                <a:ln w="9525">
                  <a:solidFill>
                    <a:schemeClr val="bg2"/>
                  </a:solidFill>
                </a:ln>
                <a:effectLst/>
              </c:spPr>
            </c:marker>
            <c:bubble3D val="0"/>
            <c:extLst>
              <c:ext xmlns:c16="http://schemas.microsoft.com/office/drawing/2014/chart" uri="{C3380CC4-5D6E-409C-BE32-E72D297353CC}">
                <c16:uniqueId val="{0000000C-CE4A-41A8-B97C-64296AC4C87B}"/>
              </c:ext>
            </c:extLst>
          </c:dPt>
          <c:dPt>
            <c:idx val="8"/>
            <c:marker>
              <c:symbol val="circle"/>
              <c:size val="5"/>
              <c:spPr>
                <a:solidFill>
                  <a:schemeClr val="bg2"/>
                </a:solidFill>
                <a:ln w="9525">
                  <a:noFill/>
                </a:ln>
                <a:effectLst/>
              </c:spPr>
            </c:marker>
            <c:bubble3D val="0"/>
            <c:spPr>
              <a:ln w="28575" cap="rnd">
                <a:noFill/>
                <a:round/>
              </a:ln>
              <a:effectLst/>
            </c:spPr>
            <c:extLst>
              <c:ext xmlns:c16="http://schemas.microsoft.com/office/drawing/2014/chart" uri="{C3380CC4-5D6E-409C-BE32-E72D297353CC}">
                <c16:uniqueId val="{0000000E-CE4A-41A8-B97C-64296AC4C87B}"/>
              </c:ext>
            </c:extLst>
          </c:dPt>
          <c:dLbls>
            <c:dLbl>
              <c:idx val="1"/>
              <c:layout>
                <c:manualLayout>
                  <c:x val="-4.6783527742087459E-2"/>
                  <c:y val="0.13671327264004901"/>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E4A-41A8-B97C-64296AC4C87B}"/>
                </c:ext>
              </c:extLst>
            </c:dLbl>
            <c:dLbl>
              <c:idx val="5"/>
              <c:layout>
                <c:manualLayout>
                  <c:x val="-6.7654999672567634E-2"/>
                  <c:y val="-0.1310531154703928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E4A-41A8-B97C-64296AC4C87B}"/>
                </c:ext>
              </c:extLst>
            </c:dLbl>
            <c:dLbl>
              <c:idx val="6"/>
              <c:layout>
                <c:manualLayout>
                  <c:x val="-3.1139258086590699E-2"/>
                  <c:y val="-8.50867052023121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E4A-41A8-B97C-64296AC4C87B}"/>
                </c:ext>
              </c:extLst>
            </c:dLbl>
            <c:dLbl>
              <c:idx val="8"/>
              <c:layout>
                <c:manualLayout>
                  <c:x val="-4.1212367500708474E-2"/>
                  <c:y val="-0.1201935890225582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E4A-41A8-B97C-64296AC4C87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Graficos!$C$5:$C$13</c:f>
              <c:strCache>
                <c:ptCount val="9"/>
                <c:pt idx="0">
                  <c:v>1T26</c:v>
                </c:pt>
                <c:pt idx="1">
                  <c:v>4T25</c:v>
                </c:pt>
                <c:pt idx="2">
                  <c:v>3T25</c:v>
                </c:pt>
                <c:pt idx="3">
                  <c:v>2T25</c:v>
                </c:pt>
                <c:pt idx="4">
                  <c:v>1T25</c:v>
                </c:pt>
                <c:pt idx="5">
                  <c:v>4T24</c:v>
                </c:pt>
                <c:pt idx="6">
                  <c:v>3T24</c:v>
                </c:pt>
                <c:pt idx="7">
                  <c:v>2T24</c:v>
                </c:pt>
                <c:pt idx="8">
                  <c:v>Média dos últimos 5 trimestres</c:v>
                </c:pt>
              </c:strCache>
            </c:strRef>
          </c:cat>
          <c:val>
            <c:numRef>
              <c:f>Graficos!$E$5:$E$13</c:f>
              <c:numCache>
                <c:formatCode>0.00%</c:formatCode>
                <c:ptCount val="9"/>
                <c:pt idx="0">
                  <c:v>7.265277805564286E-3</c:v>
                </c:pt>
                <c:pt idx="1">
                  <c:v>-8.651019874698386E-3</c:v>
                </c:pt>
                <c:pt idx="2">
                  <c:v>1.5914048890429272E-2</c:v>
                </c:pt>
                <c:pt idx="3">
                  <c:v>1.32E-2</c:v>
                </c:pt>
                <c:pt idx="4">
                  <c:v>1.2699999999999999E-2</c:v>
                </c:pt>
                <c:pt idx="5">
                  <c:v>-3.8999999999999998E-3</c:v>
                </c:pt>
                <c:pt idx="6">
                  <c:v>1.4E-3</c:v>
                </c:pt>
                <c:pt idx="7">
                  <c:v>3.2199999999999999E-2</c:v>
                </c:pt>
                <c:pt idx="8">
                  <c:v>5.8526058031461766E-3</c:v>
                </c:pt>
              </c:numCache>
            </c:numRef>
          </c:val>
          <c:smooth val="0"/>
          <c:extLst>
            <c:ext xmlns:c16="http://schemas.microsoft.com/office/drawing/2014/chart" uri="{C3380CC4-5D6E-409C-BE32-E72D297353CC}">
              <c16:uniqueId val="{00000010-CE4A-41A8-B97C-64296AC4C87B}"/>
            </c:ext>
          </c:extLst>
        </c:ser>
        <c:ser>
          <c:idx val="2"/>
          <c:order val="2"/>
          <c:tx>
            <c:strRef>
              <c:f>Graficos!$F$4</c:f>
              <c:strCache>
                <c:ptCount val="1"/>
                <c:pt idx="0">
                  <c:v>Surpresas negativas</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Pt>
            <c:idx val="5"/>
            <c:marker>
              <c:symbol val="circle"/>
              <c:size val="5"/>
              <c:spPr>
                <a:solidFill>
                  <a:schemeClr val="accent3"/>
                </a:solidFill>
                <a:ln w="9525">
                  <a:solidFill>
                    <a:schemeClr val="accent3"/>
                  </a:solidFill>
                </a:ln>
                <a:effectLst/>
              </c:spPr>
            </c:marker>
            <c:bubble3D val="0"/>
            <c:extLst>
              <c:ext xmlns:c16="http://schemas.microsoft.com/office/drawing/2014/chart" uri="{C3380CC4-5D6E-409C-BE32-E72D297353CC}">
                <c16:uniqueId val="{00000011-CE4A-41A8-B97C-64296AC4C87B}"/>
              </c:ext>
            </c:extLst>
          </c:dPt>
          <c:dPt>
            <c:idx val="6"/>
            <c:marker>
              <c:symbol val="circle"/>
              <c:size val="5"/>
              <c:spPr>
                <a:solidFill>
                  <a:schemeClr val="accent3"/>
                </a:solidFill>
                <a:ln w="9525">
                  <a:solidFill>
                    <a:schemeClr val="accent3"/>
                  </a:solidFill>
                </a:ln>
                <a:effectLst/>
              </c:spPr>
            </c:marker>
            <c:bubble3D val="0"/>
            <c:extLst>
              <c:ext xmlns:c16="http://schemas.microsoft.com/office/drawing/2014/chart" uri="{C3380CC4-5D6E-409C-BE32-E72D297353CC}">
                <c16:uniqueId val="{00000012-CE4A-41A8-B97C-64296AC4C87B}"/>
              </c:ext>
            </c:extLst>
          </c:dPt>
          <c:dPt>
            <c:idx val="7"/>
            <c:marker>
              <c:symbol val="circle"/>
              <c:size val="5"/>
              <c:spPr>
                <a:solidFill>
                  <a:schemeClr val="accent3"/>
                </a:solidFill>
                <a:ln w="9525">
                  <a:solidFill>
                    <a:schemeClr val="accent3"/>
                  </a:solidFill>
                </a:ln>
                <a:effectLst/>
              </c:spPr>
            </c:marker>
            <c:bubble3D val="0"/>
            <c:extLst>
              <c:ext xmlns:c16="http://schemas.microsoft.com/office/drawing/2014/chart" uri="{C3380CC4-5D6E-409C-BE32-E72D297353CC}">
                <c16:uniqueId val="{00000013-CE4A-41A8-B97C-64296AC4C87B}"/>
              </c:ext>
            </c:extLst>
          </c:dPt>
          <c:dPt>
            <c:idx val="8"/>
            <c:marker>
              <c:symbol val="circle"/>
              <c:size val="5"/>
              <c:spPr>
                <a:solidFill>
                  <a:schemeClr val="accent3"/>
                </a:solidFill>
                <a:ln w="9525">
                  <a:solidFill>
                    <a:schemeClr val="accent3"/>
                  </a:solidFill>
                </a:ln>
                <a:effectLst/>
              </c:spPr>
            </c:marker>
            <c:bubble3D val="0"/>
            <c:spPr>
              <a:ln w="28575" cap="rnd">
                <a:noFill/>
                <a:round/>
              </a:ln>
              <a:effectLst/>
            </c:spPr>
            <c:extLst>
              <c:ext xmlns:c16="http://schemas.microsoft.com/office/drawing/2014/chart" uri="{C3380CC4-5D6E-409C-BE32-E72D297353CC}">
                <c16:uniqueId val="{00000015-CE4A-41A8-B97C-64296AC4C87B}"/>
              </c:ext>
            </c:extLst>
          </c:dPt>
          <c:dLbls>
            <c:dLbl>
              <c:idx val="1"/>
              <c:layout>
                <c:manualLayout>
                  <c:x val="-4.6557401691292716E-2"/>
                  <c:y val="-6.312475048054591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E4A-41A8-B97C-64296AC4C87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Graficos!$C$5:$C$13</c:f>
              <c:strCache>
                <c:ptCount val="9"/>
                <c:pt idx="0">
                  <c:v>1T26</c:v>
                </c:pt>
                <c:pt idx="1">
                  <c:v>4T25</c:v>
                </c:pt>
                <c:pt idx="2">
                  <c:v>3T25</c:v>
                </c:pt>
                <c:pt idx="3">
                  <c:v>2T25</c:v>
                </c:pt>
                <c:pt idx="4">
                  <c:v>1T25</c:v>
                </c:pt>
                <c:pt idx="5">
                  <c:v>4T24</c:v>
                </c:pt>
                <c:pt idx="6">
                  <c:v>3T24</c:v>
                </c:pt>
                <c:pt idx="7">
                  <c:v>2T24</c:v>
                </c:pt>
                <c:pt idx="8">
                  <c:v>Média dos últimos 5 trimestres</c:v>
                </c:pt>
              </c:strCache>
            </c:strRef>
          </c:cat>
          <c:val>
            <c:numRef>
              <c:f>Graficos!$F$5:$F$13</c:f>
              <c:numCache>
                <c:formatCode>0.00%</c:formatCode>
                <c:ptCount val="9"/>
                <c:pt idx="0">
                  <c:v>-1.4691225754934376E-2</c:v>
                </c:pt>
                <c:pt idx="1">
                  <c:v>-1.7924414828524437E-3</c:v>
                </c:pt>
                <c:pt idx="2">
                  <c:v>-2.6607435047259372E-2</c:v>
                </c:pt>
                <c:pt idx="3">
                  <c:v>-5.0000000000000001E-3</c:v>
                </c:pt>
                <c:pt idx="4">
                  <c:v>-1.2999999999999999E-2</c:v>
                </c:pt>
                <c:pt idx="5">
                  <c:v>-4.4000000000000003E-3</c:v>
                </c:pt>
                <c:pt idx="6">
                  <c:v>-9.2999999999999992E-3</c:v>
                </c:pt>
                <c:pt idx="7">
                  <c:v>-2.7000000000000001E-3</c:v>
                </c:pt>
                <c:pt idx="8">
                  <c:v>-1.0159975306022364E-2</c:v>
                </c:pt>
              </c:numCache>
            </c:numRef>
          </c:val>
          <c:smooth val="0"/>
          <c:extLst>
            <c:ext xmlns:c16="http://schemas.microsoft.com/office/drawing/2014/chart" uri="{C3380CC4-5D6E-409C-BE32-E72D297353CC}">
              <c16:uniqueId val="{00000017-CE4A-41A8-B97C-64296AC4C87B}"/>
            </c:ext>
          </c:extLst>
        </c:ser>
        <c:dLbls>
          <c:showLegendKey val="0"/>
          <c:showVal val="0"/>
          <c:showCatName val="0"/>
          <c:showSerName val="0"/>
          <c:showPercent val="0"/>
          <c:showBubbleSize val="0"/>
        </c:dLbls>
        <c:marker val="1"/>
        <c:smooth val="0"/>
        <c:axId val="1880656799"/>
        <c:axId val="1880659679"/>
      </c:lineChart>
      <c:catAx>
        <c:axId val="1880656799"/>
        <c:scaling>
          <c:orientation val="maxMin"/>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1880659679"/>
        <c:crosses val="autoZero"/>
        <c:auto val="1"/>
        <c:lblAlgn val="ctr"/>
        <c:lblOffset val="100"/>
        <c:noMultiLvlLbl val="0"/>
      </c:catAx>
      <c:valAx>
        <c:axId val="1880659679"/>
        <c:scaling>
          <c:orientation val="minMax"/>
          <c:min val="-3.5000000000000003E-2"/>
        </c:scaling>
        <c:delete val="0"/>
        <c:axPos val="r"/>
        <c:majorGridlines>
          <c:spPr>
            <a:ln w="9525" cap="flat" cmpd="sng" algn="ctr">
              <a:solidFill>
                <a:schemeClr val="bg1">
                  <a:lumMod val="95000"/>
                </a:schemeClr>
              </a:solidFill>
              <a:round/>
            </a:ln>
            <a:effectLst/>
          </c:spPr>
        </c:majorGridlines>
        <c:numFmt formatCode="0.00%" sourceLinked="1"/>
        <c:majorTickMark val="none"/>
        <c:minorTickMark val="none"/>
        <c:tickLblPos val="high"/>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crossAx val="1880656799"/>
        <c:crosses val="autoZero"/>
        <c:crossBetween val="between"/>
      </c:valAx>
      <c:spPr>
        <a:noFill/>
        <a:ln>
          <a:noFill/>
        </a:ln>
        <a:effectLst/>
      </c:spPr>
    </c:plotArea>
    <c:legend>
      <c:legendPos val="b"/>
      <c:layout>
        <c:manualLayout>
          <c:xMode val="edge"/>
          <c:yMode val="edge"/>
          <c:x val="0.15337479302959128"/>
          <c:y val="0.88469726423335115"/>
          <c:w val="0.69325025126020534"/>
          <c:h val="0.1153027357666488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latin typeface="Roboto Light" panose="02000000000000000000" pitchFamily="2" charset="0"/>
          <a:ea typeface="Roboto Light" panose="02000000000000000000" pitchFamily="2" charset="0"/>
          <a:cs typeface="Roboto Light" panose="02000000000000000000" pitchFamily="2" charset="0"/>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'Growth (2)'!$A$31:$A$47</cx:f>
        <cx:lvl ptCount="17">
          <cx:pt idx="0">Alimentos &amp; Bebidas</cx:pt>
          <cx:pt idx="1">Papel &amp; Celulose</cx:pt>
          <cx:pt idx="2">Bens de Capital</cx:pt>
          <cx:pt idx="3">Agro</cx:pt>
          <cx:pt idx="4">Propriedades Comerciais</cx:pt>
          <cx:pt idx="5">Inst. Financeiras</cx:pt>
          <cx:pt idx="6">Mineração &amp; Siderurgia</cx:pt>
          <cx:pt idx="7">Varejo</cx:pt>
          <cx:pt idx="8">Construção Civil</cx:pt>
          <cx:pt idx="9">Saúde</cx:pt>
          <cx:pt idx="10">Saneamento</cx:pt>
          <cx:pt idx="11">Transportes</cx:pt>
          <cx:pt idx="12">TMT</cx:pt>
          <cx:pt idx="13">Bancos</cx:pt>
          <cx:pt idx="14">Elétricas</cx:pt>
          <cx:pt idx="15">Óleo &amp; Gás</cx:pt>
          <cx:pt idx="16">Cobertura XP</cx:pt>
        </cx:lvl>
      </cx:strDim>
      <cx:numDim type="val">
        <cx:f>'Growth (2)'!$B$31:$B$47</cx:f>
        <cx:lvl ptCount="17" formatCode="0.0%">
          <cx:pt idx="0">-0.011837765019265355</cx:pt>
          <cx:pt idx="1">-0.006508562378547844</cx:pt>
          <cx:pt idx="2">-0.0010618988138392784</cx:pt>
          <cx:pt idx="3">-0.00037694098543702878</cx:pt>
          <cx:pt idx="4">-0.00037509773649875523</cx:pt>
          <cx:pt idx="5">0.0002857725402746223</cx:pt>
          <cx:pt idx="6">0.0004682547897279326</cx:pt>
          <cx:pt idx="7">0.0013448176057634462</cx:pt>
          <cx:pt idx="8">0.0013747896680113892</cx:pt>
          <cx:pt idx="9">0.0016805798015539729</cx:pt>
          <cx:pt idx="10">0.0028389378014483839</cx:pt>
          <cx:pt idx="11">0.0038693005563764514</cx:pt>
          <cx:pt idx="12">0.0042757130785575368</cx:pt>
          <cx:pt idx="13">0.017834810561799655</cx:pt>
          <cx:pt idx="14">0.018446405376316494</cx:pt>
          <cx:pt idx="15">0.17302513780640455</cx:pt>
          <cx:pt idx="16">0.20528425465264677</cx:pt>
        </cx:lvl>
      </cx:numDim>
    </cx:data>
  </cx:chartData>
  <cx:chart>
    <cx:plotArea>
      <cx:plotAreaRegion>
        <cx:series layoutId="waterfall" uniqueId="{5EA27CA7-158C-408E-B2A8-AE8ACBF09A2C}">
          <cx:spPr>
            <a:solidFill>
              <a:schemeClr val="accent1"/>
            </a:solidFill>
          </cx:spPr>
          <cx:dataPt idx="16">
            <cx:spPr>
              <a:solidFill>
                <a:srgbClr val="8EB3DF"/>
              </a:solidFill>
            </cx:spPr>
          </cx:dataPt>
          <cx:dataLabels pos="outEnd">
            <cx:txPr>
              <a:bodyPr vertOverflow="overflow" horzOverflow="overflow" wrap="square" lIns="0" tIns="0" rIns="0" bIns="0"/>
              <a:lstStyle/>
              <a:p>
                <a:pPr algn="ctr" rtl="0">
                  <a:defRPr sz="900" b="0" i="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sz="90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cx:txPr>
            <cx:visibility seriesName="0" categoryName="0" value="1"/>
          </cx:dataLabels>
          <cx:dataId val="0"/>
          <cx:layoutPr>
            <cx:subtotals>
              <cx:idx val="16"/>
            </cx:subtotals>
          </cx:layoutPr>
        </cx:series>
      </cx:plotAreaRegion>
      <cx:axis id="0">
        <cx:catScaling gapWidth="0.5"/>
        <cx:tickLabels/>
        <cx:txPr>
          <a:bodyPr spcFirstLastPara="1" vertOverflow="ellipsis" horzOverflow="overflow" wrap="square" lIns="0" tIns="0" rIns="0" bIns="0" anchor="ctr" anchorCtr="1"/>
          <a:lstStyle/>
          <a:p>
            <a:pPr algn="ctr" rtl="0">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en-US" sz="900" b="0" i="0" u="none" strike="noStrike" baseline="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cx:txPr>
      </cx:axis>
      <cx:axis id="1" hidden="1">
        <cx:valScaling max="0.23000000000000001"/>
        <cx:tickLabels/>
        <cx:txPr>
          <a:bodyPr vertOverflow="overflow" horzOverflow="overflow" wrap="square" lIns="0" tIns="0" rIns="0" bIns="0"/>
          <a:lstStyle/>
          <a:p>
            <a:pPr algn="ctr" rtl="0">
              <a:defRPr sz="900" b="0" i="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sz="90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cx:txPr>
      </cx:axis>
    </cx:plotArea>
  </cx:chart>
  <cx:spPr>
    <a:ln>
      <a:no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C49D1B-E909-44D7-AE07-475F731D1327}" type="datetimeFigureOut">
              <a:rPr lang="en-US" smtClean="0"/>
              <a:t>7/21/2026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834217-4D54-4655-9730-DDABE530927F}" type="slidenum">
              <a:rPr lang="en-US" smtClean="0"/>
              <a:t>‹#›</a:t>
            </a:fld>
            <a:endParaRPr lang="en-US"/>
          </a:p>
        </p:txBody>
      </p:sp>
    </p:spTree>
    <p:extLst>
      <p:ext uri="{BB962C8B-B14F-4D97-AF65-F5344CB8AC3E}">
        <p14:creationId xmlns:p14="http://schemas.microsoft.com/office/powerpoint/2010/main" val="1818561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800" b="1" strike="sngStrike" dirty="0"/>
          </a:p>
        </p:txBody>
      </p:sp>
    </p:spTree>
    <p:extLst>
      <p:ext uri="{BB962C8B-B14F-4D97-AF65-F5344CB8AC3E}">
        <p14:creationId xmlns:p14="http://schemas.microsoft.com/office/powerpoint/2010/main" val="2473953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sz="800" dirty="0"/>
          </a:p>
        </p:txBody>
      </p:sp>
    </p:spTree>
    <p:extLst>
      <p:ext uri="{BB962C8B-B14F-4D97-AF65-F5344CB8AC3E}">
        <p14:creationId xmlns:p14="http://schemas.microsoft.com/office/powerpoint/2010/main" val="3283949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pt-BR" dirty="0" err="1"/>
              <a:t>Earnings</a:t>
            </a:r>
            <a:r>
              <a:rPr lang="pt-BR" dirty="0"/>
              <a:t> </a:t>
            </a:r>
            <a:r>
              <a:rPr lang="pt-BR" dirty="0" err="1"/>
              <a:t>season</a:t>
            </a:r>
            <a:r>
              <a:rPr lang="pt-BR" dirty="0"/>
              <a:t> = </a:t>
            </a:r>
            <a:r>
              <a:rPr lang="pt-BR" dirty="0" err="1"/>
              <a:t>solid</a:t>
            </a:r>
            <a:r>
              <a:rPr lang="pt-BR" dirty="0"/>
              <a:t>. Stock-</a:t>
            </a:r>
            <a:r>
              <a:rPr lang="pt-BR" dirty="0" err="1"/>
              <a:t>pickers</a:t>
            </a:r>
            <a:r>
              <a:rPr lang="pt-BR" dirty="0"/>
              <a:t> </a:t>
            </a:r>
            <a:r>
              <a:rPr lang="pt-BR" dirty="0" err="1"/>
              <a:t>quarter</a:t>
            </a:r>
            <a:r>
              <a:rPr lang="pt-BR" dirty="0"/>
              <a:t>: </a:t>
            </a:r>
            <a:r>
              <a:rPr lang="pt-BR" dirty="0" err="1"/>
              <a:t>low</a:t>
            </a:r>
            <a:r>
              <a:rPr lang="pt-BR" dirty="0"/>
              <a:t>-index vol., high-single </a:t>
            </a:r>
            <a:r>
              <a:rPr lang="pt-BR" dirty="0" err="1"/>
              <a:t>name</a:t>
            </a:r>
            <a:r>
              <a:rPr lang="pt-BR" dirty="0"/>
              <a:t> vol.</a:t>
            </a:r>
          </a:p>
          <a:p>
            <a:pPr marL="628650" lvl="1" indent="-171450">
              <a:buFont typeface="Arial" panose="020B0604020202020204" pitchFamily="34" charset="0"/>
              <a:buChar char="•"/>
            </a:pPr>
            <a:r>
              <a:rPr lang="en-US" dirty="0" err="1"/>
              <a:t>Conclusão</a:t>
            </a:r>
            <a:endParaRPr lang="en-US" dirty="0"/>
          </a:p>
          <a:p>
            <a:pPr marL="1085850" lvl="2" indent="-171450">
              <a:buFont typeface="Arial" panose="020B0604020202020204" pitchFamily="34" charset="0"/>
              <a:buChar char="•"/>
            </a:pPr>
            <a:r>
              <a:rPr lang="en-US" dirty="0" err="1"/>
              <a:t>Falar</a:t>
            </a:r>
            <a:r>
              <a:rPr lang="en-US" dirty="0"/>
              <a:t> </a:t>
            </a:r>
            <a:r>
              <a:rPr lang="en-US" dirty="0" err="1"/>
              <a:t>como</a:t>
            </a:r>
            <a:r>
              <a:rPr lang="en-US" dirty="0"/>
              <a:t> </a:t>
            </a:r>
            <a:r>
              <a:rPr lang="en-US" dirty="0" err="1"/>
              <a:t>performou</a:t>
            </a:r>
            <a:r>
              <a:rPr lang="en-US" dirty="0"/>
              <a:t> overall - flat</a:t>
            </a:r>
          </a:p>
          <a:p>
            <a:pPr marL="1085850" lvl="2" indent="-171450">
              <a:buFont typeface="Arial" panose="020B0604020202020204" pitchFamily="34" charset="0"/>
              <a:buChar char="•"/>
            </a:pPr>
            <a:r>
              <a:rPr lang="en-US" dirty="0" err="1"/>
              <a:t>Falar</a:t>
            </a:r>
            <a:r>
              <a:rPr lang="en-US" dirty="0"/>
              <a:t> que </a:t>
            </a:r>
            <a:r>
              <a:rPr lang="en-US" dirty="0" err="1"/>
              <a:t>apesar</a:t>
            </a:r>
            <a:r>
              <a:rPr lang="en-US" dirty="0"/>
              <a:t> </a:t>
            </a:r>
            <a:r>
              <a:rPr lang="en-US" dirty="0" err="1"/>
              <a:t>disso</a:t>
            </a:r>
            <a:r>
              <a:rPr lang="en-US" dirty="0"/>
              <a:t>, </a:t>
            </a:r>
            <a:r>
              <a:rPr lang="en-US" dirty="0" err="1"/>
              <a:t>esconde</a:t>
            </a:r>
            <a:r>
              <a:rPr lang="en-US" dirty="0"/>
              <a:t> </a:t>
            </a:r>
            <a:r>
              <a:rPr lang="en-US" dirty="0" err="1"/>
              <a:t>como</a:t>
            </a:r>
            <a:r>
              <a:rPr lang="en-US" dirty="0"/>
              <a:t> de </a:t>
            </a:r>
            <a:r>
              <a:rPr lang="en-US" dirty="0" err="1"/>
              <a:t>fato</a:t>
            </a:r>
            <a:r>
              <a:rPr lang="en-US" dirty="0"/>
              <a:t> </a:t>
            </a:r>
            <a:r>
              <a:rPr lang="en-US" dirty="0" err="1"/>
              <a:t>foi</a:t>
            </a:r>
            <a:r>
              <a:rPr lang="en-US" dirty="0"/>
              <a:t> a </a:t>
            </a:r>
            <a:r>
              <a:rPr lang="en-US" dirty="0" err="1"/>
              <a:t>temporada</a:t>
            </a:r>
            <a:r>
              <a:rPr lang="en-US" dirty="0"/>
              <a:t>: </a:t>
            </a:r>
            <a:r>
              <a:rPr lang="en-US" dirty="0" err="1"/>
              <a:t>turbulenta</a:t>
            </a:r>
            <a:endParaRPr lang="en-US" dirty="0"/>
          </a:p>
          <a:p>
            <a:pPr marL="1085850" lvl="2" indent="-171450">
              <a:buFont typeface="Arial" panose="020B0604020202020204" pitchFamily="34" charset="0"/>
              <a:buChar char="•"/>
            </a:pPr>
            <a:r>
              <a:rPr lang="en-US" dirty="0" err="1"/>
              <a:t>Falar</a:t>
            </a:r>
            <a:r>
              <a:rPr lang="en-US" dirty="0"/>
              <a:t> da </a:t>
            </a:r>
            <a:r>
              <a:rPr lang="en-US" dirty="0" err="1"/>
              <a:t>dispersao</a:t>
            </a:r>
            <a:endParaRPr lang="en-US" dirty="0"/>
          </a:p>
          <a:p>
            <a:pPr marL="628650" lvl="1" indent="-171450">
              <a:buFont typeface="Arial" panose="020B0604020202020204" pitchFamily="34" charset="0"/>
              <a:buChar char="•"/>
            </a:pPr>
            <a:r>
              <a:rPr lang="en-US" dirty="0" err="1"/>
              <a:t>Corpo</a:t>
            </a:r>
            <a:endParaRPr lang="en-US" dirty="0"/>
          </a:p>
          <a:p>
            <a:pPr marL="1085850" lvl="2" indent="-171450">
              <a:buFont typeface="Arial" panose="020B0604020202020204" pitchFamily="34" charset="0"/>
              <a:buChar char="•"/>
            </a:pPr>
            <a:r>
              <a:rPr lang="en-US" dirty="0"/>
              <a:t>Vol. = low index level, high single-name</a:t>
            </a:r>
          </a:p>
          <a:p>
            <a:pPr marL="1543050" lvl="3" indent="-171450">
              <a:buFont typeface="Arial" panose="020B0604020202020204" pitchFamily="34" charset="0"/>
              <a:buChar char="•"/>
            </a:pPr>
            <a:r>
              <a:rPr lang="en-US" dirty="0"/>
              <a:t>Abril = macro (liberation day)</a:t>
            </a:r>
          </a:p>
          <a:p>
            <a:pPr marL="1543050" lvl="3" indent="-171450">
              <a:buFont typeface="Arial" panose="020B0604020202020204" pitchFamily="34" charset="0"/>
              <a:buChar char="•"/>
            </a:pPr>
            <a:r>
              <a:rPr lang="en-US" dirty="0"/>
              <a:t>Maio = earnings dispersion </a:t>
            </a:r>
            <a:r>
              <a:rPr lang="en-US" dirty="0" err="1"/>
              <a:t>foi</a:t>
            </a:r>
            <a:r>
              <a:rPr lang="en-US" dirty="0"/>
              <a:t> </a:t>
            </a:r>
            <a:r>
              <a:rPr lang="en-US" dirty="0" err="1"/>
              <a:t>notavel</a:t>
            </a:r>
            <a:r>
              <a:rPr lang="en-US" dirty="0"/>
              <a:t> mas index-level vol </a:t>
            </a:r>
            <a:r>
              <a:rPr lang="en-US" dirty="0" err="1"/>
              <a:t>foi</a:t>
            </a:r>
            <a:r>
              <a:rPr lang="en-US" dirty="0"/>
              <a:t> muted = single-name volatility. Se </a:t>
            </a:r>
            <a:r>
              <a:rPr lang="en-US" dirty="0" err="1"/>
              <a:t>ver</a:t>
            </a:r>
            <a:r>
              <a:rPr lang="en-US" dirty="0"/>
              <a:t> a </a:t>
            </a:r>
            <a:r>
              <a:rPr lang="en-US" dirty="0" err="1"/>
              <a:t>distribuicao</a:t>
            </a:r>
            <a:r>
              <a:rPr lang="en-US" dirty="0"/>
              <a:t>, </a:t>
            </a:r>
            <a:r>
              <a:rPr lang="en-US" dirty="0" err="1"/>
              <a:t>maioria</a:t>
            </a:r>
            <a:r>
              <a:rPr lang="en-US" dirty="0"/>
              <a:t> dos </a:t>
            </a:r>
            <a:r>
              <a:rPr lang="en-US" dirty="0" err="1"/>
              <a:t>nomes</a:t>
            </a:r>
            <a:r>
              <a:rPr lang="en-US" dirty="0"/>
              <a:t> </a:t>
            </a:r>
            <a:r>
              <a:rPr lang="en-US" dirty="0" err="1"/>
              <a:t>tiveram</a:t>
            </a:r>
            <a:r>
              <a:rPr lang="en-US" dirty="0"/>
              <a:t> muted moves. Leptokurtic distribution.</a:t>
            </a:r>
          </a:p>
          <a:p>
            <a:pPr marL="1085850" lvl="2" indent="-171450">
              <a:buFont typeface="Arial" panose="020B0604020202020204" pitchFamily="34" charset="0"/>
              <a:buChar char="•"/>
            </a:pPr>
            <a:r>
              <a:rPr lang="en-US" dirty="0"/>
              <a:t>Move dos </a:t>
            </a:r>
            <a:r>
              <a:rPr lang="en-US" dirty="0" err="1"/>
              <a:t>setores</a:t>
            </a:r>
            <a:r>
              <a:rPr lang="en-US" dirty="0"/>
              <a:t> </a:t>
            </a:r>
            <a:r>
              <a:rPr lang="en-US" dirty="0" err="1"/>
              <a:t>corrobora</a:t>
            </a:r>
            <a:r>
              <a:rPr lang="en-US" dirty="0"/>
              <a:t> </a:t>
            </a:r>
            <a:r>
              <a:rPr lang="en-US" dirty="0" err="1"/>
              <a:t>isso</a:t>
            </a:r>
            <a:endParaRPr lang="en-US" dirty="0"/>
          </a:p>
          <a:p>
            <a:pPr marL="1543050" lvl="3" indent="-171450">
              <a:buFont typeface="Arial" panose="020B0604020202020204" pitchFamily="34" charset="0"/>
              <a:buChar char="•"/>
            </a:pPr>
            <a:r>
              <a:rPr lang="en-US" dirty="0" err="1"/>
              <a:t>Maioria</a:t>
            </a:r>
            <a:r>
              <a:rPr lang="en-US" dirty="0"/>
              <a:t> </a:t>
            </a:r>
            <a:r>
              <a:rPr lang="en-US" dirty="0" err="1"/>
              <a:t>foi</a:t>
            </a:r>
            <a:r>
              <a:rPr lang="en-US" dirty="0"/>
              <a:t> </a:t>
            </a:r>
            <a:r>
              <a:rPr lang="en-US" dirty="0" err="1"/>
              <a:t>positivo</a:t>
            </a:r>
            <a:r>
              <a:rPr lang="en-US" dirty="0"/>
              <a:t>, ok, mas </a:t>
            </a:r>
            <a:r>
              <a:rPr lang="en-US" dirty="0" err="1"/>
              <a:t>maioria</a:t>
            </a:r>
            <a:r>
              <a:rPr lang="en-US" dirty="0"/>
              <a:t> </a:t>
            </a:r>
            <a:r>
              <a:rPr lang="en-US" dirty="0" err="1"/>
              <a:t>ficou</a:t>
            </a:r>
            <a:r>
              <a:rPr lang="en-US" dirty="0"/>
              <a:t> entre +-1.5% = muted.</a:t>
            </a:r>
          </a:p>
          <a:p>
            <a:pPr marL="628650" lvl="1" indent="-171450">
              <a:buFont typeface="Arial" panose="020B0604020202020204" pitchFamily="34" charset="0"/>
              <a:buChar char="•"/>
            </a:pPr>
            <a:r>
              <a:rPr lang="en-US" dirty="0" err="1"/>
              <a:t>Conclusao</a:t>
            </a:r>
            <a:endParaRPr lang="en-US" dirty="0"/>
          </a:p>
          <a:p>
            <a:pPr marL="1085850" lvl="2" indent="-171450">
              <a:buFont typeface="Arial" panose="020B0604020202020204" pitchFamily="34" charset="0"/>
              <a:buChar char="•"/>
            </a:pPr>
            <a:r>
              <a:rPr lang="en-US" dirty="0"/>
              <a:t>1Q25 = stock picking quarter</a:t>
            </a:r>
          </a:p>
          <a:p>
            <a:pPr marL="1543050" lvl="3" indent="-171450">
              <a:buFont typeface="Arial" panose="020B0604020202020204" pitchFamily="34" charset="0"/>
              <a:buChar char="•"/>
            </a:pPr>
            <a:r>
              <a:rPr lang="en-US" dirty="0"/>
              <a:t>Low index vol</a:t>
            </a:r>
          </a:p>
          <a:p>
            <a:pPr marL="1543050" lvl="3" indent="-171450">
              <a:buFont typeface="Arial" panose="020B0604020202020204" pitchFamily="34" charset="0"/>
              <a:buChar char="•"/>
            </a:pPr>
            <a:r>
              <a:rPr lang="en-US" dirty="0"/>
              <a:t>High single name vol</a:t>
            </a:r>
          </a:p>
          <a:p>
            <a:pPr marL="1543050" lvl="3" indent="-171450">
              <a:buFont typeface="Arial" panose="020B0604020202020204" pitchFamily="34" charset="0"/>
              <a:buChar char="•"/>
            </a:pPr>
            <a:endParaRPr lang="en-US" dirty="0"/>
          </a:p>
          <a:p>
            <a:pPr marL="171450" lvl="0" indent="-171450">
              <a:buFont typeface="Arial" panose="020B0604020202020204" pitchFamily="34" charset="0"/>
              <a:buChar char="•"/>
            </a:pPr>
            <a:endParaRPr lang="en-US" dirty="0"/>
          </a:p>
          <a:p>
            <a:pPr marL="628650" lvl="1"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31984EC9-51C0-4BB7-A48B-D32011637DBD}" type="slidenum">
              <a:rPr lang="en-US" smtClean="0"/>
              <a:t>6</a:t>
            </a:fld>
            <a:endParaRPr lang="en-US"/>
          </a:p>
        </p:txBody>
      </p:sp>
    </p:spTree>
    <p:extLst>
      <p:ext uri="{BB962C8B-B14F-4D97-AF65-F5344CB8AC3E}">
        <p14:creationId xmlns:p14="http://schemas.microsoft.com/office/powerpoint/2010/main" val="1849933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90600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16692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1317ACB7-2FA3-4A8F-B41F-00E0C34F3D4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9A2B5105-3BCD-473A-8846-59E0A6B2C30F}" type="datetime4">
              <a:rPr lang="pt-BR" smtClean="0"/>
              <a:t>21 de julho de 2026</a:t>
            </a:fld>
            <a:endParaRPr lang="en-US" dirty="0"/>
          </a:p>
        </p:txBody>
      </p:sp>
      <p:sp>
        <p:nvSpPr>
          <p:cNvPr id="35" name="Espaço Reservado para Texto 6">
            <a:extLst>
              <a:ext uri="{FF2B5EF4-FFF2-40B4-BE49-F238E27FC236}">
                <a16:creationId xmlns:a16="http://schemas.microsoft.com/office/drawing/2014/main" id="{D9E4FCAE-0E04-40BA-9535-EEA6DC6588AA}"/>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C6BEEAFD-6517-4B3A-98C6-5CE200725C9A}"/>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CFD8B131-5708-4896-A463-986532CD0997}"/>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468801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Date Placeholder 20">
            <a:extLst>
              <a:ext uri="{FF2B5EF4-FFF2-40B4-BE49-F238E27FC236}">
                <a16:creationId xmlns:a16="http://schemas.microsoft.com/office/drawing/2014/main" id="{BE40CF6C-74CA-4119-8657-718B3FCF708A}"/>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D770FFC0-B7D4-43A7-BE90-6366F329DA93}" type="datetime4">
              <a:rPr lang="pt-BR" smtClean="0"/>
              <a:t>21 de julho de 2026</a:t>
            </a:fld>
            <a:endParaRPr lang="en-US" dirty="0"/>
          </a:p>
        </p:txBody>
      </p:sp>
      <p:sp>
        <p:nvSpPr>
          <p:cNvPr id="35" name="Espaço Reservado para Texto 6">
            <a:extLst>
              <a:ext uri="{FF2B5EF4-FFF2-40B4-BE49-F238E27FC236}">
                <a16:creationId xmlns:a16="http://schemas.microsoft.com/office/drawing/2014/main" id="{1E6F56E5-318E-4118-8DDA-A5CA45A77597}"/>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36" name="Espaço Reservado para Texto 6">
            <a:extLst>
              <a:ext uri="{FF2B5EF4-FFF2-40B4-BE49-F238E27FC236}">
                <a16:creationId xmlns:a16="http://schemas.microsoft.com/office/drawing/2014/main" id="{1E73CCC6-0687-4130-B81B-BB5AE9569FAF}"/>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a:t>
            </a:r>
            <a:r>
              <a:rPr lang="pt-BR" dirty="0" err="1"/>
              <a:t>edxxitar</a:t>
            </a:r>
            <a:r>
              <a:rPr lang="pt-BR" dirty="0"/>
              <a:t> o texto mestre</a:t>
            </a:r>
          </a:p>
        </p:txBody>
      </p:sp>
      <p:sp>
        <p:nvSpPr>
          <p:cNvPr id="37" name="Espaço Reservado para Texto 6">
            <a:extLst>
              <a:ext uri="{FF2B5EF4-FFF2-40B4-BE49-F238E27FC236}">
                <a16:creationId xmlns:a16="http://schemas.microsoft.com/office/drawing/2014/main" id="{0A23ECE4-9B2D-4440-AF9B-8D400D9C8385}"/>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06224213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27" name="Date Placeholder 20">
            <a:extLst>
              <a:ext uri="{FF2B5EF4-FFF2-40B4-BE49-F238E27FC236}">
                <a16:creationId xmlns:a16="http://schemas.microsoft.com/office/drawing/2014/main" id="{3CFE2718-552D-4895-B7F5-1F81E5DEF09B}"/>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4CB44A80-845A-475C-895C-38CF18EDAB8E}" type="datetime4">
              <a:rPr lang="pt-BR" smtClean="0"/>
              <a:t>21 de julho de 2026</a:t>
            </a:fld>
            <a:endParaRPr lang="en-US" dirty="0"/>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3" y="988484"/>
            <a:ext cx="6112355"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3" y="2150952"/>
            <a:ext cx="6113677"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4" y="4060055"/>
            <a:ext cx="6099546" cy="3349806"/>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422"/>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Texto 6">
            <a:extLst>
              <a:ext uri="{FF2B5EF4-FFF2-40B4-BE49-F238E27FC236}">
                <a16:creationId xmlns:a16="http://schemas.microsoft.com/office/drawing/2014/main" id="{B54F2371-4029-49C8-9052-6B6BC6F10604}"/>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6" name="Espaço Reservado para Texto 6">
            <a:extLst>
              <a:ext uri="{FF2B5EF4-FFF2-40B4-BE49-F238E27FC236}">
                <a16:creationId xmlns:a16="http://schemas.microsoft.com/office/drawing/2014/main" id="{429C2E0A-5D74-471B-9FCE-9C25B248818E}"/>
              </a:ext>
            </a:extLst>
          </p:cNvPr>
          <p:cNvSpPr>
            <a:spLocks noGrp="1"/>
          </p:cNvSpPr>
          <p:nvPr>
            <p:ph type="body" sz="quarter" idx="2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C8553583-CA95-4D8E-AFB1-B92DC71C9BE5}"/>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userDrawn="1">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userDrawn="1">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userDrawn="1">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userDrawn="1">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A2555597-A3D4-41F4-B654-757A01013F4F}" type="datetime4">
              <a:rPr lang="pt-BR" smtClean="0"/>
              <a:t>21 de julho de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951973" y="2150952"/>
            <a:ext cx="0" cy="1772766"/>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6BA2B197-504D-4D14-9FFE-83CCFB68CF27}"/>
              </a:ext>
            </a:extLst>
          </p:cNvPr>
          <p:cNvSpPr>
            <a:spLocks noGrp="1"/>
          </p:cNvSpPr>
          <p:nvPr>
            <p:ph type="body" sz="quarter" idx="26" hasCustomPrompt="1"/>
          </p:nvPr>
        </p:nvSpPr>
        <p:spPr>
          <a:xfrm>
            <a:off x="822325"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7" name="Espaço Reservado para Texto 6">
            <a:extLst>
              <a:ext uri="{FF2B5EF4-FFF2-40B4-BE49-F238E27FC236}">
                <a16:creationId xmlns:a16="http://schemas.microsoft.com/office/drawing/2014/main" id="{86EF7019-8945-4B32-85D1-9979F8FCD2E4}"/>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277550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6" name="Date Placeholder 1">
            <a:extLst>
              <a:ext uri="{FF2B5EF4-FFF2-40B4-BE49-F238E27FC236}">
                <a16:creationId xmlns:a16="http://schemas.microsoft.com/office/drawing/2014/main" id="{3B4501E0-2CFF-4239-9520-A5B3FF88FAB7}"/>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191FEC7C-F207-4E05-A234-0CC975757D3E}" type="datetime4">
              <a:rPr lang="pt-BR" smtClean="0"/>
              <a:t>21 de julho de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userDrawn="1">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userDrawn="1">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27740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DC264199-65F3-45B7-A679-6FDC932AC7D0}"/>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8" name="Espaço Reservado para Texto 6">
            <a:extLst>
              <a:ext uri="{FF2B5EF4-FFF2-40B4-BE49-F238E27FC236}">
                <a16:creationId xmlns:a16="http://schemas.microsoft.com/office/drawing/2014/main" id="{9DCB93D0-E61E-430D-9F36-5F0D26015BB2}"/>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55445898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userDrawn="1">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userDrawn="1">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Date Placeholder 20">
            <a:extLst>
              <a:ext uri="{FF2B5EF4-FFF2-40B4-BE49-F238E27FC236}">
                <a16:creationId xmlns:a16="http://schemas.microsoft.com/office/drawing/2014/main" id="{B077F716-3648-4986-B642-EBB8EACA0CA3}"/>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D17F0CD1-302D-4F36-8957-62F93505F65C}" type="datetime4">
              <a:rPr lang="pt-BR" smtClean="0"/>
              <a:t>21 de julho de 2026</a:t>
            </a:fld>
            <a:endParaRPr lang="en-US" dirty="0"/>
          </a:p>
        </p:txBody>
      </p:sp>
      <p:sp>
        <p:nvSpPr>
          <p:cNvPr id="37" name="Espaço Reservado para Texto 6">
            <a:extLst>
              <a:ext uri="{FF2B5EF4-FFF2-40B4-BE49-F238E27FC236}">
                <a16:creationId xmlns:a16="http://schemas.microsoft.com/office/drawing/2014/main" id="{D486432B-6611-4D66-9BE0-78F2DF17D3B9}"/>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6" name="Espaço Reservado para Texto 6">
            <a:extLst>
              <a:ext uri="{FF2B5EF4-FFF2-40B4-BE49-F238E27FC236}">
                <a16:creationId xmlns:a16="http://schemas.microsoft.com/office/drawing/2014/main" id="{AF036FFC-BAB5-47BE-A9DB-8B1C65BD75B2}"/>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4D1590AF-1353-4F4C-B98C-05C375BBBA92}"/>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1595778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1" name="Freeform: Shape 40">
            <a:extLst>
              <a:ext uri="{FF2B5EF4-FFF2-40B4-BE49-F238E27FC236}">
                <a16:creationId xmlns:a16="http://schemas.microsoft.com/office/drawing/2014/main" id="{9CAD89BC-209F-4A84-B643-8391FE84FD63}"/>
              </a:ext>
            </a:extLst>
          </p:cNvPr>
          <p:cNvSpPr/>
          <p:nvPr userDrawn="1"/>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sp>
        <p:nvSpPr>
          <p:cNvPr id="52" name="Espaço Reservado para Texto 6">
            <a:extLst>
              <a:ext uri="{FF2B5EF4-FFF2-40B4-BE49-F238E27FC236}">
                <a16:creationId xmlns:a16="http://schemas.microsoft.com/office/drawing/2014/main" id="{B4234437-C19A-4839-88DC-46D48AF5A2C4}"/>
              </a:ext>
            </a:extLst>
          </p:cNvPr>
          <p:cNvSpPr>
            <a:spLocks noGrp="1"/>
          </p:cNvSpPr>
          <p:nvPr userDrawn="1">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userDrawn="1">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userDrawn="1">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61" name="Text Placeholder 4">
            <a:extLst>
              <a:ext uri="{FF2B5EF4-FFF2-40B4-BE49-F238E27FC236}">
                <a16:creationId xmlns:a16="http://schemas.microsoft.com/office/drawing/2014/main" id="{318E1824-F862-4308-8D14-9073C9CBAABB}"/>
              </a:ext>
            </a:extLst>
          </p:cNvPr>
          <p:cNvSpPr>
            <a:spLocks noGrp="1"/>
          </p:cNvSpPr>
          <p:nvPr userDrawn="1">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userDrawn="1">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userDrawn="1">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userDrawn="1">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userDrawn="1">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userDrawn="1">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userDrawn="1">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userDrawn="1">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userDrawn="1">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userDrawn="1">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userDrawn="1">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userDrawn="1">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userDrawn="1">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userDrawn="1">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userDrawn="1">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Date Placeholder 20">
            <a:extLst>
              <a:ext uri="{FF2B5EF4-FFF2-40B4-BE49-F238E27FC236}">
                <a16:creationId xmlns:a16="http://schemas.microsoft.com/office/drawing/2014/main" id="{293DBD93-4868-4A4F-968E-94E04CD6E42E}"/>
              </a:ext>
            </a:extLst>
          </p:cNvPr>
          <p:cNvSpPr>
            <a:spLocks noGrp="1"/>
          </p:cNvSpPr>
          <p:nvPr userDrawn="1">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fld id="{B4953160-0EF4-4163-B22D-D39FE88896E0}" type="datetime4">
              <a:rPr lang="pt-BR" smtClean="0"/>
              <a:t>21 de julho de 2026</a:t>
            </a:fld>
            <a:endParaRPr lang="en-US" dirty="0"/>
          </a:p>
        </p:txBody>
      </p:sp>
      <p:sp>
        <p:nvSpPr>
          <p:cNvPr id="54" name="Espaço Reservado para Texto 6">
            <a:extLst>
              <a:ext uri="{FF2B5EF4-FFF2-40B4-BE49-F238E27FC236}">
                <a16:creationId xmlns:a16="http://schemas.microsoft.com/office/drawing/2014/main" id="{B7FF09E0-DBB2-4C05-980D-A1B9EC23C136}"/>
              </a:ext>
            </a:extLst>
          </p:cNvPr>
          <p:cNvSpPr>
            <a:spLocks noGrp="1"/>
          </p:cNvSpPr>
          <p:nvPr userDrawn="1">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59" name="Espaço Reservado para Texto 6">
            <a:extLst>
              <a:ext uri="{FF2B5EF4-FFF2-40B4-BE49-F238E27FC236}">
                <a16:creationId xmlns:a16="http://schemas.microsoft.com/office/drawing/2014/main" id="{A830B891-E0B8-4D1D-BB9C-EE29C18F0F6B}"/>
              </a:ext>
            </a:extLst>
          </p:cNvPr>
          <p:cNvSpPr>
            <a:spLocks noGrp="1"/>
          </p:cNvSpPr>
          <p:nvPr userDrawn="1">
            <p:ph type="body" sz="quarter" idx="17" hasCustomPrompt="1"/>
          </p:nvPr>
        </p:nvSpPr>
        <p:spPr>
          <a:xfrm>
            <a:off x="390155" y="1406305"/>
            <a:ext cx="6112352" cy="187200"/>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60" name="Espaço Reservado para Texto 6">
            <a:extLst>
              <a:ext uri="{FF2B5EF4-FFF2-40B4-BE49-F238E27FC236}">
                <a16:creationId xmlns:a16="http://schemas.microsoft.com/office/drawing/2014/main" id="{972B702A-4B13-46BF-832E-0E0CA6D10D39}"/>
              </a:ext>
            </a:extLst>
          </p:cNvPr>
          <p:cNvSpPr>
            <a:spLocks noGrp="1"/>
          </p:cNvSpPr>
          <p:nvPr userDrawn="1">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8362739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a:solidFill>
                  <a:srgbClr val="242424"/>
                </a:solidFill>
                <a:latin typeface="+mj-lt"/>
                <a:ea typeface="XP Light Lighthouse" pitchFamily="50" charset="0"/>
              </a:rPr>
              <a:t>Índice</a:t>
            </a: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grpSp>
        <p:nvGrpSpPr>
          <p:cNvPr id="58" name="Group 57">
            <a:extLst>
              <a:ext uri="{FF2B5EF4-FFF2-40B4-BE49-F238E27FC236}">
                <a16:creationId xmlns:a16="http://schemas.microsoft.com/office/drawing/2014/main" id="{21EC4E3C-94FF-4DEE-BCA5-6C69C79BF726}"/>
              </a:ext>
            </a:extLst>
          </p:cNvPr>
          <p:cNvGrpSpPr/>
          <p:nvPr userDrawn="1"/>
        </p:nvGrpSpPr>
        <p:grpSpPr>
          <a:xfrm>
            <a:off x="0" y="8408987"/>
            <a:ext cx="6858000" cy="1497013"/>
            <a:chOff x="-2701533" y="4131759"/>
            <a:chExt cx="8821930" cy="2757656"/>
          </a:xfrm>
        </p:grpSpPr>
        <p:cxnSp>
          <p:nvCxnSpPr>
            <p:cNvPr id="59" name="Conector reto 7">
              <a:extLst>
                <a:ext uri="{FF2B5EF4-FFF2-40B4-BE49-F238E27FC236}">
                  <a16:creationId xmlns:a16="http://schemas.microsoft.com/office/drawing/2014/main" id="{36127AE7-5949-4D77-9612-72EB21196D4A}"/>
                </a:ext>
              </a:extLst>
            </p:cNvPr>
            <p:cNvCxnSpPr>
              <a:cxnSpLocks/>
            </p:cNvCxnSpPr>
            <p:nvPr userDrawn="1"/>
          </p:nvCxnSpPr>
          <p:spPr>
            <a:xfrm>
              <a:off x="-2701533" y="5750250"/>
              <a:ext cx="882193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0" name="Conector reto 2">
              <a:extLst>
                <a:ext uri="{FF2B5EF4-FFF2-40B4-BE49-F238E27FC236}">
                  <a16:creationId xmlns:a16="http://schemas.microsoft.com/office/drawing/2014/main" id="{4CE8B0B8-0AF5-462B-9CCC-6E9CFFF38D98}"/>
                </a:ext>
              </a:extLst>
            </p:cNvPr>
            <p:cNvCxnSpPr>
              <a:cxnSpLocks/>
            </p:cNvCxnSpPr>
            <p:nvPr userDrawn="1"/>
          </p:nvCxnSpPr>
          <p:spPr>
            <a:xfrm flipH="1">
              <a:off x="4033407" y="4131759"/>
              <a:ext cx="2086990" cy="275765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2859542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Freeform: Shape 52">
            <a:extLst>
              <a:ext uri="{FF2B5EF4-FFF2-40B4-BE49-F238E27FC236}">
                <a16:creationId xmlns:a16="http://schemas.microsoft.com/office/drawing/2014/main" id="{C0D7674D-49E8-4FD1-8EE6-775A8BFD963D}"/>
              </a:ext>
            </a:extLst>
          </p:cNvPr>
          <p:cNvSpPr/>
          <p:nvPr/>
        </p:nvSpPr>
        <p:spPr>
          <a:xfrm>
            <a:off x="390154" y="406178"/>
            <a:ext cx="379041" cy="34191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accent1"/>
          </a:solidFill>
          <a:ln w="6350" cap="flat">
            <a:noFill/>
            <a:prstDash val="solid"/>
            <a:miter/>
          </a:ln>
        </p:spPr>
        <p:txBody>
          <a:bodyPr rtlCol="0" anchor="ctr"/>
          <a:lstStyle/>
          <a:p>
            <a:endParaRPr lang="en-US"/>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3"/>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76642793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836973"/>
            <a:ext cx="6105737" cy="7630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48355"/>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22AA90C-E900-4ED3-BFA9-BB805E20C8AA}"/>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20">
            <a:extLst>
              <a:ext uri="{FF2B5EF4-FFF2-40B4-BE49-F238E27FC236}">
                <a16:creationId xmlns:a16="http://schemas.microsoft.com/office/drawing/2014/main" id="{D3568A36-7D9D-4213-A2B6-805717509389}"/>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E34D8C6-ED95-4A26-A689-3BAC30EAC505}" type="datetime4">
              <a:rPr lang="pt-BR" smtClean="0"/>
              <a:t>21 de julho de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3" name="Espaço Reservado para Texto 6">
            <a:extLst>
              <a:ext uri="{FF2B5EF4-FFF2-40B4-BE49-F238E27FC236}">
                <a16:creationId xmlns:a16="http://schemas.microsoft.com/office/drawing/2014/main" id="{0B9E0035-3D29-4A50-87B9-CF1CCFAD2098}"/>
              </a:ext>
            </a:extLst>
          </p:cNvPr>
          <p:cNvSpPr>
            <a:spLocks noGrp="1"/>
          </p:cNvSpPr>
          <p:nvPr>
            <p:ph type="body" sz="quarter" idx="26"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4" name="Date Placeholder 20">
            <a:extLst>
              <a:ext uri="{FF2B5EF4-FFF2-40B4-BE49-F238E27FC236}">
                <a16:creationId xmlns:a16="http://schemas.microsoft.com/office/drawing/2014/main" id="{1B783E2F-C70B-4B03-9D46-E871E069EA4E}"/>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DD42E559-2F6F-44A9-86C6-7EA96CA16BA1}" type="datetime4">
              <a:rPr lang="pt-BR" smtClean="0"/>
              <a:t>21 de julho de 2026</a:t>
            </a:fld>
            <a:endParaRPr lang="en-US" dirty="0"/>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6" name="Espaço Reservado para Texto 6">
            <a:extLst>
              <a:ext uri="{FF2B5EF4-FFF2-40B4-BE49-F238E27FC236}">
                <a16:creationId xmlns:a16="http://schemas.microsoft.com/office/drawing/2014/main" id="{A42CB95F-345D-4DC7-8B91-57C326B11796}"/>
              </a:ext>
            </a:extLst>
          </p:cNvPr>
          <p:cNvSpPr>
            <a:spLocks noGrp="1"/>
          </p:cNvSpPr>
          <p:nvPr>
            <p:ph type="body" sz="quarter" idx="32"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19" name="Date Placeholder 20">
            <a:extLst>
              <a:ext uri="{FF2B5EF4-FFF2-40B4-BE49-F238E27FC236}">
                <a16:creationId xmlns:a16="http://schemas.microsoft.com/office/drawing/2014/main" id="{6BFE4986-E532-49BD-986A-23436161932A}"/>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8D262EC-693D-40A4-8F94-3965D63FDC18}" type="datetime4">
              <a:rPr lang="pt-BR" smtClean="0"/>
              <a:t>21 de julho de 2026</a:t>
            </a:fld>
            <a:endParaRPr lang="en-US" dirty="0"/>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51610" y="1821656"/>
            <a:ext cx="2950898" cy="375489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9446A3E0-D20A-4444-A6E6-9A289C2BDEB5}"/>
              </a:ext>
            </a:extLst>
          </p:cNvPr>
          <p:cNvSpPr>
            <a:spLocks noGrp="1"/>
          </p:cNvSpPr>
          <p:nvPr>
            <p:ph type="body" sz="quarter" idx="29" hasCustomPrompt="1"/>
          </p:nvPr>
        </p:nvSpPr>
        <p:spPr>
          <a:xfrm>
            <a:off x="822326" y="9548813"/>
            <a:ext cx="54514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20">
            <a:extLst>
              <a:ext uri="{FF2B5EF4-FFF2-40B4-BE49-F238E27FC236}">
                <a16:creationId xmlns:a16="http://schemas.microsoft.com/office/drawing/2014/main" id="{192EE3E3-9B37-40F8-A8BE-C0FA7BB86A5D}"/>
              </a:ext>
            </a:extLst>
          </p:cNvPr>
          <p:cNvSpPr>
            <a:spLocks noGrp="1"/>
          </p:cNvSpPr>
          <p:nvPr>
            <p:ph type="dt" sz="half" idx="2"/>
          </p:nvPr>
        </p:nvSpPr>
        <p:spPr>
          <a:xfrm>
            <a:off x="3975100" y="438763"/>
            <a:ext cx="251460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02845B1-AB68-40C1-A69E-713D5524A244}" type="datetime4">
              <a:rPr lang="pt-BR" smtClean="0"/>
              <a:t>21 de julho de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CB23BCCF-FEC6-458A-A4DC-98116231E5FD}"/>
              </a:ext>
            </a:extLst>
          </p:cNvPr>
          <p:cNvSpPr>
            <a:spLocks noGrp="1"/>
          </p:cNvSpPr>
          <p:nvPr>
            <p:ph type="body" sz="quarter" idx="31" hasCustomPrompt="1"/>
          </p:nvPr>
        </p:nvSpPr>
        <p:spPr>
          <a:xfrm>
            <a:off x="1000126" y="9548813"/>
            <a:ext cx="5273674"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2" name="Date Placeholder 20">
            <a:extLst>
              <a:ext uri="{FF2B5EF4-FFF2-40B4-BE49-F238E27FC236}">
                <a16:creationId xmlns:a16="http://schemas.microsoft.com/office/drawing/2014/main" id="{3F0710D4-8EE9-42DA-9DB8-7CAFDD337A6F}"/>
              </a:ext>
            </a:extLst>
          </p:cNvPr>
          <p:cNvSpPr>
            <a:spLocks noGrp="1"/>
          </p:cNvSpPr>
          <p:nvPr>
            <p:ph type="dt" sz="half" idx="2"/>
          </p:nvPr>
        </p:nvSpPr>
        <p:spPr>
          <a:xfrm>
            <a:off x="3968750" y="438763"/>
            <a:ext cx="2520950"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5D3DBCA-A47B-431F-B31D-88A1DE348021}" type="datetime4">
              <a:rPr lang="pt-BR" smtClean="0"/>
              <a:t>21 de julho de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1947"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31947"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31947"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36387CD8-F6C2-4025-8B4E-17000CA026F2}"/>
              </a:ext>
            </a:extLst>
          </p:cNvPr>
          <p:cNvSpPr>
            <a:spLocks noGrp="1"/>
          </p:cNvSpPr>
          <p:nvPr>
            <p:ph type="body" sz="quarter" idx="31" hasCustomPrompt="1"/>
          </p:nvPr>
        </p:nvSpPr>
        <p:spPr>
          <a:xfrm>
            <a:off x="822325" y="9548813"/>
            <a:ext cx="5451475"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3" name="Date Placeholder 20">
            <a:extLst>
              <a:ext uri="{FF2B5EF4-FFF2-40B4-BE49-F238E27FC236}">
                <a16:creationId xmlns:a16="http://schemas.microsoft.com/office/drawing/2014/main" id="{5521EB93-43B9-4EE7-8C2B-E35F08C08B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3CD82A51-45D7-4C4D-A1B6-0188C5EDDF24}" type="datetime4">
              <a:rPr lang="pt-BR" smtClean="0"/>
              <a:t>21 de julho de 2026</a:t>
            </a:fld>
            <a:endParaRPr lang="en-US" dirty="0"/>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AD13B4C-B49F-4092-9DBA-2394428B25B7}" type="datetime4">
              <a:rPr lang="pt-BR" smtClean="0"/>
              <a:t>21 de julho de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796249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lstStyle>
            <a:lvl1pPr lvl="0" indent="0" defTabSz="385767">
              <a:lnSpc>
                <a:spcPct val="90000"/>
              </a:lnSpc>
              <a:spcBef>
                <a:spcPts val="422"/>
              </a:spcBef>
              <a:buFont typeface="Arial" panose="020B0604020202020204" pitchFamily="34" charset="0"/>
              <a:buNone/>
              <a:defRPr sz="1900" b="1" spc="0">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561FCC5-C677-407E-81B6-5755D1BD05BB}" type="datetime4">
              <a:rPr lang="pt-BR" smtClean="0"/>
              <a:t>21 de julho de 2026</a:t>
            </a:fld>
            <a:endParaRPr lang="en-US" dirty="0"/>
          </a:p>
        </p:txBody>
      </p:sp>
      <p:sp>
        <p:nvSpPr>
          <p:cNvPr id="6" name="TextBox 5">
            <a:extLst>
              <a:ext uri="{FF2B5EF4-FFF2-40B4-BE49-F238E27FC236}">
                <a16:creationId xmlns:a16="http://schemas.microsoft.com/office/drawing/2014/main" id="{672EAF91-E2AF-77BA-3219-F0BA27ACC983}"/>
              </a:ext>
            </a:extLst>
          </p:cNvPr>
          <p:cNvSpPr txBox="1"/>
          <p:nvPr userDrawn="1"/>
        </p:nvSpPr>
        <p:spPr>
          <a:xfrm>
            <a:off x="390153" y="1099025"/>
            <a:ext cx="6099546" cy="829714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foi elaborado considerando a classificação de risco dos produtos de modo a gerar resultados de alocação para cada perfil de investidor.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signatário(</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a:t>
            </a:r>
            <a:r>
              <a:rPr lang="pt-BR" sz="700" b="0" kern="1200" spc="-10" baseline="0" dirty="0">
                <a:solidFill>
                  <a:schemeClr val="tx2"/>
                </a:solidFill>
                <a:effectLst/>
                <a:latin typeface="XP" pitchFamily="2" charset="77"/>
                <a:ea typeface="XP" pitchFamily="2" charset="77"/>
                <a:cs typeface="Roboto Light" panose="02000000000000000000" pitchFamily="2" charset="0"/>
              </a:rPr>
              <a:t>) remuneração(es) é(são) indiretamente influenciada por receitas provenientes dos negócios e operações financeiras realizadas pela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Suitability</a:t>
            </a:r>
            <a:r>
              <a:rPr lang="pt-BR" sz="700" b="0" kern="1200" spc="-10" baseline="0" dirty="0">
                <a:solidFill>
                  <a:schemeClr val="tx2"/>
                </a:solidFill>
                <a:effectLst/>
                <a:latin typeface="XP" pitchFamily="2" charset="77"/>
                <a:ea typeface="XP" pitchFamily="2" charset="77"/>
                <a:cs typeface="Roboto Light" panose="02000000000000000000" pitchFamily="2"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custo da operação e a política de cobrança estão definidos nas tabelas de custos operacionais disponibilizadas no site da XP Investimentos: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www.xpi.com.br</a:t>
            </a:r>
            <a:r>
              <a:rPr lang="pt-BR" sz="700" b="0" kern="1200" spc="-10" baseline="0" dirty="0">
                <a:solidFill>
                  <a:schemeClr val="tx2"/>
                </a:solidFill>
                <a:effectLst/>
                <a:latin typeface="XP" pitchFamily="2" charset="77"/>
                <a:ea typeface="XP" pitchFamily="2" charset="77"/>
                <a:cs typeface="Roboto Light" panose="02000000000000000000" pitchFamily="2" charset="0"/>
              </a:rPr>
              <a:t>.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XP Investimentos se exime de qualquer responsabilidade por quaisquer prejuízos, diretos ou indiretos, que venham a decorrer da utilização deste relatório ou seu conteúdo.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 Avaliação Técnica e a Avaliação de Fundamentos seguem diferentes metodologias de análise. A Análise Técnica é executada seguindo conceitos como tendência, suporte, resistência,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candles</a:t>
            </a:r>
            <a:r>
              <a:rPr lang="pt-BR" sz="700" b="0" kern="1200" spc="-10" baseline="0" dirty="0">
                <a:solidFill>
                  <a:schemeClr val="tx2"/>
                </a:solidFill>
                <a:effectLst/>
                <a:latin typeface="XP" pitchFamily="2" charset="77"/>
                <a:ea typeface="XP" pitchFamily="2" charset="77"/>
                <a:cs typeface="Roboto Light" panose="02000000000000000000" pitchFamily="2"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stops</a:t>
            </a:r>
            <a:r>
              <a:rPr lang="pt-BR" sz="700" b="0" kern="1200" spc="-10" baseline="0" dirty="0">
                <a:solidFill>
                  <a:schemeClr val="tx2"/>
                </a:solidFill>
                <a:effectLst/>
                <a:latin typeface="XP" pitchFamily="2" charset="77"/>
                <a:ea typeface="XP" pitchFamily="2" charset="77"/>
                <a:cs typeface="Roboto Light" panose="02000000000000000000" pitchFamily="2" charset="0"/>
              </a:rPr>
              <a:t>” para limitar as possíveis perdas.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opções é preferencialmente indicado para investidores de perfil agressivo, de acordo com a política de </a:t>
            </a:r>
            <a:r>
              <a:rPr lang="pt-BR" sz="700" b="0" kern="1200" spc="-10" baseline="0" dirty="0" err="1">
                <a:solidFill>
                  <a:schemeClr val="tx2"/>
                </a:solidFill>
                <a:effectLst/>
                <a:latin typeface="XP" pitchFamily="2" charset="77"/>
                <a:ea typeface="XP" pitchFamily="2" charset="77"/>
                <a:cs typeface="Roboto Light" panose="02000000000000000000" pitchFamily="2" charset="0"/>
              </a:rPr>
              <a:t>suitability</a:t>
            </a:r>
            <a:r>
              <a:rPr lang="pt-BR" sz="700" b="0" kern="1200" spc="-10" baseline="0" dirty="0">
                <a:solidFill>
                  <a:schemeClr val="tx2"/>
                </a:solidFill>
                <a:effectLst/>
                <a:latin typeface="XP" pitchFamily="2" charset="77"/>
                <a:ea typeface="XP" pitchFamily="2" charset="77"/>
                <a:cs typeface="Roboto Light" panose="02000000000000000000" pitchFamily="2"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342900" marR="0" lvl="0" indent="-342900" algn="just" defTabSz="914400" rtl="0" eaLnBrk="1" fontAlgn="auto" latinLnBrk="0" hangingPunct="1">
              <a:lnSpc>
                <a:spcPct val="100000"/>
              </a:lnSpc>
              <a:spcBef>
                <a:spcPts val="0"/>
              </a:spcBef>
              <a:spcAft>
                <a:spcPts val="100"/>
              </a:spcAft>
              <a:buClrTx/>
              <a:buSzTx/>
              <a:buFont typeface="+mj-lt"/>
              <a:buAutoNum type="arabicPeriod"/>
              <a:tabLst/>
              <a:defRPr/>
            </a:pPr>
            <a:r>
              <a:rPr lang="pt-BR" sz="700" b="0" kern="1200" spc="-10" baseline="0" dirty="0">
                <a:solidFill>
                  <a:schemeClr val="tx2"/>
                </a:solidFill>
                <a:effectLst/>
                <a:latin typeface="XP" pitchFamily="2" charset="77"/>
                <a:ea typeface="XP" pitchFamily="2" charset="77"/>
                <a:cs typeface="Roboto Light" panose="02000000000000000000" pitchFamily="2" charset="0"/>
              </a:rPr>
              <a:t>ESTA INSTITUIÇÃO É ADERENTE AO CÓDIGO ANBIMA DE DISTRIBUIÇÃO DE PRODUTOS DE INVESTIMENTO.</a:t>
            </a:r>
          </a:p>
        </p:txBody>
      </p:sp>
    </p:spTree>
    <p:extLst>
      <p:ext uri="{BB962C8B-B14F-4D97-AF65-F5344CB8AC3E}">
        <p14:creationId xmlns:p14="http://schemas.microsoft.com/office/powerpoint/2010/main" val="222149002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438" y="0"/>
            <a:ext cx="6858438"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65203" y="9198690"/>
            <a:ext cx="924497" cy="213562"/>
          </a:xfrm>
          <a:prstGeom prst="rect">
            <a:avLst/>
          </a:prstGeom>
        </p:spPr>
      </p:pic>
      <p:sp>
        <p:nvSpPr>
          <p:cNvPr id="51" name="Freeform: Shape 50">
            <a:extLst>
              <a:ext uri="{FF2B5EF4-FFF2-40B4-BE49-F238E27FC236}">
                <a16:creationId xmlns:a16="http://schemas.microsoft.com/office/drawing/2014/main" id="{4B5EB41B-6E79-481E-A6C7-0CE249B9C220}"/>
              </a:ext>
            </a:extLst>
          </p:cNvPr>
          <p:cNvSpPr/>
          <p:nvPr/>
        </p:nvSpPr>
        <p:spPr>
          <a:xfrm>
            <a:off x="3073401" y="4632236"/>
            <a:ext cx="711200" cy="64152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212080471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aixaDeTexto 9">
            <a:extLst>
              <a:ext uri="{FF2B5EF4-FFF2-40B4-BE49-F238E27FC236}">
                <a16:creationId xmlns:a16="http://schemas.microsoft.com/office/drawing/2014/main" id="{121B26EB-04F5-4040-8B99-4DC605D90FD8}"/>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3" name="Conector Reto 170">
            <a:extLst>
              <a:ext uri="{FF2B5EF4-FFF2-40B4-BE49-F238E27FC236}">
                <a16:creationId xmlns:a16="http://schemas.microsoft.com/office/drawing/2014/main" id="{E445F333-EB7A-43BD-A623-5BA87BD7F471}"/>
              </a:ext>
            </a:extLst>
          </p:cNvPr>
          <p:cNvCxnSpPr>
            <a:cxnSpLocks/>
          </p:cNvCxnSpPr>
          <p:nvPr userDrawn="1"/>
        </p:nvCxnSpPr>
        <p:spPr>
          <a:xfrm flipV="1">
            <a:off x="741267" y="9547232"/>
            <a:ext cx="0" cy="20203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15"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16"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17"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18"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19"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20"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21" name="Date Placeholder 20">
            <a:extLst>
              <a:ext uri="{FF2B5EF4-FFF2-40B4-BE49-F238E27FC236}">
                <a16:creationId xmlns:a16="http://schemas.microsoft.com/office/drawing/2014/main" id="{D02AA3C6-718F-40AC-B743-9453A37CCCB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4574D2C-1FCC-4708-865A-A7D3BB5350F6}" type="datetime4">
              <a:rPr lang="pt-BR" smtClean="0"/>
              <a:t>21 de julho de 2026</a:t>
            </a:fld>
            <a:endParaRPr lang="en-US" dirty="0"/>
          </a:p>
        </p:txBody>
      </p:sp>
      <p:sp>
        <p:nvSpPr>
          <p:cNvPr id="13" name="Freeform: Shape 12">
            <a:extLst>
              <a:ext uri="{FF2B5EF4-FFF2-40B4-BE49-F238E27FC236}">
                <a16:creationId xmlns:a16="http://schemas.microsoft.com/office/drawing/2014/main" id="{C152CD96-C8C5-4BC7-9D4B-F321374D8EF1}"/>
              </a:ext>
            </a:extLst>
          </p:cNvPr>
          <p:cNvSpPr/>
          <p:nvPr userDrawn="1"/>
        </p:nvSpPr>
        <p:spPr>
          <a:xfrm>
            <a:off x="3683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4" name="Espaço Reservado para Texto 6">
            <a:extLst>
              <a:ext uri="{FF2B5EF4-FFF2-40B4-BE49-F238E27FC236}">
                <a16:creationId xmlns:a16="http://schemas.microsoft.com/office/drawing/2014/main" id="{0552A19C-3391-421C-B347-93E860D45439}"/>
              </a:ext>
            </a:extLst>
          </p:cNvPr>
          <p:cNvSpPr txBox="1">
            <a:spLocks/>
          </p:cNvSpPr>
          <p:nvPr userDrawn="1"/>
        </p:nvSpPr>
        <p:spPr>
          <a:xfrm>
            <a:off x="390154" y="438763"/>
            <a:ext cx="2916238"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solidFill>
                  <a:schemeClr val="tx2"/>
                </a:solidFill>
              </a:rPr>
              <a:t>Estratégia</a:t>
            </a:r>
            <a:r>
              <a:rPr lang="en-US" dirty="0">
                <a:solidFill>
                  <a:schemeClr val="tx2"/>
                </a:solidFill>
              </a:rPr>
              <a:t> de </a:t>
            </a:r>
            <a:r>
              <a:rPr lang="en-US" dirty="0" err="1">
                <a:solidFill>
                  <a:schemeClr val="tx2"/>
                </a:solidFill>
              </a:rPr>
              <a:t>ações</a:t>
            </a:r>
            <a:endParaRPr lang="en-US" dirty="0">
              <a:solidFill>
                <a:schemeClr val="tx2"/>
              </a:solidFill>
            </a:endParaRP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724" r:id="rId1"/>
    <p:sldLayoutId id="2147483723" r:id="rId2"/>
    <p:sldLayoutId id="2147483676" r:id="rId3"/>
    <p:sldLayoutId id="2147483700" r:id="rId4"/>
    <p:sldLayoutId id="2147483701" r:id="rId5"/>
    <p:sldLayoutId id="2147483721" r:id="rId6"/>
    <p:sldLayoutId id="2147483722" r:id="rId7"/>
    <p:sldLayoutId id="2147483719" r:id="rId8"/>
    <p:sldLayoutId id="2147483720" r:id="rId9"/>
    <p:sldLayoutId id="2147483699" r:id="rId10"/>
    <p:sldLayoutId id="2147483697" r:id="rId11"/>
    <p:sldLayoutId id="2147483695" r:id="rId12"/>
    <p:sldLayoutId id="2147483696" r:id="rId13"/>
    <p:sldLayoutId id="2147483694" r:id="rId14"/>
    <p:sldLayoutId id="2147483698" r:id="rId15"/>
    <p:sldLayoutId id="2147483725" r:id="rId16"/>
    <p:sldLayoutId id="2147483703" r:id="rId17"/>
    <p:sldLayoutId id="2147483702" r:id="rId18"/>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 Target="slide4.xml"/><Relationship Id="rId3"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chart" Target="../charts/chart5.xml"/><Relationship Id="rId4"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chart" Target="../charts/chart7.xml"/><Relationship Id="rId4" Type="http://schemas.openxmlformats.org/officeDocument/2006/relationships/chart" Target="../charts/char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microsoft.com/office/2014/relationships/chartEx" Target="../charts/chartEx1.xml"/><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DAB028-ABB4-F872-9244-287D3056FF35}"/>
              </a:ext>
            </a:extLst>
          </p:cNvPr>
          <p:cNvSpPr>
            <a:spLocks noGrp="1"/>
          </p:cNvSpPr>
          <p:nvPr>
            <p:ph type="body" sz="quarter" idx="23"/>
          </p:nvPr>
        </p:nvSpPr>
        <p:spPr/>
        <p:txBody>
          <a:bodyPr/>
          <a:lstStyle/>
          <a:p>
            <a:pPr>
              <a:lnSpc>
                <a:spcPct val="112000"/>
              </a:lnSpc>
            </a:pPr>
            <a:r>
              <a:rPr lang="pt-BR" sz="900" b="1" dirty="0"/>
              <a:t xml:space="preserve">Esperamos um trimestre sólido no Brasil (…) </a:t>
            </a:r>
            <a:r>
              <a:rPr lang="pt-BR" sz="900" dirty="0"/>
              <a:t xml:space="preserve">Para o nosso universo de cobertura da XP (cerca de 140 empresas), esperamos que a temporada de resultados do 2T26 seja caracterizada por um crescimento positivo de receita de 9,9% ano contra ano, além de forte crescimento de EBITDA e lucro líquido de 20,5% e 19,8%, respectivamente.</a:t>
            </a:r>
            <a:endParaRPr lang="pt-BR" sz="900" dirty="0"/>
          </a:p>
          <a:p>
            <a:pPr>
              <a:lnSpc>
                <a:spcPct val="112000"/>
              </a:lnSpc>
            </a:pPr>
            <a:r>
              <a:rPr lang="pt-BR" sz="900" b="1" dirty="0"/>
              <a:t xml:space="preserve">(…) impulsionado principalmente por Óleo &amp; Gás. </a:t>
            </a:r>
            <a:r>
              <a:rPr lang="pt-BR" sz="900" dirty="0"/>
              <a:t xml:space="preserve">As empresas de Óleo &amp; Gás devem apresentar um crescimento muito sólido de forma generalizada, com receitas, EBITDA e lucro líquido projetados para aumentar 24,7%, 71,6% e 66,8%, respectivamente. Isso explica grande parte do forte crescimento esperado no nível agregado. Ainda assim, esperamos números resilientes para as empresas ex-commodities, com receitas, EBITDA e lucro líquido projetados para crescer 6,8%, 6,4% e 14,1%, respectivamente.</a:t>
            </a:r>
            <a:endParaRPr lang="pt-BR" sz="900" dirty="0"/>
          </a:p>
          <a:p>
            <a:pPr>
              <a:lnSpc>
                <a:spcPct val="112000"/>
              </a:lnSpc>
            </a:pPr>
            <a:r>
              <a:rPr lang="pt-BR" sz="900" b="1" dirty="0"/>
              <a:t xml:space="preserve">A visão do consenso também permanece construtiva. </a:t>
            </a:r>
            <a:r>
              <a:rPr lang="pt-BR" sz="900" dirty="0"/>
              <a:t xml:space="preserve">O consenso Bloomberg projeta crescimento de EBITDA e LPA de 44,9% e 35,0%, respectivamente, para o Ibovespa no 2T26, ambos acima das estimativas da XP. Para o crescimento de receita, as expectativas do consenso estão abaixo das nossas estimativas, apontando para um crescimento de receita de 6,8% no trimestre.</a:t>
            </a:r>
            <a:endParaRPr lang="pt-BR" sz="900" dirty="0"/>
          </a:p>
          <a:p>
            <a:pPr>
              <a:lnSpc>
                <a:spcPct val="112000"/>
              </a:lnSpc>
            </a:pPr>
            <a:r>
              <a:rPr lang="pt-BR" sz="900" b="1" dirty="0"/>
              <a:t xml:space="preserve">As expectativas de resultados do 2T26 foram recentemente revisadas para cima. </a:t>
            </a:r>
            <a:r>
              <a:rPr lang="pt-BR" sz="900" dirty="0"/>
              <a:t xml:space="preserve">Desde o início de junho, as estimativas de LPA do Ibovespa para o 2T26 foram revisadas para cima em 7,8%, enquanto as estimativas para o 3T26 e o 4T26 foram revisadas para baixo em 0,1% e 1,7%, respectivamente.</a:t>
            </a:r>
            <a:endParaRPr lang="pt-BR" sz="900" dirty="0"/>
          </a:p>
          <a:p>
            <a:pPr>
              <a:lnSpc>
                <a:spcPct val="112000"/>
              </a:lnSpc>
            </a:pPr>
            <a:r>
              <a:rPr lang="pt-BR" sz="900" b="1" dirty="0"/>
              <a:t xml:space="preserve">Em termos setoriais, Óleo, Gás &amp; Petroquímicos deve ser o destaque positivo mais claro neste trimestre. </a:t>
            </a:r>
            <a:r>
              <a:rPr lang="pt-BR" sz="900" dirty="0"/>
              <a:t xml:space="preserve">Também esperamos que TMT, Utilidade Pública e construtoras de baixa renda apresentem resultados sólidos. No lado negativo, Papel &amp; Celulose provavelmente será um destaque negativo, já que os resultados devem permanecer pressionados por um real mais forte. Entre os setores domésticos, as construtoras de média/alta renda devem enfrentar dificuldades em função do ambiente restritivo de juros, enquanto o Varejo Alimentar deve ser pressionado por menores volumes.</a:t>
            </a:r>
            <a:endParaRPr lang="pt-BR" sz="900" dirty="0"/>
          </a:p>
        </p:txBody>
      </p:sp>
      <p:sp>
        <p:nvSpPr>
          <p:cNvPr id="2" name="Text Placeholder 1">
            <a:extLst>
              <a:ext uri="{FF2B5EF4-FFF2-40B4-BE49-F238E27FC236}">
                <a16:creationId xmlns:a16="http://schemas.microsoft.com/office/drawing/2014/main" id="{66D5BD02-D727-43C7-A00B-D6AD98262E84}"/>
              </a:ext>
            </a:extLst>
          </p:cNvPr>
          <p:cNvSpPr>
            <a:spLocks noGrp="1"/>
          </p:cNvSpPr>
          <p:nvPr>
            <p:ph type="body" sz="quarter" idx="16"/>
          </p:nvPr>
        </p:nvSpPr>
        <p:spPr/>
        <p:txBody>
          <a:bodyPr/>
          <a:lstStyle/>
          <a:p>
            <a:r>
              <a:rPr lang="pt-BR" dirty="0"/>
              <a:t>Prévia de Resultados do 2T26</a:t>
            </a:r>
          </a:p>
        </p:txBody>
      </p:sp>
      <p:sp>
        <p:nvSpPr>
          <p:cNvPr id="3" name="Text Placeholder 2">
            <a:extLst>
              <a:ext uri="{FF2B5EF4-FFF2-40B4-BE49-F238E27FC236}">
                <a16:creationId xmlns:a16="http://schemas.microsoft.com/office/drawing/2014/main" id="{2AC987DB-9CB5-0734-AEB3-A38DC06E0D2E}"/>
              </a:ext>
            </a:extLst>
          </p:cNvPr>
          <p:cNvSpPr>
            <a:spLocks noGrp="1"/>
          </p:cNvSpPr>
          <p:nvPr>
            <p:ph type="body" sz="quarter" idx="19"/>
          </p:nvPr>
        </p:nvSpPr>
        <p:spPr/>
        <p:txBody>
          <a:bodyPr/>
          <a:lstStyle/>
          <a:p>
            <a:endParaRPr lang="pt-BR"/>
          </a:p>
        </p:txBody>
      </p:sp>
      <p:sp>
        <p:nvSpPr>
          <p:cNvPr id="4" name="Text Placeholder 3">
            <a:extLst>
              <a:ext uri="{FF2B5EF4-FFF2-40B4-BE49-F238E27FC236}">
                <a16:creationId xmlns:a16="http://schemas.microsoft.com/office/drawing/2014/main" id="{447B309C-EA9C-4241-F030-24BF13055C71}"/>
              </a:ext>
            </a:extLst>
          </p:cNvPr>
          <p:cNvSpPr>
            <a:spLocks noGrp="1"/>
          </p:cNvSpPr>
          <p:nvPr>
            <p:ph type="body" sz="quarter" idx="20"/>
          </p:nvPr>
        </p:nvSpPr>
        <p:spPr/>
        <p:txBody>
          <a:bodyPr/>
          <a:lstStyle/>
          <a:p>
            <a:pPr>
              <a:lnSpc>
                <a:spcPct val="112000"/>
              </a:lnSpc>
            </a:pPr>
            <a:r>
              <a:rPr lang="pt-BR" sz="900" dirty="0"/>
              <a:t>Nossas estimativas apontam para um trimestre positivo no 2T26, após duas temporadas de resultados consecutivamente mais fracas. Para o nosso universo de cobertura da XP (cerca de 140 empresas), a prévia consolidada de resultados indica crescimento de receita líquida de 9,9% ano contra ano, além de forte crescimento de EBITDA e lucro líquido de 20,5% e 19,8%, respectivamente. Embora grande parte desse crescimento deva ser impulsionada por Óleo &amp; Gás (que deve responder por 17,3 pontos percentuais do crescimento de 20,5% de EBITDA projetado para a nossa cobertura), ainda esperamos que os setores domésticos apresentem números resilientes neste trimestre. Além de Óleo &amp; Gás, vemos TMT, construtoras de baixa renda e Utilidade Pública como os principais destaques positivos, enquanto construtoras de média/alta renda, Papel &amp; Celulose e Varejo Alimentar devem ser os destaques negativos.</a:t>
            </a:r>
          </a:p>
        </p:txBody>
      </p:sp>
      <p:sp>
        <p:nvSpPr>
          <p:cNvPr id="17" name="Date Placeholder 16">
            <a:extLst>
              <a:ext uri="{FF2B5EF4-FFF2-40B4-BE49-F238E27FC236}">
                <a16:creationId xmlns:a16="http://schemas.microsoft.com/office/drawing/2014/main" id="{FDC98951-4095-D4C1-586C-940485271D09}"/>
              </a:ext>
            </a:extLst>
          </p:cNvPr>
          <p:cNvSpPr>
            <a:spLocks noGrp="1"/>
          </p:cNvSpPr>
          <p:nvPr>
            <p:ph type="dt" sz="half" idx="2"/>
          </p:nvPr>
        </p:nvSpPr>
        <p:spPr/>
        <p:txBody>
          <a:bodyPr/>
          <a:lstStyle/>
          <a:p>
            <a:fld id="{490E36B6-AA31-4559-B2A3-44643E09FED2}" type="datetime4">
              <a:rPr lang="pt-BR" smtClean="0"/>
              <a:t>21 de julho de 2026</a:t>
            </a:fld>
            <a:endParaRPr lang="en-US" dirty="0"/>
          </a:p>
        </p:txBody>
      </p:sp>
      <p:sp>
        <p:nvSpPr>
          <p:cNvPr id="18" name="Text Placeholder 17">
            <a:extLst>
              <a:ext uri="{FF2B5EF4-FFF2-40B4-BE49-F238E27FC236}">
                <a16:creationId xmlns:a16="http://schemas.microsoft.com/office/drawing/2014/main" id="{55CA6231-D176-6342-1471-029C115C56F7}"/>
              </a:ext>
            </a:extLst>
          </p:cNvPr>
          <p:cNvSpPr>
            <a:spLocks noGrp="1"/>
          </p:cNvSpPr>
          <p:nvPr>
            <p:ph type="body" sz="quarter" idx="26"/>
          </p:nvPr>
        </p:nvSpPr>
        <p:spPr/>
        <p:txBody>
          <a:bodyPr/>
          <a:lstStyle/>
          <a:p>
            <a:r>
              <a:rPr lang="pt-BR" dirty="0"/>
              <a:t>Fonte: Bloomberg, Economatica, XP Research.</a:t>
            </a:r>
          </a:p>
        </p:txBody>
      </p:sp>
      <p:sp>
        <p:nvSpPr>
          <p:cNvPr id="19" name="Text Placeholder 18">
            <a:extLst>
              <a:ext uri="{FF2B5EF4-FFF2-40B4-BE49-F238E27FC236}">
                <a16:creationId xmlns:a16="http://schemas.microsoft.com/office/drawing/2014/main" id="{1543C137-DE81-8378-974F-C5CE4FD71E07}"/>
              </a:ext>
            </a:extLst>
          </p:cNvPr>
          <p:cNvSpPr>
            <a:spLocks noGrp="1"/>
          </p:cNvSpPr>
          <p:nvPr>
            <p:ph type="body" sz="quarter" idx="17"/>
          </p:nvPr>
        </p:nvSpPr>
        <p:spPr/>
        <p:txBody>
          <a:bodyPr/>
          <a:lstStyle/>
          <a:p>
            <a:r>
              <a:rPr lang="pt-BR" dirty="0"/>
              <a:t>Esperamos um trimestre sólido no Brasil</a:t>
            </a:r>
          </a:p>
        </p:txBody>
      </p:sp>
      <p:sp>
        <p:nvSpPr>
          <p:cNvPr id="20" name="Text Placeholder 19">
            <a:extLst>
              <a:ext uri="{FF2B5EF4-FFF2-40B4-BE49-F238E27FC236}">
                <a16:creationId xmlns:a16="http://schemas.microsoft.com/office/drawing/2014/main" id="{C277C325-9AEA-5A40-B1C3-18D811E665B5}"/>
              </a:ext>
            </a:extLst>
          </p:cNvPr>
          <p:cNvSpPr>
            <a:spLocks noGrp="1"/>
          </p:cNvSpPr>
          <p:nvPr>
            <p:ph type="body" sz="quarter" idx="38"/>
          </p:nvPr>
        </p:nvSpPr>
        <p:spPr/>
        <p:txBody>
          <a:bodyPr/>
          <a:lstStyle/>
          <a:p>
            <a:r>
              <a:rPr lang="pt-BR" sz="1100" dirty="0"/>
              <a:t>Óleo &amp; Gás deve ser o destaque positivo; setores domésticos devem apresentar números resilientes</a:t>
            </a:r>
          </a:p>
        </p:txBody>
      </p:sp>
      <p:sp>
        <p:nvSpPr>
          <p:cNvPr id="21" name="Text Placeholder 5">
            <a:extLst>
              <a:ext uri="{FF2B5EF4-FFF2-40B4-BE49-F238E27FC236}">
                <a16:creationId xmlns:a16="http://schemas.microsoft.com/office/drawing/2014/main" id="{A8CCDE0B-D6FC-4620-C2DA-4A465F065273}"/>
              </a:ext>
            </a:extLst>
          </p:cNvPr>
          <p:cNvSpPr>
            <a:spLocks noGrp="1"/>
          </p:cNvSpPr>
          <p:nvPr>
            <p:ph type="body" sz="quarter" idx="27"/>
          </p:nvPr>
        </p:nvSpPr>
        <p:spPr>
          <a:xfrm>
            <a:off x="4330593" y="3610784"/>
            <a:ext cx="2159105" cy="133094"/>
          </a:xfrm>
        </p:spPr>
        <p:txBody>
          <a:bodyPr/>
          <a:lstStyle/>
          <a:p>
            <a:r>
              <a:rPr lang="en-US" dirty="0"/>
              <a:t>Fernando Ferreira, CFA</a:t>
            </a:r>
          </a:p>
        </p:txBody>
      </p:sp>
      <p:sp>
        <p:nvSpPr>
          <p:cNvPr id="22" name="Text Placeholder 6">
            <a:extLst>
              <a:ext uri="{FF2B5EF4-FFF2-40B4-BE49-F238E27FC236}">
                <a16:creationId xmlns:a16="http://schemas.microsoft.com/office/drawing/2014/main" id="{3F56725B-D4AA-8917-06EA-48200AF8FF89}"/>
              </a:ext>
            </a:extLst>
          </p:cNvPr>
          <p:cNvSpPr>
            <a:spLocks noGrp="1"/>
          </p:cNvSpPr>
          <p:nvPr>
            <p:ph type="body" sz="quarter" idx="28"/>
          </p:nvPr>
        </p:nvSpPr>
        <p:spPr>
          <a:xfrm>
            <a:off x="4330593" y="3772581"/>
            <a:ext cx="2159105" cy="96950"/>
          </a:xfrm>
        </p:spPr>
        <p:txBody>
          <a:bodyPr/>
          <a:lstStyle/>
          <a:p>
            <a:r>
              <a:rPr lang="en-US" dirty="0" err="1"/>
              <a:t>Estrategista</a:t>
            </a:r>
            <a:r>
              <a:rPr lang="en-US" dirty="0"/>
              <a:t> </a:t>
            </a:r>
            <a:r>
              <a:rPr lang="en-US" dirty="0" err="1"/>
              <a:t>chefe</a:t>
            </a:r>
            <a:r>
              <a:rPr lang="en-US" dirty="0"/>
              <a:t> e Head do Research</a:t>
            </a:r>
          </a:p>
        </p:txBody>
      </p:sp>
      <p:sp>
        <p:nvSpPr>
          <p:cNvPr id="23" name="Text Placeholder 17">
            <a:extLst>
              <a:ext uri="{FF2B5EF4-FFF2-40B4-BE49-F238E27FC236}">
                <a16:creationId xmlns:a16="http://schemas.microsoft.com/office/drawing/2014/main" id="{8025F140-4D3A-E286-359F-1EA95DE0F74F}"/>
              </a:ext>
            </a:extLst>
          </p:cNvPr>
          <p:cNvSpPr>
            <a:spLocks noGrp="1"/>
          </p:cNvSpPr>
          <p:nvPr>
            <p:ph type="body" sz="quarter" idx="29"/>
          </p:nvPr>
        </p:nvSpPr>
        <p:spPr>
          <a:xfrm>
            <a:off x="4330593" y="3899453"/>
            <a:ext cx="2159105" cy="110800"/>
          </a:xfrm>
        </p:spPr>
        <p:txBody>
          <a:bodyPr/>
          <a:lstStyle/>
          <a:p>
            <a:r>
              <a:rPr lang="pt-BR" dirty="0"/>
              <a:t>fernando.f.ferreira@xpi.com.br</a:t>
            </a:r>
          </a:p>
        </p:txBody>
      </p:sp>
      <p:sp>
        <p:nvSpPr>
          <p:cNvPr id="30" name="Text Placeholder 8">
            <a:extLst>
              <a:ext uri="{FF2B5EF4-FFF2-40B4-BE49-F238E27FC236}">
                <a16:creationId xmlns:a16="http://schemas.microsoft.com/office/drawing/2014/main" id="{7A73F6D8-70BD-4F2C-2089-C77FA592D2FF}"/>
              </a:ext>
            </a:extLst>
          </p:cNvPr>
          <p:cNvSpPr txBox="1">
            <a:spLocks/>
          </p:cNvSpPr>
          <p:nvPr/>
        </p:nvSpPr>
        <p:spPr>
          <a:xfrm>
            <a:off x="4330593" y="410255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Raphael Figueredo</a:t>
            </a:r>
          </a:p>
        </p:txBody>
      </p:sp>
      <p:sp>
        <p:nvSpPr>
          <p:cNvPr id="31" name="Text Placeholder 9">
            <a:extLst>
              <a:ext uri="{FF2B5EF4-FFF2-40B4-BE49-F238E27FC236}">
                <a16:creationId xmlns:a16="http://schemas.microsoft.com/office/drawing/2014/main" id="{BB4862CB-C3D4-C367-C761-DFCD555BE823}"/>
              </a:ext>
            </a:extLst>
          </p:cNvPr>
          <p:cNvSpPr txBox="1">
            <a:spLocks/>
          </p:cNvSpPr>
          <p:nvPr/>
        </p:nvSpPr>
        <p:spPr>
          <a:xfrm>
            <a:off x="4330593" y="4264350"/>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t>Estrategista de Ações</a:t>
            </a:r>
            <a:endParaRPr lang="pt-BR" dirty="0"/>
          </a:p>
        </p:txBody>
      </p:sp>
      <p:sp>
        <p:nvSpPr>
          <p:cNvPr id="32" name="Text Placeholder 22">
            <a:extLst>
              <a:ext uri="{FF2B5EF4-FFF2-40B4-BE49-F238E27FC236}">
                <a16:creationId xmlns:a16="http://schemas.microsoft.com/office/drawing/2014/main" id="{F52F0831-A0BA-533F-27D1-7A528C1B3C7B}"/>
              </a:ext>
            </a:extLst>
          </p:cNvPr>
          <p:cNvSpPr txBox="1">
            <a:spLocks/>
          </p:cNvSpPr>
          <p:nvPr/>
        </p:nvSpPr>
        <p:spPr>
          <a:xfrm>
            <a:off x="4330593" y="4391222"/>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raphael.sfigueredo@xpi.com.br</a:t>
            </a:r>
          </a:p>
        </p:txBody>
      </p:sp>
      <p:sp>
        <p:nvSpPr>
          <p:cNvPr id="33" name="Content Placeholder 14">
            <a:extLst>
              <a:ext uri="{FF2B5EF4-FFF2-40B4-BE49-F238E27FC236}">
                <a16:creationId xmlns:a16="http://schemas.microsoft.com/office/drawing/2014/main" id="{2E94A02A-A6EF-942C-F1F1-D246AD38804A}"/>
              </a:ext>
            </a:extLst>
          </p:cNvPr>
          <p:cNvSpPr txBox="1">
            <a:spLocks/>
          </p:cNvSpPr>
          <p:nvPr/>
        </p:nvSpPr>
        <p:spPr>
          <a:xfrm>
            <a:off x="4330593" y="6026460"/>
            <a:ext cx="2171913"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 Estimativas do lucro por ação do Ibovespa por trimestre </a:t>
            </a:r>
          </a:p>
        </p:txBody>
      </p:sp>
      <p:sp>
        <p:nvSpPr>
          <p:cNvPr id="36" name="Text Placeholder 10">
            <a:extLst>
              <a:ext uri="{FF2B5EF4-FFF2-40B4-BE49-F238E27FC236}">
                <a16:creationId xmlns:a16="http://schemas.microsoft.com/office/drawing/2014/main" id="{E185E22A-D489-13A4-E0A6-0B04635C86AC}"/>
              </a:ext>
            </a:extLst>
          </p:cNvPr>
          <p:cNvSpPr txBox="1">
            <a:spLocks/>
          </p:cNvSpPr>
          <p:nvPr/>
        </p:nvSpPr>
        <p:spPr>
          <a:xfrm>
            <a:off x="4330593" y="4597273"/>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XP Research</a:t>
            </a:r>
          </a:p>
        </p:txBody>
      </p:sp>
      <p:sp>
        <p:nvSpPr>
          <p:cNvPr id="37" name="Text Placeholder 12">
            <a:extLst>
              <a:ext uri="{FF2B5EF4-FFF2-40B4-BE49-F238E27FC236}">
                <a16:creationId xmlns:a16="http://schemas.microsoft.com/office/drawing/2014/main" id="{7620D801-63D2-87EB-092A-EB3D66399361}"/>
              </a:ext>
            </a:extLst>
          </p:cNvPr>
          <p:cNvSpPr txBox="1">
            <a:spLocks/>
          </p:cNvSpPr>
          <p:nvPr/>
        </p:nvSpPr>
        <p:spPr>
          <a:xfrm>
            <a:off x="4330593" y="4761337"/>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research@xpi.com.br</a:t>
            </a:r>
          </a:p>
        </p:txBody>
      </p:sp>
      <p:graphicFrame>
        <p:nvGraphicFramePr>
          <p:cNvPr id="34" name="Chart 33">
            <a:extLst>
              <a:ext uri="{FF2B5EF4-FFF2-40B4-BE49-F238E27FC236}">
                <a16:creationId xmlns:a16="http://schemas.microsoft.com/office/drawing/2014/main" id="{9D81C10A-BFA9-4C0B-912F-12F1A654686B}"/>
              </a:ext>
            </a:extLst>
          </p:cNvPr>
          <p:cNvGraphicFramePr>
            <a:graphicFrameLocks/>
          </p:cNvGraphicFramePr>
          <p:nvPr>
            <p:extLst>
              <p:ext uri="{D42A27DB-BD31-4B8C-83A1-F6EECF244321}">
                <p14:modId xmlns:p14="http://schemas.microsoft.com/office/powerpoint/2010/main" val="4071657801"/>
              </p:ext>
            </p:extLst>
          </p:nvPr>
        </p:nvGraphicFramePr>
        <p:xfrm>
          <a:off x="4330593" y="6555158"/>
          <a:ext cx="2328259" cy="238777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F7B87923-7149-E8F0-8638-B865149DEE66}"/>
              </a:ext>
            </a:extLst>
          </p:cNvPr>
          <p:cNvSpPr txBox="1"/>
          <p:nvPr/>
        </p:nvSpPr>
        <p:spPr>
          <a:xfrm>
            <a:off x="4765474" y="8676822"/>
            <a:ext cx="411437" cy="215444"/>
          </a:xfrm>
          <a:prstGeom prst="rect">
            <a:avLst/>
          </a:prstGeom>
          <a:solidFill>
            <a:schemeClr val="bg1"/>
          </a:solidFill>
        </p:spPr>
        <p:txBody>
          <a:bodyPr wrap="square" rtlCol="0">
            <a:spAutoFit/>
          </a:bodyPr>
          <a:lstStyle/>
          <a:p>
            <a:pPr algn="l"/>
            <a:r>
              <a:rPr lang="pt-BR" sz="800" dirty="0">
                <a:latin typeface="+mj-lt"/>
                <a:ea typeface="Roboto" panose="02000000000000000000" pitchFamily="2" charset="0"/>
                <a:cs typeface="Roboto" panose="02000000000000000000" pitchFamily="2" charset="0"/>
              </a:rPr>
              <a:t>2T26</a:t>
            </a:r>
          </a:p>
        </p:txBody>
      </p:sp>
      <p:sp>
        <p:nvSpPr>
          <p:cNvPr id="7" name="TextBox 6">
            <a:extLst>
              <a:ext uri="{FF2B5EF4-FFF2-40B4-BE49-F238E27FC236}">
                <a16:creationId xmlns:a16="http://schemas.microsoft.com/office/drawing/2014/main" id="{A89D16DD-2AB9-6219-62BE-928E89DB2ACA}"/>
              </a:ext>
            </a:extLst>
          </p:cNvPr>
          <p:cNvSpPr txBox="1"/>
          <p:nvPr/>
        </p:nvSpPr>
        <p:spPr>
          <a:xfrm>
            <a:off x="5494722" y="8660286"/>
            <a:ext cx="557297" cy="215444"/>
          </a:xfrm>
          <a:prstGeom prst="rect">
            <a:avLst/>
          </a:prstGeom>
          <a:solidFill>
            <a:schemeClr val="bg1"/>
          </a:solidFill>
        </p:spPr>
        <p:txBody>
          <a:bodyPr wrap="square" rtlCol="0">
            <a:spAutoFit/>
          </a:bodyPr>
          <a:lstStyle/>
          <a:p>
            <a:pPr algn="l"/>
            <a:r>
              <a:rPr lang="pt-BR" sz="800" dirty="0">
                <a:latin typeface="+mj-lt"/>
                <a:ea typeface="Roboto" panose="02000000000000000000" pitchFamily="2" charset="0"/>
                <a:cs typeface="Roboto" panose="02000000000000000000" pitchFamily="2" charset="0"/>
              </a:rPr>
              <a:t>3T26</a:t>
            </a:r>
          </a:p>
        </p:txBody>
      </p:sp>
      <p:sp>
        <p:nvSpPr>
          <p:cNvPr id="8" name="TextBox 7">
            <a:extLst>
              <a:ext uri="{FF2B5EF4-FFF2-40B4-BE49-F238E27FC236}">
                <a16:creationId xmlns:a16="http://schemas.microsoft.com/office/drawing/2014/main" id="{E499EFAD-D919-842D-2561-31C6485C5C1B}"/>
              </a:ext>
            </a:extLst>
          </p:cNvPr>
          <p:cNvSpPr txBox="1"/>
          <p:nvPr/>
        </p:nvSpPr>
        <p:spPr>
          <a:xfrm>
            <a:off x="6260460" y="8650308"/>
            <a:ext cx="557297" cy="215444"/>
          </a:xfrm>
          <a:prstGeom prst="rect">
            <a:avLst/>
          </a:prstGeom>
          <a:solidFill>
            <a:schemeClr val="bg1"/>
          </a:solidFill>
        </p:spPr>
        <p:txBody>
          <a:bodyPr wrap="square" rtlCol="0">
            <a:spAutoFit/>
          </a:bodyPr>
          <a:lstStyle/>
          <a:p>
            <a:pPr algn="l"/>
            <a:r>
              <a:rPr lang="pt-BR" sz="800" dirty="0">
                <a:latin typeface="+mj-lt"/>
                <a:ea typeface="Roboto" panose="02000000000000000000" pitchFamily="2" charset="0"/>
                <a:cs typeface="Roboto" panose="02000000000000000000" pitchFamily="2" charset="0"/>
              </a:rPr>
              <a:t>4T26</a:t>
            </a:r>
          </a:p>
        </p:txBody>
      </p:sp>
    </p:spTree>
    <p:extLst>
      <p:ext uri="{BB962C8B-B14F-4D97-AF65-F5344CB8AC3E}">
        <p14:creationId xmlns:p14="http://schemas.microsoft.com/office/powerpoint/2010/main" val="1010984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2E92DD-0ED8-8DA6-6633-8894346AFB5E}"/>
              </a:ext>
            </a:extLst>
          </p:cNvPr>
          <p:cNvSpPr>
            <a:spLocks noGrp="1"/>
          </p:cNvSpPr>
          <p:nvPr>
            <p:ph type="body" sz="quarter" idx="17"/>
          </p:nvPr>
        </p:nvSpPr>
        <p:spPr>
          <a:xfrm>
            <a:off x="375638" y="1155618"/>
            <a:ext cx="4140215" cy="338554"/>
          </a:xfrm>
        </p:spPr>
        <p:txBody>
          <a:bodyPr/>
          <a:lstStyle/>
          <a:p>
            <a:r>
              <a:rPr lang="pt-BR" dirty="0">
                <a:hlinkClick r:id="rId2" action="ppaction://hlinksldjump">
                  <a:extLst>
                    <a:ext uri="{A12FA001-AC4F-418D-AE19-62706E023703}">
                      <ahyp:hlinkClr xmlns:ahyp="http://schemas.microsoft.com/office/drawing/2018/hyperlinkcolor" val="tx"/>
                    </a:ext>
                  </a:extLst>
                </a:hlinkClick>
              </a:rPr>
              <a:t>Temporada de resultados do 1T26</a:t>
            </a:r>
            <a:endParaRPr lang="en-US" dirty="0">
              <a:hlinkClick r:id="rId2" action="ppaction://hlinksldjump">
                <a:extLst>
                  <a:ext uri="{A12FA001-AC4F-418D-AE19-62706E023703}">
                    <ahyp:hlinkClr xmlns:ahyp="http://schemas.microsoft.com/office/drawing/2018/hyperlinkcolor" val="tx"/>
                  </a:ext>
                </a:extLst>
              </a:hlinkClick>
            </a:endParaRPr>
          </a:p>
        </p:txBody>
      </p:sp>
      <p:sp>
        <p:nvSpPr>
          <p:cNvPr id="3" name="Text Placeholder 4">
            <a:extLst>
              <a:ext uri="{FF2B5EF4-FFF2-40B4-BE49-F238E27FC236}">
                <a16:creationId xmlns:a16="http://schemas.microsoft.com/office/drawing/2014/main" id="{97CD5D2B-F955-B28E-5AA3-4430225D7E31}"/>
              </a:ext>
            </a:extLst>
          </p:cNvPr>
          <p:cNvSpPr>
            <a:spLocks noGrp="1"/>
          </p:cNvSpPr>
          <p:nvPr>
            <p:ph type="body" sz="quarter" idx="18"/>
          </p:nvPr>
        </p:nvSpPr>
        <p:spPr>
          <a:xfrm>
            <a:off x="375638" y="1485836"/>
            <a:ext cx="4453036" cy="535531"/>
          </a:xfrm>
        </p:spPr>
        <p:txBody>
          <a:bodyPr/>
          <a:lstStyle/>
          <a:p>
            <a:r>
              <a:rPr lang="pt-BR" dirty="0"/>
              <a:t>O que esperar para as companhias brasileiras?</a:t>
            </a:r>
            <a:endParaRPr lang="en-US" dirty="0"/>
          </a:p>
        </p:txBody>
      </p:sp>
      <p:sp>
        <p:nvSpPr>
          <p:cNvPr id="18" name="Text Placeholder 5">
            <a:extLst>
              <a:ext uri="{FF2B5EF4-FFF2-40B4-BE49-F238E27FC236}">
                <a16:creationId xmlns:a16="http://schemas.microsoft.com/office/drawing/2014/main" id="{C073FD58-1067-9F55-E4A9-EF8938160849}"/>
              </a:ext>
            </a:extLst>
          </p:cNvPr>
          <p:cNvSpPr txBox="1">
            <a:spLocks/>
          </p:cNvSpPr>
          <p:nvPr/>
        </p:nvSpPr>
        <p:spPr>
          <a:xfrm>
            <a:off x="375638" y="2129986"/>
            <a:ext cx="3938623" cy="338554"/>
          </a:xfrm>
          <a:prstGeom prst="rect">
            <a:avLst/>
          </a:prstGeom>
        </p:spPr>
        <p:txBody>
          <a:bodyPr vert="horz" lIns="0" tIns="45720" rIns="91440" bIns="4572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2000" b="0" kern="120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hlinkClick r:id="rId3" action="ppaction://hlinksldjump">
                  <a:extLst>
                    <a:ext uri="{A12FA001-AC4F-418D-AE19-62706E023703}">
                      <ahyp:hlinkClr xmlns:ahyp="http://schemas.microsoft.com/office/drawing/2018/hyperlinkcolor" val="tx"/>
                    </a:ext>
                  </a:extLst>
                </a:hlinkClick>
              </a:rPr>
              <a:t>Destaques setoriais</a:t>
            </a:r>
            <a:endParaRPr lang="pt-BR" dirty="0"/>
          </a:p>
        </p:txBody>
      </p:sp>
      <p:sp>
        <p:nvSpPr>
          <p:cNvPr id="5" name="TextBox 4">
            <a:extLst>
              <a:ext uri="{FF2B5EF4-FFF2-40B4-BE49-F238E27FC236}">
                <a16:creationId xmlns:a16="http://schemas.microsoft.com/office/drawing/2014/main" id="{18127C3E-283B-9038-5329-96D99D6844EE}"/>
              </a:ext>
            </a:extLst>
          </p:cNvPr>
          <p:cNvSpPr txBox="1"/>
          <p:nvPr/>
        </p:nvSpPr>
        <p:spPr>
          <a:xfrm>
            <a:off x="1005214" y="4775641"/>
            <a:ext cx="3914382" cy="369332"/>
          </a:xfrm>
          <a:prstGeom prst="rect">
            <a:avLst/>
          </a:prstGeom>
          <a:noFill/>
        </p:spPr>
        <p:txBody>
          <a:bodyPr wrap="square">
            <a:spAutoFit/>
          </a:bodyPr>
          <a:lstStyle/>
          <a:p>
            <a:pPr algn="ctr"/>
            <a:r>
              <a:rPr lang="pt-BR" sz="1800" b="1" dirty="0">
                <a:solidFill>
                  <a:schemeClr val="bg1"/>
                </a:solidFill>
                <a:latin typeface="Roboto" panose="02000000000000000000" pitchFamily="2" charset="0"/>
                <a:ea typeface="Roboto" panose="02000000000000000000" pitchFamily="2" charset="0"/>
                <a:cs typeface="Roboto" panose="02000000000000000000" pitchFamily="2" charset="0"/>
              </a:rPr>
              <a:t>Atualizar</a:t>
            </a:r>
          </a:p>
        </p:txBody>
      </p:sp>
      <p:sp>
        <p:nvSpPr>
          <p:cNvPr id="6" name="Rectangle 5">
            <a:extLst>
              <a:ext uri="{FF2B5EF4-FFF2-40B4-BE49-F238E27FC236}">
                <a16:creationId xmlns:a16="http://schemas.microsoft.com/office/drawing/2014/main" id="{E0B00095-6077-F575-6070-0496D61FD049}"/>
              </a:ext>
            </a:extLst>
          </p:cNvPr>
          <p:cNvSpPr/>
          <p:nvPr/>
        </p:nvSpPr>
        <p:spPr>
          <a:xfrm>
            <a:off x="908941" y="2428007"/>
            <a:ext cx="5251889" cy="384560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b="1" dirty="0">
                <a:solidFill>
                  <a:schemeClr val="bg1"/>
                </a:solidFill>
                <a:latin typeface="Roboto" panose="02000000000000000000" pitchFamily="2" charset="0"/>
                <a:ea typeface="Roboto" panose="02000000000000000000" pitchFamily="2" charset="0"/>
                <a:cs typeface="Roboto" panose="02000000000000000000" pitchFamily="2" charset="0"/>
              </a:rPr>
              <a:t>Atualizar</a:t>
            </a:r>
          </a:p>
        </p:txBody>
      </p:sp>
    </p:spTree>
    <p:extLst>
      <p:ext uri="{BB962C8B-B14F-4D97-AF65-F5344CB8AC3E}">
        <p14:creationId xmlns:p14="http://schemas.microsoft.com/office/powerpoint/2010/main" val="610017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60B978-DDDB-6B45-7726-F7BC3CB454C5}"/>
              </a:ext>
            </a:extLst>
          </p:cNvPr>
          <p:cNvSpPr>
            <a:spLocks noGrp="1"/>
          </p:cNvSpPr>
          <p:nvPr>
            <p:ph type="body" sz="quarter" idx="11"/>
          </p:nvPr>
        </p:nvSpPr>
        <p:spPr/>
        <p:txBody>
          <a:bodyPr/>
          <a:lstStyle/>
          <a:p>
            <a:r>
              <a:rPr lang="pt-BR" dirty="0"/>
              <a:t>O que esperar para as companhias brasileiras?</a:t>
            </a:r>
          </a:p>
        </p:txBody>
      </p:sp>
      <p:sp>
        <p:nvSpPr>
          <p:cNvPr id="3" name="Text Placeholder 2">
            <a:extLst>
              <a:ext uri="{FF2B5EF4-FFF2-40B4-BE49-F238E27FC236}">
                <a16:creationId xmlns:a16="http://schemas.microsoft.com/office/drawing/2014/main" id="{D5492A1C-4E8E-9BD2-1AD1-761DA6B9EA5E}"/>
              </a:ext>
            </a:extLst>
          </p:cNvPr>
          <p:cNvSpPr>
            <a:spLocks noGrp="1"/>
          </p:cNvSpPr>
          <p:nvPr>
            <p:ph type="body" sz="quarter" idx="12"/>
          </p:nvPr>
        </p:nvSpPr>
        <p:spPr>
          <a:xfrm>
            <a:off x="368300" y="1509004"/>
            <a:ext cx="4623248" cy="336050"/>
          </a:xfrm>
        </p:spPr>
        <p:txBody>
          <a:bodyPr/>
          <a:lstStyle/>
          <a:p>
            <a:r>
              <a:rPr lang="pt-BR" dirty="0"/>
              <a:t>Prévia da temporada de resultados do 2T26</a:t>
            </a:r>
          </a:p>
        </p:txBody>
      </p:sp>
    </p:spTree>
    <p:extLst>
      <p:ext uri="{BB962C8B-B14F-4D97-AF65-F5344CB8AC3E}">
        <p14:creationId xmlns:p14="http://schemas.microsoft.com/office/powerpoint/2010/main" val="2475037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152D2A1E-A5C1-44EF-99A9-8C777B067DF9}"/>
              </a:ext>
            </a:extLst>
          </p:cNvPr>
          <p:cNvGraphicFramePr>
            <a:graphicFrameLocks/>
          </p:cNvGraphicFramePr>
          <p:nvPr>
            <p:extLst>
              <p:ext uri="{D42A27DB-BD31-4B8C-83A1-F6EECF244321}">
                <p14:modId xmlns:p14="http://schemas.microsoft.com/office/powerpoint/2010/main" val="1763275329"/>
              </p:ext>
            </p:extLst>
          </p:nvPr>
        </p:nvGraphicFramePr>
        <p:xfrm>
          <a:off x="3579274" y="5268445"/>
          <a:ext cx="2880000" cy="1929685"/>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 Placeholder 1">
            <a:extLst>
              <a:ext uri="{FF2B5EF4-FFF2-40B4-BE49-F238E27FC236}">
                <a16:creationId xmlns:a16="http://schemas.microsoft.com/office/drawing/2014/main" id="{C4A252C7-E9FF-B973-9F65-232C3AA7A409}"/>
              </a:ext>
            </a:extLst>
          </p:cNvPr>
          <p:cNvSpPr>
            <a:spLocks noGrp="1"/>
          </p:cNvSpPr>
          <p:nvPr>
            <p:ph type="body" sz="quarter" idx="20"/>
          </p:nvPr>
        </p:nvSpPr>
        <p:spPr>
          <a:xfrm>
            <a:off x="382828" y="1497014"/>
            <a:ext cx="6106871" cy="3360533"/>
          </a:xfrm>
          <a:noFill/>
        </p:spPr>
        <p:txBody>
          <a:bodyPr/>
          <a:lstStyle/>
          <a:p>
            <a:pPr>
              <a:lnSpc>
                <a:spcPct val="110000"/>
              </a:lnSpc>
            </a:pPr>
            <a:r>
              <a:rPr lang="en-US" sz="900" b="1" dirty="0"/>
              <a:t>Um trimestre muito positivo para os mercados globais.</a:t>
            </a:r>
            <a:r>
              <a:rPr lang="en-US" sz="900" dirty="0"/>
              <a:t> O segundo trimestre de 2026 foi significativamente positivo para os ativos de risco globais, com o MSCI ACWI subindo 14,5%. As ações globais entraram no trimestre próximas das mínimas do ano, após o movimento de aversão a risco de março, desencadeado pelo conflito EUA-Irã.</a:t>
            </a:r>
            <a:r>
              <a:rPr lang="en-US" sz="900" dirty="0">
                <a:solidFill>
                  <a:srgbClr val="FF0000"/>
                </a:solidFill>
              </a:rPr>
              <a:t> </a:t>
            </a:r>
            <a:r>
              <a:rPr lang="en-US" sz="900" dirty="0"/>
              <a:t>A partir daí, no entanto, os fundamentos micro ganharam protagonismo, com uma temporada de resultados do 1T26 nos EUA significativamente melhor do que o esperado e o </a:t>
            </a:r>
            <a:r>
              <a:rPr lang="en-US" sz="900" i="1" dirty="0"/>
              <a:t>trade</a:t>
            </a:r>
            <a:r>
              <a:rPr lang="en-US" sz="900" dirty="0"/>
              <a:t> de </a:t>
            </a:r>
            <a:r>
              <a:rPr lang="en-US" sz="900" dirty="0" err="1"/>
              <a:t>inteligência</a:t>
            </a:r>
            <a:r>
              <a:rPr lang="en-US" sz="900" dirty="0"/>
              <a:t> artificial </a:t>
            </a:r>
            <a:r>
              <a:rPr lang="en-US" sz="900" dirty="0" err="1"/>
              <a:t>ganhando</a:t>
            </a:r>
            <a:r>
              <a:rPr lang="en-US" sz="900" dirty="0"/>
              <a:t> </a:t>
            </a:r>
            <a:r>
              <a:rPr lang="en-US" sz="900" dirty="0" err="1"/>
              <a:t>força</a:t>
            </a:r>
            <a:r>
              <a:rPr lang="en-US" sz="900" dirty="0"/>
              <a:t>. Nesse ambiente, os mercados com maior exposição à IA lideraram a alta, como as ações americanas (S&amp;P 500, +14,9%) e, sobretudo, </a:t>
            </a:r>
            <a:r>
              <a:rPr lang="en-US" sz="900" dirty="0" err="1"/>
              <a:t>os</a:t>
            </a:r>
            <a:r>
              <a:rPr lang="en-US" sz="900" dirty="0"/>
              <a:t> mercados </a:t>
            </a:r>
            <a:r>
              <a:rPr lang="en-US" sz="900" dirty="0" err="1"/>
              <a:t>emergentes</a:t>
            </a:r>
            <a:r>
              <a:rPr lang="en-US" sz="900" dirty="0"/>
              <a:t> da Ásia (</a:t>
            </a:r>
            <a:r>
              <a:rPr lang="en-US" sz="900" dirty="0" err="1"/>
              <a:t>Coreia</a:t>
            </a:r>
            <a:r>
              <a:rPr lang="en-US" sz="900" dirty="0"/>
              <a:t> do Sul, +64,2%; Taiwan, +46,3%).</a:t>
            </a:r>
          </a:p>
          <a:p>
            <a:pPr>
              <a:lnSpc>
                <a:spcPct val="110000"/>
              </a:lnSpc>
            </a:pPr>
            <a:r>
              <a:rPr lang="en-US" sz="900" b="1" dirty="0"/>
              <a:t>As ações brasileiras tiveram desempenho significativamente inferior ao de seus pares globais.</a:t>
            </a:r>
            <a:r>
              <a:rPr lang="en-US" sz="900" dirty="0"/>
              <a:t> Após um início de ano forte, o mercado enfrentou uma forte correção, impulsionada por </a:t>
            </a:r>
            <a:r>
              <a:rPr lang="en-US" sz="900" dirty="0" err="1"/>
              <a:t>três</a:t>
            </a:r>
            <a:r>
              <a:rPr lang="en-US" sz="900" dirty="0"/>
              <a:t> </a:t>
            </a:r>
            <a:r>
              <a:rPr lang="en-US" sz="900" dirty="0" err="1"/>
              <a:t>fatores</a:t>
            </a:r>
            <a:r>
              <a:rPr lang="en-US" sz="900" dirty="0"/>
              <a:t> </a:t>
            </a:r>
            <a:r>
              <a:rPr lang="en-US" sz="900" dirty="0" err="1"/>
              <a:t>principais</a:t>
            </a:r>
            <a:r>
              <a:rPr lang="en-US" sz="900" dirty="0"/>
              <a:t>: </a:t>
            </a:r>
            <a:r>
              <a:rPr lang="en-US" sz="900" b="1" dirty="0"/>
              <a:t>(i)</a:t>
            </a:r>
            <a:r>
              <a:rPr lang="en-US" sz="900" dirty="0"/>
              <a:t> a retomada de força do </a:t>
            </a:r>
            <a:r>
              <a:rPr lang="en-US" sz="900" i="1" dirty="0"/>
              <a:t>trade</a:t>
            </a:r>
            <a:r>
              <a:rPr lang="en-US" sz="900" dirty="0"/>
              <a:t> de IA, que redirecionou os fluxos estrangeiros para longe de mercados de valor e intensivos em </a:t>
            </a:r>
            <a:r>
              <a:rPr lang="en-US" sz="900" i="1" dirty="0"/>
              <a:t>commodities</a:t>
            </a:r>
            <a:r>
              <a:rPr lang="en-US" sz="900" dirty="0"/>
              <a:t>, como o Brasil, em direção a mercados com maior exposição à IA; </a:t>
            </a:r>
            <a:r>
              <a:rPr lang="en-US" sz="900" b="1" dirty="0"/>
              <a:t>(ii)</a:t>
            </a:r>
            <a:r>
              <a:rPr lang="en-US" sz="900" dirty="0"/>
              <a:t> a reprecificação das perspectivas domésticas de juros e inflação; e </a:t>
            </a:r>
            <a:r>
              <a:rPr lang="en-US" sz="900" b="1" dirty="0"/>
              <a:t>(iii)</a:t>
            </a:r>
            <a:r>
              <a:rPr lang="en-US" sz="900" dirty="0"/>
              <a:t> o aumento do ruído político. Como resultado, durante o 2T26, o Ibovespa recuou 16,4% </a:t>
            </a:r>
            <a:r>
              <a:rPr lang="en-US" sz="900" dirty="0" err="1"/>
              <a:t>em</a:t>
            </a:r>
            <a:r>
              <a:rPr lang="en-US" sz="900" dirty="0"/>
              <a:t> reais e 22,8% </a:t>
            </a:r>
            <a:r>
              <a:rPr lang="en-US" sz="900" dirty="0" err="1"/>
              <a:t>em</a:t>
            </a:r>
            <a:r>
              <a:rPr lang="en-US" sz="900" dirty="0"/>
              <a:t> </a:t>
            </a:r>
            <a:r>
              <a:rPr lang="en-US" sz="900" dirty="0" err="1"/>
              <a:t>dólares</a:t>
            </a:r>
            <a:r>
              <a:rPr lang="en-US" sz="900" dirty="0"/>
              <a:t>.</a:t>
            </a:r>
          </a:p>
        </p:txBody>
      </p:sp>
      <p:sp>
        <p:nvSpPr>
          <p:cNvPr id="4" name="Content Placeholder 3">
            <a:extLst>
              <a:ext uri="{FF2B5EF4-FFF2-40B4-BE49-F238E27FC236}">
                <a16:creationId xmlns:a16="http://schemas.microsoft.com/office/drawing/2014/main" id="{020B4064-07EB-2EAB-6447-51331C2930E7}"/>
              </a:ext>
            </a:extLst>
          </p:cNvPr>
          <p:cNvSpPr>
            <a:spLocks noGrp="1"/>
          </p:cNvSpPr>
          <p:nvPr>
            <p:ph sz="quarter" idx="23"/>
          </p:nvPr>
        </p:nvSpPr>
        <p:spPr>
          <a:xfrm>
            <a:off x="382828" y="5037613"/>
            <a:ext cx="2880000" cy="230832"/>
          </a:xfrm>
        </p:spPr>
        <p:txBody>
          <a:bodyPr/>
          <a:lstStyle/>
          <a:p>
            <a:r>
              <a:rPr lang="pt-BR" dirty="0"/>
              <a:t>Gráfico 1: Estimativas de LPA do Ibovespa por ano </a:t>
            </a:r>
            <a:endParaRPr lang="en-US" dirty="0"/>
          </a:p>
        </p:txBody>
      </p:sp>
      <p:sp>
        <p:nvSpPr>
          <p:cNvPr id="7" name="Text Placeholder 6">
            <a:extLst>
              <a:ext uri="{FF2B5EF4-FFF2-40B4-BE49-F238E27FC236}">
                <a16:creationId xmlns:a16="http://schemas.microsoft.com/office/drawing/2014/main" id="{90D34461-E3DF-D2D6-3050-DA38FE23C243}"/>
              </a:ext>
            </a:extLst>
          </p:cNvPr>
          <p:cNvSpPr>
            <a:spLocks noGrp="1"/>
          </p:cNvSpPr>
          <p:nvPr>
            <p:ph type="body" sz="quarter" idx="16"/>
          </p:nvPr>
        </p:nvSpPr>
        <p:spPr/>
        <p:txBody>
          <a:bodyPr/>
          <a:lstStyle/>
          <a:p>
            <a:r>
              <a:rPr lang="pt-BR" dirty="0"/>
              <a:t>Prévia da temporada de resultados do 2T26</a:t>
            </a:r>
          </a:p>
        </p:txBody>
      </p:sp>
      <p:sp>
        <p:nvSpPr>
          <p:cNvPr id="8" name="Text Placeholder 7">
            <a:extLst>
              <a:ext uri="{FF2B5EF4-FFF2-40B4-BE49-F238E27FC236}">
                <a16:creationId xmlns:a16="http://schemas.microsoft.com/office/drawing/2014/main" id="{C40BE68D-EBDD-B0A8-381E-67FE6BEB7C82}"/>
              </a:ext>
            </a:extLst>
          </p:cNvPr>
          <p:cNvSpPr>
            <a:spLocks noGrp="1"/>
          </p:cNvSpPr>
          <p:nvPr>
            <p:ph type="body" sz="quarter" idx="17"/>
          </p:nvPr>
        </p:nvSpPr>
        <p:spPr/>
        <p:txBody>
          <a:bodyPr/>
          <a:lstStyle/>
          <a:p>
            <a:r>
              <a:rPr lang="en-US" dirty="0">
                <a:solidFill>
                  <a:schemeClr val="tx1"/>
                </a:solidFill>
              </a:rPr>
              <a:t>As estimativas de </a:t>
            </a:r>
            <a:r>
              <a:rPr lang="en-US" dirty="0" err="1">
                <a:solidFill>
                  <a:schemeClr val="tx1"/>
                </a:solidFill>
              </a:rPr>
              <a:t>lucros</a:t>
            </a:r>
            <a:r>
              <a:rPr lang="en-US" dirty="0">
                <a:solidFill>
                  <a:schemeClr val="tx1"/>
                </a:solidFill>
              </a:rPr>
              <a:t> foram revisadas para cima para o 2T26</a:t>
            </a:r>
          </a:p>
        </p:txBody>
      </p:sp>
      <p:sp>
        <p:nvSpPr>
          <p:cNvPr id="9" name="Text Placeholder 8">
            <a:extLst>
              <a:ext uri="{FF2B5EF4-FFF2-40B4-BE49-F238E27FC236}">
                <a16:creationId xmlns:a16="http://schemas.microsoft.com/office/drawing/2014/main" id="{6B8DD652-1B10-D4B0-37DC-D7D6DA096CF2}"/>
              </a:ext>
            </a:extLst>
          </p:cNvPr>
          <p:cNvSpPr>
            <a:spLocks noGrp="1"/>
          </p:cNvSpPr>
          <p:nvPr>
            <p:ph type="body" sz="quarter" idx="26"/>
          </p:nvPr>
        </p:nvSpPr>
        <p:spPr/>
        <p:txBody>
          <a:bodyPr/>
          <a:lstStyle/>
          <a:p>
            <a:r>
              <a:rPr lang="pt-BR" dirty="0" err="1"/>
              <a:t>Fonte: Bloomberg, XP Research. Dados de 16/07/2026.</a:t>
            </a:r>
            <a:endParaRPr lang="en-US" dirty="0"/>
          </a:p>
        </p:txBody>
      </p:sp>
      <p:sp>
        <p:nvSpPr>
          <p:cNvPr id="10" name="Date Placeholder 9">
            <a:extLst>
              <a:ext uri="{FF2B5EF4-FFF2-40B4-BE49-F238E27FC236}">
                <a16:creationId xmlns:a16="http://schemas.microsoft.com/office/drawing/2014/main" id="{EC5A0994-5724-AAEA-AA18-F9A52B43E2FE}"/>
              </a:ext>
            </a:extLst>
          </p:cNvPr>
          <p:cNvSpPr>
            <a:spLocks noGrp="1"/>
          </p:cNvSpPr>
          <p:nvPr>
            <p:ph type="dt" sz="half" idx="2"/>
          </p:nvPr>
        </p:nvSpPr>
        <p:spPr/>
        <p:txBody>
          <a:bodyPr/>
          <a:lstStyle/>
          <a:p>
            <a:fld id="{249B4900-356E-4AC0-874C-70C0F8807A12}" type="datetime4">
              <a:rPr lang="pt-BR" smtClean="0"/>
              <a:t>21 de julho de 2026</a:t>
            </a:fld>
            <a:endParaRPr lang="en-US"/>
          </a:p>
        </p:txBody>
      </p:sp>
      <p:sp>
        <p:nvSpPr>
          <p:cNvPr id="16" name="Content Placeholder 3">
            <a:extLst>
              <a:ext uri="{FF2B5EF4-FFF2-40B4-BE49-F238E27FC236}">
                <a16:creationId xmlns:a16="http://schemas.microsoft.com/office/drawing/2014/main" id="{54B0306B-685F-987C-C821-67925FFA28DC}"/>
              </a:ext>
            </a:extLst>
          </p:cNvPr>
          <p:cNvSpPr txBox="1">
            <a:spLocks/>
          </p:cNvSpPr>
          <p:nvPr/>
        </p:nvSpPr>
        <p:spPr>
          <a:xfrm>
            <a:off x="3579274" y="4900451"/>
            <a:ext cx="2880000"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 2: Estimativas de LPA do Ibovespa por trimestre </a:t>
            </a:r>
          </a:p>
        </p:txBody>
      </p:sp>
      <p:sp>
        <p:nvSpPr>
          <p:cNvPr id="6" name="Content Placeholder 29">
            <a:extLst>
              <a:ext uri="{FF2B5EF4-FFF2-40B4-BE49-F238E27FC236}">
                <a16:creationId xmlns:a16="http://schemas.microsoft.com/office/drawing/2014/main" id="{4F45FB66-BC87-659E-69E5-082F61685D4B}"/>
              </a:ext>
            </a:extLst>
          </p:cNvPr>
          <p:cNvSpPr txBox="1">
            <a:spLocks/>
          </p:cNvSpPr>
          <p:nvPr/>
        </p:nvSpPr>
        <p:spPr>
          <a:xfrm>
            <a:off x="382829" y="7198130"/>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Gráfico 3: Revisões das estimativas de LPA de 12 meses dos setores do MSCI </a:t>
            </a:r>
            <a:r>
              <a:rPr lang="pt-BR" dirty="0" err="1"/>
              <a:t>Brazil</a:t>
            </a:r>
            <a:r>
              <a:rPr lang="pt-BR" dirty="0"/>
              <a:t> no último mês</a:t>
            </a:r>
          </a:p>
        </p:txBody>
      </p:sp>
      <p:sp>
        <p:nvSpPr>
          <p:cNvPr id="3" name="Text Placeholder 1">
            <a:extLst>
              <a:ext uri="{FF2B5EF4-FFF2-40B4-BE49-F238E27FC236}">
                <a16:creationId xmlns:a16="http://schemas.microsoft.com/office/drawing/2014/main" id="{668E61E5-B253-D14F-B3C8-99CA064AF60B}"/>
              </a:ext>
            </a:extLst>
          </p:cNvPr>
          <p:cNvSpPr txBox="1">
            <a:spLocks/>
          </p:cNvSpPr>
          <p:nvPr/>
        </p:nvSpPr>
        <p:spPr>
          <a:xfrm>
            <a:off x="382827" y="3642025"/>
            <a:ext cx="6106871" cy="1226361"/>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14000"/>
              </a:lnSpc>
            </a:pPr>
            <a:r>
              <a:rPr lang="en-US" sz="900" dirty="0"/>
              <a:t>Desde o início de </a:t>
            </a:r>
            <a:r>
              <a:rPr lang="en-US" sz="900" dirty="0" err="1"/>
              <a:t>junho</a:t>
            </a:r>
            <a:r>
              <a:rPr lang="en-US" sz="900" dirty="0"/>
              <a:t>, as estimativas de </a:t>
            </a:r>
            <a:r>
              <a:rPr lang="en-US" sz="900" dirty="0" err="1"/>
              <a:t>lucro</a:t>
            </a:r>
            <a:r>
              <a:rPr lang="en-US" sz="900" dirty="0"/>
              <a:t> </a:t>
            </a:r>
            <a:r>
              <a:rPr lang="en-US" sz="900" dirty="0" err="1"/>
              <a:t>por</a:t>
            </a:r>
            <a:r>
              <a:rPr lang="en-US" sz="900" dirty="0"/>
              <a:t> </a:t>
            </a:r>
            <a:r>
              <a:rPr lang="en-US" sz="900" dirty="0" err="1"/>
              <a:t>ação</a:t>
            </a:r>
            <a:r>
              <a:rPr lang="en-US" sz="900" dirty="0"/>
              <a:t> (LPA) do Ibovespa foram revisadas levemente para cima em 1,5% e 0,3% para 2026 e 2027, respectivamente. Enquanto isso, em base trimestral, as estimativas do 2T26 também foram revisadas para cima em 7,8%, enquanto as estimativas do 3T26 e 4T26 foram revisadas para baixo em 0,1% e 1,7%, respectivamente. No nível setorial, Consumo Discricionário </a:t>
            </a:r>
            <a:r>
              <a:rPr lang="en-US" sz="900" dirty="0" err="1"/>
              <a:t>registrou</a:t>
            </a:r>
            <a:r>
              <a:rPr lang="en-US" sz="900" dirty="0"/>
              <a:t> a </a:t>
            </a:r>
            <a:r>
              <a:rPr lang="en-US" sz="900" dirty="0" err="1"/>
              <a:t>maior</a:t>
            </a:r>
            <a:r>
              <a:rPr lang="en-US" sz="900" dirty="0"/>
              <a:t> </a:t>
            </a:r>
            <a:r>
              <a:rPr lang="en-US" sz="900" dirty="0" err="1"/>
              <a:t>revisão</a:t>
            </a:r>
            <a:r>
              <a:rPr lang="en-US" sz="900" dirty="0"/>
              <a:t> positive de lucros no último mês, impulsionado pelas distribuidoras de combustíveis Vibra e Ultrapar, ambas classificadas nesse setor sob a metodologia do MSCI. Por outro lado, os setores ligados a </a:t>
            </a:r>
            <a:r>
              <a:rPr lang="en-US" sz="900" i="1" dirty="0"/>
              <a:t>commodities</a:t>
            </a:r>
            <a:r>
              <a:rPr lang="en-US" sz="900" dirty="0"/>
              <a:t> </a:t>
            </a:r>
            <a:r>
              <a:rPr lang="en-US" sz="900" dirty="0" err="1"/>
              <a:t>apresentaram</a:t>
            </a:r>
            <a:r>
              <a:rPr lang="en-US" sz="900" dirty="0"/>
              <a:t> a </a:t>
            </a:r>
            <a:r>
              <a:rPr lang="en-US" sz="900" dirty="0" err="1"/>
              <a:t>pior</a:t>
            </a:r>
            <a:r>
              <a:rPr lang="en-US" sz="900" dirty="0"/>
              <a:t> </a:t>
            </a:r>
            <a:r>
              <a:rPr lang="en-US" sz="900" dirty="0" err="1"/>
              <a:t>tendência</a:t>
            </a:r>
            <a:r>
              <a:rPr lang="en-US" sz="900" dirty="0"/>
              <a:t> de </a:t>
            </a:r>
            <a:r>
              <a:rPr lang="en-US" sz="900" dirty="0" err="1"/>
              <a:t>revisão</a:t>
            </a:r>
            <a:r>
              <a:rPr lang="en-US" sz="900" dirty="0"/>
              <a:t> de </a:t>
            </a:r>
            <a:r>
              <a:rPr lang="en-US" sz="900" dirty="0" err="1"/>
              <a:t>lucros</a:t>
            </a:r>
            <a:r>
              <a:rPr lang="en-US" sz="900" dirty="0"/>
              <a:t>, com as estimativas de LPA de Materiais e Energia cortadas em 3,1% e 2,3%, respectivamente.</a:t>
            </a:r>
          </a:p>
        </p:txBody>
      </p:sp>
      <p:graphicFrame>
        <p:nvGraphicFramePr>
          <p:cNvPr id="11" name="Chart 10">
            <a:extLst>
              <a:ext uri="{FF2B5EF4-FFF2-40B4-BE49-F238E27FC236}">
                <a16:creationId xmlns:a16="http://schemas.microsoft.com/office/drawing/2014/main" id="{6763B2B7-F3A8-48A7-A247-0DFA977F409E}"/>
              </a:ext>
            </a:extLst>
          </p:cNvPr>
          <p:cNvGraphicFramePr>
            <a:graphicFrameLocks/>
          </p:cNvGraphicFramePr>
          <p:nvPr>
            <p:extLst>
              <p:ext uri="{D42A27DB-BD31-4B8C-83A1-F6EECF244321}">
                <p14:modId xmlns:p14="http://schemas.microsoft.com/office/powerpoint/2010/main" val="2869002634"/>
              </p:ext>
            </p:extLst>
          </p:nvPr>
        </p:nvGraphicFramePr>
        <p:xfrm>
          <a:off x="354253" y="5311349"/>
          <a:ext cx="2908575" cy="18123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346E1C24-CC55-9B09-8572-7E2D3F7ED355}"/>
              </a:ext>
            </a:extLst>
          </p:cNvPr>
          <p:cNvGraphicFramePr>
            <a:graphicFrameLocks/>
          </p:cNvGraphicFramePr>
          <p:nvPr>
            <p:extLst>
              <p:ext uri="{D42A27DB-BD31-4B8C-83A1-F6EECF244321}">
                <p14:modId xmlns:p14="http://schemas.microsoft.com/office/powerpoint/2010/main" val="3925579589"/>
              </p:ext>
            </p:extLst>
          </p:nvPr>
        </p:nvGraphicFramePr>
        <p:xfrm>
          <a:off x="390600" y="7460381"/>
          <a:ext cx="6076800" cy="18576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16664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hart 8">
            <a:extLst>
              <a:ext uri="{FF2B5EF4-FFF2-40B4-BE49-F238E27FC236}">
                <a16:creationId xmlns:a16="http://schemas.microsoft.com/office/drawing/2014/main" id="{BE028FD6-DD84-7D00-46E7-A9F2A73071C0}"/>
              </a:ext>
            </a:extLst>
          </p:cNvPr>
          <p:cNvGraphicFramePr>
            <a:graphicFrameLocks/>
          </p:cNvGraphicFramePr>
          <p:nvPr>
            <p:extLst>
              <p:ext uri="{D42A27DB-BD31-4B8C-83A1-F6EECF244321}">
                <p14:modId xmlns:p14="http://schemas.microsoft.com/office/powerpoint/2010/main" val="1061795812"/>
              </p:ext>
            </p:extLst>
          </p:nvPr>
        </p:nvGraphicFramePr>
        <p:xfrm>
          <a:off x="390153" y="5751779"/>
          <a:ext cx="6092220" cy="161548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6">
            <a:extLst>
              <a:ext uri="{FF2B5EF4-FFF2-40B4-BE49-F238E27FC236}">
                <a16:creationId xmlns:a16="http://schemas.microsoft.com/office/drawing/2014/main" id="{404FD8B7-A837-25F8-EEB2-265E81855080}"/>
              </a:ext>
            </a:extLst>
          </p:cNvPr>
          <p:cNvSpPr>
            <a:spLocks noGrp="1"/>
          </p:cNvSpPr>
          <p:nvPr>
            <p:ph type="body" sz="quarter" idx="20"/>
          </p:nvPr>
        </p:nvSpPr>
        <p:spPr>
          <a:xfrm>
            <a:off x="382828" y="1497014"/>
            <a:ext cx="6106871" cy="538050"/>
          </a:xfrm>
          <a:noFill/>
        </p:spPr>
        <p:txBody>
          <a:bodyPr/>
          <a:lstStyle/>
          <a:p>
            <a:r>
              <a:rPr lang="en-US" sz="900" dirty="0">
                <a:latin typeface="Roboto Light" panose="02000000000000000000" pitchFamily="2" charset="0"/>
                <a:ea typeface="Roboto Light" panose="02000000000000000000" pitchFamily="2" charset="0"/>
              </a:rPr>
              <a:t>A visão geral do consenso para esta temporada de resultados aponta para um trimestre positivo, com forte crescimento nas três principais métricas financeiras: Receita, EBITDA e LPA. </a:t>
            </a:r>
          </a:p>
        </p:txBody>
      </p:sp>
      <p:sp>
        <p:nvSpPr>
          <p:cNvPr id="30" name="Content Placeholder 29">
            <a:extLst>
              <a:ext uri="{FF2B5EF4-FFF2-40B4-BE49-F238E27FC236}">
                <a16:creationId xmlns:a16="http://schemas.microsoft.com/office/drawing/2014/main" id="{BC78EAF8-3D05-9217-C51F-03E20B415BE4}"/>
              </a:ext>
            </a:extLst>
          </p:cNvPr>
          <p:cNvSpPr>
            <a:spLocks noGrp="1"/>
          </p:cNvSpPr>
          <p:nvPr>
            <p:ph sz="quarter" idx="30"/>
          </p:nvPr>
        </p:nvSpPr>
        <p:spPr>
          <a:xfrm>
            <a:off x="382829" y="5479625"/>
            <a:ext cx="6099547" cy="230832"/>
          </a:xfrm>
        </p:spPr>
        <p:txBody>
          <a:bodyPr/>
          <a:lstStyle/>
          <a:p>
            <a:r>
              <a:rPr lang="pt-BR" dirty="0"/>
              <a:t>Gráfico 4: Estimativas de crescimento A/A do consenso</a:t>
            </a:r>
            <a:endParaRPr lang="en-US" dirty="0"/>
          </a:p>
        </p:txBody>
      </p:sp>
      <p:sp>
        <p:nvSpPr>
          <p:cNvPr id="4" name="Text Placeholder 3">
            <a:extLst>
              <a:ext uri="{FF2B5EF4-FFF2-40B4-BE49-F238E27FC236}">
                <a16:creationId xmlns:a16="http://schemas.microsoft.com/office/drawing/2014/main" id="{2ABBC739-668D-331F-F0CD-C4B42C52F3CF}"/>
              </a:ext>
            </a:extLst>
          </p:cNvPr>
          <p:cNvSpPr>
            <a:spLocks noGrp="1"/>
          </p:cNvSpPr>
          <p:nvPr>
            <p:ph type="body" sz="quarter" idx="16"/>
          </p:nvPr>
        </p:nvSpPr>
        <p:spPr/>
        <p:txBody>
          <a:bodyPr/>
          <a:lstStyle/>
          <a:p>
            <a:r>
              <a:rPr lang="pt-BR" dirty="0"/>
              <a:t>Prévia da temporada de resultados do 2T26</a:t>
            </a:r>
          </a:p>
        </p:txBody>
      </p:sp>
      <p:sp>
        <p:nvSpPr>
          <p:cNvPr id="6" name="Text Placeholder 5">
            <a:extLst>
              <a:ext uri="{FF2B5EF4-FFF2-40B4-BE49-F238E27FC236}">
                <a16:creationId xmlns:a16="http://schemas.microsoft.com/office/drawing/2014/main" id="{279F47D8-D280-FAC6-4659-64D7CCBEF8B8}"/>
              </a:ext>
            </a:extLst>
          </p:cNvPr>
          <p:cNvSpPr>
            <a:spLocks noGrp="1"/>
          </p:cNvSpPr>
          <p:nvPr>
            <p:ph type="body" sz="quarter" idx="17"/>
          </p:nvPr>
        </p:nvSpPr>
        <p:spPr/>
        <p:txBody>
          <a:bodyPr vert="horz" lIns="0" tIns="0" rIns="0" bIns="0" rtlCol="0" anchor="t">
            <a:noAutofit/>
          </a:bodyPr>
          <a:lstStyle/>
          <a:p>
            <a:r>
              <a:rPr lang="en-US" dirty="0">
                <a:solidFill>
                  <a:schemeClr val="tx1"/>
                </a:solidFill>
              </a:rPr>
              <a:t>Consenso espera forte crescimento em todas as </a:t>
            </a:r>
            <a:r>
              <a:rPr lang="en-US" dirty="0" err="1">
                <a:solidFill>
                  <a:schemeClr val="tx1"/>
                </a:solidFill>
              </a:rPr>
              <a:t>principais</a:t>
            </a:r>
            <a:r>
              <a:rPr lang="en-US" dirty="0">
                <a:solidFill>
                  <a:schemeClr val="tx1"/>
                </a:solidFill>
              </a:rPr>
              <a:t> </a:t>
            </a:r>
            <a:r>
              <a:rPr lang="en-US" dirty="0" err="1">
                <a:solidFill>
                  <a:schemeClr val="tx1"/>
                </a:solidFill>
              </a:rPr>
              <a:t>métricas</a:t>
            </a:r>
            <a:endParaRPr lang="en-US" dirty="0">
              <a:solidFill>
                <a:schemeClr val="tx1"/>
              </a:solidFill>
            </a:endParaRPr>
          </a:p>
        </p:txBody>
      </p:sp>
      <p:sp>
        <p:nvSpPr>
          <p:cNvPr id="15" name="Text Placeholder 14">
            <a:extLst>
              <a:ext uri="{FF2B5EF4-FFF2-40B4-BE49-F238E27FC236}">
                <a16:creationId xmlns:a16="http://schemas.microsoft.com/office/drawing/2014/main" id="{98B26243-DF53-46A9-B309-707175C2594B}"/>
              </a:ext>
            </a:extLst>
          </p:cNvPr>
          <p:cNvSpPr>
            <a:spLocks noGrp="1"/>
          </p:cNvSpPr>
          <p:nvPr>
            <p:ph type="body" sz="quarter" idx="26"/>
          </p:nvPr>
        </p:nvSpPr>
        <p:spPr/>
        <p:txBody>
          <a:bodyPr/>
          <a:lstStyle/>
          <a:p>
            <a:r>
              <a:rPr lang="en-US" dirty="0"/>
              <a:t>Fonte: Bloomberg, XP Research. Dados de 17/07/2026.</a:t>
            </a:r>
          </a:p>
        </p:txBody>
      </p:sp>
      <p:sp>
        <p:nvSpPr>
          <p:cNvPr id="16" name="Date Placeholder 15">
            <a:extLst>
              <a:ext uri="{FF2B5EF4-FFF2-40B4-BE49-F238E27FC236}">
                <a16:creationId xmlns:a16="http://schemas.microsoft.com/office/drawing/2014/main" id="{F5BB577C-C7DC-435A-A685-1F04FC1DB3DB}"/>
              </a:ext>
            </a:extLst>
          </p:cNvPr>
          <p:cNvSpPr>
            <a:spLocks noGrp="1"/>
          </p:cNvSpPr>
          <p:nvPr>
            <p:ph type="dt" sz="half" idx="2"/>
          </p:nvPr>
        </p:nvSpPr>
        <p:spPr/>
        <p:txBody>
          <a:bodyPr/>
          <a:lstStyle/>
          <a:p>
            <a:fld id="{DB7010C2-55D7-46C4-B819-FF5D0A63A41E}" type="datetime4">
              <a:rPr lang="pt-BR" smtClean="0"/>
              <a:t>21 de julho de 2026</a:t>
            </a:fld>
            <a:endParaRPr lang="en-US"/>
          </a:p>
        </p:txBody>
      </p:sp>
      <p:sp>
        <p:nvSpPr>
          <p:cNvPr id="2" name="Text Placeholder 6">
            <a:extLst>
              <a:ext uri="{FF2B5EF4-FFF2-40B4-BE49-F238E27FC236}">
                <a16:creationId xmlns:a16="http://schemas.microsoft.com/office/drawing/2014/main" id="{47FE1E26-D647-7136-4607-52F0012C0297}"/>
              </a:ext>
            </a:extLst>
          </p:cNvPr>
          <p:cNvSpPr txBox="1">
            <a:spLocks/>
          </p:cNvSpPr>
          <p:nvPr/>
        </p:nvSpPr>
        <p:spPr>
          <a:xfrm>
            <a:off x="390153" y="1996685"/>
            <a:ext cx="6099546" cy="60346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14000"/>
              </a:lnSpc>
            </a:pPr>
            <a:r>
              <a:rPr lang="en-US" sz="900" dirty="0"/>
              <a:t>Em relação ao 2T25, o consenso da Bloomberg projeta que o EBITDA e o LPA das empresas do Ibovespa cresçam de forma significativa (+44,9% e 35,0%, respectivamente), enquanto a Receita (+6,8%) também deve apresentar expansão sólida.</a:t>
            </a:r>
            <a:endParaRPr lang="pt-BR" sz="900" dirty="0"/>
          </a:p>
        </p:txBody>
      </p:sp>
      <p:sp>
        <p:nvSpPr>
          <p:cNvPr id="3" name="Text Placeholder 6">
            <a:extLst>
              <a:ext uri="{FF2B5EF4-FFF2-40B4-BE49-F238E27FC236}">
                <a16:creationId xmlns:a16="http://schemas.microsoft.com/office/drawing/2014/main" id="{20D2B7EB-5A4C-3C03-2678-716F9D99C67C}"/>
              </a:ext>
            </a:extLst>
          </p:cNvPr>
          <p:cNvSpPr txBox="1">
            <a:spLocks/>
          </p:cNvSpPr>
          <p:nvPr/>
        </p:nvSpPr>
        <p:spPr>
          <a:xfrm>
            <a:off x="382828" y="2534736"/>
            <a:ext cx="6106871" cy="3036848"/>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sz="900" dirty="0"/>
              <a:t>O Bloomberg Commodity Index caiu 8,9% T/T, mas avançou 20,7% A/A. Os preços do Brent recuaram fortemente na base trimestral (-38,4% T/T), para US$72,9/bbl, refletindo a desescalada do conflito EUA-Irã, embora ainda tenham registrado crescimento de 7,9% A/A. Ao mesmo tempo, o </a:t>
            </a:r>
            <a:r>
              <a:rPr lang="en-US" sz="900" dirty="0" err="1"/>
              <a:t>câmbio</a:t>
            </a:r>
            <a:r>
              <a:rPr lang="en-US" sz="900" dirty="0"/>
              <a:t> permaneceu praticamente estável no trimestre (-0,4% T/T).</a:t>
            </a:r>
          </a:p>
          <a:p>
            <a:r>
              <a:rPr lang="en-US" sz="900" dirty="0"/>
              <a:t>Para os setores domésticos, o ambiente permanece desafiador em meio a juros elevados e alta incerteza tanto no cenário doméstico quanto no global. Dito isso, esperamos que o 2T26 apresente uma melhora sequencial, impulsionada principalmente pelos preços favoráveis das </a:t>
            </a:r>
            <a:r>
              <a:rPr lang="en-US" sz="900" i="1" dirty="0"/>
              <a:t>commodities</a:t>
            </a:r>
            <a:r>
              <a:rPr lang="en-US" sz="900" dirty="0"/>
              <a:t> ao longo do trimestre.</a:t>
            </a:r>
          </a:p>
          <a:p>
            <a:r>
              <a:rPr lang="en-US" sz="900" dirty="0"/>
              <a:t>O mercado de opções está precificando uma reação moderada aos resultados, com o movimento implícito médio das ações individuais do Ibovespa atualmente em 3,74% (vs. 3,73% no trimestre anterior). Enquanto isso, o consenso aponta para menor volatilidade no mercado como um todo, com a volatilidade implícita em 18,66%, abaixo dos 19,25% registrados na prévia de resultados do trimestre anterior. No entanto, ela permanece acima tanto da mediana de 24 meses (15,97%) quanto da de 36 meses (16,15%).</a:t>
            </a:r>
          </a:p>
          <a:p>
            <a:r>
              <a:rPr lang="en-US" sz="900" dirty="0"/>
              <a:t>Ao mesmo tempo, espera-se que a dispersão dos resultados também seja levemente superior à média histórica, já que o </a:t>
            </a:r>
            <a:r>
              <a:rPr lang="en-US" sz="900" i="1" dirty="0"/>
              <a:t>spread</a:t>
            </a:r>
            <a:r>
              <a:rPr lang="en-US" sz="900" dirty="0"/>
              <a:t> entre a volatilidade implícita das ações individuais e a volatilidade implícita do índice está em 14,92%, acima da mediana de três anos de 12,49%.</a:t>
            </a:r>
            <a:endParaRPr lang="en-US" sz="900" b="1" dirty="0"/>
          </a:p>
        </p:txBody>
      </p:sp>
      <p:sp>
        <p:nvSpPr>
          <p:cNvPr id="10" name="Content Placeholder 29">
            <a:extLst>
              <a:ext uri="{FF2B5EF4-FFF2-40B4-BE49-F238E27FC236}">
                <a16:creationId xmlns:a16="http://schemas.microsoft.com/office/drawing/2014/main" id="{54690E93-81E3-B872-E215-9F719521A23D}"/>
              </a:ext>
            </a:extLst>
          </p:cNvPr>
          <p:cNvSpPr txBox="1">
            <a:spLocks/>
          </p:cNvSpPr>
          <p:nvPr/>
        </p:nvSpPr>
        <p:spPr>
          <a:xfrm>
            <a:off x="382829" y="7464818"/>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Gráfico 5: Movimento implícito médio das ações individuais do Ibovespa (%)</a:t>
            </a:r>
          </a:p>
        </p:txBody>
      </p:sp>
      <p:sp>
        <p:nvSpPr>
          <p:cNvPr id="11" name="Rectangle 10">
            <a:extLst>
              <a:ext uri="{FF2B5EF4-FFF2-40B4-BE49-F238E27FC236}">
                <a16:creationId xmlns:a16="http://schemas.microsoft.com/office/drawing/2014/main" id="{4D68196A-DB44-1D57-5D2D-CA929860DF49}"/>
              </a:ext>
            </a:extLst>
          </p:cNvPr>
          <p:cNvSpPr/>
          <p:nvPr/>
        </p:nvSpPr>
        <p:spPr>
          <a:xfrm>
            <a:off x="5160475" y="5849507"/>
            <a:ext cx="1203750" cy="1559082"/>
          </a:xfrm>
          <a:prstGeom prst="rect">
            <a:avLst/>
          </a:prstGeom>
          <a:solidFill>
            <a:srgbClr val="F2F2F2">
              <a:alpha val="14902"/>
            </a:srgbClr>
          </a:solid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aphicFrame>
        <p:nvGraphicFramePr>
          <p:cNvPr id="8" name="Chart 7">
            <a:extLst>
              <a:ext uri="{FF2B5EF4-FFF2-40B4-BE49-F238E27FC236}">
                <a16:creationId xmlns:a16="http://schemas.microsoft.com/office/drawing/2014/main" id="{6A3488FB-E3DA-D012-FF9C-FCFFBFB97F2D}"/>
              </a:ext>
            </a:extLst>
          </p:cNvPr>
          <p:cNvGraphicFramePr>
            <a:graphicFrameLocks/>
          </p:cNvGraphicFramePr>
          <p:nvPr>
            <p:extLst>
              <p:ext uri="{D42A27DB-BD31-4B8C-83A1-F6EECF244321}">
                <p14:modId xmlns:p14="http://schemas.microsoft.com/office/powerpoint/2010/main" val="74097657"/>
              </p:ext>
            </p:extLst>
          </p:nvPr>
        </p:nvGraphicFramePr>
        <p:xfrm>
          <a:off x="396502" y="7751879"/>
          <a:ext cx="6085871" cy="16109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92377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985DD9-8DA9-7A3E-098A-F477138162F6}"/>
              </a:ext>
            </a:extLst>
          </p:cNvPr>
          <p:cNvSpPr/>
          <p:nvPr/>
        </p:nvSpPr>
        <p:spPr>
          <a:xfrm>
            <a:off x="6136408" y="5675736"/>
            <a:ext cx="137392" cy="1129222"/>
          </a:xfrm>
          <a:prstGeom prst="rect">
            <a:avLst/>
          </a:prstGeom>
          <a:solidFill>
            <a:schemeClr val="bg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graphicFrame>
        <p:nvGraphicFramePr>
          <p:cNvPr id="17" name="Chart 16">
            <a:extLst>
              <a:ext uri="{FF2B5EF4-FFF2-40B4-BE49-F238E27FC236}">
                <a16:creationId xmlns:a16="http://schemas.microsoft.com/office/drawing/2014/main" id="{6A3488FB-E3DA-D012-FF9C-FCFFBFB97F2D}"/>
              </a:ext>
            </a:extLst>
          </p:cNvPr>
          <p:cNvGraphicFramePr>
            <a:graphicFrameLocks/>
          </p:cNvGraphicFramePr>
          <p:nvPr/>
        </p:nvGraphicFramePr>
        <p:xfrm>
          <a:off x="3552749" y="5138575"/>
          <a:ext cx="2949757" cy="208761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Placeholder 11">
            <a:extLst>
              <a:ext uri="{FF2B5EF4-FFF2-40B4-BE49-F238E27FC236}">
                <a16:creationId xmlns:a16="http://schemas.microsoft.com/office/drawing/2014/main" id="{9C9FF5E8-43D5-696B-5A7B-269D1DF926A4}"/>
              </a:ext>
            </a:extLst>
          </p:cNvPr>
          <p:cNvSpPr>
            <a:spLocks noGrp="1"/>
          </p:cNvSpPr>
          <p:nvPr>
            <p:ph type="body" sz="quarter" idx="20"/>
          </p:nvPr>
        </p:nvSpPr>
        <p:spPr>
          <a:xfrm>
            <a:off x="382829" y="1511053"/>
            <a:ext cx="2922421" cy="5813423"/>
          </a:xfrm>
          <a:noFill/>
        </p:spPr>
        <p:txBody>
          <a:bodyPr/>
          <a:lstStyle/>
          <a:p>
            <a:pPr>
              <a:lnSpc>
                <a:spcPct val="120000"/>
              </a:lnSpc>
            </a:pPr>
            <a:r>
              <a:rPr lang="en-US" sz="950" b="1" dirty="0">
                <a:solidFill>
                  <a:schemeClr val="tx1"/>
                </a:solidFill>
              </a:rPr>
              <a:t>Em termos de comportamento dos preços, a temporada de resultados do 1T26 apresentou um quadro levemente negativo, </a:t>
            </a:r>
            <a:r>
              <a:rPr lang="en-US" sz="950" dirty="0">
                <a:solidFill>
                  <a:schemeClr val="tx1"/>
                </a:solidFill>
              </a:rPr>
              <a:t>com as ações do Ibovespa apresentando uma reação média de -0,25% no dia seguinte à divulgação dos resultados (vs. média de -0,16% dos últimos 5 trimestres). Além disso, a dispersão típica entre surpresas positivas e negativas de resultados ampliou-se em relação ao trimestre anterior: as ações que ficaram abaixo das expectativas entregaram um retorno médio pós-resultado de -1,47%, contra +0,73% para aquelas que apresentaram surpresas positivas.</a:t>
            </a:r>
          </a:p>
          <a:p>
            <a:pPr>
              <a:lnSpc>
                <a:spcPct val="120000"/>
              </a:lnSpc>
            </a:pPr>
            <a:r>
              <a:rPr lang="en-US" sz="950" b="1" dirty="0">
                <a:solidFill>
                  <a:schemeClr val="tx1"/>
                </a:solidFill>
              </a:rPr>
              <a:t>No nível setorial, o desempenho foi majoritariamente negativo: </a:t>
            </a:r>
            <a:r>
              <a:rPr lang="en-US" sz="950" dirty="0">
                <a:solidFill>
                  <a:schemeClr val="tx1"/>
                </a:solidFill>
              </a:rPr>
              <a:t>42 componentes do Ibovespa e 10 dos 17 setores registraram retornos negativos um dia após a divulgação dos resultados. Entre os destaques positivos estiveram Alimentos &amp; Bebidas (+7,3%), Saúde (+2,0%) e Transportes (+1,8%), enquanto Bens de Capital (-6,4%), Bancos (-2,2%) e Varejo (-2,1%) tiveram desempenho inferior.</a:t>
            </a:r>
          </a:p>
          <a:p>
            <a:pPr>
              <a:lnSpc>
                <a:spcPct val="120000"/>
              </a:lnSpc>
            </a:pPr>
            <a:r>
              <a:rPr lang="en-US" sz="950" b="1" dirty="0">
                <a:solidFill>
                  <a:schemeClr val="tx1"/>
                </a:solidFill>
              </a:rPr>
              <a:t>Os movimentos implícitos das ações individuais aumentaram significativamente durante a temporada de resultados</a:t>
            </a:r>
            <a:r>
              <a:rPr lang="en-US" sz="950" dirty="0">
                <a:solidFill>
                  <a:schemeClr val="tx1"/>
                </a:solidFill>
              </a:rPr>
              <a:t>, enquanto a volatilidade implícita no nível do índice subiu apenas levemente.</a:t>
            </a:r>
          </a:p>
          <a:p>
            <a:pPr>
              <a:lnSpc>
                <a:spcPct val="120000"/>
              </a:lnSpc>
            </a:pPr>
            <a:r>
              <a:rPr lang="en-US" sz="950" dirty="0">
                <a:solidFill>
                  <a:schemeClr val="tx1"/>
                </a:solidFill>
              </a:rPr>
              <a:t>No geral, o 1T26 foi marcado por reações de mercado levemente negativas</a:t>
            </a:r>
            <a:r>
              <a:rPr lang="en-US" sz="950" b="1" dirty="0">
                <a:solidFill>
                  <a:schemeClr val="tx1"/>
                </a:solidFill>
              </a:rPr>
              <a:t>. </a:t>
            </a:r>
            <a:r>
              <a:rPr lang="en-US" sz="950" dirty="0">
                <a:solidFill>
                  <a:schemeClr val="tx1"/>
                </a:solidFill>
              </a:rPr>
              <a:t>A diferença de desempenho entre surpresas positivas e negativas ampliou-se em relação ao trimestre anterior, enquanto a volatilidade no nível do índice aumentou de forma modesta, apesar de um pano de fundo macro mais turbulento.</a:t>
            </a:r>
            <a:endParaRPr lang="en-US" sz="950" dirty="0">
              <a:solidFill>
                <a:srgbClr val="FF0000"/>
              </a:solidFill>
            </a:endParaRPr>
          </a:p>
        </p:txBody>
      </p:sp>
      <p:sp>
        <p:nvSpPr>
          <p:cNvPr id="5" name="Content Placeholder 4">
            <a:extLst>
              <a:ext uri="{FF2B5EF4-FFF2-40B4-BE49-F238E27FC236}">
                <a16:creationId xmlns:a16="http://schemas.microsoft.com/office/drawing/2014/main" id="{84BBF007-30A8-5AE2-13A0-E58FE420D5B4}"/>
              </a:ext>
            </a:extLst>
          </p:cNvPr>
          <p:cNvSpPr>
            <a:spLocks noGrp="1"/>
          </p:cNvSpPr>
          <p:nvPr>
            <p:ph sz="quarter" idx="24"/>
          </p:nvPr>
        </p:nvSpPr>
        <p:spPr>
          <a:xfrm>
            <a:off x="402963" y="7313459"/>
            <a:ext cx="6099545" cy="230833"/>
          </a:xfrm>
        </p:spPr>
        <p:txBody>
          <a:bodyPr/>
          <a:lstStyle/>
          <a:p>
            <a:r>
              <a:rPr lang="en-US" dirty="0"/>
              <a:t>Gráfico 7: Reação média de mercado do Ibovespa nos últimos trimestres</a:t>
            </a:r>
          </a:p>
        </p:txBody>
      </p:sp>
      <p:sp>
        <p:nvSpPr>
          <p:cNvPr id="7" name="Espaço Reservado para Texto 6">
            <a:extLst>
              <a:ext uri="{FF2B5EF4-FFF2-40B4-BE49-F238E27FC236}">
                <a16:creationId xmlns:a16="http://schemas.microsoft.com/office/drawing/2014/main" id="{86A13B88-3CBC-9262-3E0B-93AF63E5C323}"/>
              </a:ext>
            </a:extLst>
          </p:cNvPr>
          <p:cNvSpPr>
            <a:spLocks noGrp="1"/>
          </p:cNvSpPr>
          <p:nvPr>
            <p:ph type="body" sz="quarter" idx="16"/>
          </p:nvPr>
        </p:nvSpPr>
        <p:spPr/>
        <p:txBody>
          <a:bodyPr/>
          <a:lstStyle/>
          <a:p>
            <a:r>
              <a:rPr lang="pt-BR" dirty="0"/>
              <a:t>Prévia da temporada de resultados do 2T26</a:t>
            </a:r>
          </a:p>
        </p:txBody>
      </p:sp>
      <p:sp>
        <p:nvSpPr>
          <p:cNvPr id="8" name="Espaço Reservado para Texto 7">
            <a:extLst>
              <a:ext uri="{FF2B5EF4-FFF2-40B4-BE49-F238E27FC236}">
                <a16:creationId xmlns:a16="http://schemas.microsoft.com/office/drawing/2014/main" id="{3F8EEE76-4EBA-AF57-8187-16DB8DE60690}"/>
              </a:ext>
            </a:extLst>
          </p:cNvPr>
          <p:cNvSpPr>
            <a:spLocks noGrp="1"/>
          </p:cNvSpPr>
          <p:nvPr>
            <p:ph type="body" sz="quarter" idx="17"/>
          </p:nvPr>
        </p:nvSpPr>
        <p:spPr/>
        <p:txBody>
          <a:bodyPr vert="horz" lIns="0" tIns="0" rIns="0" bIns="0" rtlCol="0" anchor="t">
            <a:noAutofit/>
          </a:bodyPr>
          <a:lstStyle/>
          <a:p>
            <a:r>
              <a:rPr lang="en-US" dirty="0">
                <a:solidFill>
                  <a:schemeClr val="tx1"/>
                </a:solidFill>
              </a:rPr>
              <a:t>Reações de mercado levemente negativas na </a:t>
            </a:r>
            <a:r>
              <a:rPr lang="en-US" dirty="0" err="1">
                <a:solidFill>
                  <a:schemeClr val="tx1"/>
                </a:solidFill>
              </a:rPr>
              <a:t>última</a:t>
            </a:r>
            <a:r>
              <a:rPr lang="en-US" dirty="0">
                <a:solidFill>
                  <a:schemeClr val="tx1"/>
                </a:solidFill>
              </a:rPr>
              <a:t> </a:t>
            </a:r>
            <a:r>
              <a:rPr lang="en-US" dirty="0" err="1">
                <a:solidFill>
                  <a:schemeClr val="tx1"/>
                </a:solidFill>
              </a:rPr>
              <a:t>temporada</a:t>
            </a:r>
            <a:endParaRPr lang="en-US" dirty="0">
              <a:solidFill>
                <a:schemeClr val="tx1"/>
              </a:solidFill>
            </a:endParaRPr>
          </a:p>
        </p:txBody>
      </p:sp>
      <p:sp>
        <p:nvSpPr>
          <p:cNvPr id="15" name="Text Placeholder 14">
            <a:extLst>
              <a:ext uri="{FF2B5EF4-FFF2-40B4-BE49-F238E27FC236}">
                <a16:creationId xmlns:a16="http://schemas.microsoft.com/office/drawing/2014/main" id="{A56AD2B4-C8E4-45A5-A4F2-F92CA0C65139}"/>
              </a:ext>
            </a:extLst>
          </p:cNvPr>
          <p:cNvSpPr>
            <a:spLocks noGrp="1"/>
          </p:cNvSpPr>
          <p:nvPr>
            <p:ph type="body" sz="quarter" idx="31"/>
          </p:nvPr>
        </p:nvSpPr>
        <p:spPr/>
        <p:txBody>
          <a:bodyPr/>
          <a:lstStyle/>
          <a:p>
            <a:r>
              <a:rPr lang="pt-BR" err="1"/>
              <a:t>Fonte: Bloomberg, Economatica, XP Research. </a:t>
            </a:r>
          </a:p>
        </p:txBody>
      </p:sp>
      <p:sp>
        <p:nvSpPr>
          <p:cNvPr id="10" name="Espaço Reservado para Data 9">
            <a:extLst>
              <a:ext uri="{FF2B5EF4-FFF2-40B4-BE49-F238E27FC236}">
                <a16:creationId xmlns:a16="http://schemas.microsoft.com/office/drawing/2014/main" id="{08627922-EA2E-EF50-1A56-F38FBB99EFD0}"/>
              </a:ext>
            </a:extLst>
          </p:cNvPr>
          <p:cNvSpPr>
            <a:spLocks noGrp="1"/>
          </p:cNvSpPr>
          <p:nvPr>
            <p:ph type="dt" sz="half" idx="2"/>
          </p:nvPr>
        </p:nvSpPr>
        <p:spPr/>
        <p:txBody>
          <a:bodyPr/>
          <a:lstStyle/>
          <a:p>
            <a:fld id="{3BD6F299-816A-4422-A12A-CFF6CD1C187B}" type="datetime4">
              <a:rPr lang="pt-BR" smtClean="0"/>
              <a:t>21 de julho de 2026</a:t>
            </a:fld>
            <a:endParaRPr lang="en-US"/>
          </a:p>
        </p:txBody>
      </p:sp>
      <p:sp>
        <p:nvSpPr>
          <p:cNvPr id="14" name="Content Placeholder 16">
            <a:extLst>
              <a:ext uri="{FF2B5EF4-FFF2-40B4-BE49-F238E27FC236}">
                <a16:creationId xmlns:a16="http://schemas.microsoft.com/office/drawing/2014/main" id="{86F0C245-3437-417C-8605-C1F49AAC333E}"/>
              </a:ext>
            </a:extLst>
          </p:cNvPr>
          <p:cNvSpPr txBox="1">
            <a:spLocks/>
          </p:cNvSpPr>
          <p:nvPr/>
        </p:nvSpPr>
        <p:spPr>
          <a:xfrm>
            <a:off x="3552750" y="1506411"/>
            <a:ext cx="2949758"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Tabela 2: Reação média de mercado do Ibovespa após </a:t>
            </a:r>
            <a:r>
              <a:rPr lang="en-US" dirty="0" err="1"/>
              <a:t>os</a:t>
            </a:r>
            <a:r>
              <a:rPr lang="en-US" dirty="0"/>
              <a:t> </a:t>
            </a:r>
            <a:r>
              <a:rPr lang="en-US" dirty="0" err="1"/>
              <a:t>resultados</a:t>
            </a:r>
            <a:endParaRPr lang="en-US" dirty="0"/>
          </a:p>
        </p:txBody>
      </p:sp>
      <p:sp>
        <p:nvSpPr>
          <p:cNvPr id="11" name="Content Placeholder 16">
            <a:extLst>
              <a:ext uri="{FF2B5EF4-FFF2-40B4-BE49-F238E27FC236}">
                <a16:creationId xmlns:a16="http://schemas.microsoft.com/office/drawing/2014/main" id="{42B4911F-F9AA-E8B5-8C32-3E1F7F82A401}"/>
              </a:ext>
            </a:extLst>
          </p:cNvPr>
          <p:cNvSpPr txBox="1">
            <a:spLocks/>
          </p:cNvSpPr>
          <p:nvPr/>
        </p:nvSpPr>
        <p:spPr>
          <a:xfrm>
            <a:off x="3552750" y="4752519"/>
            <a:ext cx="2949758"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Gráfico 6: Movimento implícito das ações individuais do Ibovespa (%)</a:t>
            </a:r>
          </a:p>
        </p:txBody>
      </p:sp>
      <p:sp>
        <p:nvSpPr>
          <p:cNvPr id="23" name="TextBox 7">
            <a:extLst>
              <a:ext uri="{FF2B5EF4-FFF2-40B4-BE49-F238E27FC236}">
                <a16:creationId xmlns:a16="http://schemas.microsoft.com/office/drawing/2014/main" id="{ED7DD4D7-A7B9-FDDD-9256-F747AF33580F}"/>
              </a:ext>
            </a:extLst>
          </p:cNvPr>
          <p:cNvSpPr txBox="1"/>
          <p:nvPr/>
        </p:nvSpPr>
        <p:spPr>
          <a:xfrm>
            <a:off x="5828010" y="5597199"/>
            <a:ext cx="545646" cy="17768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800" b="1" dirty="0">
                <a:solidFill>
                  <a:srgbClr val="FF0000"/>
                </a:solidFill>
                <a:latin typeface="Roboto Light" panose="02000000000000000000" pitchFamily="2" charset="0"/>
                <a:ea typeface="Roboto Light" panose="02000000000000000000" pitchFamily="2" charset="0"/>
                <a:cs typeface="Roboto Light" panose="02000000000000000000" pitchFamily="2" charset="0"/>
              </a:rPr>
              <a:t>1T26</a:t>
            </a:r>
          </a:p>
        </p:txBody>
      </p:sp>
      <p:sp>
        <p:nvSpPr>
          <p:cNvPr id="6" name="Rectangle 5">
            <a:extLst>
              <a:ext uri="{FF2B5EF4-FFF2-40B4-BE49-F238E27FC236}">
                <a16:creationId xmlns:a16="http://schemas.microsoft.com/office/drawing/2014/main" id="{5015EDF3-1271-EC5E-8A74-FC27DB8212A1}"/>
              </a:ext>
            </a:extLst>
          </p:cNvPr>
          <p:cNvSpPr/>
          <p:nvPr/>
        </p:nvSpPr>
        <p:spPr>
          <a:xfrm>
            <a:off x="6071852" y="5757494"/>
            <a:ext cx="137392" cy="1010020"/>
          </a:xfrm>
          <a:prstGeom prst="rect">
            <a:avLst/>
          </a:prstGeom>
          <a:solidFill>
            <a:srgbClr val="D9D9D9">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aphicFrame>
        <p:nvGraphicFramePr>
          <p:cNvPr id="3" name="Table 2">
            <a:extLst>
              <a:ext uri="{FF2B5EF4-FFF2-40B4-BE49-F238E27FC236}">
                <a16:creationId xmlns:a16="http://schemas.microsoft.com/office/drawing/2014/main" id="{3E96A5CF-3412-E94D-0FA9-769F8ECA7D38}"/>
              </a:ext>
            </a:extLst>
          </p:cNvPr>
          <p:cNvGraphicFramePr>
            <a:graphicFrameLocks noGrp="1"/>
          </p:cNvGraphicFramePr>
          <p:nvPr>
            <p:extLst>
              <p:ext uri="{D42A27DB-BD31-4B8C-83A1-F6EECF244321}">
                <p14:modId xmlns:p14="http://schemas.microsoft.com/office/powerpoint/2010/main" val="3703046353"/>
              </p:ext>
            </p:extLst>
          </p:nvPr>
        </p:nvGraphicFramePr>
        <p:xfrm>
          <a:off x="3552749" y="1915682"/>
          <a:ext cx="2949757" cy="2710064"/>
        </p:xfrm>
        <a:graphic>
          <a:graphicData uri="http://schemas.openxmlformats.org/drawingml/2006/table">
            <a:tbl>
              <a:tblPr/>
              <a:tblGrid>
                <a:gridCol w="2152984">
                  <a:extLst>
                    <a:ext uri="{9D8B030D-6E8A-4147-A177-3AD203B41FA5}">
                      <a16:colId xmlns:a16="http://schemas.microsoft.com/office/drawing/2014/main" val="1286243766"/>
                    </a:ext>
                  </a:extLst>
                </a:gridCol>
                <a:gridCol w="796773">
                  <a:extLst>
                    <a:ext uri="{9D8B030D-6E8A-4147-A177-3AD203B41FA5}">
                      <a16:colId xmlns:a16="http://schemas.microsoft.com/office/drawing/2014/main" val="2450956835"/>
                    </a:ext>
                  </a:extLst>
                </a:gridCol>
              </a:tblGrid>
              <a:tr h="283621">
                <a:tc>
                  <a:txBody>
                    <a:bodyPr/>
                    <a:lstStyle/>
                    <a:p>
                      <a:pPr algn="l" fontAlgn="b">
                        <a:buNone/>
                      </a:pPr>
                      <a:r>
                        <a:rPr lang="pt-BR" sz="1000" b="1" i="0" u="none" strike="noStrike" dirty="0">
                          <a:solidFill>
                            <a:schemeClr val="tx1"/>
                          </a:solidFill>
                          <a:effectLst/>
                          <a:latin typeface="Roboto Light" panose="02000000000000000000" pitchFamily="2" charset="0"/>
                        </a:rPr>
                        <a:t>Setor</a:t>
                      </a:r>
                    </a:p>
                  </a:txBody>
                  <a:tcPr marL="0" marR="0" marT="0" marB="0" anchor="ctr">
                    <a:lnL>
                      <a:noFill/>
                    </a:lnL>
                    <a:lnR>
                      <a:noFill/>
                    </a:lnR>
                    <a:lnT>
                      <a:noFill/>
                    </a:lnT>
                    <a:lnB>
                      <a:noFill/>
                    </a:lnB>
                    <a:solidFill>
                      <a:schemeClr val="accent3"/>
                    </a:solidFill>
                  </a:tcPr>
                </a:tc>
                <a:tc>
                  <a:txBody>
                    <a:bodyPr/>
                    <a:lstStyle/>
                    <a:p>
                      <a:pPr algn="ctr" fontAlgn="b">
                        <a:buNone/>
                      </a:pPr>
                      <a:r>
                        <a:rPr lang="pt-BR" sz="1000" b="1" i="0" u="none" strike="noStrike" dirty="0" err="1">
                          <a:solidFill>
                            <a:schemeClr val="tx1"/>
                          </a:solidFill>
                          <a:effectLst/>
                          <a:latin typeface="Roboto Light" panose="02000000000000000000" pitchFamily="2" charset="0"/>
                        </a:rPr>
                        <a:t>Retorno médio</a:t>
                      </a:r>
                      <a:endParaRPr lang="pt-BR" sz="1000" b="1" i="0" u="none" strike="noStrike" dirty="0">
                        <a:solidFill>
                          <a:schemeClr val="tx1"/>
                        </a:solidFill>
                        <a:effectLst/>
                        <a:latin typeface="Roboto Light" panose="02000000000000000000" pitchFamily="2" charset="0"/>
                      </a:endParaRPr>
                    </a:p>
                  </a:txBody>
                  <a:tcPr marL="0" marR="0" marT="0" marB="0" anchor="ctr">
                    <a:lnL>
                      <a:noFill/>
                    </a:lnL>
                    <a:lnR>
                      <a:noFill/>
                    </a:lnR>
                    <a:lnT>
                      <a:noFill/>
                    </a:lnT>
                    <a:lnB>
                      <a:noFill/>
                    </a:lnB>
                    <a:solidFill>
                      <a:schemeClr val="accent3"/>
                    </a:solidFill>
                  </a:tcPr>
                </a:tc>
                <a:extLst>
                  <a:ext uri="{0D108BD9-81ED-4DB2-BD59-A6C34878D82A}">
                    <a16:rowId xmlns:a16="http://schemas.microsoft.com/office/drawing/2014/main" val="971159326"/>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Alimentos &amp; Bebidas</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7,3%</a:t>
                      </a:r>
                    </a:p>
                  </a:txBody>
                  <a:tcPr marL="0" marR="0" marT="0" marB="0" anchor="b">
                    <a:lnL>
                      <a:noFill/>
                    </a:lnL>
                    <a:lnR>
                      <a:noFill/>
                    </a:lnR>
                    <a:lnT>
                      <a:noFill/>
                    </a:lnT>
                    <a:lnB>
                      <a:noFill/>
                    </a:lnB>
                    <a:noFill/>
                  </a:tcPr>
                </a:tc>
                <a:extLst>
                  <a:ext uri="{0D108BD9-81ED-4DB2-BD59-A6C34878D82A}">
                    <a16:rowId xmlns:a16="http://schemas.microsoft.com/office/drawing/2014/main" val="397420948"/>
                  </a:ext>
                </a:extLst>
              </a:tr>
              <a:tr h="150329">
                <a:tc>
                  <a:txBody>
                    <a:bodyPr/>
                    <a:lstStyle/>
                    <a:p>
                      <a:pPr algn="l" fontAlgn="b">
                        <a:buNone/>
                      </a:pPr>
                      <a:r>
                        <a:rPr lang="pt-BR" sz="900" b="0" i="0" u="none" strike="noStrike">
                          <a:solidFill>
                            <a:srgbClr val="000000"/>
                          </a:solidFill>
                          <a:effectLst/>
                          <a:latin typeface="Roboto Light" panose="02000000000000000000" pitchFamily="2" charset="0"/>
                        </a:rPr>
                        <a:t>Saúde</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2,0%</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930548210"/>
                  </a:ext>
                </a:extLst>
              </a:tr>
              <a:tr h="150329">
                <a:tc>
                  <a:txBody>
                    <a:bodyPr/>
                    <a:lstStyle/>
                    <a:p>
                      <a:pPr algn="l" fontAlgn="b">
                        <a:buNone/>
                      </a:pPr>
                      <a:r>
                        <a:rPr lang="pt-BR" sz="900" b="0" i="0" u="none" strike="noStrike">
                          <a:solidFill>
                            <a:srgbClr val="000000"/>
                          </a:solidFill>
                          <a:effectLst/>
                          <a:latin typeface="Roboto Light" panose="02000000000000000000" pitchFamily="2" charset="0"/>
                        </a:rPr>
                        <a:t>Transportes</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1,8%</a:t>
                      </a:r>
                    </a:p>
                  </a:txBody>
                  <a:tcPr marL="0" marR="0" marT="0" marB="0" anchor="b">
                    <a:lnL>
                      <a:noFill/>
                    </a:lnL>
                    <a:lnR>
                      <a:noFill/>
                    </a:lnR>
                    <a:lnT>
                      <a:noFill/>
                    </a:lnT>
                    <a:lnB>
                      <a:noFill/>
                    </a:lnB>
                    <a:noFill/>
                  </a:tcPr>
                </a:tc>
                <a:extLst>
                  <a:ext uri="{0D108BD9-81ED-4DB2-BD59-A6C34878D82A}">
                    <a16:rowId xmlns:a16="http://schemas.microsoft.com/office/drawing/2014/main" val="545641820"/>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Propriedades Comerciais</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1,2%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648208177"/>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Mineração &amp; Siderurgia</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0,8%</a:t>
                      </a:r>
                    </a:p>
                  </a:txBody>
                  <a:tcPr marL="0" marR="0" marT="0" marB="0" anchor="b">
                    <a:lnL>
                      <a:noFill/>
                    </a:lnL>
                    <a:lnR>
                      <a:noFill/>
                    </a:lnR>
                    <a:lnT>
                      <a:noFill/>
                    </a:lnT>
                    <a:lnB>
                      <a:noFill/>
                    </a:lnB>
                    <a:noFill/>
                  </a:tcPr>
                </a:tc>
                <a:extLst>
                  <a:ext uri="{0D108BD9-81ED-4DB2-BD59-A6C34878D82A}">
                    <a16:rowId xmlns:a16="http://schemas.microsoft.com/office/drawing/2014/main" val="3582915600"/>
                  </a:ext>
                </a:extLst>
              </a:tr>
              <a:tr h="150329">
                <a:tc>
                  <a:txBody>
                    <a:bodyPr/>
                    <a:lstStyle/>
                    <a:p>
                      <a:pPr algn="l" fontAlgn="b">
                        <a:buNone/>
                      </a:pPr>
                      <a:r>
                        <a:rPr lang="pt-BR" sz="900" b="0" i="0" u="none" strike="noStrike" dirty="0" err="1">
                          <a:solidFill>
                            <a:srgbClr val="000000"/>
                          </a:solidFill>
                          <a:effectLst/>
                          <a:latin typeface="Roboto Light" panose="02000000000000000000" pitchFamily="2" charset="0"/>
                        </a:rPr>
                        <a:t>Construção Civil</a:t>
                      </a:r>
                      <a:endParaRPr lang="pt-BR" sz="900" b="0" i="0" u="none" strike="noStrike" dirty="0">
                        <a:solidFill>
                          <a:srgbClr val="000000"/>
                        </a:solidFill>
                        <a:effectLst/>
                        <a:latin typeface="Roboto Light" panose="02000000000000000000" pitchFamily="2" charset="0"/>
                      </a:endParaRP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0,5%</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506588004"/>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Financeiro</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-0,1%</a:t>
                      </a:r>
                    </a:p>
                  </a:txBody>
                  <a:tcPr marL="0" marR="0" marT="0" marB="0" anchor="b">
                    <a:lnL>
                      <a:noFill/>
                    </a:lnL>
                    <a:lnR>
                      <a:noFill/>
                    </a:lnR>
                    <a:lnT>
                      <a:noFill/>
                    </a:lnT>
                    <a:lnB>
                      <a:noFill/>
                    </a:lnB>
                    <a:noFill/>
                  </a:tcPr>
                </a:tc>
                <a:extLst>
                  <a:ext uri="{0D108BD9-81ED-4DB2-BD59-A6C34878D82A}">
                    <a16:rowId xmlns:a16="http://schemas.microsoft.com/office/drawing/2014/main" val="1250430988"/>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Saneamento</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-0,2%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269306960"/>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Utilidade Pública</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-0,3%</a:t>
                      </a:r>
                    </a:p>
                  </a:txBody>
                  <a:tcPr marL="0" marR="0" marT="0" marB="0" anchor="b">
                    <a:lnL>
                      <a:noFill/>
                    </a:lnL>
                    <a:lnR>
                      <a:noFill/>
                    </a:lnR>
                    <a:lnT>
                      <a:noFill/>
                    </a:lnT>
                    <a:lnB>
                      <a:noFill/>
                    </a:lnB>
                    <a:noFill/>
                  </a:tcPr>
                </a:tc>
                <a:extLst>
                  <a:ext uri="{0D108BD9-81ED-4DB2-BD59-A6C34878D82A}">
                    <a16:rowId xmlns:a16="http://schemas.microsoft.com/office/drawing/2014/main" val="2739916891"/>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Óleo, Gás &amp; Petroquímicos</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-1,3%</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005592556"/>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TMT</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-1,5%</a:t>
                      </a:r>
                    </a:p>
                  </a:txBody>
                  <a:tcPr marL="0" marR="0" marT="0" marB="0" anchor="b">
                    <a:lnL>
                      <a:noFill/>
                    </a:lnL>
                    <a:lnR>
                      <a:noFill/>
                    </a:lnR>
                    <a:lnT>
                      <a:noFill/>
                    </a:lnT>
                    <a:lnB>
                      <a:noFill/>
                    </a:lnB>
                    <a:noFill/>
                  </a:tcPr>
                </a:tc>
                <a:extLst>
                  <a:ext uri="{0D108BD9-81ED-4DB2-BD59-A6C34878D82A}">
                    <a16:rowId xmlns:a16="http://schemas.microsoft.com/office/drawing/2014/main" val="3417071018"/>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Agro</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-1,6%</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99156252"/>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Papel &amp; Celulose</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-1,7%</a:t>
                      </a:r>
                    </a:p>
                  </a:txBody>
                  <a:tcPr marL="0" marR="0" marT="0" marB="0" anchor="b">
                    <a:lnL>
                      <a:noFill/>
                    </a:lnL>
                    <a:lnR>
                      <a:noFill/>
                    </a:lnR>
                    <a:lnT>
                      <a:noFill/>
                    </a:lnT>
                    <a:lnB>
                      <a:noFill/>
                    </a:lnB>
                    <a:noFill/>
                  </a:tcPr>
                </a:tc>
                <a:extLst>
                  <a:ext uri="{0D108BD9-81ED-4DB2-BD59-A6C34878D82A}">
                    <a16:rowId xmlns:a16="http://schemas.microsoft.com/office/drawing/2014/main" val="837291663"/>
                  </a:ext>
                </a:extLst>
              </a:tr>
              <a:tr h="150329">
                <a:tc>
                  <a:txBody>
                    <a:bodyPr/>
                    <a:lstStyle/>
                    <a:p>
                      <a:pPr algn="l" fontAlgn="b">
                        <a:buNone/>
                      </a:pPr>
                      <a:r>
                        <a:rPr lang="pt-BR" sz="900" b="0" i="0" u="none" strike="noStrike" dirty="0" err="1">
                          <a:solidFill>
                            <a:srgbClr val="000000"/>
                          </a:solidFill>
                          <a:effectLst/>
                          <a:latin typeface="Roboto Light" panose="02000000000000000000" pitchFamily="2" charset="0"/>
                        </a:rPr>
                        <a:t>Varejo</a:t>
                      </a:r>
                      <a:endParaRPr lang="pt-BR" sz="900" b="0" i="0" u="none" strike="noStrike" dirty="0">
                        <a:solidFill>
                          <a:srgbClr val="000000"/>
                        </a:solidFill>
                        <a:effectLst/>
                        <a:latin typeface="Roboto Light" panose="02000000000000000000" pitchFamily="2" charset="0"/>
                      </a:endParaRP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-2,1%</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658932026"/>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Bancos</a:t>
                      </a:r>
                    </a:p>
                  </a:txBody>
                  <a:tcPr marL="0" marR="0" marT="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-2,2%</a:t>
                      </a:r>
                    </a:p>
                  </a:txBody>
                  <a:tcPr marL="0" marR="0" marT="0" marB="0" anchor="b">
                    <a:lnL>
                      <a:noFill/>
                    </a:lnL>
                    <a:lnR>
                      <a:noFill/>
                    </a:lnR>
                    <a:lnT>
                      <a:noFill/>
                    </a:lnT>
                    <a:lnB>
                      <a:noFill/>
                    </a:lnB>
                    <a:noFill/>
                  </a:tcPr>
                </a:tc>
                <a:extLst>
                  <a:ext uri="{0D108BD9-81ED-4DB2-BD59-A6C34878D82A}">
                    <a16:rowId xmlns:a16="http://schemas.microsoft.com/office/drawing/2014/main" val="3706068869"/>
                  </a:ext>
                </a:extLst>
              </a:tr>
              <a:tr h="150329">
                <a:tc>
                  <a:txBody>
                    <a:bodyPr/>
                    <a:lstStyle/>
                    <a:p>
                      <a:pPr algn="l" fontAlgn="b">
                        <a:buNone/>
                      </a:pPr>
                      <a:r>
                        <a:rPr lang="pt-BR" sz="900" b="0" i="0" u="none" strike="noStrike" dirty="0">
                          <a:solidFill>
                            <a:srgbClr val="000000"/>
                          </a:solidFill>
                          <a:effectLst/>
                          <a:latin typeface="Roboto Light" panose="02000000000000000000" pitchFamily="2" charset="0"/>
                        </a:rPr>
                        <a:t>Bens de Capital</a:t>
                      </a:r>
                    </a:p>
                  </a:txBody>
                  <a:tcPr marL="0" marR="0" marT="0" marB="0" anchor="b">
                    <a:lnL>
                      <a:noFill/>
                    </a:lnL>
                    <a:lnR>
                      <a:noFill/>
                    </a:lnR>
                    <a:lnT>
                      <a:noFill/>
                    </a:lnT>
                    <a:lnB>
                      <a:noFill/>
                    </a:lnB>
                    <a:solidFill>
                      <a:srgbClr val="F2F2F2"/>
                    </a:solidFill>
                  </a:tcPr>
                </a:tc>
                <a:tc>
                  <a:txBody>
                    <a:bodyPr/>
                    <a:lstStyle/>
                    <a:p>
                      <a:pPr algn="ctr" fontAlgn="b">
                        <a:buNone/>
                      </a:pPr>
                      <a:r>
                        <a:rPr lang="pt-BR" sz="900" b="0" i="0" u="none" strike="noStrike" dirty="0">
                          <a:solidFill>
                            <a:srgbClr val="000000"/>
                          </a:solidFill>
                          <a:effectLst/>
                          <a:latin typeface="Roboto Light" panose="02000000000000000000" pitchFamily="2" charset="0"/>
                        </a:rPr>
                        <a:t>-6,4%</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689069822"/>
                  </a:ext>
                </a:extLst>
              </a:tr>
            </a:tbl>
          </a:graphicData>
        </a:graphic>
      </p:graphicFrame>
      <p:graphicFrame>
        <p:nvGraphicFramePr>
          <p:cNvPr id="16" name="Chart 15">
            <a:extLst>
              <a:ext uri="{FF2B5EF4-FFF2-40B4-BE49-F238E27FC236}">
                <a16:creationId xmlns:a16="http://schemas.microsoft.com/office/drawing/2014/main" id="{456CE727-DFD5-47A2-814F-9A1343B1F490}"/>
              </a:ext>
            </a:extLst>
          </p:cNvPr>
          <p:cNvGraphicFramePr>
            <a:graphicFrameLocks/>
          </p:cNvGraphicFramePr>
          <p:nvPr>
            <p:extLst>
              <p:ext uri="{D42A27DB-BD31-4B8C-83A1-F6EECF244321}">
                <p14:modId xmlns:p14="http://schemas.microsoft.com/office/powerpoint/2010/main" val="92976254"/>
              </p:ext>
            </p:extLst>
          </p:nvPr>
        </p:nvGraphicFramePr>
        <p:xfrm>
          <a:off x="355493" y="7567378"/>
          <a:ext cx="6147014" cy="183853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75639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BC78EAF8-3D05-9217-C51F-03E20B415BE4}"/>
              </a:ext>
            </a:extLst>
          </p:cNvPr>
          <p:cNvSpPr>
            <a:spLocks noGrp="1"/>
          </p:cNvSpPr>
          <p:nvPr>
            <p:ph sz="quarter" idx="30"/>
          </p:nvPr>
        </p:nvSpPr>
        <p:spPr>
          <a:xfrm>
            <a:off x="382829" y="2435175"/>
            <a:ext cx="6099547" cy="230832"/>
          </a:xfrm>
        </p:spPr>
        <p:txBody>
          <a:bodyPr/>
          <a:lstStyle/>
          <a:p>
            <a:r>
              <a:rPr lang="pt-BR" dirty="0"/>
              <a:t>Gráfico 6: Composição setorial das estimativas de crescimento de EBITDA no 2T26 na cobertura da XP</a:t>
            </a:r>
            <a:endParaRPr lang="en-US" dirty="0"/>
          </a:p>
        </p:txBody>
      </p:sp>
      <p:sp>
        <p:nvSpPr>
          <p:cNvPr id="4" name="Text Placeholder 3">
            <a:extLst>
              <a:ext uri="{FF2B5EF4-FFF2-40B4-BE49-F238E27FC236}">
                <a16:creationId xmlns:a16="http://schemas.microsoft.com/office/drawing/2014/main" id="{2ABBC739-668D-331F-F0CD-C4B42C52F3CF}"/>
              </a:ext>
            </a:extLst>
          </p:cNvPr>
          <p:cNvSpPr>
            <a:spLocks noGrp="1"/>
          </p:cNvSpPr>
          <p:nvPr>
            <p:ph type="body" sz="quarter" idx="16"/>
          </p:nvPr>
        </p:nvSpPr>
        <p:spPr/>
        <p:txBody>
          <a:bodyPr/>
          <a:lstStyle/>
          <a:p>
            <a:r>
              <a:rPr lang="pt-BR" dirty="0"/>
              <a:t>Prévia da temporada de resultados do 2T26</a:t>
            </a:r>
          </a:p>
          <a:p>
            <a:endParaRPr lang="pt-BR" dirty="0"/>
          </a:p>
          <a:p>
            <a:endParaRPr lang="en-US" dirty="0"/>
          </a:p>
        </p:txBody>
      </p:sp>
      <p:sp>
        <p:nvSpPr>
          <p:cNvPr id="6" name="Text Placeholder 5">
            <a:extLst>
              <a:ext uri="{FF2B5EF4-FFF2-40B4-BE49-F238E27FC236}">
                <a16:creationId xmlns:a16="http://schemas.microsoft.com/office/drawing/2014/main" id="{279F47D8-D280-FAC6-4659-64D7CCBEF8B8}"/>
              </a:ext>
            </a:extLst>
          </p:cNvPr>
          <p:cNvSpPr>
            <a:spLocks noGrp="1"/>
          </p:cNvSpPr>
          <p:nvPr>
            <p:ph type="body" sz="quarter" idx="17"/>
          </p:nvPr>
        </p:nvSpPr>
        <p:spPr/>
        <p:txBody>
          <a:bodyPr vert="horz" lIns="0" tIns="0" rIns="0" bIns="0" rtlCol="0" anchor="t">
            <a:noAutofit/>
          </a:bodyPr>
          <a:lstStyle/>
          <a:p>
            <a:r>
              <a:rPr lang="pt-BR" dirty="0">
                <a:solidFill>
                  <a:schemeClr val="tx1"/>
                </a:solidFill>
              </a:rPr>
              <a:t>Nossas expectativas apontam para um crescimento sólido em nossa cobertura</a:t>
            </a:r>
            <a:endParaRPr lang="en-US" dirty="0">
              <a:solidFill>
                <a:schemeClr val="tx1"/>
              </a:solidFill>
            </a:endParaRPr>
          </a:p>
        </p:txBody>
      </p:sp>
      <p:sp>
        <p:nvSpPr>
          <p:cNvPr id="15" name="Text Placeholder 14">
            <a:extLst>
              <a:ext uri="{FF2B5EF4-FFF2-40B4-BE49-F238E27FC236}">
                <a16:creationId xmlns:a16="http://schemas.microsoft.com/office/drawing/2014/main" id="{98B26243-DF53-46A9-B309-707175C2594B}"/>
              </a:ext>
            </a:extLst>
          </p:cNvPr>
          <p:cNvSpPr>
            <a:spLocks noGrp="1"/>
          </p:cNvSpPr>
          <p:nvPr>
            <p:ph type="body" sz="quarter" idx="26"/>
          </p:nvPr>
        </p:nvSpPr>
        <p:spPr/>
        <p:txBody>
          <a:bodyPr/>
          <a:lstStyle/>
          <a:p>
            <a:r>
              <a:rPr lang="en-US" dirty="0"/>
              <a:t>Fonte: Bloomberg, XP Research</a:t>
            </a:r>
            <a:r>
              <a:rPr lang="pt-BR" dirty="0"/>
              <a:t>. </a:t>
            </a:r>
            <a:r>
              <a:rPr lang="pt-BR" baseline="30000" dirty="0"/>
              <a:t>1</a:t>
            </a:r>
            <a:r>
              <a:rPr lang="pt-BR" dirty="0"/>
              <a:t>Para Bancos, usamos EBT ao invés de EBITDA. </a:t>
            </a:r>
            <a:endParaRPr lang="en-US" baseline="30000" dirty="0"/>
          </a:p>
        </p:txBody>
      </p:sp>
      <p:sp>
        <p:nvSpPr>
          <p:cNvPr id="16" name="Date Placeholder 15">
            <a:extLst>
              <a:ext uri="{FF2B5EF4-FFF2-40B4-BE49-F238E27FC236}">
                <a16:creationId xmlns:a16="http://schemas.microsoft.com/office/drawing/2014/main" id="{F5BB577C-C7DC-435A-A685-1F04FC1DB3DB}"/>
              </a:ext>
            </a:extLst>
          </p:cNvPr>
          <p:cNvSpPr>
            <a:spLocks noGrp="1"/>
          </p:cNvSpPr>
          <p:nvPr>
            <p:ph type="dt" sz="half" idx="2"/>
          </p:nvPr>
        </p:nvSpPr>
        <p:spPr/>
        <p:txBody>
          <a:bodyPr/>
          <a:lstStyle/>
          <a:p>
            <a:fld id="{9E538A5A-D4E5-48E9-AD64-79F29713C467}" type="datetime4">
              <a:rPr lang="pt-BR" smtClean="0"/>
              <a:t>21 de julho de 2026</a:t>
            </a:fld>
            <a:endParaRPr lang="en-US"/>
          </a:p>
        </p:txBody>
      </p:sp>
      <p:sp>
        <p:nvSpPr>
          <p:cNvPr id="8" name="Text Placeholder 7">
            <a:extLst>
              <a:ext uri="{FF2B5EF4-FFF2-40B4-BE49-F238E27FC236}">
                <a16:creationId xmlns:a16="http://schemas.microsoft.com/office/drawing/2014/main" id="{327F8ED3-B855-C948-3D39-28ABBAB00BCD}"/>
              </a:ext>
            </a:extLst>
          </p:cNvPr>
          <p:cNvSpPr>
            <a:spLocks noGrp="1"/>
          </p:cNvSpPr>
          <p:nvPr>
            <p:ph type="body" sz="quarter" idx="20"/>
          </p:nvPr>
        </p:nvSpPr>
        <p:spPr>
          <a:xfrm>
            <a:off x="382828" y="1497014"/>
            <a:ext cx="6106871" cy="900061"/>
          </a:xfrm>
        </p:spPr>
        <p:txBody>
          <a:bodyPr/>
          <a:lstStyle/>
          <a:p>
            <a:pPr>
              <a:lnSpc>
                <a:spcPct val="114000"/>
              </a:lnSpc>
            </a:pPr>
            <a:r>
              <a:rPr lang="pt-BR" sz="900" dirty="0"/>
              <a:t>Olhando para toda a cobertura da XP, composta por cerca de 140 empresas, nossas expectativas também apontam para um crescimento sólido, impulsionado principalmente por Óleo &amp; Gás em função dos preços mais altos do Brent. Com base nas estimativas de nossos analistas, esperamos uma temporada caracterizada por um crescimento positivo de receita de 9,9% e forte crescimento de EBITDA e lucro líquido de 20,5% e 19,8%, respectivamente.</a:t>
            </a:r>
            <a:endParaRPr lang="en-US" sz="900" dirty="0"/>
          </a:p>
        </p:txBody>
      </p:sp>
      <p:sp>
        <p:nvSpPr>
          <p:cNvPr id="3" name="Content Placeholder 29">
            <a:extLst>
              <a:ext uri="{FF2B5EF4-FFF2-40B4-BE49-F238E27FC236}">
                <a16:creationId xmlns:a16="http://schemas.microsoft.com/office/drawing/2014/main" id="{FA5F2262-10E5-E640-80A4-A00F050F810A}"/>
              </a:ext>
            </a:extLst>
          </p:cNvPr>
          <p:cNvSpPr txBox="1">
            <a:spLocks/>
          </p:cNvSpPr>
          <p:nvPr/>
        </p:nvSpPr>
        <p:spPr>
          <a:xfrm>
            <a:off x="382829" y="6294773"/>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Tabela 1: Estimativas da XP para EBITDA e Receita Líquida na nossa Cobertura XP (2T26 vs. 2T25)</a:t>
            </a:r>
            <a:endParaRPr lang="en-US" dirty="0"/>
          </a:p>
        </p:txBody>
      </p:sp>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775EE567-1ACD-23FC-44E1-2ABB0F839C72}"/>
                  </a:ext>
                </a:extLst>
              </p:cNvPr>
              <p:cNvGraphicFramePr/>
              <p:nvPr>
                <p:extLst>
                  <p:ext uri="{D42A27DB-BD31-4B8C-83A1-F6EECF244321}">
                    <p14:modId xmlns:p14="http://schemas.microsoft.com/office/powerpoint/2010/main" val="4202716818"/>
                  </p:ext>
                </p:extLst>
              </p:nvPr>
            </p:nvGraphicFramePr>
            <p:xfrm>
              <a:off x="390153" y="2817276"/>
              <a:ext cx="6092224" cy="339932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5" name="Chart 4">
                <a:extLst>
                  <a:ext uri="{FF2B5EF4-FFF2-40B4-BE49-F238E27FC236}">
                    <a16:creationId xmlns:a16="http://schemas.microsoft.com/office/drawing/2014/main" id="{775EE567-1ACD-23FC-44E1-2ABB0F839C72}"/>
                  </a:ext>
                </a:extLst>
              </p:cNvPr>
              <p:cNvPicPr>
                <a:picLocks noGrp="1" noRot="1" noChangeAspect="1" noMove="1" noResize="1" noEditPoints="1" noAdjustHandles="1" noChangeArrowheads="1" noChangeShapeType="1"/>
              </p:cNvPicPr>
              <p:nvPr/>
            </p:nvPicPr>
            <p:blipFill>
              <a:blip r:embed="rId5"/>
              <a:stretch>
                <a:fillRect/>
              </a:stretch>
            </p:blipFill>
            <p:spPr>
              <a:xfrm>
                <a:off x="390153" y="2817276"/>
                <a:ext cx="6092224" cy="3399320"/>
              </a:xfrm>
              <a:prstGeom prst="rect">
                <a:avLst/>
              </a:prstGeom>
            </p:spPr>
          </p:pic>
        </mc:Fallback>
      </mc:AlternateContent>
      <p:graphicFrame>
        <p:nvGraphicFramePr>
          <p:cNvPr id="13" name="Table 12">
            <a:extLst>
              <a:ext uri="{FF2B5EF4-FFF2-40B4-BE49-F238E27FC236}">
                <a16:creationId xmlns:a16="http://schemas.microsoft.com/office/drawing/2014/main" id="{74FB287E-4538-F7CA-3856-1C30DC17C136}"/>
              </a:ext>
            </a:extLst>
          </p:cNvPr>
          <p:cNvGraphicFramePr>
            <a:graphicFrameLocks noGrp="1"/>
          </p:cNvGraphicFramePr>
          <p:nvPr>
            <p:extLst>
              <p:ext uri="{D42A27DB-BD31-4B8C-83A1-F6EECF244321}">
                <p14:modId xmlns:p14="http://schemas.microsoft.com/office/powerpoint/2010/main" val="2002804119"/>
              </p:ext>
            </p:extLst>
          </p:nvPr>
        </p:nvGraphicFramePr>
        <p:xfrm>
          <a:off x="382828" y="6614160"/>
          <a:ext cx="6099546" cy="2716008"/>
        </p:xfrm>
        <a:graphic>
          <a:graphicData uri="http://schemas.openxmlformats.org/drawingml/2006/table">
            <a:tbl>
              <a:tblPr/>
              <a:tblGrid>
                <a:gridCol w="1561126">
                  <a:extLst>
                    <a:ext uri="{9D8B030D-6E8A-4147-A177-3AD203B41FA5}">
                      <a16:colId xmlns:a16="http://schemas.microsoft.com/office/drawing/2014/main" val="368126561"/>
                    </a:ext>
                  </a:extLst>
                </a:gridCol>
                <a:gridCol w="1650334">
                  <a:extLst>
                    <a:ext uri="{9D8B030D-6E8A-4147-A177-3AD203B41FA5}">
                      <a16:colId xmlns:a16="http://schemas.microsoft.com/office/drawing/2014/main" val="2256304195"/>
                    </a:ext>
                  </a:extLst>
                </a:gridCol>
                <a:gridCol w="1059337">
                  <a:extLst>
                    <a:ext uri="{9D8B030D-6E8A-4147-A177-3AD203B41FA5}">
                      <a16:colId xmlns:a16="http://schemas.microsoft.com/office/drawing/2014/main" val="3897260730"/>
                    </a:ext>
                  </a:extLst>
                </a:gridCol>
                <a:gridCol w="1828749">
                  <a:extLst>
                    <a:ext uri="{9D8B030D-6E8A-4147-A177-3AD203B41FA5}">
                      <a16:colId xmlns:a16="http://schemas.microsoft.com/office/drawing/2014/main" val="2629099457"/>
                    </a:ext>
                  </a:extLst>
                </a:gridCol>
              </a:tblGrid>
              <a:tr h="119599">
                <a:tc gridSpan="4">
                  <a:txBody>
                    <a:bodyPr/>
                    <a:lstStyle/>
                    <a:p>
                      <a:pPr algn="ctr" fontAlgn="b">
                        <a:buNone/>
                      </a:pPr>
                      <a:r>
                        <a:rPr lang="pt-BR" sz="800" b="1" i="0" u="none" strike="noStrike" dirty="0">
                          <a:solidFill>
                            <a:srgbClr val="000000"/>
                          </a:solidFill>
                          <a:effectLst/>
                          <a:latin typeface="Roboto Light" panose="02000000000000000000" pitchFamily="2" charset="0"/>
                        </a:rPr>
                        <a:t>Crescimento A/A % (2T26 vs. 2T25)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9C113"/>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365417410"/>
                  </a:ext>
                </a:extLst>
              </a:tr>
              <a:tr h="119599">
                <a:tc>
                  <a:txBody>
                    <a:bodyPr/>
                    <a:lstStyle/>
                    <a:p>
                      <a:pPr algn="ctr" fontAlgn="ctr">
                        <a:buNone/>
                      </a:pPr>
                      <a:r>
                        <a:rPr lang="pt-BR" sz="800" b="1" i="0" u="none" strike="noStrike">
                          <a:solidFill>
                            <a:srgbClr val="000000"/>
                          </a:solidFill>
                          <a:effectLst/>
                          <a:latin typeface="Roboto Light" panose="02000000000000000000" pitchFamily="2"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9C113"/>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Receita</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9C113"/>
                    </a:solidFill>
                  </a:tcPr>
                </a:tc>
                <a:tc>
                  <a:txBody>
                    <a:bodyPr/>
                    <a:lstStyle/>
                    <a:p>
                      <a:pPr algn="ctr" fontAlgn="ctr">
                        <a:buNone/>
                      </a:pPr>
                      <a:r>
                        <a:rPr lang="pt-BR" sz="800" b="1" i="0" u="none" strike="noStrike">
                          <a:solidFill>
                            <a:srgbClr val="000000"/>
                          </a:solidFill>
                          <a:effectLst/>
                          <a:latin typeface="Roboto Light" panose="02000000000000000000" pitchFamily="2" charset="0"/>
                        </a:rPr>
                        <a:t>EBITDA</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9C113"/>
                    </a:solidFill>
                  </a:tcPr>
                </a:tc>
                <a:tc>
                  <a:txBody>
                    <a:bodyPr/>
                    <a:lstStyle/>
                    <a:p>
                      <a:pPr algn="ctr" fontAlgn="ctr">
                        <a:buNone/>
                      </a:pPr>
                      <a:r>
                        <a:rPr lang="pt-BR" sz="800" b="1" i="0" u="none" strike="noStrike">
                          <a:solidFill>
                            <a:srgbClr val="000000"/>
                          </a:solidFill>
                          <a:effectLst/>
                          <a:latin typeface="Roboto Light" panose="02000000000000000000" pitchFamily="2" charset="0"/>
                        </a:rPr>
                        <a:t>Lucro Líquido</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9C113"/>
                    </a:solidFill>
                  </a:tcPr>
                </a:tc>
                <a:extLst>
                  <a:ext uri="{0D108BD9-81ED-4DB2-BD59-A6C34878D82A}">
                    <a16:rowId xmlns:a16="http://schemas.microsoft.com/office/drawing/2014/main" val="3517137404"/>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Agro</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12,4%</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-4,1%</a:t>
                      </a:r>
                    </a:p>
                  </a:txBody>
                  <a:tcPr marL="0" marR="0" marT="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-33,3%</a:t>
                      </a:r>
                    </a:p>
                  </a:txBody>
                  <a:tcPr marL="0" marR="0" marT="0" marB="0" anchor="b">
                    <a:lnL>
                      <a:noFill/>
                    </a:lnL>
                    <a:lnR>
                      <a:noFill/>
                    </a:lnR>
                    <a:lnT>
                      <a:noFill/>
                    </a:lnT>
                    <a:lnB>
                      <a:noFill/>
                    </a:lnB>
                    <a:noFill/>
                  </a:tcPr>
                </a:tc>
                <a:extLst>
                  <a:ext uri="{0D108BD9-81ED-4DB2-BD59-A6C34878D82A}">
                    <a16:rowId xmlns:a16="http://schemas.microsoft.com/office/drawing/2014/main" val="1684343187"/>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Bancos</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8,6%</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9,7%</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13,4%</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07727050"/>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Bens de Capital</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-1,5%</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-4,9%</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-5,2%</a:t>
                      </a:r>
                    </a:p>
                  </a:txBody>
                  <a:tcPr marL="0" marR="0" marT="0" marB="0" anchor="b">
                    <a:lnL>
                      <a:noFill/>
                    </a:lnL>
                    <a:lnR>
                      <a:noFill/>
                    </a:lnR>
                    <a:lnT>
                      <a:noFill/>
                    </a:lnT>
                    <a:lnB>
                      <a:noFill/>
                    </a:lnB>
                    <a:noFill/>
                  </a:tcPr>
                </a:tc>
                <a:extLst>
                  <a:ext uri="{0D108BD9-81ED-4DB2-BD59-A6C34878D82A}">
                    <a16:rowId xmlns:a16="http://schemas.microsoft.com/office/drawing/2014/main" val="122542519"/>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Inst. Financeiras</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3,6%</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1,7%</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3,9%</a:t>
                      </a:r>
                    </a:p>
                  </a:txBody>
                  <a:tcPr marL="0" marR="0" marT="0" marB="0" anchor="b">
                    <a:lnL>
                      <a:noFill/>
                    </a:lnL>
                    <a:lnR>
                      <a:noFill/>
                    </a:lnR>
                    <a:lnT>
                      <a:noFill/>
                    </a:lnT>
                    <a:lnB>
                      <a:noFill/>
                    </a:lnB>
                    <a:noFill/>
                  </a:tcPr>
                </a:tc>
                <a:extLst>
                  <a:ext uri="{0D108BD9-81ED-4DB2-BD59-A6C34878D82A}">
                    <a16:rowId xmlns:a16="http://schemas.microsoft.com/office/drawing/2014/main" val="1547273091"/>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Alimentos &amp; Bebidas</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1,0%</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-14,0%</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-28,4%</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172655468"/>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Saúde</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5,2%</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19,7%</a:t>
                      </a:r>
                    </a:p>
                  </a:txBody>
                  <a:tcPr marL="0" marR="0" marT="0" marB="0" anchor="b">
                    <a:lnL>
                      <a:noFill/>
                    </a:lnL>
                    <a:lnR>
                      <a:noFill/>
                    </a:lnR>
                    <a:lnT>
                      <a:noFill/>
                    </a:lnT>
                    <a:lnB>
                      <a:noFill/>
                    </a:lnB>
                    <a:noFill/>
                  </a:tcPr>
                </a:tc>
                <a:extLst>
                  <a:ext uri="{0D108BD9-81ED-4DB2-BD59-A6C34878D82A}">
                    <a16:rowId xmlns:a16="http://schemas.microsoft.com/office/drawing/2014/main" val="3738389137"/>
                  </a:ext>
                </a:extLst>
              </a:tr>
              <a:tr h="119599">
                <a:tc>
                  <a:txBody>
                    <a:bodyPr/>
                    <a:lstStyle/>
                    <a:p>
                      <a:pPr algn="l" fontAlgn="b">
                        <a:buNone/>
                      </a:pPr>
                      <a:r>
                        <a:rPr lang="pt-BR" sz="800" b="0" i="0" u="none" strike="noStrike" dirty="0">
                          <a:solidFill>
                            <a:srgbClr val="000000"/>
                          </a:solidFill>
                          <a:effectLst/>
                          <a:latin typeface="Roboto Light" panose="02000000000000000000" pitchFamily="2" charset="0"/>
                        </a:rPr>
                        <a:t>Construção Civil</a:t>
                      </a:r>
                      <a:endParaRPr lang="pt-BR" sz="800" b="0" i="0" u="none" strike="noStrike" dirty="0">
                        <a:solidFill>
                          <a:srgbClr val="000000"/>
                        </a:solidFill>
                        <a:effectLst/>
                        <a:latin typeface="Calibri" panose="020F0502020204030204" pitchFamily="34" charset="0"/>
                      </a:endParaRPr>
                    </a:p>
                  </a:txBody>
                  <a:tcPr marL="0" marR="0" marT="0" marB="0">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14,6%</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18,6%</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dirty="0">
                          <a:solidFill>
                            <a:srgbClr val="000000"/>
                          </a:solidFill>
                          <a:effectLst/>
                          <a:latin typeface="Roboto Light" panose="02000000000000000000" pitchFamily="2" charset="0"/>
                        </a:rPr>
                        <a:t>12,2%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416861730"/>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Propriedades Comerciais</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-5,7%</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-6,7%</a:t>
                      </a:r>
                    </a:p>
                  </a:txBody>
                  <a:tcPr marL="0" marR="0" marT="0" marB="0" anchor="b">
                    <a:lnL>
                      <a:noFill/>
                    </a:lnL>
                    <a:lnR>
                      <a:noFill/>
                    </a:lnR>
                    <a:lnT>
                      <a:noFill/>
                    </a:lnT>
                    <a:lnB>
                      <a:noFill/>
                    </a:lnB>
                    <a:noFill/>
                  </a:tcPr>
                </a:tc>
                <a:extLst>
                  <a:ext uri="{0D108BD9-81ED-4DB2-BD59-A6C34878D82A}">
                    <a16:rowId xmlns:a16="http://schemas.microsoft.com/office/drawing/2014/main" val="43781797"/>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Mineração &amp; Siderurgia</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2,3%</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0,4%</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-4,6%</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034509516"/>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Óleo, Gás e Petroquímicos</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24,7%</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71,6%</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66,8%</a:t>
                      </a:r>
                    </a:p>
                  </a:txBody>
                  <a:tcPr marL="0" marR="0" marT="0" marB="0" anchor="b">
                    <a:lnL>
                      <a:noFill/>
                    </a:lnL>
                    <a:lnR>
                      <a:noFill/>
                    </a:lnR>
                    <a:lnT>
                      <a:noFill/>
                    </a:lnT>
                    <a:lnB>
                      <a:noFill/>
                    </a:lnB>
                    <a:noFill/>
                  </a:tcPr>
                </a:tc>
                <a:extLst>
                  <a:ext uri="{0D108BD9-81ED-4DB2-BD59-A6C34878D82A}">
                    <a16:rowId xmlns:a16="http://schemas.microsoft.com/office/drawing/2014/main" val="3792916647"/>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Papel &amp; Celulose</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-7,9%</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-19,5%</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-95,2%</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4257553689"/>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Varejo</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15,0%</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2,2%</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-7,7%</a:t>
                      </a:r>
                    </a:p>
                  </a:txBody>
                  <a:tcPr marL="0" marR="0" marT="0" marB="0" anchor="b">
                    <a:lnL>
                      <a:noFill/>
                    </a:lnL>
                    <a:lnR>
                      <a:noFill/>
                    </a:lnR>
                    <a:lnT>
                      <a:noFill/>
                    </a:lnT>
                    <a:lnB>
                      <a:noFill/>
                    </a:lnB>
                    <a:noFill/>
                  </a:tcPr>
                </a:tc>
                <a:extLst>
                  <a:ext uri="{0D108BD9-81ED-4DB2-BD59-A6C34878D82A}">
                    <a16:rowId xmlns:a16="http://schemas.microsoft.com/office/drawing/2014/main" val="3913425491"/>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Saneamento</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7,4%</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12,3%</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-9,1%</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150871434"/>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TMT</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6,2%</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10,2%</a:t>
                      </a:r>
                    </a:p>
                  </a:txBody>
                  <a:tcPr marL="0" marR="0" marT="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19,9%</a:t>
                      </a:r>
                    </a:p>
                  </a:txBody>
                  <a:tcPr marL="0" marR="0" marT="0" marB="0" anchor="b">
                    <a:lnL>
                      <a:noFill/>
                    </a:lnL>
                    <a:lnR>
                      <a:noFill/>
                    </a:lnR>
                    <a:lnT>
                      <a:noFill/>
                    </a:lnT>
                    <a:lnB>
                      <a:noFill/>
                    </a:lnB>
                    <a:noFill/>
                  </a:tcPr>
                </a:tc>
                <a:extLst>
                  <a:ext uri="{0D108BD9-81ED-4DB2-BD59-A6C34878D82A}">
                    <a16:rowId xmlns:a16="http://schemas.microsoft.com/office/drawing/2014/main" val="748528111"/>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Transportes</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12,3%</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9,2%</a:t>
                      </a:r>
                    </a:p>
                  </a:txBody>
                  <a:tcPr marL="0" marR="0" marT="0" marB="0" anchor="b">
                    <a:lnL>
                      <a:noFill/>
                    </a:lnL>
                    <a:lnR>
                      <a:noFill/>
                    </a:lnR>
                    <a:lnT>
                      <a:noFill/>
                    </a:lnT>
                    <a:lnB>
                      <a:noFill/>
                    </a:lnB>
                    <a:solidFill>
                      <a:srgbClr val="F2F2F2"/>
                    </a:solidFill>
                  </a:tcPr>
                </a:tc>
                <a:tc>
                  <a:txBody>
                    <a:bodyPr/>
                    <a:lstStyle/>
                    <a:p>
                      <a:pPr algn="ctr" fontAlgn="b">
                        <a:buNone/>
                      </a:pPr>
                      <a:r>
                        <a:rPr lang="pt-BR" sz="800" b="0" i="0" u="none" strike="noStrike">
                          <a:solidFill>
                            <a:srgbClr val="000000"/>
                          </a:solidFill>
                          <a:effectLst/>
                          <a:latin typeface="Roboto Light" panose="02000000000000000000" pitchFamily="2" charset="0"/>
                        </a:rPr>
                        <a:t>12,6%</a:t>
                      </a:r>
                    </a:p>
                  </a:txBody>
                  <a:tcPr marL="0" marR="0" marT="0" marB="0" anchor="b">
                    <a:lnL>
                      <a:noFill/>
                    </a:lnL>
                    <a:lnR>
                      <a:noFill/>
                    </a:lnR>
                    <a:lnT>
                      <a:noFill/>
                    </a:lnT>
                    <a:lnB>
                      <a:noFill/>
                    </a:lnB>
                    <a:solidFill>
                      <a:srgbClr val="F2F2F2"/>
                    </a:solidFill>
                  </a:tcPr>
                </a:tc>
                <a:extLst>
                  <a:ext uri="{0D108BD9-81ED-4DB2-BD59-A6C34878D82A}">
                    <a16:rowId xmlns:a16="http://schemas.microsoft.com/office/drawing/2014/main" val="2017563831"/>
                  </a:ext>
                </a:extLst>
              </a:tr>
              <a:tr h="119599">
                <a:tc>
                  <a:txBody>
                    <a:bodyPr/>
                    <a:lstStyle/>
                    <a:p>
                      <a:pPr algn="l" fontAlgn="b">
                        <a:buNone/>
                      </a:pPr>
                      <a:r>
                        <a:rPr lang="pt-BR" sz="800" b="0" i="0" u="none" strike="noStrike">
                          <a:solidFill>
                            <a:srgbClr val="000000"/>
                          </a:solidFill>
                          <a:effectLst/>
                          <a:latin typeface="Roboto Light" panose="02000000000000000000" pitchFamily="2" charset="0"/>
                        </a:rPr>
                        <a:t>Elétricas</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6,4%</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19,0%</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110,5%</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2893145"/>
                  </a:ext>
                </a:extLst>
              </a:tr>
              <a:tr h="130641">
                <a:tc>
                  <a:txBody>
                    <a:bodyPr/>
                    <a:lstStyle/>
                    <a:p>
                      <a:pPr algn="l" fontAlgn="b">
                        <a:buNone/>
                      </a:pPr>
                      <a:r>
                        <a:rPr lang="pt-BR" sz="800" b="1" i="0" u="none" strike="noStrike">
                          <a:solidFill>
                            <a:srgbClr val="000000"/>
                          </a:solidFill>
                          <a:effectLst/>
                          <a:latin typeface="Roboto Light" panose="02000000000000000000" pitchFamily="2" charset="0"/>
                        </a:rPr>
                        <a:t>Cobertura XP</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830" b="1" i="0" u="none" strike="noStrike" dirty="0">
                          <a:solidFill>
                            <a:srgbClr val="000000"/>
                          </a:solidFill>
                          <a:effectLst/>
                          <a:latin typeface="Roboto Light" panose="02000000000000000000" pitchFamily="2" charset="0"/>
                        </a:rPr>
                        <a:t>9,9%</a:t>
                      </a:r>
                    </a:p>
                  </a:txBody>
                  <a:tcPr marL="6684" marR="6684" marT="668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830" b="1" i="0" u="none" strike="noStrike">
                          <a:solidFill>
                            <a:srgbClr val="000000"/>
                          </a:solidFill>
                          <a:effectLst/>
                          <a:latin typeface="Roboto Light" panose="02000000000000000000" pitchFamily="2" charset="0"/>
                        </a:rPr>
                        <a:t>20,5%</a:t>
                      </a:r>
                    </a:p>
                  </a:txBody>
                  <a:tcPr marL="6684" marR="6684" marT="668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830" b="1" i="0" u="none" strike="noStrike" dirty="0">
                          <a:solidFill>
                            <a:srgbClr val="000000"/>
                          </a:solidFill>
                          <a:effectLst/>
                          <a:latin typeface="Roboto Light" panose="02000000000000000000" pitchFamily="2" charset="0"/>
                        </a:rPr>
                        <a:t>19,8%</a:t>
                      </a:r>
                    </a:p>
                  </a:txBody>
                  <a:tcPr marL="6684" marR="6684" marT="6684"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83917763"/>
                  </a:ext>
                </a:extLst>
              </a:tr>
              <a:tr h="130641">
                <a:tc>
                  <a:txBody>
                    <a:bodyPr/>
                    <a:lstStyle/>
                    <a:p>
                      <a:pPr algn="l" fontAlgn="b">
                        <a:buNone/>
                      </a:pPr>
                      <a:r>
                        <a:rPr lang="pt-BR" sz="800" b="1" i="0" u="none" strike="noStrike">
                          <a:solidFill>
                            <a:srgbClr val="000000"/>
                          </a:solidFill>
                          <a:effectLst/>
                          <a:latin typeface="Roboto Light" panose="02000000000000000000" pitchFamily="2" charset="0"/>
                        </a:rPr>
                        <a:t>Commodities</a:t>
                      </a:r>
                    </a:p>
                  </a:txBody>
                  <a:tcPr marL="0" marR="0" marT="0" marB="0" anchor="b">
                    <a:lnL>
                      <a:noFill/>
                    </a:lnL>
                    <a:lnR>
                      <a:noFill/>
                    </a:lnR>
                    <a:lnT>
                      <a:noFill/>
                    </a:lnT>
                    <a:lnB>
                      <a:noFill/>
                    </a:lnB>
                    <a:solidFill>
                      <a:srgbClr val="FFFFFF"/>
                    </a:solidFill>
                  </a:tcPr>
                </a:tc>
                <a:tc>
                  <a:txBody>
                    <a:bodyPr/>
                    <a:lstStyle/>
                    <a:p>
                      <a:pPr algn="ctr" fontAlgn="b">
                        <a:buNone/>
                      </a:pPr>
                      <a:r>
                        <a:rPr lang="pt-BR" sz="830" b="1" i="0" u="none" strike="noStrike" dirty="0">
                          <a:solidFill>
                            <a:srgbClr val="000000"/>
                          </a:solidFill>
                          <a:effectLst/>
                          <a:latin typeface="Roboto Light" panose="02000000000000000000" pitchFamily="2" charset="0"/>
                        </a:rPr>
                        <a:t>16,6%</a:t>
                      </a:r>
                    </a:p>
                  </a:txBody>
                  <a:tcPr marL="6684" marR="6684" marT="6684" marB="0" anchor="b">
                    <a:lnL>
                      <a:noFill/>
                    </a:lnL>
                    <a:lnR>
                      <a:noFill/>
                    </a:lnR>
                    <a:lnT>
                      <a:noFill/>
                    </a:lnT>
                    <a:lnB>
                      <a:noFill/>
                    </a:lnB>
                    <a:solidFill>
                      <a:srgbClr val="FFFFFF"/>
                    </a:solidFill>
                  </a:tcPr>
                </a:tc>
                <a:tc>
                  <a:txBody>
                    <a:bodyPr/>
                    <a:lstStyle/>
                    <a:p>
                      <a:pPr algn="ctr" fontAlgn="b">
                        <a:buNone/>
                      </a:pPr>
                      <a:r>
                        <a:rPr lang="pt-BR" sz="830" b="1" i="0" u="none" strike="noStrike">
                          <a:solidFill>
                            <a:srgbClr val="000000"/>
                          </a:solidFill>
                          <a:effectLst/>
                          <a:latin typeface="Roboto Light" panose="02000000000000000000" pitchFamily="2" charset="0"/>
                        </a:rPr>
                        <a:t>42,6%</a:t>
                      </a:r>
                    </a:p>
                  </a:txBody>
                  <a:tcPr marL="6684" marR="6684" marT="6684" marB="0" anchor="b">
                    <a:lnL>
                      <a:noFill/>
                    </a:lnL>
                    <a:lnR>
                      <a:noFill/>
                    </a:lnR>
                    <a:lnT>
                      <a:noFill/>
                    </a:lnT>
                    <a:lnB>
                      <a:noFill/>
                    </a:lnB>
                    <a:solidFill>
                      <a:srgbClr val="FFFFFF"/>
                    </a:solidFill>
                  </a:tcPr>
                </a:tc>
                <a:tc>
                  <a:txBody>
                    <a:bodyPr/>
                    <a:lstStyle/>
                    <a:p>
                      <a:pPr algn="ctr" fontAlgn="b">
                        <a:buNone/>
                      </a:pPr>
                      <a:r>
                        <a:rPr lang="pt-BR" sz="830" b="1" i="0" u="none" strike="noStrike">
                          <a:solidFill>
                            <a:srgbClr val="000000"/>
                          </a:solidFill>
                          <a:effectLst/>
                          <a:latin typeface="Roboto Light" panose="02000000000000000000" pitchFamily="2" charset="0"/>
                        </a:rPr>
                        <a:t>28,1%</a:t>
                      </a:r>
                    </a:p>
                  </a:txBody>
                  <a:tcPr marL="6684" marR="6684" marT="6684" marB="0" anchor="b">
                    <a:lnL>
                      <a:noFill/>
                    </a:lnL>
                    <a:lnR>
                      <a:noFill/>
                    </a:lnR>
                    <a:lnT>
                      <a:noFill/>
                    </a:lnT>
                    <a:lnB>
                      <a:noFill/>
                    </a:lnB>
                    <a:solidFill>
                      <a:srgbClr val="FFFFFF"/>
                    </a:solidFill>
                  </a:tcPr>
                </a:tc>
                <a:extLst>
                  <a:ext uri="{0D108BD9-81ED-4DB2-BD59-A6C34878D82A}">
                    <a16:rowId xmlns:a16="http://schemas.microsoft.com/office/drawing/2014/main" val="471953705"/>
                  </a:ext>
                </a:extLst>
              </a:tr>
              <a:tr h="130641">
                <a:tc>
                  <a:txBody>
                    <a:bodyPr/>
                    <a:lstStyle/>
                    <a:p>
                      <a:pPr algn="l" fontAlgn="b">
                        <a:buNone/>
                      </a:pPr>
                      <a:r>
                        <a:rPr lang="pt-BR" sz="800" b="1" i="0" u="none" strike="noStrike">
                          <a:solidFill>
                            <a:srgbClr val="000000"/>
                          </a:solidFill>
                          <a:effectLst/>
                          <a:latin typeface="Roboto Light" panose="02000000000000000000" pitchFamily="2" charset="0"/>
                        </a:rPr>
                        <a:t>Ex-Commodities</a:t>
                      </a:r>
                    </a:p>
                  </a:txBody>
                  <a:tcPr marL="0" marR="0" marT="0" marB="0" anchor="b">
                    <a:lnL>
                      <a:noFill/>
                    </a:lnL>
                    <a:lnR>
                      <a:noFill/>
                    </a:lnR>
                    <a:lnT>
                      <a:noFill/>
                    </a:lnT>
                    <a:lnB>
                      <a:noFill/>
                    </a:lnB>
                    <a:solidFill>
                      <a:srgbClr val="FFFFFF"/>
                    </a:solidFill>
                  </a:tcPr>
                </a:tc>
                <a:tc>
                  <a:txBody>
                    <a:bodyPr/>
                    <a:lstStyle/>
                    <a:p>
                      <a:pPr algn="ctr" fontAlgn="b">
                        <a:buNone/>
                      </a:pPr>
                      <a:r>
                        <a:rPr lang="pt-BR" sz="830" b="1" i="0" u="none" strike="noStrike" dirty="0">
                          <a:solidFill>
                            <a:srgbClr val="000000"/>
                          </a:solidFill>
                          <a:effectLst/>
                          <a:latin typeface="Roboto Light" panose="02000000000000000000" pitchFamily="2" charset="0"/>
                        </a:rPr>
                        <a:t>6,8%</a:t>
                      </a:r>
                    </a:p>
                  </a:txBody>
                  <a:tcPr marL="6684" marR="6684" marT="6684" marB="0" anchor="b">
                    <a:lnL>
                      <a:noFill/>
                    </a:lnL>
                    <a:lnR>
                      <a:noFill/>
                    </a:lnR>
                    <a:lnT>
                      <a:noFill/>
                    </a:lnT>
                    <a:lnB>
                      <a:noFill/>
                    </a:lnB>
                    <a:solidFill>
                      <a:srgbClr val="FFFFFF"/>
                    </a:solidFill>
                  </a:tcPr>
                </a:tc>
                <a:tc>
                  <a:txBody>
                    <a:bodyPr/>
                    <a:lstStyle/>
                    <a:p>
                      <a:pPr algn="ctr" fontAlgn="b">
                        <a:buNone/>
                      </a:pPr>
                      <a:r>
                        <a:rPr lang="pt-BR" sz="830" b="1" i="0" u="none" strike="noStrike">
                          <a:solidFill>
                            <a:srgbClr val="000000"/>
                          </a:solidFill>
                          <a:effectLst/>
                          <a:latin typeface="Roboto Light" panose="02000000000000000000" pitchFamily="2" charset="0"/>
                        </a:rPr>
                        <a:t>6,4%</a:t>
                      </a:r>
                    </a:p>
                  </a:txBody>
                  <a:tcPr marL="6684" marR="6684" marT="6684" marB="0" anchor="b">
                    <a:lnL>
                      <a:noFill/>
                    </a:lnL>
                    <a:lnR>
                      <a:noFill/>
                    </a:lnR>
                    <a:lnT>
                      <a:noFill/>
                    </a:lnT>
                    <a:lnB>
                      <a:noFill/>
                    </a:lnB>
                    <a:solidFill>
                      <a:srgbClr val="FFFFFF"/>
                    </a:solidFill>
                  </a:tcPr>
                </a:tc>
                <a:tc>
                  <a:txBody>
                    <a:bodyPr/>
                    <a:lstStyle/>
                    <a:p>
                      <a:pPr algn="ctr" fontAlgn="b">
                        <a:buNone/>
                      </a:pPr>
                      <a:r>
                        <a:rPr lang="pt-BR" sz="830" b="1" i="0" u="none" strike="noStrike" dirty="0">
                          <a:solidFill>
                            <a:srgbClr val="000000"/>
                          </a:solidFill>
                          <a:effectLst/>
                          <a:latin typeface="Roboto Light" panose="02000000000000000000" pitchFamily="2" charset="0"/>
                        </a:rPr>
                        <a:t>14,1%</a:t>
                      </a:r>
                    </a:p>
                  </a:txBody>
                  <a:tcPr marL="6684" marR="6684" marT="6684" marB="0" anchor="b">
                    <a:lnL>
                      <a:noFill/>
                    </a:lnL>
                    <a:lnR>
                      <a:noFill/>
                    </a:lnR>
                    <a:lnT>
                      <a:noFill/>
                    </a:lnT>
                    <a:lnB>
                      <a:noFill/>
                    </a:lnB>
                    <a:solidFill>
                      <a:srgbClr val="FFFFFF"/>
                    </a:solidFill>
                  </a:tcPr>
                </a:tc>
                <a:extLst>
                  <a:ext uri="{0D108BD9-81ED-4DB2-BD59-A6C34878D82A}">
                    <a16:rowId xmlns:a16="http://schemas.microsoft.com/office/drawing/2014/main" val="771564950"/>
                  </a:ext>
                </a:extLst>
              </a:tr>
            </a:tbl>
          </a:graphicData>
        </a:graphic>
      </p:graphicFrame>
      <p:pic>
        <p:nvPicPr>
          <p:cNvPr id="14" name="Picture 13">
            <a:extLst>
              <a:ext uri="{FF2B5EF4-FFF2-40B4-BE49-F238E27FC236}">
                <a16:creationId xmlns:a16="http://schemas.microsoft.com/office/drawing/2014/main" id="{3D390320-F66A-E72F-BBF9-7B37EC9FF035}"/>
              </a:ext>
            </a:extLst>
          </p:cNvPr>
          <p:cNvPicPr>
            <a:picLocks noChangeAspect="1"/>
          </p:cNvPicPr>
          <p:nvPr/>
        </p:nvPicPr>
        <p:blipFill>
          <a:blip r:embed="rId4">
            <a:alphaModFix amt="5000"/>
            <a:extLst>
              <a:ext uri="{28A0092B-C50C-407E-A947-70E740481C1C}">
                <a14:useLocalDpi xmlns:a14="http://schemas.microsoft.com/office/drawing/2010/main" val="0"/>
              </a:ext>
            </a:extLst>
          </a:blip>
          <a:stretch>
            <a:fillRect/>
          </a:stretch>
        </p:blipFill>
        <p:spPr>
          <a:xfrm>
            <a:off x="5146915" y="21262769"/>
            <a:ext cx="5069860" cy="463885"/>
          </a:xfrm>
          <a:prstGeom prst="rect">
            <a:avLst/>
          </a:prstGeom>
        </p:spPr>
      </p:pic>
    </p:spTree>
    <p:extLst>
      <p:ext uri="{BB962C8B-B14F-4D97-AF65-F5344CB8AC3E}">
        <p14:creationId xmlns:p14="http://schemas.microsoft.com/office/powerpoint/2010/main" val="583222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ABBC739-668D-331F-F0CD-C4B42C52F3CF}"/>
              </a:ext>
            </a:extLst>
          </p:cNvPr>
          <p:cNvSpPr>
            <a:spLocks noGrp="1"/>
          </p:cNvSpPr>
          <p:nvPr>
            <p:ph type="body" sz="quarter" idx="16"/>
          </p:nvPr>
        </p:nvSpPr>
        <p:spPr/>
        <p:txBody>
          <a:bodyPr/>
          <a:lstStyle/>
          <a:p>
            <a:r>
              <a:rPr lang="pt-BR" dirty="0"/>
              <a:t>Prévia da temporada de resultados do 2T26</a:t>
            </a:r>
            <a:endParaRPr lang="en-US" dirty="0"/>
          </a:p>
        </p:txBody>
      </p:sp>
      <p:sp>
        <p:nvSpPr>
          <p:cNvPr id="6" name="Text Placeholder 5">
            <a:extLst>
              <a:ext uri="{FF2B5EF4-FFF2-40B4-BE49-F238E27FC236}">
                <a16:creationId xmlns:a16="http://schemas.microsoft.com/office/drawing/2014/main" id="{279F47D8-D280-FAC6-4659-64D7CCBEF8B8}"/>
              </a:ext>
            </a:extLst>
          </p:cNvPr>
          <p:cNvSpPr>
            <a:spLocks noGrp="1"/>
          </p:cNvSpPr>
          <p:nvPr>
            <p:ph type="body" sz="quarter" idx="17"/>
          </p:nvPr>
        </p:nvSpPr>
        <p:spPr/>
        <p:txBody>
          <a:bodyPr/>
          <a:lstStyle/>
          <a:p>
            <a:r>
              <a:rPr lang="pt-BR" dirty="0">
                <a:solidFill>
                  <a:schemeClr val="tx1"/>
                </a:solidFill>
              </a:rPr>
              <a:t>Esperamos uma divergência significativa entre os setores</a:t>
            </a:r>
            <a:endParaRPr lang="en-US" dirty="0">
              <a:solidFill>
                <a:schemeClr val="tx1"/>
              </a:solidFill>
            </a:endParaRPr>
          </a:p>
        </p:txBody>
      </p:sp>
      <p:sp>
        <p:nvSpPr>
          <p:cNvPr id="15" name="Text Placeholder 14">
            <a:extLst>
              <a:ext uri="{FF2B5EF4-FFF2-40B4-BE49-F238E27FC236}">
                <a16:creationId xmlns:a16="http://schemas.microsoft.com/office/drawing/2014/main" id="{98B26243-DF53-46A9-B309-707175C2594B}"/>
              </a:ext>
            </a:extLst>
          </p:cNvPr>
          <p:cNvSpPr>
            <a:spLocks noGrp="1"/>
          </p:cNvSpPr>
          <p:nvPr>
            <p:ph type="body" sz="quarter" idx="26"/>
          </p:nvPr>
        </p:nvSpPr>
        <p:spPr/>
        <p:txBody>
          <a:bodyPr/>
          <a:lstStyle/>
          <a:p>
            <a:r>
              <a:rPr lang="en-US" dirty="0"/>
              <a:t>Fonte: Bloomberg, Economatica, XP Research. </a:t>
            </a:r>
            <a:r>
              <a:rPr lang="pt-BR" dirty="0"/>
              <a:t>Dados de 17/07/2026.</a:t>
            </a:r>
            <a:endParaRPr lang="en-US" dirty="0"/>
          </a:p>
        </p:txBody>
      </p:sp>
      <p:sp>
        <p:nvSpPr>
          <p:cNvPr id="16" name="Date Placeholder 15">
            <a:extLst>
              <a:ext uri="{FF2B5EF4-FFF2-40B4-BE49-F238E27FC236}">
                <a16:creationId xmlns:a16="http://schemas.microsoft.com/office/drawing/2014/main" id="{F5BB577C-C7DC-435A-A685-1F04FC1DB3DB}"/>
              </a:ext>
            </a:extLst>
          </p:cNvPr>
          <p:cNvSpPr>
            <a:spLocks noGrp="1"/>
          </p:cNvSpPr>
          <p:nvPr>
            <p:ph type="dt" sz="half" idx="2"/>
          </p:nvPr>
        </p:nvSpPr>
        <p:spPr/>
        <p:txBody>
          <a:bodyPr/>
          <a:lstStyle/>
          <a:p>
            <a:fld id="{9CAEA642-7367-46F9-AD88-B06E8BC3862A}" type="datetime4">
              <a:rPr lang="pt-BR" smtClean="0"/>
              <a:t>21 de julho de 2026</a:t>
            </a:fld>
            <a:endParaRPr lang="en-US"/>
          </a:p>
        </p:txBody>
      </p:sp>
      <p:sp>
        <p:nvSpPr>
          <p:cNvPr id="2" name="Content Placeholder 29">
            <a:extLst>
              <a:ext uri="{FF2B5EF4-FFF2-40B4-BE49-F238E27FC236}">
                <a16:creationId xmlns:a16="http://schemas.microsoft.com/office/drawing/2014/main" id="{97A963E1-90B5-8434-5280-597DCDF9CF33}"/>
              </a:ext>
            </a:extLst>
          </p:cNvPr>
          <p:cNvSpPr txBox="1">
            <a:spLocks/>
          </p:cNvSpPr>
          <p:nvPr/>
        </p:nvSpPr>
        <p:spPr>
          <a:xfrm>
            <a:off x="382829" y="7627317"/>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Tabela 3: Estimativas de crescimento anuais (A/A) de consenso para os setores do MSCI Brasil (Bloomberg)</a:t>
            </a:r>
            <a:endParaRPr lang="en-US" dirty="0"/>
          </a:p>
        </p:txBody>
      </p:sp>
      <p:pic>
        <p:nvPicPr>
          <p:cNvPr id="9" name="Picture 8">
            <a:extLst>
              <a:ext uri="{FF2B5EF4-FFF2-40B4-BE49-F238E27FC236}">
                <a16:creationId xmlns:a16="http://schemas.microsoft.com/office/drawing/2014/main" id="{CBEB30BF-7CA7-4B54-8C9E-E9BCE06FCF2A}"/>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4259263" y="26011188"/>
            <a:ext cx="2444750" cy="293687"/>
          </a:xfrm>
          <a:prstGeom prst="rect">
            <a:avLst/>
          </a:prstGeom>
        </p:spPr>
      </p:pic>
      <p:sp>
        <p:nvSpPr>
          <p:cNvPr id="11" name="Text Placeholder 10">
            <a:extLst>
              <a:ext uri="{FF2B5EF4-FFF2-40B4-BE49-F238E27FC236}">
                <a16:creationId xmlns:a16="http://schemas.microsoft.com/office/drawing/2014/main" id="{3E75ED5A-88E6-22C7-E93C-5C92CF3956F4}"/>
              </a:ext>
            </a:extLst>
          </p:cNvPr>
          <p:cNvSpPr>
            <a:spLocks noGrp="1"/>
          </p:cNvSpPr>
          <p:nvPr>
            <p:ph type="body" sz="quarter" idx="20"/>
          </p:nvPr>
        </p:nvSpPr>
        <p:spPr>
          <a:xfrm>
            <a:off x="382828" y="1649415"/>
            <a:ext cx="6106871" cy="5919064"/>
          </a:xfrm>
        </p:spPr>
        <p:txBody>
          <a:bodyPr/>
          <a:lstStyle/>
          <a:p>
            <a:pPr>
              <a:tabLst>
                <a:tab pos="457200" algn="l"/>
              </a:tabLst>
            </a:pPr>
            <a:r>
              <a:rPr lang="pt-BR" kern="100" dirty="0">
                <a:latin typeface="+mj-lt"/>
                <a:ea typeface="Calibri" panose="020F0502020204030204" pitchFamily="34" charset="0"/>
                <a:cs typeface="Times New Roman" panose="02020603050405020304" pitchFamily="18" charset="0"/>
              </a:rPr>
              <a:t xml:space="preserve">Olhando setor a setor, esperamos que os seguintes sejam os destaques positivos:</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Óleo, Gás &amp; Petroquímicos</a:t>
            </a:r>
            <a:r>
              <a:rPr lang="pt-BR" kern="100" dirty="0">
                <a:latin typeface="+mj-lt"/>
                <a:ea typeface="Calibri" panose="020F0502020204030204" pitchFamily="34" charset="0"/>
                <a:cs typeface="Times New Roman" panose="02020603050405020304" pitchFamily="18" charset="0"/>
              </a:rPr>
              <a:t xml:space="preserve">, impulsionados pelos preços elevados do petróleo durante o trimestre, após a escalada do conflito entre EUA e Irã desde o fim de fevereiro. Os resultados das empresas de E&amp;P tendem a ser fortes, enquanto, para as distribuidoras de combustíveis (Vibra e Ultrapar), os preços domésticos permaneceram significativamente abaixo da paridade de importação, uma dinâmica que favorece as distribuidoras com maior participação de produtos originados da Petrobras em seu mix de suprimento.</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Utilidade Pública</a:t>
            </a:r>
            <a:r>
              <a:rPr lang="pt-BR" kern="100" dirty="0">
                <a:latin typeface="+mj-lt"/>
                <a:ea typeface="Calibri" panose="020F0502020204030204" pitchFamily="34" charset="0"/>
                <a:cs typeface="Times New Roman" panose="02020603050405020304" pitchFamily="18" charset="0"/>
              </a:rPr>
              <a:t xml:space="preserve">, impulsionada pelo forte crescimento esperado de EBITDA e lucros, que estão entre os mais altos de nossa cobertura neste trimestre entre os setores domésticos.</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TMT</a:t>
            </a:r>
            <a:r>
              <a:rPr lang="pt-BR" kern="100" dirty="0">
                <a:latin typeface="+mj-lt"/>
                <a:ea typeface="Calibri" panose="020F0502020204030204" pitchFamily="34" charset="0"/>
                <a:cs typeface="Times New Roman" panose="02020603050405020304" pitchFamily="18" charset="0"/>
              </a:rPr>
              <a:t xml:space="preserve">, já que esperamos um sólido momento operacional para as principais empresas de telecom, provedores de internet (ISPs) e a maioria das empresas de tecnologia sob nossa cobertura, lideradas por Vivo e TIM em Telecom e pela TOTVS em Tecnologia.</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Construtoras de baixa renda</a:t>
            </a:r>
            <a:r>
              <a:rPr lang="pt-BR" kern="100" dirty="0">
                <a:latin typeface="+mj-lt"/>
                <a:ea typeface="Calibri" panose="020F0502020204030204" pitchFamily="34" charset="0"/>
                <a:cs typeface="Times New Roman" panose="02020603050405020304" pitchFamily="18" charset="0"/>
              </a:rPr>
              <a:t xml:space="preserve">, apoiadas por uma demanda mais resiliente, uma dinâmica de vendas sólida e pelo suporte contínuo do financiamento com apoio governamental por meio do programa Minha Casa Minha Vida (MCMV), enquanto o arrefecimento da inflação dos custos de construção deve proporcionar um cenário mais favorável para margens e reconhecimento de resultados.</a:t>
            </a:r>
            <a:endParaRPr lang="en-US" kern="100" dirty="0">
              <a:latin typeface="+mj-lt"/>
              <a:ea typeface="Calibri" panose="020F0502020204030204" pitchFamily="34" charset="0"/>
              <a:cs typeface="Times New Roman" panose="02020603050405020304" pitchFamily="18" charset="0"/>
            </a:endParaRPr>
          </a:p>
          <a:p>
            <a:pPr>
              <a:tabLst>
                <a:tab pos="457200" algn="l"/>
              </a:tabLst>
            </a:pPr>
            <a:r>
              <a:rPr lang="pt-BR" kern="100" dirty="0">
                <a:latin typeface="+mj-lt"/>
                <a:ea typeface="Calibri" panose="020F0502020204030204" pitchFamily="34" charset="0"/>
                <a:cs typeface="Times New Roman" panose="02020603050405020304" pitchFamily="18" charset="0"/>
              </a:rPr>
              <a:t xml:space="preserve">Por outro lado, esperamos que os seguintes setores sejam os destaques negativos:</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Papel &amp; Celulose. </a:t>
            </a:r>
            <a:r>
              <a:rPr lang="pt-BR" kern="100" dirty="0">
                <a:latin typeface="+mj-lt"/>
                <a:ea typeface="Calibri" panose="020F0502020204030204" pitchFamily="34" charset="0"/>
                <a:cs typeface="Times New Roman" panose="02020603050405020304" pitchFamily="18" charset="0"/>
              </a:rPr>
              <a:t xml:space="preserve">Apesar dos preços de celulose mais altos no comparativo trimestral, a valorização do real, as paradas de manutenção e os maiores custos de insumos devem pressionar os resultados.</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Construtoras de média e alta renda</a:t>
            </a:r>
            <a:r>
              <a:rPr lang="pt-BR" kern="100" dirty="0">
                <a:latin typeface="+mj-lt"/>
                <a:ea typeface="Calibri" panose="020F0502020204030204" pitchFamily="34" charset="0"/>
                <a:cs typeface="Times New Roman" panose="02020603050405020304" pitchFamily="18" charset="0"/>
              </a:rPr>
              <a:t xml:space="preserve">, que devem continuar enfrentando um ambiente mais desafiador, com as incorporadoras adotando uma postura mais conservadora em lançamentos em meio a uma demanda mais fraca e a um cenário de juros ainda elevados.</a:t>
            </a:r>
            <a:endParaRPr lang="en-US" kern="100" dirty="0">
              <a:latin typeface="+mj-lt"/>
              <a:ea typeface="Calibri" panose="020F0502020204030204" pitchFamily="34" charset="0"/>
              <a:cs typeface="Times New Roman" panose="02020603050405020304" pitchFamily="18" charset="0"/>
            </a:endParaRPr>
          </a:p>
          <a:p>
            <a:pPr marL="342900" indent="-342900">
              <a:buFont typeface="+mj-lt"/>
              <a:buAutoNum type="romanLcPeriod"/>
              <a:tabLst>
                <a:tab pos="457200" algn="l"/>
              </a:tabLst>
            </a:pPr>
            <a:r>
              <a:rPr lang="pt-BR" b="1" kern="100" dirty="0">
                <a:latin typeface="+mj-lt"/>
                <a:ea typeface="Calibri" panose="020F0502020204030204" pitchFamily="34" charset="0"/>
                <a:cs typeface="Times New Roman" panose="02020603050405020304" pitchFamily="18" charset="0"/>
              </a:rPr>
              <a:t xml:space="preserve">Varejo Alimentar</a:t>
            </a:r>
            <a:r>
              <a:rPr lang="pt-BR" kern="100" dirty="0">
                <a:latin typeface="+mj-lt"/>
                <a:ea typeface="Calibri" panose="020F0502020204030204" pitchFamily="34" charset="0"/>
                <a:cs typeface="Times New Roman" panose="02020603050405020304" pitchFamily="18" charset="0"/>
              </a:rPr>
              <a:t xml:space="preserve">, pressionado por volumes mais fracos.</a:t>
            </a:r>
            <a:endParaRPr lang="en-US" kern="100" dirty="0">
              <a:latin typeface="+mj-lt"/>
              <a:ea typeface="Calibri" panose="020F0502020204030204" pitchFamily="34"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0EC7688C-41C0-3813-7980-883235E2117C}"/>
              </a:ext>
            </a:extLst>
          </p:cNvPr>
          <p:cNvGraphicFramePr>
            <a:graphicFrameLocks noGrp="1"/>
          </p:cNvGraphicFramePr>
          <p:nvPr>
            <p:extLst>
              <p:ext uri="{D42A27DB-BD31-4B8C-83A1-F6EECF244321}">
                <p14:modId xmlns:p14="http://schemas.microsoft.com/office/powerpoint/2010/main" val="4130876880"/>
              </p:ext>
            </p:extLst>
          </p:nvPr>
        </p:nvGraphicFramePr>
        <p:xfrm>
          <a:off x="390153" y="7982583"/>
          <a:ext cx="6131538" cy="1276560"/>
        </p:xfrm>
        <a:graphic>
          <a:graphicData uri="http://schemas.openxmlformats.org/drawingml/2006/table">
            <a:tbl>
              <a:tblPr/>
              <a:tblGrid>
                <a:gridCol w="508200">
                  <a:extLst>
                    <a:ext uri="{9D8B030D-6E8A-4147-A177-3AD203B41FA5}">
                      <a16:colId xmlns:a16="http://schemas.microsoft.com/office/drawing/2014/main" val="1828598702"/>
                    </a:ext>
                  </a:extLst>
                </a:gridCol>
                <a:gridCol w="508200">
                  <a:extLst>
                    <a:ext uri="{9D8B030D-6E8A-4147-A177-3AD203B41FA5}">
                      <a16:colId xmlns:a16="http://schemas.microsoft.com/office/drawing/2014/main" val="2769261546"/>
                    </a:ext>
                  </a:extLst>
                </a:gridCol>
                <a:gridCol w="508200">
                  <a:extLst>
                    <a:ext uri="{9D8B030D-6E8A-4147-A177-3AD203B41FA5}">
                      <a16:colId xmlns:a16="http://schemas.microsoft.com/office/drawing/2014/main" val="3824414957"/>
                    </a:ext>
                  </a:extLst>
                </a:gridCol>
                <a:gridCol w="508200">
                  <a:extLst>
                    <a:ext uri="{9D8B030D-6E8A-4147-A177-3AD203B41FA5}">
                      <a16:colId xmlns:a16="http://schemas.microsoft.com/office/drawing/2014/main" val="482702907"/>
                    </a:ext>
                  </a:extLst>
                </a:gridCol>
                <a:gridCol w="541338">
                  <a:extLst>
                    <a:ext uri="{9D8B030D-6E8A-4147-A177-3AD203B41FA5}">
                      <a16:colId xmlns:a16="http://schemas.microsoft.com/office/drawing/2014/main" val="1997374440"/>
                    </a:ext>
                  </a:extLst>
                </a:gridCol>
                <a:gridCol w="426330">
                  <a:extLst>
                    <a:ext uri="{9D8B030D-6E8A-4147-A177-3AD203B41FA5}">
                      <a16:colId xmlns:a16="http://schemas.microsoft.com/office/drawing/2014/main" val="2277202768"/>
                    </a:ext>
                  </a:extLst>
                </a:gridCol>
                <a:gridCol w="508200">
                  <a:extLst>
                    <a:ext uri="{9D8B030D-6E8A-4147-A177-3AD203B41FA5}">
                      <a16:colId xmlns:a16="http://schemas.microsoft.com/office/drawing/2014/main" val="2247541345"/>
                    </a:ext>
                  </a:extLst>
                </a:gridCol>
                <a:gridCol w="508200">
                  <a:extLst>
                    <a:ext uri="{9D8B030D-6E8A-4147-A177-3AD203B41FA5}">
                      <a16:colId xmlns:a16="http://schemas.microsoft.com/office/drawing/2014/main" val="155857868"/>
                    </a:ext>
                  </a:extLst>
                </a:gridCol>
                <a:gridCol w="508200">
                  <a:extLst>
                    <a:ext uri="{9D8B030D-6E8A-4147-A177-3AD203B41FA5}">
                      <a16:colId xmlns:a16="http://schemas.microsoft.com/office/drawing/2014/main" val="2886139711"/>
                    </a:ext>
                  </a:extLst>
                </a:gridCol>
                <a:gridCol w="508200">
                  <a:extLst>
                    <a:ext uri="{9D8B030D-6E8A-4147-A177-3AD203B41FA5}">
                      <a16:colId xmlns:a16="http://schemas.microsoft.com/office/drawing/2014/main" val="2410356687"/>
                    </a:ext>
                  </a:extLst>
                </a:gridCol>
                <a:gridCol w="508200">
                  <a:extLst>
                    <a:ext uri="{9D8B030D-6E8A-4147-A177-3AD203B41FA5}">
                      <a16:colId xmlns:a16="http://schemas.microsoft.com/office/drawing/2014/main" val="300465052"/>
                    </a:ext>
                  </a:extLst>
                </a:gridCol>
              </a:tblGrid>
              <a:tr h="501120">
                <a:tc>
                  <a:txBody>
                    <a:bodyPr/>
                    <a:lstStyle/>
                    <a:p>
                      <a:pPr algn="ctr" rtl="0" fontAlgn="ctr">
                        <a:buNone/>
                      </a:pPr>
                      <a:r>
                        <a:rPr lang="pt-BR" sz="900" b="1" i="0" u="none" strike="noStrike" dirty="0">
                          <a:solidFill>
                            <a:srgbClr val="000000"/>
                          </a:solidFill>
                          <a:effectLst/>
                          <a:latin typeface="Roboto Light" panose="02000000000000000000" pitchFamily="2" charset="0"/>
                        </a:rPr>
                        <a:t> </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dirty="0">
                          <a:solidFill>
                            <a:srgbClr val="000000"/>
                          </a:solidFill>
                          <a:effectLst/>
                          <a:latin typeface="Roboto Light" panose="02000000000000000000" pitchFamily="2" charset="0"/>
                        </a:rPr>
                        <a:t>Ibovespa</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a:solidFill>
                            <a:srgbClr val="000000"/>
                          </a:solidFill>
                          <a:effectLst/>
                          <a:latin typeface="Roboto Light" panose="02000000000000000000" pitchFamily="2" charset="0"/>
                        </a:rPr>
                        <a:t>Cons. Disc.</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a:solidFill>
                            <a:srgbClr val="000000"/>
                          </a:solidFill>
                          <a:effectLst/>
                          <a:latin typeface="Roboto Light" panose="02000000000000000000" pitchFamily="2" charset="0"/>
                        </a:rPr>
                        <a:t>Consumo Básico</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dirty="0">
                          <a:solidFill>
                            <a:srgbClr val="000000"/>
                          </a:solidFill>
                          <a:effectLst/>
                          <a:latin typeface="Roboto Light" panose="02000000000000000000" pitchFamily="2" charset="0"/>
                        </a:rPr>
                        <a:t>Financeiro</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dirty="0">
                          <a:solidFill>
                            <a:srgbClr val="000000"/>
                          </a:solidFill>
                          <a:effectLst/>
                          <a:latin typeface="Roboto Light" panose="02000000000000000000" pitchFamily="2" charset="0"/>
                        </a:rPr>
                        <a:t>Energia</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dirty="0">
                          <a:solidFill>
                            <a:srgbClr val="000000"/>
                          </a:solidFill>
                          <a:effectLst/>
                          <a:latin typeface="Roboto Light" panose="02000000000000000000" pitchFamily="2" charset="0"/>
                        </a:rPr>
                        <a:t>Indústria</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a:solidFill>
                            <a:srgbClr val="000000"/>
                          </a:solidFill>
                          <a:effectLst/>
                          <a:latin typeface="Roboto Light" panose="02000000000000000000" pitchFamily="2" charset="0"/>
                        </a:rPr>
                        <a:t>Materiais</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a:solidFill>
                            <a:srgbClr val="000000"/>
                          </a:solidFill>
                          <a:effectLst/>
                          <a:latin typeface="Roboto Light" panose="02000000000000000000" pitchFamily="2" charset="0"/>
                        </a:rPr>
                        <a:t>Elét. e Saneam.</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dirty="0">
                          <a:solidFill>
                            <a:srgbClr val="000000"/>
                          </a:solidFill>
                          <a:effectLst/>
                          <a:latin typeface="Roboto Light" panose="02000000000000000000" pitchFamily="2" charset="0"/>
                        </a:rPr>
                        <a:t>Saúde</a:t>
                      </a:r>
                    </a:p>
                  </a:txBody>
                  <a:tcPr marL="0" marR="0" marT="0" marB="0" anchor="ctr">
                    <a:lnL>
                      <a:noFill/>
                    </a:lnL>
                    <a:lnR>
                      <a:noFill/>
                    </a:lnR>
                    <a:lnT>
                      <a:noFill/>
                    </a:lnT>
                    <a:lnB>
                      <a:noFill/>
                    </a:lnB>
                    <a:solidFill>
                      <a:srgbClr val="F9C113"/>
                    </a:solidFill>
                  </a:tcPr>
                </a:tc>
                <a:tc>
                  <a:txBody>
                    <a:bodyPr/>
                    <a:lstStyle/>
                    <a:p>
                      <a:pPr algn="ctr" rtl="0" fontAlgn="ctr">
                        <a:buNone/>
                      </a:pPr>
                      <a:r>
                        <a:rPr lang="pt-BR" sz="900" b="1" i="0" u="none" strike="noStrike">
                          <a:solidFill>
                            <a:srgbClr val="000000"/>
                          </a:solidFill>
                          <a:effectLst/>
                          <a:latin typeface="Roboto Light" panose="02000000000000000000" pitchFamily="2" charset="0"/>
                        </a:rPr>
                        <a:t>Serv. Comunc.</a:t>
                      </a:r>
                    </a:p>
                  </a:txBody>
                  <a:tcPr marL="0" marR="0" marT="0" marB="0" anchor="ctr">
                    <a:lnL>
                      <a:noFill/>
                    </a:lnL>
                    <a:lnR>
                      <a:noFill/>
                    </a:lnR>
                    <a:lnT>
                      <a:noFill/>
                    </a:lnT>
                    <a:lnB>
                      <a:noFill/>
                    </a:lnB>
                    <a:solidFill>
                      <a:srgbClr val="F9C113"/>
                    </a:solidFill>
                  </a:tcPr>
                </a:tc>
                <a:extLst>
                  <a:ext uri="{0D108BD9-81ED-4DB2-BD59-A6C34878D82A}">
                    <a16:rowId xmlns:a16="http://schemas.microsoft.com/office/drawing/2014/main" val="3806154024"/>
                  </a:ext>
                </a:extLst>
              </a:tr>
              <a:tr h="250560">
                <a:tc>
                  <a:txBody>
                    <a:bodyPr/>
                    <a:lstStyle/>
                    <a:p>
                      <a:pPr algn="ctr" fontAlgn="b">
                        <a:buNone/>
                      </a:pPr>
                      <a:r>
                        <a:rPr lang="pt-BR" sz="900" b="0" i="0" u="none" strike="noStrike" dirty="0">
                          <a:solidFill>
                            <a:srgbClr val="000000"/>
                          </a:solidFill>
                          <a:effectLst/>
                          <a:latin typeface="Roboto Light" panose="02000000000000000000" pitchFamily="2" charset="0"/>
                        </a:rPr>
                        <a:t>EBITDA</a:t>
                      </a:r>
                    </a:p>
                  </a:txBody>
                  <a:tcPr marL="0" marR="0" marT="0" marB="0" anchor="ctr">
                    <a:lnL>
                      <a:noFill/>
                    </a:lnL>
                    <a:lnR>
                      <a:noFill/>
                    </a:lnR>
                    <a:lnT>
                      <a:noFill/>
                    </a:lnT>
                    <a:lnB>
                      <a:noFill/>
                    </a:lnB>
                    <a:noFill/>
                  </a:tcPr>
                </a:tc>
                <a:tc>
                  <a:txBody>
                    <a:bodyPr/>
                    <a:lstStyle/>
                    <a:p>
                      <a:pPr algn="ctr" fontAlgn="b">
                        <a:buNone/>
                      </a:pPr>
                      <a:r>
                        <a:rPr lang="pt-BR" sz="900" b="1" i="0" u="none" strike="noStrike" dirty="0">
                          <a:solidFill>
                            <a:srgbClr val="000000"/>
                          </a:solidFill>
                          <a:effectLst/>
                          <a:latin typeface="Roboto Light" panose="02000000000000000000" pitchFamily="2" charset="0"/>
                        </a:rPr>
                        <a:t>54,2%</a:t>
                      </a:r>
                    </a:p>
                  </a:txBody>
                  <a:tcPr marL="0" marR="0" marT="0" marB="0" anchor="ctr">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186,0%</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0,0%</a:t>
                      </a:r>
                    </a:p>
                  </a:txBody>
                  <a:tcPr marL="0" marR="0" marT="0" marB="0" anchor="ctr">
                    <a:lnL>
                      <a:noFill/>
                    </a:lnL>
                    <a:lnR>
                      <a:noFill/>
                    </a:lnR>
                    <a:lnT>
                      <a:noFill/>
                    </a:lnT>
                    <a:lnB>
                      <a:noFill/>
                    </a:lnB>
                    <a:noFill/>
                  </a:tcPr>
                </a:tc>
                <a:tc>
                  <a:txBody>
                    <a:bodyPr/>
                    <a:lstStyle/>
                    <a:p>
                      <a:r>
                        <a:t>16,2%</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79,6%</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15,6%</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24,6%</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34,2%</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25,2%</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18,8%</a:t>
                      </a:r>
                    </a:p>
                  </a:txBody>
                  <a:tcPr marL="0" marR="0" marT="0" marB="0" anchor="ctr">
                    <a:lnL>
                      <a:noFill/>
                    </a:lnL>
                    <a:lnR>
                      <a:noFill/>
                    </a:lnR>
                    <a:lnT>
                      <a:noFill/>
                    </a:lnT>
                    <a:lnB>
                      <a:noFill/>
                    </a:lnB>
                    <a:noFill/>
                  </a:tcPr>
                </a:tc>
                <a:extLst>
                  <a:ext uri="{0D108BD9-81ED-4DB2-BD59-A6C34878D82A}">
                    <a16:rowId xmlns:a16="http://schemas.microsoft.com/office/drawing/2014/main" val="893438682"/>
                  </a:ext>
                </a:extLst>
              </a:tr>
              <a:tr h="250560">
                <a:tc>
                  <a:txBody>
                    <a:bodyPr/>
                    <a:lstStyle/>
                    <a:p>
                      <a:pPr algn="ctr" fontAlgn="b">
                        <a:buNone/>
                      </a:pPr>
                      <a:r>
                        <a:rPr lang="pt-BR" sz="900" b="0" i="0" u="none" strike="noStrike" dirty="0">
                          <a:solidFill>
                            <a:srgbClr val="000000"/>
                          </a:solidFill>
                          <a:effectLst/>
                          <a:latin typeface="Roboto Light" panose="02000000000000000000" pitchFamily="2" charset="0"/>
                        </a:rPr>
                        <a:t>LPA</a:t>
                      </a:r>
                    </a:p>
                  </a:txBody>
                  <a:tcPr marL="0" marR="0" marT="0" marB="0" anchor="ctr">
                    <a:lnL>
                      <a:noFill/>
                    </a:lnL>
                    <a:lnR>
                      <a:noFill/>
                    </a:lnR>
                    <a:lnT>
                      <a:noFill/>
                    </a:lnT>
                    <a:lnB>
                      <a:noFill/>
                    </a:lnB>
                    <a:noFill/>
                  </a:tcPr>
                </a:tc>
                <a:tc>
                  <a:txBody>
                    <a:bodyPr/>
                    <a:lstStyle/>
                    <a:p>
                      <a:pPr algn="ctr" fontAlgn="b">
                        <a:buNone/>
                      </a:pPr>
                      <a:r>
                        <a:rPr lang="pt-BR" sz="900" b="1" i="0" u="none" strike="noStrike" dirty="0">
                          <a:solidFill>
                            <a:srgbClr val="000000"/>
                          </a:solidFill>
                          <a:effectLst/>
                          <a:latin typeface="Roboto Light" panose="02000000000000000000" pitchFamily="2" charset="0"/>
                        </a:rPr>
                        <a:t>34,7%</a:t>
                      </a:r>
                    </a:p>
                  </a:txBody>
                  <a:tcPr marL="0" marR="0" marT="0" marB="0" anchor="ctr">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367,5%</a:t>
                      </a:r>
                    </a:p>
                  </a:txBody>
                  <a:tcPr marL="0" marR="0" marT="0" marB="0" anchor="ctr">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-20,2%</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24,7%</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81,9%</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18,0%</a:t>
                      </a:r>
                    </a:p>
                  </a:txBody>
                  <a:tcPr marL="0" marR="0" marT="0" marB="0" anchor="ctr">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-2,8%</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66,3%</a:t>
                      </a:r>
                    </a:p>
                  </a:txBody>
                  <a:tcPr marL="0" marR="0" marT="0" marB="0" anchor="ctr">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31,1%</a:t>
                      </a:r>
                    </a:p>
                  </a:txBody>
                  <a:tcPr marL="0" marR="0" marT="0" marB="0" anchor="ctr">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35,9%</a:t>
                      </a:r>
                    </a:p>
                  </a:txBody>
                  <a:tcPr marL="0" marR="0" marT="0" marB="0" anchor="ctr">
                    <a:lnL>
                      <a:noFill/>
                    </a:lnL>
                    <a:lnR>
                      <a:noFill/>
                    </a:lnR>
                    <a:lnT>
                      <a:noFill/>
                    </a:lnT>
                    <a:lnB>
                      <a:noFill/>
                    </a:lnB>
                    <a:noFill/>
                  </a:tcPr>
                </a:tc>
                <a:extLst>
                  <a:ext uri="{0D108BD9-81ED-4DB2-BD59-A6C34878D82A}">
                    <a16:rowId xmlns:a16="http://schemas.microsoft.com/office/drawing/2014/main" val="3811283014"/>
                  </a:ext>
                </a:extLst>
              </a:tr>
              <a:tr h="250560">
                <a:tc>
                  <a:txBody>
                    <a:bodyPr/>
                    <a:lstStyle/>
                    <a:p>
                      <a:pPr algn="ctr" rtl="0" fontAlgn="b">
                        <a:buNone/>
                      </a:pPr>
                      <a:r>
                        <a:rPr lang="pt-BR" sz="900" b="0" i="0" u="none" strike="noStrike">
                          <a:solidFill>
                            <a:srgbClr val="000000"/>
                          </a:solidFill>
                          <a:effectLst/>
                          <a:latin typeface="Roboto Light" panose="02000000000000000000" pitchFamily="2" charset="0"/>
                        </a:rPr>
                        <a:t>Receita</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1" i="0" u="none" strike="noStrike">
                          <a:solidFill>
                            <a:srgbClr val="000000"/>
                          </a:solidFill>
                          <a:effectLst/>
                          <a:latin typeface="Roboto Light" panose="02000000000000000000" pitchFamily="2" charset="0"/>
                        </a:rPr>
                        <a:t>23,6%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a:solidFill>
                            <a:srgbClr val="000000"/>
                          </a:solidFill>
                          <a:effectLst/>
                          <a:latin typeface="Roboto Light" panose="02000000000000000000" pitchFamily="2" charset="0"/>
                        </a:rPr>
                        <a:t>26,4%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27,3%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9,0%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15,9%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14,3%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a:solidFill>
                            <a:srgbClr val="000000"/>
                          </a:solidFill>
                          <a:effectLst/>
                          <a:latin typeface="Roboto Light" panose="02000000000000000000" pitchFamily="2" charset="0"/>
                        </a:rPr>
                        <a:t>8,9%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3,0%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17,0%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b">
                        <a:buNone/>
                      </a:pPr>
                      <a:r>
                        <a:rPr lang="pt-BR" sz="900" b="0" i="0" u="none" strike="noStrike" dirty="0">
                          <a:solidFill>
                            <a:srgbClr val="000000"/>
                          </a:solidFill>
                          <a:effectLst/>
                          <a:latin typeface="Roboto Light" panose="02000000000000000000" pitchFamily="2" charset="0"/>
                        </a:rPr>
                        <a:t>15,0%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6478700"/>
                  </a:ext>
                </a:extLst>
              </a:tr>
            </a:tbl>
          </a:graphicData>
        </a:graphic>
      </p:graphicFrame>
      <p:pic>
        <p:nvPicPr>
          <p:cNvPr id="14" name="Picture 13">
            <a:extLst>
              <a:ext uri="{FF2B5EF4-FFF2-40B4-BE49-F238E27FC236}">
                <a16:creationId xmlns:a16="http://schemas.microsoft.com/office/drawing/2014/main" id="{CBEB30BF-7CA7-4B54-8C9E-E9BCE06FCF2A}"/>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4810125" y="27090688"/>
            <a:ext cx="2444750" cy="293687"/>
          </a:xfrm>
          <a:prstGeom prst="rect">
            <a:avLst/>
          </a:prstGeom>
        </p:spPr>
      </p:pic>
    </p:spTree>
    <p:extLst>
      <p:ext uri="{BB962C8B-B14F-4D97-AF65-F5344CB8AC3E}">
        <p14:creationId xmlns:p14="http://schemas.microsoft.com/office/powerpoint/2010/main" val="1433282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842849-A083-B1BB-5433-7A5D0279E038}"/>
              </a:ext>
            </a:extLst>
          </p:cNvPr>
          <p:cNvSpPr>
            <a:spLocks noGrp="1"/>
          </p:cNvSpPr>
          <p:nvPr>
            <p:ph type="body" sz="quarter" idx="11"/>
          </p:nvPr>
        </p:nvSpPr>
        <p:spPr/>
        <p:txBody>
          <a:bodyPr/>
          <a:lstStyle/>
          <a:p>
            <a:r>
              <a:rPr lang="pt-BR" dirty="0"/>
              <a:t>Destaques setoriais</a:t>
            </a:r>
          </a:p>
        </p:txBody>
      </p:sp>
      <p:sp>
        <p:nvSpPr>
          <p:cNvPr id="3" name="Text Placeholder 2">
            <a:extLst>
              <a:ext uri="{FF2B5EF4-FFF2-40B4-BE49-F238E27FC236}">
                <a16:creationId xmlns:a16="http://schemas.microsoft.com/office/drawing/2014/main" id="{3E195BA8-C882-37DE-0613-3D0B1CDE9158}"/>
              </a:ext>
            </a:extLst>
          </p:cNvPr>
          <p:cNvSpPr>
            <a:spLocks noGrp="1"/>
          </p:cNvSpPr>
          <p:nvPr>
            <p:ph type="body" sz="quarter" idx="12"/>
          </p:nvPr>
        </p:nvSpPr>
        <p:spPr/>
        <p:txBody>
          <a:bodyPr/>
          <a:lstStyle/>
          <a:p>
            <a:r>
              <a:rPr lang="pt-BR" dirty="0"/>
              <a:t>Prévia da temporada de resultados do 2T26</a:t>
            </a:r>
          </a:p>
        </p:txBody>
      </p:sp>
    </p:spTree>
    <p:extLst>
      <p:ext uri="{BB962C8B-B14F-4D97-AF65-F5344CB8AC3E}">
        <p14:creationId xmlns:p14="http://schemas.microsoft.com/office/powerpoint/2010/main" val="30798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36AD68-672E-4D9F-8ED6-84653D596F75}"/>
              </a:ext>
            </a:extLst>
          </p:cNvPr>
          <p:cNvSpPr>
            <a:spLocks noGrp="1"/>
          </p:cNvSpPr>
          <p:nvPr>
            <p:ph sz="quarter" idx="29"/>
          </p:nvPr>
        </p:nvSpPr>
        <p:spPr>
          <a:xfrm>
            <a:off x="390441" y="1798336"/>
            <a:ext cx="6105737" cy="3028798"/>
          </a:xfrm>
        </p:spPr>
        <p:txBody>
          <a:bodyPr/>
          <a:lstStyle/>
          <a:p>
            <a:pPr>
              <a:lnSpc>
                <a:spcPct val="125000"/>
              </a:lnSpc>
              <a:spcBef>
                <a:spcPts val="600"/>
              </a:spcBef>
            </a:pPr>
            <a:r>
              <a:rPr lang="pt-BR" u="sng" dirty="0"/>
              <a:t>Agro:</a:t>
            </a:r>
            <a:r>
              <a:rPr lang="pt-BR" b="1" dirty="0"/>
              <a:t> </a:t>
            </a:r>
            <a:r>
              <a:rPr lang="pt-BR" dirty="0"/>
              <a:t>Para os produtores rurais, o principal foco neste trimestre deve ser entender como as companhias administraram os impactos do conflito entre Irã e EUA, uma vez que o 2T26 foi o primeiro trimestre integralmente afetado pelos desdobramentos da guerra. Devemos observar pressão adicional sobre os custos de frete, refletindo o aumento das despesas relacionadas aos combustíveis. Por outro lado, os preços futuros das principais commodities agrícolas encontraram suporte ao longo do trimestre, seja em função de prêmios climáticos, seja como consequência direta do conflito. Em fertilizantes, o adiamento das compras de ureia parece ter sido a estratégia correta, considerando que os preços já recuaram de forma relevante desde o início das tensões. Adicionalmente, será importante entender como as empresas estão se preparando para a chegada de um potencial El </a:t>
            </a:r>
            <a:r>
              <a:rPr lang="pt-BR" dirty="0" err="1"/>
              <a:t>Niño</a:t>
            </a:r>
            <a:r>
              <a:rPr lang="pt-BR" dirty="0"/>
              <a:t>. No segmento de </a:t>
            </a:r>
            <a:r>
              <a:rPr lang="pt-BR" dirty="0" err="1"/>
              <a:t>agroinsumos</a:t>
            </a:r>
            <a:r>
              <a:rPr lang="pt-BR" dirty="0"/>
              <a:t>, o foco segue na gestão da carteira de crédito diante dos níveis ainda elevados de inadimplência no setor agrícola, bem como na evolução da carteira de pedidos.</a:t>
            </a:r>
          </a:p>
          <a:p>
            <a:pPr>
              <a:lnSpc>
                <a:spcPct val="125000"/>
              </a:lnSpc>
              <a:spcBef>
                <a:spcPts val="600"/>
              </a:spcBef>
            </a:pPr>
            <a:r>
              <a:rPr lang="pt-BR" u="sng" dirty="0"/>
              <a:t>Alimentos &amp; Bebidas:</a:t>
            </a:r>
            <a:r>
              <a:rPr lang="pt-BR" dirty="0"/>
              <a:t> A M. Dias Branco deve reportar resultados sequencialmente melhores, embora o desempenho do ano ainda deva permanecer impactado por um 1T26 fraco. A AmBev, por sua vez, deve entregar resultados positivos, beneficiada por </a:t>
            </a:r>
            <a:r>
              <a:rPr lang="pt-BR" dirty="0" err="1"/>
              <a:t>easy</a:t>
            </a:r>
            <a:r>
              <a:rPr lang="pt-BR" dirty="0"/>
              <a:t> </a:t>
            </a:r>
            <a:r>
              <a:rPr lang="pt-BR" dirty="0" err="1"/>
              <a:t>comps</a:t>
            </a:r>
            <a:r>
              <a:rPr lang="pt-BR" dirty="0"/>
              <a:t> versus o 2T25, ainda que abaixo de seu potencial de crescimento, uma vez que as condições climáticas continuaram atuando como um </a:t>
            </a:r>
            <a:r>
              <a:rPr lang="pt-BR" dirty="0" err="1"/>
              <a:t>headwind</a:t>
            </a:r>
            <a:r>
              <a:rPr lang="pt-BR" dirty="0"/>
              <a:t> para a tese. Para as companhias de proteína, o trimestre deve ter sido marcado por fortes volumes de exportação de carne bovina do Brasil para a China, impulsionados por preços atrativos e por compras antecipadas antes da expiração da quota chinesa. As exportações de carne de frango também mostraram bom desempenho, apesar do conflito no Oriente Médio, compensando parcialmente a fraqueza da demanda doméstica. No entanto, essa dinâmica provavelmente implica uma perspectiva mais desafiadora para o 3T26, à medida que parte da demanda tenha sido antecipada para o trimestre atual.</a:t>
            </a:r>
            <a:r>
              <a:rPr lang="pt-BR" u="sng" dirty="0"/>
              <a:t> </a:t>
            </a:r>
            <a:r>
              <a:rPr lang="pt-BR" dirty="0"/>
              <a:t> </a:t>
            </a:r>
          </a:p>
          <a:p>
            <a:pPr>
              <a:lnSpc>
                <a:spcPct val="125000"/>
              </a:lnSpc>
              <a:spcBef>
                <a:spcPts val="600"/>
              </a:spcBef>
            </a:pPr>
            <a:endParaRPr lang="pt-BR" dirty="0"/>
          </a:p>
        </p:txBody>
      </p:sp>
      <p:sp>
        <p:nvSpPr>
          <p:cNvPr id="3" name="Content Placeholder 2">
            <a:extLst>
              <a:ext uri="{FF2B5EF4-FFF2-40B4-BE49-F238E27FC236}">
                <a16:creationId xmlns:a16="http://schemas.microsoft.com/office/drawing/2014/main" id="{66148E3A-9CBF-47F2-AB9B-ECEAE894687A}"/>
              </a:ext>
            </a:extLst>
          </p:cNvPr>
          <p:cNvSpPr>
            <a:spLocks noGrp="1"/>
          </p:cNvSpPr>
          <p:nvPr>
            <p:ph sz="quarter" idx="30"/>
          </p:nvPr>
        </p:nvSpPr>
        <p:spPr>
          <a:xfrm>
            <a:off x="390153" y="1525107"/>
            <a:ext cx="6099547" cy="230832"/>
          </a:xfrm>
        </p:spPr>
        <p:txBody>
          <a:bodyPr/>
          <a:lstStyle/>
          <a:p>
            <a:r>
              <a:rPr lang="en-US" sz="1000" b="1" dirty="0" err="1">
                <a:latin typeface="Roboto Light" panose="02000000000000000000" pitchFamily="2" charset="0"/>
                <a:ea typeface="Roboto Light" panose="02000000000000000000" pitchFamily="2" charset="0"/>
              </a:rPr>
              <a:t>Agro</a:t>
            </a:r>
            <a:r>
              <a:rPr lang="en-US" sz="1000" b="1" dirty="0">
                <a:latin typeface="Roboto Light" panose="02000000000000000000" pitchFamily="2" charset="0"/>
                <a:ea typeface="Roboto Light" panose="02000000000000000000" pitchFamily="2" charset="0"/>
              </a:rPr>
              <a:t>, Alimentos &amp; Bebidas </a:t>
            </a:r>
            <a:r>
              <a:rPr lang="en-US" sz="1000" b="0" i="1" dirty="0" err="1">
                <a:latin typeface="Roboto Light" panose="02000000000000000000" pitchFamily="2" charset="0"/>
                <a:ea typeface="Roboto Light" panose="02000000000000000000" pitchFamily="2" charset="0"/>
              </a:rPr>
              <a:t>por</a:t>
            </a:r>
            <a:r>
              <a:rPr lang="en-US" sz="1000" b="0" i="1" dirty="0">
                <a:latin typeface="Roboto Light" panose="02000000000000000000" pitchFamily="2" charset="0"/>
                <a:ea typeface="Roboto Light" panose="02000000000000000000" pitchFamily="2" charset="0"/>
              </a:rPr>
              <a:t> Leonardo Alencar</a:t>
            </a:r>
            <a:endParaRPr lang="en-US" b="0" i="1" dirty="0"/>
          </a:p>
        </p:txBody>
      </p:sp>
      <p:sp>
        <p:nvSpPr>
          <p:cNvPr id="4" name="Text Placeholder 3">
            <a:extLst>
              <a:ext uri="{FF2B5EF4-FFF2-40B4-BE49-F238E27FC236}">
                <a16:creationId xmlns:a16="http://schemas.microsoft.com/office/drawing/2014/main" id="{8D9E632F-A16A-45F7-A764-40BEFB5FB9CE}"/>
              </a:ext>
            </a:extLst>
          </p:cNvPr>
          <p:cNvSpPr>
            <a:spLocks noGrp="1"/>
          </p:cNvSpPr>
          <p:nvPr>
            <p:ph type="body" sz="quarter" idx="16"/>
          </p:nvPr>
        </p:nvSpPr>
        <p:spPr/>
        <p:txBody>
          <a:bodyPr/>
          <a:lstStyle/>
          <a:p>
            <a:r>
              <a:rPr lang="pt-BR" dirty="0"/>
              <a:t>Destaques setoriais</a:t>
            </a:r>
            <a:endParaRPr lang="en-US" dirty="0"/>
          </a:p>
        </p:txBody>
      </p:sp>
      <p:sp>
        <p:nvSpPr>
          <p:cNvPr id="5" name="Text Placeholder 4">
            <a:extLst>
              <a:ext uri="{FF2B5EF4-FFF2-40B4-BE49-F238E27FC236}">
                <a16:creationId xmlns:a16="http://schemas.microsoft.com/office/drawing/2014/main" id="{DFBA17AA-42DC-429B-B8E5-A5B31E408056}"/>
              </a:ext>
            </a:extLst>
          </p:cNvPr>
          <p:cNvSpPr>
            <a:spLocks noGrp="1"/>
          </p:cNvSpPr>
          <p:nvPr>
            <p:ph type="body" sz="quarter" idx="17"/>
          </p:nvPr>
        </p:nvSpPr>
        <p:spPr/>
        <p:txBody>
          <a:bodyPr/>
          <a:lstStyle/>
          <a:p>
            <a:r>
              <a:rPr lang="pt-BR" dirty="0"/>
              <a:t>O que esperar para cada setor dentro de nossa cobertura</a:t>
            </a:r>
            <a:endParaRPr lang="en-US" dirty="0"/>
          </a:p>
        </p:txBody>
      </p:sp>
      <p:sp>
        <p:nvSpPr>
          <p:cNvPr id="6" name="Text Placeholder 5">
            <a:extLst>
              <a:ext uri="{FF2B5EF4-FFF2-40B4-BE49-F238E27FC236}">
                <a16:creationId xmlns:a16="http://schemas.microsoft.com/office/drawing/2014/main" id="{B1E13873-8272-45DD-8F53-3A037E1D190E}"/>
              </a:ext>
            </a:extLst>
          </p:cNvPr>
          <p:cNvSpPr>
            <a:spLocks noGrp="1"/>
          </p:cNvSpPr>
          <p:nvPr>
            <p:ph type="body" sz="quarter" idx="26"/>
          </p:nvPr>
        </p:nvSpPr>
        <p:spPr/>
        <p:txBody>
          <a:bodyPr/>
          <a:lstStyle/>
          <a:p>
            <a:r>
              <a:rPr lang="pt-BR" dirty="0"/>
              <a:t>Fonte: XP Research.</a:t>
            </a:r>
            <a:endParaRPr lang="en-US" dirty="0"/>
          </a:p>
        </p:txBody>
      </p:sp>
      <p:sp>
        <p:nvSpPr>
          <p:cNvPr id="7" name="Date Placeholder 6">
            <a:extLst>
              <a:ext uri="{FF2B5EF4-FFF2-40B4-BE49-F238E27FC236}">
                <a16:creationId xmlns:a16="http://schemas.microsoft.com/office/drawing/2014/main" id="{524A82D9-5BFB-436A-819A-96968F2EA32B}"/>
              </a:ext>
            </a:extLst>
          </p:cNvPr>
          <p:cNvSpPr>
            <a:spLocks noGrp="1"/>
          </p:cNvSpPr>
          <p:nvPr>
            <p:ph type="dt" sz="half" idx="2"/>
          </p:nvPr>
        </p:nvSpPr>
        <p:spPr/>
        <p:txBody>
          <a:bodyPr/>
          <a:lstStyle/>
          <a:p>
            <a:fld id="{DC523E45-9231-4378-B641-7AEC8A02893F}" type="datetime4">
              <a:rPr lang="pt-BR" smtClean="0"/>
              <a:t>21 de julho de 2026</a:t>
            </a:fld>
            <a:endParaRPr lang="en-US"/>
          </a:p>
        </p:txBody>
      </p:sp>
      <p:sp>
        <p:nvSpPr>
          <p:cNvPr id="14" name="Content Placeholder 1">
            <a:extLst>
              <a:ext uri="{FF2B5EF4-FFF2-40B4-BE49-F238E27FC236}">
                <a16:creationId xmlns:a16="http://schemas.microsoft.com/office/drawing/2014/main" id="{1242CB89-BA36-56A9-C9D8-B42A71EBF13B}"/>
              </a:ext>
            </a:extLst>
          </p:cNvPr>
          <p:cNvSpPr txBox="1">
            <a:spLocks/>
          </p:cNvSpPr>
          <p:nvPr/>
        </p:nvSpPr>
        <p:spPr>
          <a:xfrm>
            <a:off x="390441" y="4329450"/>
            <a:ext cx="6105737" cy="3028798"/>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endParaRPr lang="pt-BR" sz="900" dirty="0"/>
          </a:p>
        </p:txBody>
      </p:sp>
      <p:sp>
        <p:nvSpPr>
          <p:cNvPr id="15" name="Content Placeholder 2">
            <a:extLst>
              <a:ext uri="{FF2B5EF4-FFF2-40B4-BE49-F238E27FC236}">
                <a16:creationId xmlns:a16="http://schemas.microsoft.com/office/drawing/2014/main" id="{A576ED14-9DEA-CDCC-5593-B8A84CDDC0E0}"/>
              </a:ext>
            </a:extLst>
          </p:cNvPr>
          <p:cNvSpPr txBox="1">
            <a:spLocks/>
          </p:cNvSpPr>
          <p:nvPr/>
        </p:nvSpPr>
        <p:spPr>
          <a:xfrm>
            <a:off x="390153" y="6080845"/>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Bens de Capital </a:t>
            </a:r>
            <a:r>
              <a:rPr lang="en-US" b="0" i="1" dirty="0" err="1"/>
              <a:t>por</a:t>
            </a:r>
            <a:r>
              <a:rPr lang="en-US" b="0" i="1" dirty="0"/>
              <a:t> Lucas Laghi, Fernanda Urbano</a:t>
            </a:r>
          </a:p>
        </p:txBody>
      </p:sp>
      <p:sp>
        <p:nvSpPr>
          <p:cNvPr id="16" name="Content Placeholder 1">
            <a:extLst>
              <a:ext uri="{FF2B5EF4-FFF2-40B4-BE49-F238E27FC236}">
                <a16:creationId xmlns:a16="http://schemas.microsoft.com/office/drawing/2014/main" id="{0BA3A22D-FC82-32AD-110F-B399B6638FB6}"/>
              </a:ext>
            </a:extLst>
          </p:cNvPr>
          <p:cNvSpPr txBox="1">
            <a:spLocks/>
          </p:cNvSpPr>
          <p:nvPr/>
        </p:nvSpPr>
        <p:spPr>
          <a:xfrm>
            <a:off x="390441" y="4347405"/>
            <a:ext cx="6105737" cy="349057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endParaRPr lang="pt-BR" sz="900" dirty="0"/>
          </a:p>
        </p:txBody>
      </p:sp>
      <p:sp>
        <p:nvSpPr>
          <p:cNvPr id="17" name="Content Placeholder 1">
            <a:extLst>
              <a:ext uri="{FF2B5EF4-FFF2-40B4-BE49-F238E27FC236}">
                <a16:creationId xmlns:a16="http://schemas.microsoft.com/office/drawing/2014/main" id="{951D4042-F055-1C4D-6E7B-38051FB20321}"/>
              </a:ext>
            </a:extLst>
          </p:cNvPr>
          <p:cNvSpPr txBox="1">
            <a:spLocks/>
          </p:cNvSpPr>
          <p:nvPr/>
        </p:nvSpPr>
        <p:spPr>
          <a:xfrm>
            <a:off x="542553" y="7012963"/>
            <a:ext cx="6105737" cy="349057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endParaRPr lang="pt-BR" sz="900" dirty="0"/>
          </a:p>
        </p:txBody>
      </p:sp>
      <p:sp>
        <p:nvSpPr>
          <p:cNvPr id="18" name="Content Placeholder 1">
            <a:extLst>
              <a:ext uri="{FF2B5EF4-FFF2-40B4-BE49-F238E27FC236}">
                <a16:creationId xmlns:a16="http://schemas.microsoft.com/office/drawing/2014/main" id="{A0C56DAC-E678-A2B6-1F18-779E9A95DFAA}"/>
              </a:ext>
            </a:extLst>
          </p:cNvPr>
          <p:cNvSpPr txBox="1">
            <a:spLocks/>
          </p:cNvSpPr>
          <p:nvPr/>
        </p:nvSpPr>
        <p:spPr>
          <a:xfrm>
            <a:off x="368300" y="6361746"/>
            <a:ext cx="6105737" cy="272994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b="1" dirty="0"/>
              <a:t>Vemos a Embraer como o principal destaque positivo do 2T26E</a:t>
            </a:r>
            <a:r>
              <a:rPr lang="pt-BR" dirty="0"/>
              <a:t>, com a melhora nas entregas, um mix de produtos mais favorável e maior alavancagem operacional sustentando crescimento de dois dígitos A/A das receitas e uma recuperação sequencial relevante da rentabilidade. </a:t>
            </a:r>
            <a:r>
              <a:rPr lang="pt-BR" b="1" dirty="0"/>
              <a:t>Para a WEG, esperamos um trimestre misto</a:t>
            </a:r>
            <a:r>
              <a:rPr lang="pt-BR" dirty="0"/>
              <a:t>, com câmbio e restrições de capacidade ainda limitando o crescimento apesar da demanda saudável, enquanto reajustes de preços e um ambiente cambial mais normalizado devem contribuir para as margens. </a:t>
            </a:r>
            <a:r>
              <a:rPr lang="pt-BR" b="1" dirty="0"/>
              <a:t>Em autopeças</a:t>
            </a:r>
            <a:r>
              <a:rPr lang="pt-BR" dirty="0"/>
              <a:t>, o cenário operacional segue desafiador, especialmente para veículos pesados no Brasil, embora esperemos uma melhora sequencial das margens, com os primeiros sinais de recuperação do ciclo de caminhões na América do Norte beneficiando </a:t>
            </a:r>
            <a:r>
              <a:rPr lang="pt-BR" b="1" dirty="0"/>
              <a:t>Tupy</a:t>
            </a:r>
            <a:r>
              <a:rPr lang="pt-BR" dirty="0"/>
              <a:t> e </a:t>
            </a:r>
            <a:r>
              <a:rPr lang="pt-BR" b="1" dirty="0"/>
              <a:t>Iochpe-Maxion</a:t>
            </a:r>
            <a:r>
              <a:rPr lang="pt-BR" dirty="0"/>
              <a:t>. Esperamos que a </a:t>
            </a:r>
            <a:r>
              <a:rPr lang="pt-BR" b="1" dirty="0" err="1"/>
              <a:t>Frasle</a:t>
            </a:r>
            <a:r>
              <a:rPr lang="pt-BR" dirty="0"/>
              <a:t> apresente resultados resilientes e recuperação da rentabilidade, enquanto a </a:t>
            </a:r>
            <a:r>
              <a:rPr lang="pt-BR" b="1" dirty="0"/>
              <a:t>Marcopolo</a:t>
            </a:r>
            <a:r>
              <a:rPr lang="pt-BR" dirty="0"/>
              <a:t> deve registrar receitas sequencialmente mais fortes, mas com margens pressionadas por um mix desfavorável e pelo desempenho mais fraco das operações internacionais. Por fim, apesar da recuperação sequencial esperada em algumas operações da </a:t>
            </a:r>
            <a:r>
              <a:rPr lang="pt-BR" b="1" dirty="0" err="1"/>
              <a:t>Randoncorp</a:t>
            </a:r>
            <a:r>
              <a:rPr lang="pt-BR" dirty="0"/>
              <a:t>, a demanda ainda fraca deve continuar pesando sobre a companhia, enquanto a </a:t>
            </a:r>
            <a:r>
              <a:rPr lang="pt-BR" b="1" dirty="0"/>
              <a:t>Kepler Weber</a:t>
            </a:r>
            <a:r>
              <a:rPr lang="pt-BR" dirty="0"/>
              <a:t> também deve enfrentar maior competição em preços e custos mais elevados de matérias-primas</a:t>
            </a:r>
          </a:p>
        </p:txBody>
      </p:sp>
    </p:spTree>
    <p:extLst>
      <p:ext uri="{BB962C8B-B14F-4D97-AF65-F5344CB8AC3E}">
        <p14:creationId xmlns:p14="http://schemas.microsoft.com/office/powerpoint/2010/main" val="387584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FD53097D-1184-73BF-C0AB-6D481496F4D6}"/>
              </a:ext>
            </a:extLst>
          </p:cNvPr>
          <p:cNvSpPr txBox="1">
            <a:spLocks/>
          </p:cNvSpPr>
          <p:nvPr/>
        </p:nvSpPr>
        <p:spPr>
          <a:xfrm>
            <a:off x="390153" y="1798337"/>
            <a:ext cx="6077406" cy="2822848"/>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dirty="0"/>
              <a:t>Esperamos que o 2T26 destaque trajetórias de resultados divergentes no setor financeiro. Entre os bancos incumbentes, o Bradesco deve ser o destaque positivo do trimestre, apoiado por forte momentum de receitas, crescimento saudável da carteira de crédito com garantia e qualidade de ativos controlada, enquanto o Itaú deve entregar mais um conjunto resiliente de resultados, combinando crescimento sólido da carteira, dinâmica estável de custo do crédito e controle disciplinado de despesas, embora receitas de serviços mais fracas devam representar um fator de pressão. O Santander, por sua vez, deve registrar o desempenho mais fraco entre os pares, à medida que a pressão sobre o NII com clientes e maiores despesas com provisões continuam pesando sobre a rentabilidade. Entre os </a:t>
            </a:r>
            <a:r>
              <a:rPr lang="pt-BR" dirty="0" err="1"/>
              <a:t>neobanks</a:t>
            </a:r>
            <a:r>
              <a:rPr lang="pt-BR" dirty="0"/>
              <a:t>, esperamos mais um trimestre de crescimento robusto, com o Nubank se beneficiando da contínua expansão da carteira de crédito e da melhora da qualidade dos ativos, enquanto o Inter deve apresentar forte crescimento de carteira, embora custo de crédito ainda elevado limite o potencial de expansão da rentabilidade ajustada ao risco. Para as empresas de mercado de capitais, esperamos um trimestre mais moderado após o excepcionalmente forte 1T26, uma vez que a atividade mais fraca em DCM e ECM devem pressionar os resultados, parcialmente compensadas pelo crescimento resiliente das operações de crédito, gestão de patrimônio e demais segmentos. Por fim, em pagamentos, o </a:t>
            </a:r>
            <a:r>
              <a:rPr lang="pt-BR" dirty="0" err="1"/>
              <a:t>PagBank</a:t>
            </a:r>
            <a:r>
              <a:rPr lang="pt-BR" dirty="0"/>
              <a:t> deve entregar um trimestre equilibrado e resiliente, apoiado pela continuidade da recuperação do crescimento do TPV e por uma qualidade de crédito administrável, enquanto a Stone deve permanecer como o destaque negativo do segmento, com a compressão dos </a:t>
            </a:r>
            <a:r>
              <a:rPr lang="pt-BR" dirty="0" err="1"/>
              <a:t>yields</a:t>
            </a:r>
            <a:r>
              <a:rPr lang="pt-BR" dirty="0"/>
              <a:t> em pagamentos e maiores despesas com provisões continuando a limitar a expansão de lucro.</a:t>
            </a:r>
          </a:p>
        </p:txBody>
      </p:sp>
      <p:sp>
        <p:nvSpPr>
          <p:cNvPr id="4" name="Text Placeholder 3">
            <a:extLst>
              <a:ext uri="{FF2B5EF4-FFF2-40B4-BE49-F238E27FC236}">
                <a16:creationId xmlns:a16="http://schemas.microsoft.com/office/drawing/2014/main" id="{8D9E632F-A16A-45F7-A764-40BEFB5FB9CE}"/>
              </a:ext>
            </a:extLst>
          </p:cNvPr>
          <p:cNvSpPr>
            <a:spLocks noGrp="1"/>
          </p:cNvSpPr>
          <p:nvPr>
            <p:ph type="body" sz="quarter" idx="16"/>
          </p:nvPr>
        </p:nvSpPr>
        <p:spPr/>
        <p:txBody>
          <a:bodyPr/>
          <a:lstStyle/>
          <a:p>
            <a:r>
              <a:rPr lang="pt-BR" dirty="0"/>
              <a:t>Destaques setoriais</a:t>
            </a:r>
            <a:endParaRPr lang="en-US" dirty="0"/>
          </a:p>
        </p:txBody>
      </p:sp>
      <p:sp>
        <p:nvSpPr>
          <p:cNvPr id="5" name="Text Placeholder 4">
            <a:extLst>
              <a:ext uri="{FF2B5EF4-FFF2-40B4-BE49-F238E27FC236}">
                <a16:creationId xmlns:a16="http://schemas.microsoft.com/office/drawing/2014/main" id="{DFBA17AA-42DC-429B-B8E5-A5B31E408056}"/>
              </a:ext>
            </a:extLst>
          </p:cNvPr>
          <p:cNvSpPr>
            <a:spLocks noGrp="1"/>
          </p:cNvSpPr>
          <p:nvPr>
            <p:ph type="body" sz="quarter" idx="17"/>
          </p:nvPr>
        </p:nvSpPr>
        <p:spPr/>
        <p:txBody>
          <a:bodyPr/>
          <a:lstStyle/>
          <a:p>
            <a:r>
              <a:rPr lang="pt-BR" dirty="0"/>
              <a:t>O que esperar para cada setor dentro de nossa cobertura</a:t>
            </a:r>
            <a:endParaRPr lang="en-US" dirty="0"/>
          </a:p>
        </p:txBody>
      </p:sp>
      <p:sp>
        <p:nvSpPr>
          <p:cNvPr id="6" name="Text Placeholder 5">
            <a:extLst>
              <a:ext uri="{FF2B5EF4-FFF2-40B4-BE49-F238E27FC236}">
                <a16:creationId xmlns:a16="http://schemas.microsoft.com/office/drawing/2014/main" id="{B1E13873-8272-45DD-8F53-3A037E1D190E}"/>
              </a:ext>
            </a:extLst>
          </p:cNvPr>
          <p:cNvSpPr>
            <a:spLocks noGrp="1"/>
          </p:cNvSpPr>
          <p:nvPr>
            <p:ph type="body" sz="quarter" idx="26"/>
          </p:nvPr>
        </p:nvSpPr>
        <p:spPr/>
        <p:txBody>
          <a:bodyPr/>
          <a:lstStyle/>
          <a:p>
            <a:r>
              <a:rPr lang="pt-BR" dirty="0"/>
              <a:t>Fonte: XP Research.</a:t>
            </a:r>
            <a:endParaRPr lang="en-US" dirty="0"/>
          </a:p>
        </p:txBody>
      </p:sp>
      <p:sp>
        <p:nvSpPr>
          <p:cNvPr id="7" name="Date Placeholder 6">
            <a:extLst>
              <a:ext uri="{FF2B5EF4-FFF2-40B4-BE49-F238E27FC236}">
                <a16:creationId xmlns:a16="http://schemas.microsoft.com/office/drawing/2014/main" id="{524A82D9-5BFB-436A-819A-96968F2EA32B}"/>
              </a:ext>
            </a:extLst>
          </p:cNvPr>
          <p:cNvSpPr>
            <a:spLocks noGrp="1"/>
          </p:cNvSpPr>
          <p:nvPr>
            <p:ph type="dt" sz="half" idx="2"/>
          </p:nvPr>
        </p:nvSpPr>
        <p:spPr/>
        <p:txBody>
          <a:bodyPr/>
          <a:lstStyle/>
          <a:p>
            <a:fld id="{A7D21480-B221-43CA-84FB-F09D6E0024A8}" type="datetime4">
              <a:rPr lang="pt-BR" smtClean="0"/>
              <a:t>21 de julho de 2026</a:t>
            </a:fld>
            <a:endParaRPr lang="en-US"/>
          </a:p>
        </p:txBody>
      </p:sp>
      <p:sp>
        <p:nvSpPr>
          <p:cNvPr id="10" name="Content Placeholder 2">
            <a:extLst>
              <a:ext uri="{FF2B5EF4-FFF2-40B4-BE49-F238E27FC236}">
                <a16:creationId xmlns:a16="http://schemas.microsoft.com/office/drawing/2014/main" id="{7B8A2FC9-4DB2-2415-7B23-3224B33F7249}"/>
              </a:ext>
            </a:extLst>
          </p:cNvPr>
          <p:cNvSpPr txBox="1">
            <a:spLocks/>
          </p:cNvSpPr>
          <p:nvPr/>
        </p:nvSpPr>
        <p:spPr>
          <a:xfrm>
            <a:off x="390153" y="1525107"/>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Financeiro</a:t>
            </a:r>
            <a:r>
              <a:rPr lang="en-US" dirty="0"/>
              <a:t> </a:t>
            </a:r>
            <a:r>
              <a:rPr lang="en-US" b="0" i="1" dirty="0" err="1"/>
              <a:t>por</a:t>
            </a:r>
            <a:r>
              <a:rPr lang="en-US" b="0" i="1" dirty="0"/>
              <a:t> Bernardo Guttmann, Matheus Guimarães, Guilherme Meneghetti</a:t>
            </a:r>
          </a:p>
        </p:txBody>
      </p:sp>
      <p:sp>
        <p:nvSpPr>
          <p:cNvPr id="12" name="Content Placeholder 2">
            <a:extLst>
              <a:ext uri="{FF2B5EF4-FFF2-40B4-BE49-F238E27FC236}">
                <a16:creationId xmlns:a16="http://schemas.microsoft.com/office/drawing/2014/main" id="{9F89380A-6729-ACF5-D8DA-BA7B231E29B1}"/>
              </a:ext>
            </a:extLst>
          </p:cNvPr>
          <p:cNvSpPr txBox="1">
            <a:spLocks/>
          </p:cNvSpPr>
          <p:nvPr/>
        </p:nvSpPr>
        <p:spPr>
          <a:xfrm>
            <a:off x="390153" y="5606321"/>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Imobiliário</a:t>
            </a:r>
            <a:r>
              <a:rPr lang="en-US" dirty="0"/>
              <a:t> </a:t>
            </a:r>
            <a:r>
              <a:rPr lang="en-US" b="0" i="1" dirty="0" err="1"/>
              <a:t>por</a:t>
            </a:r>
            <a:r>
              <a:rPr lang="en-US" b="0" i="1" dirty="0"/>
              <a:t> Ygor Altero, João Rodrigues</a:t>
            </a:r>
          </a:p>
        </p:txBody>
      </p:sp>
      <p:sp>
        <p:nvSpPr>
          <p:cNvPr id="8" name="Content Placeholder 1">
            <a:extLst>
              <a:ext uri="{FF2B5EF4-FFF2-40B4-BE49-F238E27FC236}">
                <a16:creationId xmlns:a16="http://schemas.microsoft.com/office/drawing/2014/main" id="{59D4DDB0-60F9-F9A3-2A3F-819CF8CC6329}"/>
              </a:ext>
            </a:extLst>
          </p:cNvPr>
          <p:cNvSpPr txBox="1">
            <a:spLocks/>
          </p:cNvSpPr>
          <p:nvPr/>
        </p:nvSpPr>
        <p:spPr>
          <a:xfrm>
            <a:off x="379514" y="5839143"/>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dirty="0"/>
              <a:t>Para o 2T26, esperamos um desempenho mais favorável no segmento de baixa renda, sustentado por uma demanda mais resiliente e pelo suporte contínuo do programa Minha Casa Minha Vida (MCMV). Em contrapartida, os segmentos de média e alta renda devem continuar enfrentando um ambiente mais desafiador, com as incorporadoras adotando uma postura mais cautelosa diante de uma demanda mais fraca e de um cenário de juros ainda elevados. A atividade de lançamentos ficou abaixo das nossas expectativas tanto entre as companhias de baixa renda quanto entre as de média e alta renda ao longo do trimestre, sugerindo uma postura mais conservadora em relação à oferta de novos projetos. Por outro lado, a desaceleração da inflação dos custos de construção deve proporcionar um cenário mais favorável para margens e reconhecimento de resultados. Nesse contexto, esperamos resultados mais positivos principalmente entre as incorporadoras de baixa renda neste trimestre.</a:t>
            </a:r>
          </a:p>
        </p:txBody>
      </p:sp>
    </p:spTree>
    <p:extLst>
      <p:ext uri="{BB962C8B-B14F-4D97-AF65-F5344CB8AC3E}">
        <p14:creationId xmlns:p14="http://schemas.microsoft.com/office/powerpoint/2010/main" val="4193900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1D22-C4D6-3AAF-7FC2-2FE1F576594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341DFC9-3BD8-1E67-3392-E99A90575309}"/>
              </a:ext>
            </a:extLst>
          </p:cNvPr>
          <p:cNvSpPr>
            <a:spLocks noGrp="1"/>
          </p:cNvSpPr>
          <p:nvPr>
            <p:ph type="body" sz="quarter" idx="16"/>
          </p:nvPr>
        </p:nvSpPr>
        <p:spPr/>
        <p:txBody>
          <a:bodyPr/>
          <a:lstStyle/>
          <a:p>
            <a:r>
              <a:rPr lang="pt-BR" dirty="0"/>
              <a:t>Destaques setoriais</a:t>
            </a:r>
            <a:endParaRPr lang="en-US" dirty="0"/>
          </a:p>
        </p:txBody>
      </p:sp>
      <p:sp>
        <p:nvSpPr>
          <p:cNvPr id="5" name="Text Placeholder 4">
            <a:extLst>
              <a:ext uri="{FF2B5EF4-FFF2-40B4-BE49-F238E27FC236}">
                <a16:creationId xmlns:a16="http://schemas.microsoft.com/office/drawing/2014/main" id="{38EF2D6C-EB8E-78CD-ECBC-6DF2169C21DA}"/>
              </a:ext>
            </a:extLst>
          </p:cNvPr>
          <p:cNvSpPr>
            <a:spLocks noGrp="1"/>
          </p:cNvSpPr>
          <p:nvPr>
            <p:ph type="body" sz="quarter" idx="17"/>
          </p:nvPr>
        </p:nvSpPr>
        <p:spPr/>
        <p:txBody>
          <a:bodyPr/>
          <a:lstStyle/>
          <a:p>
            <a:r>
              <a:rPr lang="pt-BR" dirty="0"/>
              <a:t>O que esperar para cada setor dentro de nossa cobertura</a:t>
            </a:r>
            <a:endParaRPr lang="en-US" dirty="0"/>
          </a:p>
        </p:txBody>
      </p:sp>
      <p:sp>
        <p:nvSpPr>
          <p:cNvPr id="6" name="Text Placeholder 5">
            <a:extLst>
              <a:ext uri="{FF2B5EF4-FFF2-40B4-BE49-F238E27FC236}">
                <a16:creationId xmlns:a16="http://schemas.microsoft.com/office/drawing/2014/main" id="{9F6FE392-A852-06A8-DA1C-72A90DB3A49F}"/>
              </a:ext>
            </a:extLst>
          </p:cNvPr>
          <p:cNvSpPr>
            <a:spLocks noGrp="1"/>
          </p:cNvSpPr>
          <p:nvPr>
            <p:ph type="body" sz="quarter" idx="26"/>
          </p:nvPr>
        </p:nvSpPr>
        <p:spPr/>
        <p:txBody>
          <a:bodyPr/>
          <a:lstStyle/>
          <a:p>
            <a:r>
              <a:rPr lang="pt-BR" dirty="0"/>
              <a:t>Fonte: XP Research.</a:t>
            </a:r>
            <a:endParaRPr lang="en-US" dirty="0"/>
          </a:p>
        </p:txBody>
      </p:sp>
      <p:sp>
        <p:nvSpPr>
          <p:cNvPr id="7" name="Date Placeholder 6">
            <a:extLst>
              <a:ext uri="{FF2B5EF4-FFF2-40B4-BE49-F238E27FC236}">
                <a16:creationId xmlns:a16="http://schemas.microsoft.com/office/drawing/2014/main" id="{435A4766-BD3F-D2F4-AD97-4B012C1B91B8}"/>
              </a:ext>
            </a:extLst>
          </p:cNvPr>
          <p:cNvSpPr>
            <a:spLocks noGrp="1"/>
          </p:cNvSpPr>
          <p:nvPr>
            <p:ph type="dt" sz="half" idx="2"/>
          </p:nvPr>
        </p:nvSpPr>
        <p:spPr/>
        <p:txBody>
          <a:bodyPr/>
          <a:lstStyle/>
          <a:p>
            <a:fld id="{36A4A9A5-022D-46FA-A4CA-2B55B69ECE9A}" type="datetime4">
              <a:rPr lang="pt-BR" smtClean="0"/>
              <a:t>21 de julho de 2026</a:t>
            </a:fld>
            <a:endParaRPr lang="en-US"/>
          </a:p>
        </p:txBody>
      </p:sp>
      <p:sp>
        <p:nvSpPr>
          <p:cNvPr id="9" name="Content Placeholder 2">
            <a:extLst>
              <a:ext uri="{FF2B5EF4-FFF2-40B4-BE49-F238E27FC236}">
                <a16:creationId xmlns:a16="http://schemas.microsoft.com/office/drawing/2014/main" id="{A9ADC1BE-BC41-9B4B-DD0F-E7EBC76DFF31}"/>
              </a:ext>
            </a:extLst>
          </p:cNvPr>
          <p:cNvSpPr txBox="1">
            <a:spLocks/>
          </p:cNvSpPr>
          <p:nvPr/>
        </p:nvSpPr>
        <p:spPr>
          <a:xfrm>
            <a:off x="390153" y="1525107"/>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Mineração</a:t>
            </a:r>
            <a:r>
              <a:rPr lang="en-US" dirty="0"/>
              <a:t> &amp; </a:t>
            </a:r>
            <a:r>
              <a:rPr lang="en-US" dirty="0" err="1"/>
              <a:t>Siderurgia</a:t>
            </a:r>
            <a:r>
              <a:rPr lang="en-US" dirty="0"/>
              <a:t>, Papel &amp; Celulose </a:t>
            </a:r>
            <a:r>
              <a:rPr lang="en-US" b="0" i="1" dirty="0" err="1"/>
              <a:t>por</a:t>
            </a:r>
            <a:r>
              <a:rPr lang="en-US" b="0" i="1" dirty="0"/>
              <a:t> Lucas Laghi, Guilherme Nippes</a:t>
            </a:r>
          </a:p>
        </p:txBody>
      </p:sp>
      <p:sp>
        <p:nvSpPr>
          <p:cNvPr id="14" name="Content Placeholder 1">
            <a:extLst>
              <a:ext uri="{FF2B5EF4-FFF2-40B4-BE49-F238E27FC236}">
                <a16:creationId xmlns:a16="http://schemas.microsoft.com/office/drawing/2014/main" id="{3199EC67-A0F2-7DB5-F0B0-3A3F72D219A2}"/>
              </a:ext>
            </a:extLst>
          </p:cNvPr>
          <p:cNvSpPr txBox="1">
            <a:spLocks/>
          </p:cNvSpPr>
          <p:nvPr/>
        </p:nvSpPr>
        <p:spPr>
          <a:xfrm>
            <a:off x="383962" y="1785029"/>
            <a:ext cx="6105737" cy="2127120"/>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b="1" dirty="0"/>
              <a:t>Vemos Gerdau e Usiminas como os destaques do 2T26E entre as ações de Mineração e Siderurgia e Papel e Celulose.</a:t>
            </a:r>
            <a:r>
              <a:rPr lang="pt-BR" dirty="0"/>
              <a:t> Para </a:t>
            </a:r>
            <a:r>
              <a:rPr lang="pt-BR" b="1" dirty="0"/>
              <a:t>(i)</a:t>
            </a:r>
            <a:r>
              <a:rPr lang="pt-BR" dirty="0"/>
              <a:t> as siderúrgicas, esperamos melhora das margens de ambas as companhias, sustentada por preços realizados mais altos e um mix mais favorável, enquanto as operações da Gerdau na América do Norte devem apresentar outro trimestre forte, apoiadas por volumes e preços sólidos. Para </a:t>
            </a:r>
            <a:r>
              <a:rPr lang="pt-BR" b="1" dirty="0"/>
              <a:t>(</a:t>
            </a:r>
            <a:r>
              <a:rPr lang="pt-BR" b="1" dirty="0" err="1"/>
              <a:t>ii</a:t>
            </a:r>
            <a:r>
              <a:rPr lang="pt-BR" b="1" dirty="0"/>
              <a:t>)</a:t>
            </a:r>
            <a:r>
              <a:rPr lang="pt-BR" dirty="0"/>
              <a:t> a Vale, custos mais elevados no minério de ferro e maiores despesas com frete devem pressionar o desempenho sequencial, parcialmente compensados por mais um trimestre sólido em Metais Básicos, sustentado por preços mais altos de cobre e níquel. Para </a:t>
            </a:r>
            <a:r>
              <a:rPr lang="pt-BR" b="1" dirty="0"/>
              <a:t>(</a:t>
            </a:r>
            <a:r>
              <a:rPr lang="pt-BR" b="1" dirty="0" err="1"/>
              <a:t>iii</a:t>
            </a:r>
            <a:r>
              <a:rPr lang="pt-BR" b="1" dirty="0"/>
              <a:t>)</a:t>
            </a:r>
            <a:r>
              <a:rPr lang="pt-BR" dirty="0"/>
              <a:t> a Aura, esperamos resultados mais fracos T/T, refletindo preços menores do ouro, produção ligeiramente mais baixa e custos caixa mais elevados.</a:t>
            </a:r>
          </a:p>
          <a:p>
            <a:pPr>
              <a:lnSpc>
                <a:spcPct val="125000"/>
              </a:lnSpc>
              <a:spcBef>
                <a:spcPts val="600"/>
              </a:spcBef>
            </a:pPr>
            <a:r>
              <a:rPr lang="pt-BR" b="1" dirty="0"/>
              <a:t>Por fim, para o setor de Papel e Celulose,</a:t>
            </a:r>
            <a:r>
              <a:rPr lang="pt-BR" dirty="0"/>
              <a:t> os preços mais altos da celulose devem ser amplamente compensados pela valorização do BRL, pelas paradas de manutenção e pelos maiores custos de insumos. Esperamos que a Suzano apresente resultados praticamente estáveis T/T, com preços melhores de celulose e volumes ligeiramente maiores compensando as pressões de câmbio e custos, enquanto a Klabin deve registrar melhora sequencial, apoiada por preços mais altos da celulose e pela resiliência das operações de papel e embalagens.</a:t>
            </a:r>
          </a:p>
        </p:txBody>
      </p:sp>
      <p:sp>
        <p:nvSpPr>
          <p:cNvPr id="8" name="Content Placeholder 1">
            <a:extLst>
              <a:ext uri="{FF2B5EF4-FFF2-40B4-BE49-F238E27FC236}">
                <a16:creationId xmlns:a16="http://schemas.microsoft.com/office/drawing/2014/main" id="{5B8EE012-2BC7-A7EF-D8DE-E452E4CF2A14}"/>
              </a:ext>
            </a:extLst>
          </p:cNvPr>
          <p:cNvSpPr txBox="1">
            <a:spLocks/>
          </p:cNvSpPr>
          <p:nvPr/>
        </p:nvSpPr>
        <p:spPr>
          <a:xfrm>
            <a:off x="390441" y="2028980"/>
            <a:ext cx="6105737" cy="1520980"/>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endParaRPr lang="en-US" sz="900" kern="100" dirty="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C4AF570-262C-E57C-5ABF-7B283DC192DD}"/>
              </a:ext>
            </a:extLst>
          </p:cNvPr>
          <p:cNvSpPr txBox="1">
            <a:spLocks/>
          </p:cNvSpPr>
          <p:nvPr/>
        </p:nvSpPr>
        <p:spPr>
          <a:xfrm>
            <a:off x="390153" y="4921257"/>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Óleo</a:t>
            </a:r>
            <a:r>
              <a:rPr lang="en-US" dirty="0"/>
              <a:t>, </a:t>
            </a:r>
            <a:r>
              <a:rPr lang="en-US" dirty="0" err="1"/>
              <a:t>Gás</a:t>
            </a:r>
            <a:r>
              <a:rPr lang="en-US" dirty="0"/>
              <a:t> e </a:t>
            </a:r>
            <a:r>
              <a:rPr lang="en-US" dirty="0" err="1"/>
              <a:t>Petroquímicos</a:t>
            </a:r>
            <a:r>
              <a:rPr lang="en-US" dirty="0"/>
              <a:t> </a:t>
            </a:r>
            <a:r>
              <a:rPr lang="en-US" b="0" i="1" dirty="0" err="1"/>
              <a:t>por</a:t>
            </a:r>
            <a:r>
              <a:rPr lang="en-US" b="0" i="1" dirty="0"/>
              <a:t> Regis Cardoso, Enzo Sozzi</a:t>
            </a:r>
          </a:p>
        </p:txBody>
      </p:sp>
      <p:sp>
        <p:nvSpPr>
          <p:cNvPr id="10" name="Content Placeholder 1">
            <a:extLst>
              <a:ext uri="{FF2B5EF4-FFF2-40B4-BE49-F238E27FC236}">
                <a16:creationId xmlns:a16="http://schemas.microsoft.com/office/drawing/2014/main" id="{1656CB96-0132-8C4F-456A-3F1FE268D0C9}"/>
              </a:ext>
            </a:extLst>
          </p:cNvPr>
          <p:cNvSpPr txBox="1">
            <a:spLocks/>
          </p:cNvSpPr>
          <p:nvPr/>
        </p:nvSpPr>
        <p:spPr>
          <a:xfrm>
            <a:off x="390441" y="5194486"/>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dirty="0"/>
              <a:t>Em 28 de fevereiro, EUA e Israel lançaram ataques aéreos contra o Irã. Desde então, o conflito se intensificou, reduzindo significativamente o tráfego de navios petroleiros no Estreito de </a:t>
            </a:r>
            <a:r>
              <a:rPr lang="pt-BR" dirty="0" err="1"/>
              <a:t>Hormuz</a:t>
            </a:r>
            <a:r>
              <a:rPr lang="pt-BR" dirty="0"/>
              <a:t> e impulsionando os preços do petróleo. Apesar da acomodação dos preços ao final do trimestre, após a assinatura de um memorando de entendimento (</a:t>
            </a:r>
            <a:r>
              <a:rPr lang="pt-BR" dirty="0" err="1"/>
              <a:t>MoU</a:t>
            </a:r>
            <a:r>
              <a:rPr lang="pt-BR" dirty="0"/>
              <a:t>) entre EUA e Irã, o 2T26 foi marcado por preços elevados, com o Brent registrando média de USD97/</a:t>
            </a:r>
            <a:r>
              <a:rPr lang="pt-BR" dirty="0" err="1"/>
              <a:t>bbl</a:t>
            </a:r>
            <a:r>
              <a:rPr lang="pt-BR" dirty="0"/>
              <a:t> (c.+24% t/t). Nesse contexto, esperamos uma temporada de resultados forte para as empresas de E&amp;P sob nossa cobertura. Em nossa visão, a PRIO está bem posicionada para capturar o </a:t>
            </a:r>
            <a:r>
              <a:rPr lang="pt-BR" dirty="0" err="1"/>
              <a:t>upside</a:t>
            </a:r>
            <a:r>
              <a:rPr lang="pt-BR" dirty="0"/>
              <a:t> de curto prazo, sustentada por uma produção de petróleo recorde de 167.3kbpd (+13.0kbpd t/t) após o </a:t>
            </a:r>
            <a:r>
              <a:rPr lang="pt-BR" dirty="0" err="1"/>
              <a:t>ramp-up</a:t>
            </a:r>
            <a:r>
              <a:rPr lang="pt-BR" dirty="0"/>
              <a:t> de </a:t>
            </a:r>
            <a:r>
              <a:rPr lang="pt-BR" dirty="0" err="1"/>
              <a:t>Wahoo</a:t>
            </a:r>
            <a:r>
              <a:rPr lang="pt-BR" dirty="0"/>
              <a:t>. A Petrobras também deve reportar resultados sólidos, embora parte do impacto positivo no fluxo de caixa deva ser reconhecida apenas no 3T26, em função do atraso no recebimento das subvenções, o que também deve afetar os dividendos. Já Brava e </a:t>
            </a:r>
            <a:r>
              <a:rPr lang="pt-BR" dirty="0" err="1"/>
              <a:t>PetroReconcavo</a:t>
            </a:r>
            <a:r>
              <a:rPr lang="pt-BR" dirty="0"/>
              <a:t> devem ter seus resultados limitados por estruturas de hedge. As distribuidoras de combustíveis listadas, notadamente Vibra e Ultrapar, também se beneficiaram de forma indireta, uma vez que os preços domésticos permaneceram significativamente abaixo da paridade de importação, uma dinâmica que tende a favorecer distribuidoras com maior participação de produtos adquiridos da Petrobras em seu mix de suprimento. Esperamos margens muito fortes para o segmento de distribuição de combustíveis no 2T26.</a:t>
            </a:r>
          </a:p>
        </p:txBody>
      </p:sp>
    </p:spTree>
    <p:extLst>
      <p:ext uri="{BB962C8B-B14F-4D97-AF65-F5344CB8AC3E}">
        <p14:creationId xmlns:p14="http://schemas.microsoft.com/office/powerpoint/2010/main" val="1758133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BC0B8-F206-5FB9-EB23-8CAA1AE0892E}"/>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81E6705-543D-65E7-3F96-15EB47483C56}"/>
              </a:ext>
            </a:extLst>
          </p:cNvPr>
          <p:cNvSpPr>
            <a:spLocks noGrp="1"/>
          </p:cNvSpPr>
          <p:nvPr>
            <p:ph type="body" sz="quarter" idx="16"/>
          </p:nvPr>
        </p:nvSpPr>
        <p:spPr/>
        <p:txBody>
          <a:bodyPr/>
          <a:lstStyle/>
          <a:p>
            <a:r>
              <a:rPr lang="pt-BR" dirty="0"/>
              <a:t>Destaques setoriais</a:t>
            </a:r>
            <a:endParaRPr lang="en-US" dirty="0"/>
          </a:p>
        </p:txBody>
      </p:sp>
      <p:sp>
        <p:nvSpPr>
          <p:cNvPr id="5" name="Text Placeholder 4">
            <a:extLst>
              <a:ext uri="{FF2B5EF4-FFF2-40B4-BE49-F238E27FC236}">
                <a16:creationId xmlns:a16="http://schemas.microsoft.com/office/drawing/2014/main" id="{AB8A49FF-AEEE-F151-B33E-3F94A0FC30F6}"/>
              </a:ext>
            </a:extLst>
          </p:cNvPr>
          <p:cNvSpPr>
            <a:spLocks noGrp="1"/>
          </p:cNvSpPr>
          <p:nvPr>
            <p:ph type="body" sz="quarter" idx="17"/>
          </p:nvPr>
        </p:nvSpPr>
        <p:spPr/>
        <p:txBody>
          <a:bodyPr/>
          <a:lstStyle/>
          <a:p>
            <a:r>
              <a:rPr lang="pt-BR" dirty="0"/>
              <a:t>O que esperar para cada setor dentro de nossa cobertura</a:t>
            </a:r>
            <a:endParaRPr lang="en-US" dirty="0"/>
          </a:p>
        </p:txBody>
      </p:sp>
      <p:sp>
        <p:nvSpPr>
          <p:cNvPr id="6" name="Text Placeholder 5">
            <a:extLst>
              <a:ext uri="{FF2B5EF4-FFF2-40B4-BE49-F238E27FC236}">
                <a16:creationId xmlns:a16="http://schemas.microsoft.com/office/drawing/2014/main" id="{FF853975-13AD-FE11-F259-ACC35BFB3DA6}"/>
              </a:ext>
            </a:extLst>
          </p:cNvPr>
          <p:cNvSpPr>
            <a:spLocks noGrp="1"/>
          </p:cNvSpPr>
          <p:nvPr>
            <p:ph type="body" sz="quarter" idx="26"/>
          </p:nvPr>
        </p:nvSpPr>
        <p:spPr/>
        <p:txBody>
          <a:bodyPr/>
          <a:lstStyle/>
          <a:p>
            <a:r>
              <a:rPr lang="pt-BR" dirty="0"/>
              <a:t>Fonte: XP Research.</a:t>
            </a:r>
            <a:endParaRPr lang="en-US" dirty="0"/>
          </a:p>
        </p:txBody>
      </p:sp>
      <p:sp>
        <p:nvSpPr>
          <p:cNvPr id="7" name="Date Placeholder 6">
            <a:extLst>
              <a:ext uri="{FF2B5EF4-FFF2-40B4-BE49-F238E27FC236}">
                <a16:creationId xmlns:a16="http://schemas.microsoft.com/office/drawing/2014/main" id="{6522D93D-07F6-CF47-0D72-4553E396AF61}"/>
              </a:ext>
            </a:extLst>
          </p:cNvPr>
          <p:cNvSpPr>
            <a:spLocks noGrp="1"/>
          </p:cNvSpPr>
          <p:nvPr>
            <p:ph type="dt" sz="half" idx="2"/>
          </p:nvPr>
        </p:nvSpPr>
        <p:spPr/>
        <p:txBody>
          <a:bodyPr/>
          <a:lstStyle/>
          <a:p>
            <a:fld id="{CA16E21B-C05B-4827-936D-3A96A6902365}" type="datetime4">
              <a:rPr lang="pt-BR" smtClean="0"/>
              <a:t>21 de julho de 2026</a:t>
            </a:fld>
            <a:endParaRPr lang="en-US"/>
          </a:p>
        </p:txBody>
      </p:sp>
      <p:sp>
        <p:nvSpPr>
          <p:cNvPr id="11" name="Content Placeholder 2">
            <a:extLst>
              <a:ext uri="{FF2B5EF4-FFF2-40B4-BE49-F238E27FC236}">
                <a16:creationId xmlns:a16="http://schemas.microsoft.com/office/drawing/2014/main" id="{A146519C-9419-7219-9F3F-C28802DC7E23}"/>
              </a:ext>
            </a:extLst>
          </p:cNvPr>
          <p:cNvSpPr txBox="1">
            <a:spLocks/>
          </p:cNvSpPr>
          <p:nvPr/>
        </p:nvSpPr>
        <p:spPr>
          <a:xfrm>
            <a:off x="390153" y="1525107"/>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Saúde</a:t>
            </a:r>
            <a:r>
              <a:rPr lang="en-US" dirty="0"/>
              <a:t> </a:t>
            </a:r>
            <a:r>
              <a:rPr lang="en-US" b="0" i="1" dirty="0" err="1"/>
              <a:t>por</a:t>
            </a:r>
            <a:r>
              <a:rPr lang="en-US" b="0" i="1" dirty="0"/>
              <a:t> Gustavo Tiseo</a:t>
            </a:r>
          </a:p>
        </p:txBody>
      </p:sp>
      <p:sp>
        <p:nvSpPr>
          <p:cNvPr id="12" name="Content Placeholder 1">
            <a:extLst>
              <a:ext uri="{FF2B5EF4-FFF2-40B4-BE49-F238E27FC236}">
                <a16:creationId xmlns:a16="http://schemas.microsoft.com/office/drawing/2014/main" id="{89A5492C-94A9-F678-9847-5F70873FBA00}"/>
              </a:ext>
            </a:extLst>
          </p:cNvPr>
          <p:cNvSpPr txBox="1">
            <a:spLocks/>
          </p:cNvSpPr>
          <p:nvPr/>
        </p:nvSpPr>
        <p:spPr>
          <a:xfrm>
            <a:off x="390441" y="1798336"/>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0000"/>
              </a:lnSpc>
              <a:spcBef>
                <a:spcPts val="600"/>
              </a:spcBef>
            </a:pPr>
            <a:r>
              <a:rPr lang="pt-BR" sz="990" dirty="0"/>
              <a:t>Esperamos um 2T26 favorável para o setor de saúde, impulsionado pela recuperação de volumes associada à sazonalidade, após um 1T26 impactado por feriados como o Carnaval. Esse ambiente deve se traduzir em expansão de margens na comparação trimestral, configurando um tema recorrente entre as empresas sob nossa </a:t>
            </a:r>
            <a:r>
              <a:rPr lang="pt-BR" sz="990" dirty="0" err="1"/>
              <a:t>cobertura.Entre</a:t>
            </a:r>
            <a:r>
              <a:rPr lang="pt-BR" sz="990" dirty="0"/>
              <a:t> nossas principais preferências no setor estão os prestadores de serviços Rede D'Or e Fleury. Para a Rede D'Or, esperamos que o 2T26 reforce a melhora observada nas tendências operacionais, trazendo sinais importantes para a evolução dos resultados ao longo do restante de 2026. O sólido desempenho da operação hospitalar deve continuar sustentando a expansão de margens, enquanto a SulAmérica deve apresentar uma melhora significativa do MLR na comparação </a:t>
            </a:r>
            <a:r>
              <a:rPr lang="pt-BR" sz="990" dirty="0" err="1"/>
              <a:t>anual.Também</a:t>
            </a:r>
            <a:r>
              <a:rPr lang="pt-BR" sz="990" dirty="0"/>
              <a:t> esperamos um trimestre forte para o Fleury, impulsionado por crescimento orgânico robusto e uma expansão moderada de margens. Por fim, a Bradesco Saúde também deve entregar resultados sólidos, com tendências favoráveis de MLR e aceleração do crescimento orgânico contribuindo positivamente para o desempenho do período.</a:t>
            </a:r>
          </a:p>
        </p:txBody>
      </p:sp>
      <p:sp>
        <p:nvSpPr>
          <p:cNvPr id="3" name="Content Placeholder 2">
            <a:extLst>
              <a:ext uri="{FF2B5EF4-FFF2-40B4-BE49-F238E27FC236}">
                <a16:creationId xmlns:a16="http://schemas.microsoft.com/office/drawing/2014/main" id="{6CB5627C-36BB-DB48-4486-82860B900CFE}"/>
              </a:ext>
            </a:extLst>
          </p:cNvPr>
          <p:cNvSpPr txBox="1">
            <a:spLocks/>
          </p:cNvSpPr>
          <p:nvPr/>
        </p:nvSpPr>
        <p:spPr>
          <a:xfrm>
            <a:off x="390153" y="4800000"/>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TMT </a:t>
            </a:r>
            <a:r>
              <a:rPr lang="en-US" b="0" i="1" dirty="0" err="1"/>
              <a:t>por</a:t>
            </a:r>
            <a:r>
              <a:rPr lang="en-US" b="0" i="1" dirty="0"/>
              <a:t> Bernardo Guttmann, Luís Chagas</a:t>
            </a:r>
          </a:p>
        </p:txBody>
      </p:sp>
      <p:sp>
        <p:nvSpPr>
          <p:cNvPr id="2" name="Content Placeholder 1">
            <a:extLst>
              <a:ext uri="{FF2B5EF4-FFF2-40B4-BE49-F238E27FC236}">
                <a16:creationId xmlns:a16="http://schemas.microsoft.com/office/drawing/2014/main" id="{523B7E27-3598-2A1D-5761-FFCDAA45467F}"/>
              </a:ext>
            </a:extLst>
          </p:cNvPr>
          <p:cNvSpPr txBox="1">
            <a:spLocks/>
          </p:cNvSpPr>
          <p:nvPr/>
        </p:nvSpPr>
        <p:spPr>
          <a:xfrm>
            <a:off x="390441" y="5073229"/>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0000"/>
              </a:lnSpc>
              <a:spcBef>
                <a:spcPts val="600"/>
              </a:spcBef>
            </a:pPr>
            <a:r>
              <a:rPr lang="pt-BR" b="1" dirty="0"/>
              <a:t>Em Telecom,</a:t>
            </a:r>
            <a:r>
              <a:rPr lang="pt-BR" dirty="0"/>
              <a:t> esperamos que Vivo e TIM mantenham um ritmo operacional saudável, com o crescimento do segmento pós-pago continuando a compensar a fraqueza do pré-pago e sustentando uma rentabilidade resiliente. Para a Vivo, projetamos mais um trimestre sólido, com a Receita Móvel de Serviços (MSR) permanecendo como o principal motor de crescimento, apoiada pela contínua migração para planos pós-pagos e por adições líquidas amplamente alinhadas às tendências recentes. Em Serviços Fixos, a dinâmica também deve seguir construtiva, com FTTH, Vivo Total e Dados, TIC e Serviços Digitais ajudando a compensar o contínuo declínio das receitas legadas, enquanto a rentabilidade deve voltar a se beneficiar de sólida alavancagem operacional e da venda de </a:t>
            </a:r>
            <a:r>
              <a:rPr lang="pt-BR" dirty="0" err="1"/>
              <a:t>ativos.Para</a:t>
            </a:r>
            <a:r>
              <a:rPr lang="pt-BR" dirty="0"/>
              <a:t> a TIM, também esperamos um trimestre positivo, com a MSR sendo sustentada pela expansão da base pós-paga e pelos reajustes de preços da base existente (</a:t>
            </a:r>
            <a:r>
              <a:rPr lang="pt-BR" dirty="0" err="1"/>
              <a:t>backbook</a:t>
            </a:r>
            <a:r>
              <a:rPr lang="pt-BR" dirty="0"/>
              <a:t>), enquanto o segmento pré-pago deve continuar pressionando o desempenho. Em serviços fixos, a consolidação inicial da V8.Tech e o contínuo crescimento da operação de FTTH devem apoiar a evolução das receitas, embora a expansão de margens deva ocorrer de forma mais moderada. Entre os provedores regionais de internet, esperamos que a Unifique (Compra) seja novamente o destaque do segmento. </a:t>
            </a:r>
          </a:p>
          <a:p>
            <a:pPr>
              <a:lnSpc>
                <a:spcPct val="120000"/>
              </a:lnSpc>
              <a:spcBef>
                <a:spcPts val="600"/>
              </a:spcBef>
            </a:pPr>
            <a:r>
              <a:rPr lang="pt-BR" b="1" dirty="0"/>
              <a:t>Em Tecnologia,</a:t>
            </a:r>
            <a:r>
              <a:rPr lang="pt-BR" dirty="0"/>
              <a:t> esperamos que a TOTVS entregue mais um trimestre forte, sustentado pela resiliência da unidade de Management e pelo progresso contínuo nas demais unidades de negócio. A </a:t>
            </a:r>
            <a:r>
              <a:rPr lang="pt-BR" dirty="0" err="1"/>
              <a:t>Bemobi</a:t>
            </a:r>
            <a:r>
              <a:rPr lang="pt-BR" dirty="0"/>
              <a:t> deve continuar apresentando tendências operacionais sólidas, com a transição em curso para um modelo mais orientado a </a:t>
            </a:r>
            <a:r>
              <a:rPr lang="pt-BR" dirty="0" err="1"/>
              <a:t>Payments</a:t>
            </a:r>
            <a:r>
              <a:rPr lang="pt-BR" dirty="0"/>
              <a:t> e SaaS, contribuindo para uma melhor qualidade de receitas, maior previsibilidade e crescimento contínuo. A LWSA, por sua vez, deve sustentar seu momento operacional positivo, com a divisão de </a:t>
            </a:r>
            <a:r>
              <a:rPr lang="pt-BR" dirty="0" err="1"/>
              <a:t>Commerce</a:t>
            </a:r>
            <a:r>
              <a:rPr lang="pt-BR" dirty="0"/>
              <a:t> permanecendo como o principal vetor de crescimento, impulsionada por uma execução mais eficiente, maior integração entre as operações e ganhos graduais de monetização tanto em </a:t>
            </a:r>
            <a:r>
              <a:rPr lang="pt-BR" dirty="0" err="1"/>
              <a:t>Subscription</a:t>
            </a:r>
            <a:r>
              <a:rPr lang="pt-BR" dirty="0"/>
              <a:t> quanto em </a:t>
            </a:r>
            <a:r>
              <a:rPr lang="pt-BR" dirty="0" err="1"/>
              <a:t>Ecosystem</a:t>
            </a:r>
            <a:r>
              <a:rPr lang="pt-BR" dirty="0"/>
              <a:t>. Já a Intelbras deve apresentar um trimestre marcado por melhora de rentabilidade e crescimento sequencial de receitas.</a:t>
            </a:r>
          </a:p>
        </p:txBody>
      </p:sp>
      <p:sp>
        <p:nvSpPr>
          <p:cNvPr id="10" name="Content Placeholder 1">
            <a:extLst>
              <a:ext uri="{FF2B5EF4-FFF2-40B4-BE49-F238E27FC236}">
                <a16:creationId xmlns:a16="http://schemas.microsoft.com/office/drawing/2014/main" id="{59D62683-5971-BA08-1534-738045B265A3}"/>
              </a:ext>
            </a:extLst>
          </p:cNvPr>
          <p:cNvSpPr txBox="1">
            <a:spLocks/>
          </p:cNvSpPr>
          <p:nvPr/>
        </p:nvSpPr>
        <p:spPr>
          <a:xfrm>
            <a:off x="390441" y="6891108"/>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endParaRPr lang="pt-BR" sz="900" dirty="0"/>
          </a:p>
        </p:txBody>
      </p:sp>
    </p:spTree>
    <p:extLst>
      <p:ext uri="{BB962C8B-B14F-4D97-AF65-F5344CB8AC3E}">
        <p14:creationId xmlns:p14="http://schemas.microsoft.com/office/powerpoint/2010/main" val="168882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00392-3BCB-5303-77E7-8E161C8BA02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76EE30F-1DBA-CA54-A5A2-0A7541BCB697}"/>
              </a:ext>
            </a:extLst>
          </p:cNvPr>
          <p:cNvSpPr>
            <a:spLocks noGrp="1"/>
          </p:cNvSpPr>
          <p:nvPr>
            <p:ph type="body" sz="quarter" idx="16"/>
          </p:nvPr>
        </p:nvSpPr>
        <p:spPr/>
        <p:txBody>
          <a:bodyPr/>
          <a:lstStyle/>
          <a:p>
            <a:r>
              <a:rPr lang="pt-BR" dirty="0"/>
              <a:t>Destaques setoriais</a:t>
            </a:r>
            <a:endParaRPr lang="en-US" dirty="0"/>
          </a:p>
        </p:txBody>
      </p:sp>
      <p:sp>
        <p:nvSpPr>
          <p:cNvPr id="5" name="Text Placeholder 4">
            <a:extLst>
              <a:ext uri="{FF2B5EF4-FFF2-40B4-BE49-F238E27FC236}">
                <a16:creationId xmlns:a16="http://schemas.microsoft.com/office/drawing/2014/main" id="{C7A374C0-8FE6-97CB-B359-3A7A3A239F36}"/>
              </a:ext>
            </a:extLst>
          </p:cNvPr>
          <p:cNvSpPr>
            <a:spLocks noGrp="1"/>
          </p:cNvSpPr>
          <p:nvPr>
            <p:ph type="body" sz="quarter" idx="17"/>
          </p:nvPr>
        </p:nvSpPr>
        <p:spPr/>
        <p:txBody>
          <a:bodyPr/>
          <a:lstStyle/>
          <a:p>
            <a:r>
              <a:rPr lang="pt-BR" dirty="0"/>
              <a:t>O que esperar para cada setor dentro de nossa cobertura</a:t>
            </a:r>
            <a:endParaRPr lang="en-US" dirty="0"/>
          </a:p>
        </p:txBody>
      </p:sp>
      <p:sp>
        <p:nvSpPr>
          <p:cNvPr id="6" name="Text Placeholder 5">
            <a:extLst>
              <a:ext uri="{FF2B5EF4-FFF2-40B4-BE49-F238E27FC236}">
                <a16:creationId xmlns:a16="http://schemas.microsoft.com/office/drawing/2014/main" id="{36496B52-B396-C20F-8DD6-11F8D601D365}"/>
              </a:ext>
            </a:extLst>
          </p:cNvPr>
          <p:cNvSpPr>
            <a:spLocks noGrp="1"/>
          </p:cNvSpPr>
          <p:nvPr>
            <p:ph type="body" sz="quarter" idx="26"/>
          </p:nvPr>
        </p:nvSpPr>
        <p:spPr/>
        <p:txBody>
          <a:bodyPr/>
          <a:lstStyle/>
          <a:p>
            <a:r>
              <a:rPr lang="pt-BR" dirty="0"/>
              <a:t>Fonte: XP Research.</a:t>
            </a:r>
            <a:endParaRPr lang="en-US" dirty="0"/>
          </a:p>
        </p:txBody>
      </p:sp>
      <p:sp>
        <p:nvSpPr>
          <p:cNvPr id="7" name="Date Placeholder 6">
            <a:extLst>
              <a:ext uri="{FF2B5EF4-FFF2-40B4-BE49-F238E27FC236}">
                <a16:creationId xmlns:a16="http://schemas.microsoft.com/office/drawing/2014/main" id="{12C8BF7F-D7D3-739A-47D6-B0DAC2429921}"/>
              </a:ext>
            </a:extLst>
          </p:cNvPr>
          <p:cNvSpPr>
            <a:spLocks noGrp="1"/>
          </p:cNvSpPr>
          <p:nvPr>
            <p:ph type="dt" sz="half" idx="2"/>
          </p:nvPr>
        </p:nvSpPr>
        <p:spPr/>
        <p:txBody>
          <a:bodyPr/>
          <a:lstStyle/>
          <a:p>
            <a:fld id="{CA16E21B-C05B-4827-936D-3A96A6902365}" type="datetime4">
              <a:rPr lang="pt-BR" smtClean="0"/>
              <a:t>21 de julho de 2026</a:t>
            </a:fld>
            <a:endParaRPr lang="en-US"/>
          </a:p>
        </p:txBody>
      </p:sp>
      <p:sp>
        <p:nvSpPr>
          <p:cNvPr id="8" name="Content Placeholder 1">
            <a:extLst>
              <a:ext uri="{FF2B5EF4-FFF2-40B4-BE49-F238E27FC236}">
                <a16:creationId xmlns:a16="http://schemas.microsoft.com/office/drawing/2014/main" id="{5C39E6A5-42DD-1A1E-95EF-6DAFF8603187}"/>
              </a:ext>
            </a:extLst>
          </p:cNvPr>
          <p:cNvSpPr txBox="1">
            <a:spLocks/>
          </p:cNvSpPr>
          <p:nvPr/>
        </p:nvSpPr>
        <p:spPr>
          <a:xfrm>
            <a:off x="379514" y="1711280"/>
            <a:ext cx="6105737" cy="145155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a:lnSpc>
                <a:spcPct val="125000"/>
              </a:lnSpc>
              <a:spcBef>
                <a:spcPts val="600"/>
              </a:spcBef>
            </a:pPr>
            <a:r>
              <a:rPr lang="pt-BR" dirty="0"/>
              <a:t>Esperamos uma temporada de resultados do 2T mista, marcada por um ambiente macroeconômico ainda pressionado e pela Copa do Mundo como principal tema do trimestre. O evento deve impulsionar as vendas de artigos esportivos e eletrônicos, ao mesmo tempo em que tende a pressionar o fluxo de consumidores nas lojas físicas de forma generalizada. Em termos de margens, a maior parte da nossa cobertura deve reportar pressão decorrente de bases de comparação desafiadoras, desalavancagem operacional e maiores </a:t>
            </a:r>
            <a:r>
              <a:rPr lang="pt-BR" dirty="0" err="1"/>
              <a:t>investimentos.A</a:t>
            </a:r>
            <a:r>
              <a:rPr lang="pt-BR" dirty="0"/>
              <a:t> SBF deve ser o principal destaque da temporada, beneficiada pelo forte impulso da Copa do Mundo sobre a demanda por artigos esportivos. Também esperamos uma expansão relevante de rentabilidade na Alpargatas (ALPA), enquanto o segmento de farmácias deve continuar apresentando desempenho resiliente, mesmo diante de comparações mais exigentes relacionadas aos medicamentos da classe GLP-1.No segmento de vestuário de média renda, esperamos vendas em mesmas lojas (SSS) resilientes apesar das bases comparativas mais fortes, além de expansão da margem bruta no varejo. Por outro lado, as operações de serviços financeiros devem apresentar desempenho mais fraco, refletindo uma política de concessão de crédito mais conservadora. Em e-commerce, o Mercado Livre (MELI) deve continuar se destacando, com crescimento robusto do GMV (+43% a/a), embora sob alguma pressão de margens. Já os players locais devem seguir enfrentando um ambiente operacional mais desafiador. Do lado negativo, </a:t>
            </a:r>
            <a:r>
              <a:rPr lang="pt-BR" dirty="0" err="1"/>
              <a:t>Azzas</a:t>
            </a:r>
            <a:r>
              <a:rPr lang="pt-BR" dirty="0"/>
              <a:t> 2154 (AZZA) e Natura (NATU) devem figurar entre os destaques negativos da temporada, enquanto o segmento de varejo alimentar deve continuar pressionado pela fraqueza nos volumes vendidos.</a:t>
            </a:r>
          </a:p>
        </p:txBody>
      </p:sp>
      <p:sp>
        <p:nvSpPr>
          <p:cNvPr id="12" name="Content Placeholder 2">
            <a:extLst>
              <a:ext uri="{FF2B5EF4-FFF2-40B4-BE49-F238E27FC236}">
                <a16:creationId xmlns:a16="http://schemas.microsoft.com/office/drawing/2014/main" id="{2616F807-0C70-016B-F9A2-65998215E320}"/>
              </a:ext>
            </a:extLst>
          </p:cNvPr>
          <p:cNvSpPr txBox="1">
            <a:spLocks/>
          </p:cNvSpPr>
          <p:nvPr/>
        </p:nvSpPr>
        <p:spPr>
          <a:xfrm>
            <a:off x="390153" y="1478458"/>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err="1"/>
              <a:t>Varejo</a:t>
            </a:r>
            <a:r>
              <a:rPr lang="en-US" dirty="0"/>
              <a:t> </a:t>
            </a:r>
            <a:r>
              <a:rPr lang="en-US" b="0" i="1" dirty="0" err="1"/>
              <a:t>por</a:t>
            </a:r>
            <a:r>
              <a:rPr lang="en-US" b="0" i="1" dirty="0"/>
              <a:t> Danniela Eiger, Pedro Caravina, Laryssa Sumer</a:t>
            </a:r>
            <a:endParaRPr lang="en-US" dirty="0"/>
          </a:p>
        </p:txBody>
      </p:sp>
    </p:spTree>
    <p:extLst>
      <p:ext uri="{BB962C8B-B14F-4D97-AF65-F5344CB8AC3E}">
        <p14:creationId xmlns:p14="http://schemas.microsoft.com/office/powerpoint/2010/main" val="1006707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8B5E1B-8836-4040-9E19-ECDB214CE4CF}"/>
              </a:ext>
            </a:extLst>
          </p:cNvPr>
          <p:cNvSpPr>
            <a:spLocks noGrp="1"/>
          </p:cNvSpPr>
          <p:nvPr>
            <p:ph type="body" sz="quarter" idx="26"/>
          </p:nvPr>
        </p:nvSpPr>
        <p:spPr/>
        <p:txBody>
          <a:bodyPr/>
          <a:lstStyle/>
          <a:p>
            <a:endParaRPr lang="en-US" dirty="0"/>
          </a:p>
        </p:txBody>
      </p:sp>
      <p:sp>
        <p:nvSpPr>
          <p:cNvPr id="3" name="Date Placeholder 2">
            <a:extLst>
              <a:ext uri="{FF2B5EF4-FFF2-40B4-BE49-F238E27FC236}">
                <a16:creationId xmlns:a16="http://schemas.microsoft.com/office/drawing/2014/main" id="{705E7B05-BA19-4EE8-9B5C-6805394E42BB}"/>
              </a:ext>
            </a:extLst>
          </p:cNvPr>
          <p:cNvSpPr>
            <a:spLocks noGrp="1"/>
          </p:cNvSpPr>
          <p:nvPr>
            <p:ph type="dt" sz="half" idx="2"/>
          </p:nvPr>
        </p:nvSpPr>
        <p:spPr/>
        <p:txBody>
          <a:bodyPr/>
          <a:lstStyle/>
          <a:p>
            <a:fld id="{5244EFC9-051A-442F-87EA-8991D60C5718}" type="datetime4">
              <a:rPr lang="pt-BR" smtClean="0"/>
              <a:t>21 de julho de 2026</a:t>
            </a:fld>
            <a:endParaRPr lang="en-US" dirty="0"/>
          </a:p>
        </p:txBody>
      </p:sp>
    </p:spTree>
    <p:extLst>
      <p:ext uri="{BB962C8B-B14F-4D97-AF65-F5344CB8AC3E}">
        <p14:creationId xmlns:p14="http://schemas.microsoft.com/office/powerpoint/2010/main" val="321244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285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Custom 80">
      <a:dk1>
        <a:srgbClr val="18191A"/>
      </a:dk1>
      <a:lt1>
        <a:srgbClr val="FFFFFF"/>
      </a:lt1>
      <a:dk2>
        <a:srgbClr val="3F3F3F"/>
      </a:dk2>
      <a:lt2>
        <a:srgbClr val="74797C"/>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8">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Tema IB 2021</Template>
  <TotalTime>3899</TotalTime>
  <Words>5520</Words>
  <Application>Microsoft Office PowerPoint</Application>
  <PresentationFormat>A4 Paper (210x297 mm)</PresentationFormat>
  <Paragraphs>332</Paragraphs>
  <Slides>16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Roboto</vt:lpstr>
      <vt:lpstr>Roboto Light</vt:lpstr>
      <vt:lpstr>XP</vt:lpstr>
      <vt:lpstr>Tema IB 2021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Augusti</dc:creator>
  <cp:lastModifiedBy>Caio Souza</cp:lastModifiedBy>
  <cp:revision>236</cp:revision>
  <dcterms:created xsi:type="dcterms:W3CDTF">2022-03-20T14:16:37Z</dcterms:created>
  <dcterms:modified xsi:type="dcterms:W3CDTF">2026-07-21T21:41:06Z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2025-06-11T19:33:55Z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5ea51067-6aa0-458f-9b24-08187b3c238a</vt:lpwstr>
  </property>
  <property fmtid="{D5CDD505-2E9C-101B-9397-08002B2CF9AE}" pid="8" name="MSIP_Label_e6a9157b-bcf3-4eac-b03e-7cf007ba9fdf_ContentBits">
    <vt:lpwstr>2</vt:lpwstr>
  </property>
  <property fmtid="{D5CDD505-2E9C-101B-9397-08002B2CF9AE}" pid="9" name="MSIP_Label_e6a9157b-bcf3-4eac-b03e-7cf007ba9fdf_Tag">
    <vt:lpwstr>50, 3, 0, 1</vt:lpwstr>
  </property>
  <property fmtid="{D5CDD505-2E9C-101B-9397-08002B2CF9AE}" pid="10" name="ClassificationContentMarkingFooterLocations">
    <vt:lpwstr>Tema IB 2021:5</vt:lpwstr>
  </property>
  <property fmtid="{D5CDD505-2E9C-101B-9397-08002B2CF9AE}" pid="11" name="ClassificationContentMarkingFooterText">
    <vt:lpwstr>[ CLASSIFICAÇÃO: PÚBLICA ]</vt:lpwstr>
  </property>
</Properties>
</file>