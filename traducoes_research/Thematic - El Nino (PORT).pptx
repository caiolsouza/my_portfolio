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olors1.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0.xml" ContentType="application/vnd.ms-office.chartcolorstyle+xml"/>
  <Override PartName="/ppt/charts/colors21.xml" ContentType="application/vnd.ms-office.chartcolorstyle+xml"/>
  <Override PartName="/ppt/charts/style1.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0.xml" ContentType="application/vnd.ms-office.chartstyle+xml"/>
  <Override PartName="/ppt/charts/style21.xml" ContentType="application/vnd.ms-office.chartstyle+xml"/>
  <Override PartName="/ppt/media/image18.svg" ContentType="image/svg+xml"/>
  <Override PartName="/ppt/media/image22.svg" ContentType="image/svg+xml"/>
  <Override PartName="/ppt/media/image24.svg" ContentType="image/svg+xml"/>
  <Override PartName="/ppt/media/image28.svg" ContentType="image/svg+xml"/>
  <Override PartName="/ppt/media/image3.svg" ContentType="image/svg+xml"/>
  <Override PartName="/ppt/media/image5.svg" ContentType="image/svg+xml"/>
  <Override PartName="/ppt/media/image8.svg" ContentType="image/svg+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22" r:id="rId2"/>
  </p:sldMasterIdLst>
  <p:notesMasterIdLst>
    <p:notesMasterId r:id="rId38"/>
  </p:notesMasterIdLst>
  <p:sldIdLst>
    <p:sldId id="296" r:id="rId4"/>
    <p:sldId id="626" r:id="rId5"/>
    <p:sldId id="627" r:id="rId29"/>
    <p:sldId id="628" r:id="rId30"/>
    <p:sldId id="629" r:id="rId31"/>
  </p:sldIdLst>
  <p:sldSz cx="6858000" cy="9906000" type="A4"/>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351D6A7B-4F53-4906-A4A6-4226F29FBD2D}">
          <p14:sldIdLst>
            <p14:sldId id="285"/>
            <p14:sldId id="296"/>
            <p14:sldId id="626"/>
            <p14:sldId id="262"/>
          </p14:sldIdLst>
        </p14:section>
        <p14:section name="El Niño for Dummies" id="{07AA395B-4FFC-4D7D-8CCF-E10CDCBCC8B5}">
          <p14:sldIdLst>
            <p14:sldId id="297"/>
            <p14:sldId id="299"/>
            <p14:sldId id="300"/>
            <p14:sldId id="520"/>
            <p14:sldId id="518"/>
          </p14:sldIdLst>
        </p14:section>
        <p14:section name="Macro" id="{7C71D632-03DD-4B9C-8E8F-829E8596285E}">
          <p14:sldIdLst>
            <p14:sldId id="622"/>
            <p14:sldId id="623"/>
            <p14:sldId id="624"/>
          </p14:sldIdLst>
        </p14:section>
        <p14:section name="ESG" id="{D0114AA0-10A8-487E-9F2B-C2E7174E80F3}">
          <p14:sldIdLst>
            <p14:sldId id="301"/>
            <p14:sldId id="307"/>
            <p14:sldId id="528"/>
          </p14:sldIdLst>
        </p14:section>
        <p14:section name="Agri, F&amp;B" id="{B7FCA071-0955-4A62-83A7-668D5B0A7662}">
          <p14:sldIdLst>
            <p14:sldId id="527"/>
            <p14:sldId id="517"/>
            <p14:sldId id="519"/>
            <p14:sldId id="516"/>
          </p14:sldIdLst>
        </p14:section>
        <p14:section name="Financials" id="{3D1BCD83-40B2-4E7C-9296-CED15C4686E2}">
          <p14:sldIdLst>
            <p14:sldId id="625"/>
            <p14:sldId id="356"/>
          </p14:sldIdLst>
        </p14:section>
        <p14:section name="Healthcare" id="{6DBFACB2-8B28-44F3-B7B6-E74DEF4D9718}">
          <p14:sldIdLst>
            <p14:sldId id="521"/>
            <p14:sldId id="486"/>
          </p14:sldIdLst>
        </p14:section>
        <p14:section name="Retail" id="{E009C427-2850-451B-956A-8C78C150375D}">
          <p14:sldIdLst>
            <p14:sldId id="522"/>
            <p14:sldId id="523"/>
            <p14:sldId id="526"/>
          </p14:sldIdLst>
        </p14:section>
        <p14:section name="Transportation" id="{C9BBF7BC-BF9C-4BF7-902E-74164C95DDBE}">
          <p14:sldIdLst>
            <p14:sldId id="627"/>
            <p14:sldId id="628"/>
            <p14:sldId id="629"/>
          </p14:sldIdLst>
        </p14:section>
        <p14:section name="Utilities" id="{853A67AB-8775-42BE-9E26-B30520AD4B77}">
          <p14:sldIdLst>
            <p14:sldId id="621"/>
            <p14:sldId id="619"/>
            <p14:sldId id="618"/>
            <p14:sldId id="620"/>
          </p14:sldIdLst>
        </p14:section>
        <p14:section name="Disclaimer" id="{D4F8765D-E737-4DF0-AD31-C8C35E867FD1}">
          <p14:sldIdLst>
            <p14:sldId id="274"/>
            <p14:sldId id="28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42ED4F-8EBE-474C-3F8A-8E5FC5FA0DDD}" name="Caio Souza" initials="CL" userId="S::caio.lsouza@xpi.com.br::3c9a17a9-6dee-4d8b-b93c-2a0cbe4083e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F93"/>
    <a:srgbClr val="FF0000"/>
    <a:srgbClr val="E8F0F9"/>
    <a:srgbClr val="FEF3D0"/>
    <a:srgbClr val="FEF308"/>
    <a:srgbClr val="F2F2F2"/>
    <a:srgbClr val="1F2F44"/>
    <a:srgbClr val="8EB3DF"/>
    <a:srgbClr val="4F95BB"/>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71" autoAdjust="0"/>
    <p:restoredTop sz="96849"/>
  </p:normalViewPr>
  <p:slideViewPr>
    <p:cSldViewPr snapToGrid="0">
      <p:cViewPr>
        <p:scale>
          <a:sx n="80" d="100"/>
          <a:sy n="80" d="100"/>
        </p:scale>
        <p:origin x="3552" y="-4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xpdocs\Research\Equities\Estrategia\Reports\2026\El%20Ni&#241;o\Charts%20Macro.xlsx" TargetMode="External"/></Relationships>
</file>

<file path=ppt/charts/_rels/chart17.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themeOverride" Target="../theme/themeOverride2.xml"/><Relationship Id="rId4" Type="http://schemas.openxmlformats.org/officeDocument/2006/relationships/oleObject" Target="file:///\\xpdocs\Research\Equities\Modelos\Transportation,%20Capital%20Goods%20&amp;%20Malls\Bases%20de%20Dados\Master%20Database\Rail%20Roads%20Database.xlsx" TargetMode="External"/></Relationships>
</file>

<file path=ppt/charts/_rels/chart18.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oleObject" Target="file:///\\xpdocs\Research\Equities\Modelos\Transportation,%20Capital%20Goods%20&amp;%20Malls\Bases%20de%20Dados\Master%20Database\Rail%20Roads%20Database.xlsx" TargetMode="External"/></Relationships>
</file>

<file path=ppt/charts/_rels/chart19.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package" Target="../embeddings/Microsoft_Excel_Worksheet1.xlsx"/></Relationships>
</file>

<file path=ppt/charts/_rels/chart20.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themeOverride" Target="../theme/themeOverride3.xml"/><Relationship Id="rId4" Type="http://schemas.openxmlformats.org/officeDocument/2006/relationships/package" Target="../embeddings/Microsoft_Excel_Worksheet2.xlsx"/></Relationships>
</file>

<file path=ppt/charts/_rels/chart21.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themeOverride" Target="../theme/themeOverride4.xml"/><Relationship Id="rId4" Type="http://schemas.openxmlformats.org/officeDocument/2006/relationships/oleObject" Target="file:///\\xpdocs\Research\Equities\Modelos\Transportation,%20Capital%20Goods%20&amp;%20Malls\Companies\Model%20update\2026%20-%20Full%20Coverage%20Update\_Support\2026.02.22%20-%20XP%20Mato%20Grosso%20SDs.xlsx" TargetMode="External"/></Relationships>
</file>

<file path=ppt/charts/_rels/chart22.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themeOverride" Target="../theme/themeOverride5.xml"/><Relationship Id="rId4" Type="http://schemas.openxmlformats.org/officeDocument/2006/relationships/oleObject" Target="file:///\\xpdocs\Research\Equities\Modelos\Transportation,%20Capital%20Goods%20&amp;%20Malls\Companies\Model%20update\2026%20-%20Full%20Coverage%20Update\_Support\2026.02.22%20-%20XP%20Mato%20Grosso%20SDs.xlsx" TargetMode="External"/></Relationships>
</file>

<file path=ppt/charts/_rels/chart23.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package" Target="../embeddings/Microsoft_Excel_Worksheet3.xlsx"/></Relationships>
</file>

<file path=ppt/charts/_rels/chart24.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Inflação de alimentos in natura</c:v>
          </c:tx>
          <c:spPr>
            <a:ln w="19050" cap="rnd">
              <a:solidFill>
                <a:schemeClr val="accent1"/>
              </a:solidFill>
              <a:round/>
            </a:ln>
            <a:effectLst/>
          </c:spPr>
          <c:marker>
            <c:symbol val="none"/>
          </c:marker>
          <c:cat>
            <c:numRef>
              <c:f>Projecao_InNatura!$G$2:$G$121</c:f>
              <c:numCache>
                <c:formatCode>m/d/yyyy</c:formatCode>
                <c:ptCount val="120"/>
                <c:pt idx="0">
                  <c:v>43466</c:v>
                </c:pt>
                <c:pt idx="1">
                  <c:v>43497</c:v>
                </c:pt>
                <c:pt idx="2">
                  <c:v>43525</c:v>
                </c:pt>
                <c:pt idx="3">
                  <c:v>43556</c:v>
                </c:pt>
                <c:pt idx="4">
                  <c:v>43586</c:v>
                </c:pt>
                <c:pt idx="5">
                  <c:v>43617</c:v>
                </c:pt>
                <c:pt idx="6">
                  <c:v>43647</c:v>
                </c:pt>
                <c:pt idx="7">
                  <c:v>43678</c:v>
                </c:pt>
                <c:pt idx="8">
                  <c:v>43709</c:v>
                </c:pt>
                <c:pt idx="9">
                  <c:v>43739</c:v>
                </c:pt>
                <c:pt idx="10">
                  <c:v>43770</c:v>
                </c:pt>
                <c:pt idx="11">
                  <c:v>43800</c:v>
                </c:pt>
                <c:pt idx="12">
                  <c:v>43831</c:v>
                </c:pt>
                <c:pt idx="13">
                  <c:v>43862</c:v>
                </c:pt>
                <c:pt idx="14">
                  <c:v>43891</c:v>
                </c:pt>
                <c:pt idx="15">
                  <c:v>43922</c:v>
                </c:pt>
                <c:pt idx="16">
                  <c:v>43952</c:v>
                </c:pt>
                <c:pt idx="17">
                  <c:v>43983</c:v>
                </c:pt>
                <c:pt idx="18">
                  <c:v>44013</c:v>
                </c:pt>
                <c:pt idx="19">
                  <c:v>44044</c:v>
                </c:pt>
                <c:pt idx="20">
                  <c:v>44075</c:v>
                </c:pt>
                <c:pt idx="21">
                  <c:v>44105</c:v>
                </c:pt>
                <c:pt idx="22">
                  <c:v>44136</c:v>
                </c:pt>
                <c:pt idx="23">
                  <c:v>44166</c:v>
                </c:pt>
                <c:pt idx="24">
                  <c:v>44197</c:v>
                </c:pt>
                <c:pt idx="25">
                  <c:v>44228</c:v>
                </c:pt>
                <c:pt idx="26">
                  <c:v>44256</c:v>
                </c:pt>
                <c:pt idx="27">
                  <c:v>44287</c:v>
                </c:pt>
                <c:pt idx="28">
                  <c:v>44317</c:v>
                </c:pt>
                <c:pt idx="29">
                  <c:v>44348</c:v>
                </c:pt>
                <c:pt idx="30">
                  <c:v>44378</c:v>
                </c:pt>
                <c:pt idx="31">
                  <c:v>44409</c:v>
                </c:pt>
                <c:pt idx="32">
                  <c:v>44440</c:v>
                </c:pt>
                <c:pt idx="33">
                  <c:v>44470</c:v>
                </c:pt>
                <c:pt idx="34">
                  <c:v>44501</c:v>
                </c:pt>
                <c:pt idx="35">
                  <c:v>44531</c:v>
                </c:pt>
                <c:pt idx="36">
                  <c:v>44562</c:v>
                </c:pt>
                <c:pt idx="37">
                  <c:v>44593</c:v>
                </c:pt>
                <c:pt idx="38">
                  <c:v>44621</c:v>
                </c:pt>
                <c:pt idx="39">
                  <c:v>44652</c:v>
                </c:pt>
                <c:pt idx="40">
                  <c:v>44682</c:v>
                </c:pt>
                <c:pt idx="41">
                  <c:v>44713</c:v>
                </c:pt>
                <c:pt idx="42">
                  <c:v>44743</c:v>
                </c:pt>
                <c:pt idx="43">
                  <c:v>44774</c:v>
                </c:pt>
                <c:pt idx="44">
                  <c:v>44805</c:v>
                </c:pt>
                <c:pt idx="45">
                  <c:v>44835</c:v>
                </c:pt>
                <c:pt idx="46">
                  <c:v>44866</c:v>
                </c:pt>
                <c:pt idx="47">
                  <c:v>44896</c:v>
                </c:pt>
                <c:pt idx="48">
                  <c:v>44927</c:v>
                </c:pt>
                <c:pt idx="49">
                  <c:v>44958</c:v>
                </c:pt>
                <c:pt idx="50">
                  <c:v>44986</c:v>
                </c:pt>
                <c:pt idx="51">
                  <c:v>45017</c:v>
                </c:pt>
                <c:pt idx="52">
                  <c:v>45047</c:v>
                </c:pt>
                <c:pt idx="53">
                  <c:v>45078</c:v>
                </c:pt>
                <c:pt idx="54">
                  <c:v>45108</c:v>
                </c:pt>
                <c:pt idx="55">
                  <c:v>45139</c:v>
                </c:pt>
                <c:pt idx="56">
                  <c:v>45170</c:v>
                </c:pt>
                <c:pt idx="57">
                  <c:v>45200</c:v>
                </c:pt>
                <c:pt idx="58">
                  <c:v>45231</c:v>
                </c:pt>
                <c:pt idx="59">
                  <c:v>45261</c:v>
                </c:pt>
                <c:pt idx="60">
                  <c:v>45292</c:v>
                </c:pt>
                <c:pt idx="61">
                  <c:v>45323</c:v>
                </c:pt>
                <c:pt idx="62">
                  <c:v>45352</c:v>
                </c:pt>
                <c:pt idx="63">
                  <c:v>45383</c:v>
                </c:pt>
                <c:pt idx="64">
                  <c:v>45413</c:v>
                </c:pt>
                <c:pt idx="65">
                  <c:v>45444</c:v>
                </c:pt>
                <c:pt idx="66">
                  <c:v>45474</c:v>
                </c:pt>
                <c:pt idx="67">
                  <c:v>45505</c:v>
                </c:pt>
                <c:pt idx="68">
                  <c:v>45536</c:v>
                </c:pt>
                <c:pt idx="69">
                  <c:v>45566</c:v>
                </c:pt>
                <c:pt idx="70">
                  <c:v>45597</c:v>
                </c:pt>
                <c:pt idx="71">
                  <c:v>45627</c:v>
                </c:pt>
                <c:pt idx="72">
                  <c:v>45658</c:v>
                </c:pt>
                <c:pt idx="73">
                  <c:v>45689</c:v>
                </c:pt>
                <c:pt idx="74">
                  <c:v>45717</c:v>
                </c:pt>
                <c:pt idx="75">
                  <c:v>45748</c:v>
                </c:pt>
                <c:pt idx="76">
                  <c:v>45778</c:v>
                </c:pt>
                <c:pt idx="77">
                  <c:v>45809</c:v>
                </c:pt>
                <c:pt idx="78">
                  <c:v>45839</c:v>
                </c:pt>
                <c:pt idx="79">
                  <c:v>45870</c:v>
                </c:pt>
                <c:pt idx="80">
                  <c:v>45901</c:v>
                </c:pt>
                <c:pt idx="81">
                  <c:v>45931</c:v>
                </c:pt>
                <c:pt idx="82">
                  <c:v>45962</c:v>
                </c:pt>
                <c:pt idx="83">
                  <c:v>45992</c:v>
                </c:pt>
                <c:pt idx="84">
                  <c:v>46023</c:v>
                </c:pt>
                <c:pt idx="85">
                  <c:v>46054</c:v>
                </c:pt>
                <c:pt idx="86">
                  <c:v>46082</c:v>
                </c:pt>
                <c:pt idx="87">
                  <c:v>46113</c:v>
                </c:pt>
                <c:pt idx="88">
                  <c:v>46143</c:v>
                </c:pt>
                <c:pt idx="89">
                  <c:v>46174</c:v>
                </c:pt>
                <c:pt idx="90">
                  <c:v>46204</c:v>
                </c:pt>
                <c:pt idx="91">
                  <c:v>46235</c:v>
                </c:pt>
                <c:pt idx="92">
                  <c:v>46266</c:v>
                </c:pt>
                <c:pt idx="93">
                  <c:v>46296</c:v>
                </c:pt>
                <c:pt idx="94">
                  <c:v>46327</c:v>
                </c:pt>
                <c:pt idx="95">
                  <c:v>46357</c:v>
                </c:pt>
                <c:pt idx="96">
                  <c:v>46388</c:v>
                </c:pt>
                <c:pt idx="97">
                  <c:v>46419</c:v>
                </c:pt>
                <c:pt idx="98">
                  <c:v>46447</c:v>
                </c:pt>
                <c:pt idx="99">
                  <c:v>46478</c:v>
                </c:pt>
                <c:pt idx="100">
                  <c:v>46508</c:v>
                </c:pt>
                <c:pt idx="101">
                  <c:v>46539</c:v>
                </c:pt>
                <c:pt idx="102">
                  <c:v>46569</c:v>
                </c:pt>
                <c:pt idx="103">
                  <c:v>46600</c:v>
                </c:pt>
                <c:pt idx="104">
                  <c:v>46631</c:v>
                </c:pt>
                <c:pt idx="105">
                  <c:v>46661</c:v>
                </c:pt>
                <c:pt idx="106">
                  <c:v>46692</c:v>
                </c:pt>
                <c:pt idx="107">
                  <c:v>46722</c:v>
                </c:pt>
                <c:pt idx="108">
                  <c:v>46753</c:v>
                </c:pt>
                <c:pt idx="109">
                  <c:v>46784</c:v>
                </c:pt>
                <c:pt idx="110">
                  <c:v>46813</c:v>
                </c:pt>
                <c:pt idx="111">
                  <c:v>46844</c:v>
                </c:pt>
                <c:pt idx="112">
                  <c:v>46874</c:v>
                </c:pt>
                <c:pt idx="113">
                  <c:v>46905</c:v>
                </c:pt>
                <c:pt idx="114">
                  <c:v>46935</c:v>
                </c:pt>
                <c:pt idx="115">
                  <c:v>46966</c:v>
                </c:pt>
                <c:pt idx="116">
                  <c:v>46997</c:v>
                </c:pt>
                <c:pt idx="117">
                  <c:v>47027</c:v>
                </c:pt>
                <c:pt idx="118">
                  <c:v>47058</c:v>
                </c:pt>
                <c:pt idx="119">
                  <c:v>47088</c:v>
                </c:pt>
              </c:numCache>
            </c:numRef>
          </c:cat>
          <c:val>
            <c:numRef>
              <c:f>Projecao_InNatura!$H$2:$H$121</c:f>
              <c:numCache>
                <c:formatCode>0.00</c:formatCode>
                <c:ptCount val="120"/>
                <c:pt idx="0">
                  <c:v>11.26</c:v>
                </c:pt>
                <c:pt idx="1">
                  <c:v>16.79</c:v>
                </c:pt>
                <c:pt idx="2">
                  <c:v>24.9</c:v>
                </c:pt>
                <c:pt idx="3">
                  <c:v>26.52</c:v>
                </c:pt>
                <c:pt idx="4">
                  <c:v>16.97</c:v>
                </c:pt>
                <c:pt idx="5">
                  <c:v>11.57</c:v>
                </c:pt>
                <c:pt idx="6">
                  <c:v>27.81</c:v>
                </c:pt>
                <c:pt idx="7">
                  <c:v>27.02</c:v>
                </c:pt>
                <c:pt idx="8">
                  <c:v>19.25</c:v>
                </c:pt>
                <c:pt idx="9">
                  <c:v>10.02</c:v>
                </c:pt>
                <c:pt idx="10">
                  <c:v>0.05</c:v>
                </c:pt>
                <c:pt idx="11">
                  <c:v>-0.08</c:v>
                </c:pt>
                <c:pt idx="12">
                  <c:v>1.79</c:v>
                </c:pt>
                <c:pt idx="13">
                  <c:v>0.32</c:v>
                </c:pt>
                <c:pt idx="14">
                  <c:v>-2.04</c:v>
                </c:pt>
                <c:pt idx="15">
                  <c:v>2.16</c:v>
                </c:pt>
                <c:pt idx="16">
                  <c:v>7.69</c:v>
                </c:pt>
                <c:pt idx="17">
                  <c:v>8.0500000000000007</c:v>
                </c:pt>
                <c:pt idx="18">
                  <c:v>2.5</c:v>
                </c:pt>
                <c:pt idx="19">
                  <c:v>6.06</c:v>
                </c:pt>
                <c:pt idx="20">
                  <c:v>11.19</c:v>
                </c:pt>
                <c:pt idx="21">
                  <c:v>18.329999999999998</c:v>
                </c:pt>
                <c:pt idx="22">
                  <c:v>32.11</c:v>
                </c:pt>
                <c:pt idx="23">
                  <c:v>29.52</c:v>
                </c:pt>
                <c:pt idx="24">
                  <c:v>30.49</c:v>
                </c:pt>
                <c:pt idx="25">
                  <c:v>26.13</c:v>
                </c:pt>
                <c:pt idx="26">
                  <c:v>15.74</c:v>
                </c:pt>
                <c:pt idx="27">
                  <c:v>3.96</c:v>
                </c:pt>
                <c:pt idx="28">
                  <c:v>-1.18</c:v>
                </c:pt>
                <c:pt idx="29">
                  <c:v>-4.7300000000000004</c:v>
                </c:pt>
                <c:pt idx="30">
                  <c:v>0.91</c:v>
                </c:pt>
                <c:pt idx="31">
                  <c:v>6.58</c:v>
                </c:pt>
                <c:pt idx="32">
                  <c:v>11.52</c:v>
                </c:pt>
                <c:pt idx="33">
                  <c:v>12.67</c:v>
                </c:pt>
                <c:pt idx="34">
                  <c:v>6.1</c:v>
                </c:pt>
                <c:pt idx="35">
                  <c:v>6.17</c:v>
                </c:pt>
                <c:pt idx="36">
                  <c:v>6.95</c:v>
                </c:pt>
                <c:pt idx="37">
                  <c:v>15.57</c:v>
                </c:pt>
                <c:pt idx="38">
                  <c:v>30.07</c:v>
                </c:pt>
                <c:pt idx="39">
                  <c:v>36.78</c:v>
                </c:pt>
                <c:pt idx="40">
                  <c:v>35.67</c:v>
                </c:pt>
                <c:pt idx="41">
                  <c:v>39.409999999999997</c:v>
                </c:pt>
                <c:pt idx="42">
                  <c:v>33</c:v>
                </c:pt>
                <c:pt idx="43">
                  <c:v>24.53</c:v>
                </c:pt>
                <c:pt idx="44">
                  <c:v>22.27</c:v>
                </c:pt>
                <c:pt idx="45">
                  <c:v>23.94</c:v>
                </c:pt>
                <c:pt idx="46">
                  <c:v>28.89</c:v>
                </c:pt>
                <c:pt idx="47">
                  <c:v>27.48</c:v>
                </c:pt>
                <c:pt idx="48">
                  <c:v>23.91</c:v>
                </c:pt>
                <c:pt idx="49">
                  <c:v>14.28</c:v>
                </c:pt>
                <c:pt idx="50">
                  <c:v>4</c:v>
                </c:pt>
                <c:pt idx="51">
                  <c:v>3.27</c:v>
                </c:pt>
                <c:pt idx="52">
                  <c:v>7.68</c:v>
                </c:pt>
                <c:pt idx="53">
                  <c:v>8.27</c:v>
                </c:pt>
                <c:pt idx="54">
                  <c:v>13.79</c:v>
                </c:pt>
                <c:pt idx="55">
                  <c:v>12.26</c:v>
                </c:pt>
                <c:pt idx="56">
                  <c:v>7.67</c:v>
                </c:pt>
                <c:pt idx="57">
                  <c:v>4.1900000000000004</c:v>
                </c:pt>
                <c:pt idx="58">
                  <c:v>1.54</c:v>
                </c:pt>
                <c:pt idx="59">
                  <c:v>4.72</c:v>
                </c:pt>
                <c:pt idx="60">
                  <c:v>8.69</c:v>
                </c:pt>
                <c:pt idx="61">
                  <c:v>13.89</c:v>
                </c:pt>
                <c:pt idx="62">
                  <c:v>16.38</c:v>
                </c:pt>
                <c:pt idx="63">
                  <c:v>18.53</c:v>
                </c:pt>
                <c:pt idx="64">
                  <c:v>21</c:v>
                </c:pt>
                <c:pt idx="65">
                  <c:v>22.81</c:v>
                </c:pt>
                <c:pt idx="66">
                  <c:v>12.06</c:v>
                </c:pt>
                <c:pt idx="67">
                  <c:v>10.050000000000001</c:v>
                </c:pt>
                <c:pt idx="68">
                  <c:v>10.54</c:v>
                </c:pt>
                <c:pt idx="69">
                  <c:v>5.91</c:v>
                </c:pt>
                <c:pt idx="70">
                  <c:v>3.86</c:v>
                </c:pt>
                <c:pt idx="71">
                  <c:v>-1.97</c:v>
                </c:pt>
                <c:pt idx="72">
                  <c:v>-5.18</c:v>
                </c:pt>
                <c:pt idx="73">
                  <c:v>-7</c:v>
                </c:pt>
                <c:pt idx="74">
                  <c:v>-4.8099999999999996</c:v>
                </c:pt>
                <c:pt idx="75">
                  <c:v>-5.74</c:v>
                </c:pt>
                <c:pt idx="76">
                  <c:v>-8.51</c:v>
                </c:pt>
              </c:numCache>
            </c:numRef>
          </c:val>
          <c:smooth val="0"/>
          <c:extLst>
            <c:ext xmlns:c16="http://schemas.microsoft.com/office/drawing/2014/chart" uri="{C3380CC4-5D6E-409C-BE32-E72D297353CC}">
              <c16:uniqueId val="{00000000-8CEF-44C1-A179-5D58F0AE942C}"/>
            </c:ext>
          </c:extLst>
        </c:ser>
        <c:ser>
          <c:idx val="1"/>
          <c:order val="1"/>
          <c:tx>
            <c:v>Projeção XP</c:v>
          </c:tx>
          <c:spPr>
            <a:ln w="19050" cap="rnd">
              <a:solidFill>
                <a:schemeClr val="accent2"/>
              </a:solidFill>
              <a:prstDash val="sysDot"/>
              <a:round/>
            </a:ln>
            <a:effectLst/>
          </c:spPr>
          <c:marker>
            <c:symbol val="none"/>
          </c:marker>
          <c:dPt>
            <c:idx val="77"/>
            <c:marker>
              <c:symbol val="none"/>
            </c:marker>
            <c:bubble3D val="0"/>
            <c:spPr>
              <a:ln w="19050" cap="rnd">
                <a:solidFill>
                  <a:schemeClr val="tx1"/>
                </a:solidFill>
                <a:prstDash val="sysDot"/>
                <a:round/>
              </a:ln>
              <a:effectLst/>
            </c:spPr>
            <c:extLst>
              <c:ext xmlns:c16="http://schemas.microsoft.com/office/drawing/2014/chart" uri="{C3380CC4-5D6E-409C-BE32-E72D297353CC}">
                <c16:uniqueId val="{00000002-8CEF-44C1-A179-5D58F0AE942C}"/>
              </c:ext>
            </c:extLst>
          </c:dPt>
          <c:cat>
            <c:numRef>
              <c:f>Projecao_InNatura!$G$2:$G$121</c:f>
              <c:numCache>
                <c:formatCode>m/d/yyyy</c:formatCode>
                <c:ptCount val="120"/>
                <c:pt idx="0">
                  <c:v>43466</c:v>
                </c:pt>
                <c:pt idx="1">
                  <c:v>43497</c:v>
                </c:pt>
                <c:pt idx="2">
                  <c:v>43525</c:v>
                </c:pt>
                <c:pt idx="3">
                  <c:v>43556</c:v>
                </c:pt>
                <c:pt idx="4">
                  <c:v>43586</c:v>
                </c:pt>
                <c:pt idx="5">
                  <c:v>43617</c:v>
                </c:pt>
                <c:pt idx="6">
                  <c:v>43647</c:v>
                </c:pt>
                <c:pt idx="7">
                  <c:v>43678</c:v>
                </c:pt>
                <c:pt idx="8">
                  <c:v>43709</c:v>
                </c:pt>
                <c:pt idx="9">
                  <c:v>43739</c:v>
                </c:pt>
                <c:pt idx="10">
                  <c:v>43770</c:v>
                </c:pt>
                <c:pt idx="11">
                  <c:v>43800</c:v>
                </c:pt>
                <c:pt idx="12">
                  <c:v>43831</c:v>
                </c:pt>
                <c:pt idx="13">
                  <c:v>43862</c:v>
                </c:pt>
                <c:pt idx="14">
                  <c:v>43891</c:v>
                </c:pt>
                <c:pt idx="15">
                  <c:v>43922</c:v>
                </c:pt>
                <c:pt idx="16">
                  <c:v>43952</c:v>
                </c:pt>
                <c:pt idx="17">
                  <c:v>43983</c:v>
                </c:pt>
                <c:pt idx="18">
                  <c:v>44013</c:v>
                </c:pt>
                <c:pt idx="19">
                  <c:v>44044</c:v>
                </c:pt>
                <c:pt idx="20">
                  <c:v>44075</c:v>
                </c:pt>
                <c:pt idx="21">
                  <c:v>44105</c:v>
                </c:pt>
                <c:pt idx="22">
                  <c:v>44136</c:v>
                </c:pt>
                <c:pt idx="23">
                  <c:v>44166</c:v>
                </c:pt>
                <c:pt idx="24">
                  <c:v>44197</c:v>
                </c:pt>
                <c:pt idx="25">
                  <c:v>44228</c:v>
                </c:pt>
                <c:pt idx="26">
                  <c:v>44256</c:v>
                </c:pt>
                <c:pt idx="27">
                  <c:v>44287</c:v>
                </c:pt>
                <c:pt idx="28">
                  <c:v>44317</c:v>
                </c:pt>
                <c:pt idx="29">
                  <c:v>44348</c:v>
                </c:pt>
                <c:pt idx="30">
                  <c:v>44378</c:v>
                </c:pt>
                <c:pt idx="31">
                  <c:v>44409</c:v>
                </c:pt>
                <c:pt idx="32">
                  <c:v>44440</c:v>
                </c:pt>
                <c:pt idx="33">
                  <c:v>44470</c:v>
                </c:pt>
                <c:pt idx="34">
                  <c:v>44501</c:v>
                </c:pt>
                <c:pt idx="35">
                  <c:v>44531</c:v>
                </c:pt>
                <c:pt idx="36">
                  <c:v>44562</c:v>
                </c:pt>
                <c:pt idx="37">
                  <c:v>44593</c:v>
                </c:pt>
                <c:pt idx="38">
                  <c:v>44621</c:v>
                </c:pt>
                <c:pt idx="39">
                  <c:v>44652</c:v>
                </c:pt>
                <c:pt idx="40">
                  <c:v>44682</c:v>
                </c:pt>
                <c:pt idx="41">
                  <c:v>44713</c:v>
                </c:pt>
                <c:pt idx="42">
                  <c:v>44743</c:v>
                </c:pt>
                <c:pt idx="43">
                  <c:v>44774</c:v>
                </c:pt>
                <c:pt idx="44">
                  <c:v>44805</c:v>
                </c:pt>
                <c:pt idx="45">
                  <c:v>44835</c:v>
                </c:pt>
                <c:pt idx="46">
                  <c:v>44866</c:v>
                </c:pt>
                <c:pt idx="47">
                  <c:v>44896</c:v>
                </c:pt>
                <c:pt idx="48">
                  <c:v>44927</c:v>
                </c:pt>
                <c:pt idx="49">
                  <c:v>44958</c:v>
                </c:pt>
                <c:pt idx="50">
                  <c:v>44986</c:v>
                </c:pt>
                <c:pt idx="51">
                  <c:v>45017</c:v>
                </c:pt>
                <c:pt idx="52">
                  <c:v>45047</c:v>
                </c:pt>
                <c:pt idx="53">
                  <c:v>45078</c:v>
                </c:pt>
                <c:pt idx="54">
                  <c:v>45108</c:v>
                </c:pt>
                <c:pt idx="55">
                  <c:v>45139</c:v>
                </c:pt>
                <c:pt idx="56">
                  <c:v>45170</c:v>
                </c:pt>
                <c:pt idx="57">
                  <c:v>45200</c:v>
                </c:pt>
                <c:pt idx="58">
                  <c:v>45231</c:v>
                </c:pt>
                <c:pt idx="59">
                  <c:v>45261</c:v>
                </c:pt>
                <c:pt idx="60">
                  <c:v>45292</c:v>
                </c:pt>
                <c:pt idx="61">
                  <c:v>45323</c:v>
                </c:pt>
                <c:pt idx="62">
                  <c:v>45352</c:v>
                </c:pt>
                <c:pt idx="63">
                  <c:v>45383</c:v>
                </c:pt>
                <c:pt idx="64">
                  <c:v>45413</c:v>
                </c:pt>
                <c:pt idx="65">
                  <c:v>45444</c:v>
                </c:pt>
                <c:pt idx="66">
                  <c:v>45474</c:v>
                </c:pt>
                <c:pt idx="67">
                  <c:v>45505</c:v>
                </c:pt>
                <c:pt idx="68">
                  <c:v>45536</c:v>
                </c:pt>
                <c:pt idx="69">
                  <c:v>45566</c:v>
                </c:pt>
                <c:pt idx="70">
                  <c:v>45597</c:v>
                </c:pt>
                <c:pt idx="71">
                  <c:v>45627</c:v>
                </c:pt>
                <c:pt idx="72">
                  <c:v>45658</c:v>
                </c:pt>
                <c:pt idx="73">
                  <c:v>45689</c:v>
                </c:pt>
                <c:pt idx="74">
                  <c:v>45717</c:v>
                </c:pt>
                <c:pt idx="75">
                  <c:v>45748</c:v>
                </c:pt>
                <c:pt idx="76">
                  <c:v>45778</c:v>
                </c:pt>
                <c:pt idx="77">
                  <c:v>45809</c:v>
                </c:pt>
                <c:pt idx="78">
                  <c:v>45839</c:v>
                </c:pt>
                <c:pt idx="79">
                  <c:v>45870</c:v>
                </c:pt>
                <c:pt idx="80">
                  <c:v>45901</c:v>
                </c:pt>
                <c:pt idx="81">
                  <c:v>45931</c:v>
                </c:pt>
                <c:pt idx="82">
                  <c:v>45962</c:v>
                </c:pt>
                <c:pt idx="83">
                  <c:v>45992</c:v>
                </c:pt>
                <c:pt idx="84">
                  <c:v>46023</c:v>
                </c:pt>
                <c:pt idx="85">
                  <c:v>46054</c:v>
                </c:pt>
                <c:pt idx="86">
                  <c:v>46082</c:v>
                </c:pt>
                <c:pt idx="87">
                  <c:v>46113</c:v>
                </c:pt>
                <c:pt idx="88">
                  <c:v>46143</c:v>
                </c:pt>
                <c:pt idx="89">
                  <c:v>46174</c:v>
                </c:pt>
                <c:pt idx="90">
                  <c:v>46204</c:v>
                </c:pt>
                <c:pt idx="91">
                  <c:v>46235</c:v>
                </c:pt>
                <c:pt idx="92">
                  <c:v>46266</c:v>
                </c:pt>
                <c:pt idx="93">
                  <c:v>46296</c:v>
                </c:pt>
                <c:pt idx="94">
                  <c:v>46327</c:v>
                </c:pt>
                <c:pt idx="95">
                  <c:v>46357</c:v>
                </c:pt>
                <c:pt idx="96">
                  <c:v>46388</c:v>
                </c:pt>
                <c:pt idx="97">
                  <c:v>46419</c:v>
                </c:pt>
                <c:pt idx="98">
                  <c:v>46447</c:v>
                </c:pt>
                <c:pt idx="99">
                  <c:v>46478</c:v>
                </c:pt>
                <c:pt idx="100">
                  <c:v>46508</c:v>
                </c:pt>
                <c:pt idx="101">
                  <c:v>46539</c:v>
                </c:pt>
                <c:pt idx="102">
                  <c:v>46569</c:v>
                </c:pt>
                <c:pt idx="103">
                  <c:v>46600</c:v>
                </c:pt>
                <c:pt idx="104">
                  <c:v>46631</c:v>
                </c:pt>
                <c:pt idx="105">
                  <c:v>46661</c:v>
                </c:pt>
                <c:pt idx="106">
                  <c:v>46692</c:v>
                </c:pt>
                <c:pt idx="107">
                  <c:v>46722</c:v>
                </c:pt>
                <c:pt idx="108">
                  <c:v>46753</c:v>
                </c:pt>
                <c:pt idx="109">
                  <c:v>46784</c:v>
                </c:pt>
                <c:pt idx="110">
                  <c:v>46813</c:v>
                </c:pt>
                <c:pt idx="111">
                  <c:v>46844</c:v>
                </c:pt>
                <c:pt idx="112">
                  <c:v>46874</c:v>
                </c:pt>
                <c:pt idx="113">
                  <c:v>46905</c:v>
                </c:pt>
                <c:pt idx="114">
                  <c:v>46935</c:v>
                </c:pt>
                <c:pt idx="115">
                  <c:v>46966</c:v>
                </c:pt>
                <c:pt idx="116">
                  <c:v>46997</c:v>
                </c:pt>
                <c:pt idx="117">
                  <c:v>47027</c:v>
                </c:pt>
                <c:pt idx="118">
                  <c:v>47058</c:v>
                </c:pt>
                <c:pt idx="119">
                  <c:v>47088</c:v>
                </c:pt>
              </c:numCache>
            </c:numRef>
          </c:cat>
          <c:val>
            <c:numRef>
              <c:f>Projecao_InNatura!$I$2:$I$121</c:f>
              <c:numCache>
                <c:formatCode>General</c:formatCode>
                <c:ptCount val="120"/>
                <c:pt idx="76" formatCode="0.00">
                  <c:v>-8.51</c:v>
                </c:pt>
                <c:pt idx="77" formatCode="0.00">
                  <c:v>-10.3</c:v>
                </c:pt>
                <c:pt idx="78" formatCode="0.00">
                  <c:v>-5.3</c:v>
                </c:pt>
                <c:pt idx="79" formatCode="0.00">
                  <c:v>-4.3099999999999996</c:v>
                </c:pt>
                <c:pt idx="80" formatCode="0.00">
                  <c:v>-4.92</c:v>
                </c:pt>
                <c:pt idx="81" formatCode="0.00">
                  <c:v>-4.8899999999999997</c:v>
                </c:pt>
                <c:pt idx="82" formatCode="0.00">
                  <c:v>-4.03</c:v>
                </c:pt>
                <c:pt idx="83" formatCode="0.00">
                  <c:v>-0.66</c:v>
                </c:pt>
                <c:pt idx="84" formatCode="0.00">
                  <c:v>-1.94</c:v>
                </c:pt>
                <c:pt idx="85" formatCode="0.00">
                  <c:v>0.7</c:v>
                </c:pt>
                <c:pt idx="86" formatCode="0.00">
                  <c:v>-2.33</c:v>
                </c:pt>
                <c:pt idx="87" formatCode="0.00">
                  <c:v>-0.21</c:v>
                </c:pt>
                <c:pt idx="88" formatCode="0.00">
                  <c:v>3.86</c:v>
                </c:pt>
                <c:pt idx="89" formatCode="0.00">
                  <c:v>5.47</c:v>
                </c:pt>
                <c:pt idx="90" formatCode="0.00">
                  <c:v>6.43</c:v>
                </c:pt>
                <c:pt idx="91" formatCode="0.00">
                  <c:v>7.29</c:v>
                </c:pt>
                <c:pt idx="92" formatCode="0.00">
                  <c:v>8.32</c:v>
                </c:pt>
                <c:pt idx="93" formatCode="0.00">
                  <c:v>9.6199999999999992</c:v>
                </c:pt>
                <c:pt idx="94" formatCode="0.00">
                  <c:v>11.27</c:v>
                </c:pt>
                <c:pt idx="95" formatCode="0.00">
                  <c:v>13.33</c:v>
                </c:pt>
                <c:pt idx="96" formatCode="0.00">
                  <c:v>15.61</c:v>
                </c:pt>
                <c:pt idx="97" formatCode="0.00">
                  <c:v>17.71</c:v>
                </c:pt>
                <c:pt idx="98" formatCode="0.00">
                  <c:v>19.25</c:v>
                </c:pt>
                <c:pt idx="99" formatCode="0.00">
                  <c:v>20.05</c:v>
                </c:pt>
                <c:pt idx="100" formatCode="0.00">
                  <c:v>20.149999999999999</c:v>
                </c:pt>
                <c:pt idx="101" formatCode="0.00">
                  <c:v>19.77</c:v>
                </c:pt>
                <c:pt idx="102" formatCode="0.00">
                  <c:v>18.98</c:v>
                </c:pt>
                <c:pt idx="103" formatCode="0.00">
                  <c:v>17.97</c:v>
                </c:pt>
                <c:pt idx="104" formatCode="0.00">
                  <c:v>16.690000000000001</c:v>
                </c:pt>
                <c:pt idx="105" formatCode="0.00">
                  <c:v>15.1</c:v>
                </c:pt>
                <c:pt idx="106" formatCode="0.00">
                  <c:v>13.18</c:v>
                </c:pt>
                <c:pt idx="107" formatCode="0.00">
                  <c:v>10.94</c:v>
                </c:pt>
                <c:pt idx="108" formatCode="0.00">
                  <c:v>8.59</c:v>
                </c:pt>
                <c:pt idx="109" formatCode="0.00">
                  <c:v>6.6</c:v>
                </c:pt>
                <c:pt idx="110" formatCode="0.00">
                  <c:v>5.26</c:v>
                </c:pt>
                <c:pt idx="111" formatCode="0.00">
                  <c:v>4.63</c:v>
                </c:pt>
                <c:pt idx="112" formatCode="0.00">
                  <c:v>4.42</c:v>
                </c:pt>
                <c:pt idx="113" formatCode="0.00">
                  <c:v>4.38</c:v>
                </c:pt>
                <c:pt idx="114" formatCode="0.00">
                  <c:v>4.4000000000000004</c:v>
                </c:pt>
                <c:pt idx="115" formatCode="0.00">
                  <c:v>4.46</c:v>
                </c:pt>
                <c:pt idx="116" formatCode="0.00">
                  <c:v>4.55</c:v>
                </c:pt>
                <c:pt idx="117" formatCode="0.00">
                  <c:v>4.68</c:v>
                </c:pt>
                <c:pt idx="118" formatCode="0.00">
                  <c:v>4.82</c:v>
                </c:pt>
                <c:pt idx="119" formatCode="0.00">
                  <c:v>5</c:v>
                </c:pt>
              </c:numCache>
            </c:numRef>
          </c:val>
          <c:smooth val="0"/>
          <c:extLst>
            <c:ext xmlns:c16="http://schemas.microsoft.com/office/drawing/2014/chart" uri="{C3380CC4-5D6E-409C-BE32-E72D297353CC}">
              <c16:uniqueId val="{00000003-8CEF-44C1-A179-5D58F0AE942C}"/>
            </c:ext>
          </c:extLst>
        </c:ser>
        <c:dLbls>
          <c:showLegendKey val="0"/>
          <c:showVal val="0"/>
          <c:showCatName val="0"/>
          <c:showSerName val="0"/>
          <c:showPercent val="0"/>
          <c:showBubbleSize val="0"/>
        </c:dLbls>
        <c:smooth val="0"/>
        <c:axId val="1713993535"/>
        <c:axId val="1713994975"/>
      </c:lineChart>
      <c:dateAx>
        <c:axId val="1713993535"/>
        <c:scaling>
          <c:orientation val="minMax"/>
          <c:min val="43435"/>
        </c:scaling>
        <c:delete val="0"/>
        <c:axPos val="b"/>
        <c:numFmt formatCode="yyyy" sourceLinked="0"/>
        <c:majorTickMark val="none"/>
        <c:minorTickMark val="none"/>
        <c:tickLblPos val="low"/>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713994975"/>
        <c:crosses val="autoZero"/>
        <c:auto val="1"/>
        <c:lblOffset val="100"/>
        <c:baseTimeUnit val="months"/>
        <c:majorUnit val="1"/>
        <c:majorTimeUnit val="years"/>
      </c:dateAx>
      <c:valAx>
        <c:axId val="1713994975"/>
        <c:scaling>
          <c:orientation val="minMax"/>
          <c:max val="40"/>
          <c:min val="-15"/>
        </c:scaling>
        <c:delete val="0"/>
        <c:axPos val="l"/>
        <c:majorGridlines>
          <c:spPr>
            <a:ln w="9525" cap="flat" cmpd="sng" algn="ctr">
              <a:solidFill>
                <a:schemeClr val="bg1">
                  <a:lumMod val="9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713993535"/>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3029844165081949E-2"/>
          <c:y val="0.22827279957435964"/>
          <c:w val="0.87528329909852365"/>
          <c:h val="0.68300310295341304"/>
        </c:manualLayout>
      </c:layout>
      <c:areaChart>
        <c:grouping val="stacked"/>
        <c:varyColors val="0"/>
        <c:ser>
          <c:idx val="4"/>
          <c:order val="0"/>
          <c:tx>
            <c:strRef>
              <c:f>'Northern Arc Draft'!$B$65</c:f>
              <c:strCache>
                <c:ptCount val="1"/>
                <c:pt idx="0">
                  <c:v>Mín</c:v>
                </c:pt>
              </c:strCache>
            </c:strRef>
          </c:tx>
          <c:spPr>
            <a:solidFill>
              <a:schemeClr val="bg1"/>
            </a:solidFill>
            <a:ln>
              <a:noFill/>
            </a:ln>
            <a:effectLst/>
          </c:spPr>
          <c:val>
            <c:numRef>
              <c:f>'Northern Arc Draft'!$C$65:$N$65</c:f>
              <c:numCache>
                <c:formatCode>0</c:formatCode>
                <c:ptCount val="12"/>
                <c:pt idx="0">
                  <c:v>320</c:v>
                </c:pt>
                <c:pt idx="1">
                  <c:v>443</c:v>
                </c:pt>
                <c:pt idx="2">
                  <c:v>532</c:v>
                </c:pt>
                <c:pt idx="3">
                  <c:v>646</c:v>
                </c:pt>
                <c:pt idx="4">
                  <c:v>582</c:v>
                </c:pt>
                <c:pt idx="5">
                  <c:v>554</c:v>
                </c:pt>
                <c:pt idx="6">
                  <c:v>489.56485215053766</c:v>
                </c:pt>
                <c:pt idx="7">
                  <c:v>364.61559139784947</c:v>
                </c:pt>
                <c:pt idx="8">
                  <c:v>152.79227557411272</c:v>
                </c:pt>
                <c:pt idx="9">
                  <c:v>93.40561322568243</c:v>
                </c:pt>
                <c:pt idx="10">
                  <c:v>148.30123266563945</c:v>
                </c:pt>
                <c:pt idx="11">
                  <c:v>192</c:v>
                </c:pt>
              </c:numCache>
            </c:numRef>
          </c:val>
          <c:extLst>
            <c:ext xmlns:c16="http://schemas.microsoft.com/office/drawing/2014/chart" uri="{C3380CC4-5D6E-409C-BE32-E72D297353CC}">
              <c16:uniqueId val="{00000000-967F-4944-A804-C87EC640AF66}"/>
            </c:ext>
          </c:extLst>
        </c:ser>
        <c:ser>
          <c:idx val="3"/>
          <c:order val="1"/>
          <c:tx>
            <c:strRef>
              <c:f>'Northern Arc Draft'!$B$64</c:f>
              <c:strCache>
                <c:ptCount val="1"/>
                <c:pt idx="0">
                  <c:v>Máx-Mín</c:v>
                </c:pt>
              </c:strCache>
            </c:strRef>
          </c:tx>
          <c:spPr>
            <a:solidFill>
              <a:schemeClr val="bg1">
                <a:lumMod val="85000"/>
              </a:schemeClr>
            </a:solidFill>
            <a:ln>
              <a:noFill/>
            </a:ln>
            <a:effectLst/>
          </c:spPr>
          <c:val>
            <c:numRef>
              <c:f>'Northern Arc Draft'!$C$64:$N$64</c:f>
              <c:numCache>
                <c:formatCode>0</c:formatCode>
                <c:ptCount val="12"/>
                <c:pt idx="0">
                  <c:v>422.86967418546362</c:v>
                </c:pt>
                <c:pt idx="1">
                  <c:v>389</c:v>
                </c:pt>
                <c:pt idx="2">
                  <c:v>454</c:v>
                </c:pt>
                <c:pt idx="3">
                  <c:v>336</c:v>
                </c:pt>
                <c:pt idx="4">
                  <c:v>368</c:v>
                </c:pt>
                <c:pt idx="5">
                  <c:v>208</c:v>
                </c:pt>
                <c:pt idx="6">
                  <c:v>206.43514784946234</c:v>
                </c:pt>
                <c:pt idx="7">
                  <c:v>254.38440860215053</c:v>
                </c:pt>
                <c:pt idx="8">
                  <c:v>346.45300744475526</c:v>
                </c:pt>
                <c:pt idx="9">
                  <c:v>234.59438677431757</c:v>
                </c:pt>
                <c:pt idx="10">
                  <c:v>305.4142662727894</c:v>
                </c:pt>
                <c:pt idx="11">
                  <c:v>350.39090469279154</c:v>
                </c:pt>
              </c:numCache>
            </c:numRef>
          </c:val>
          <c:extLst>
            <c:ext xmlns:c16="http://schemas.microsoft.com/office/drawing/2014/chart" uri="{C3380CC4-5D6E-409C-BE32-E72D297353CC}">
              <c16:uniqueId val="{00000001-967F-4944-A804-C87EC640AF66}"/>
            </c:ext>
          </c:extLst>
        </c:ser>
        <c:dLbls>
          <c:showLegendKey val="0"/>
          <c:showVal val="0"/>
          <c:showCatName val="0"/>
          <c:showSerName val="0"/>
          <c:showPercent val="0"/>
          <c:showBubbleSize val="0"/>
        </c:dLbls>
        <c:axId val="781113615"/>
        <c:axId val="781109871"/>
      </c:areaChart>
      <c:lineChart>
        <c:grouping val="standard"/>
        <c:varyColors val="0"/>
        <c:ser>
          <c:idx val="0"/>
          <c:order val="2"/>
          <c:tx>
            <c:strRef>
              <c:f>'Northern Arc Draft'!$B$54</c:f>
              <c:strCache>
                <c:ptCount val="1"/>
                <c:pt idx="0">
                  <c:v>2024</c:v>
                </c:pt>
              </c:strCache>
            </c:strRef>
          </c:tx>
          <c:spPr>
            <a:ln w="22225" cap="rnd">
              <a:solidFill>
                <a:srgbClr val="FFCC00"/>
              </a:solidFill>
              <a:round/>
            </a:ln>
            <a:effectLst/>
          </c:spPr>
          <c:marker>
            <c:symbol val="none"/>
          </c:marker>
          <c:dPt>
            <c:idx val="1"/>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03-967F-4944-A804-C87EC640AF66}"/>
              </c:ext>
            </c:extLst>
          </c:dPt>
          <c:dPt>
            <c:idx val="3"/>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05-967F-4944-A804-C87EC640AF66}"/>
              </c:ext>
            </c:extLst>
          </c:dPt>
          <c:dPt>
            <c:idx val="4"/>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07-967F-4944-A804-C87EC640AF66}"/>
              </c:ext>
            </c:extLst>
          </c:dPt>
          <c:dPt>
            <c:idx val="5"/>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09-967F-4944-A804-C87EC640AF66}"/>
              </c:ext>
            </c:extLst>
          </c:dPt>
          <c:dPt>
            <c:idx val="6"/>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0B-967F-4944-A804-C87EC640AF66}"/>
              </c:ext>
            </c:extLst>
          </c:dPt>
          <c:dPt>
            <c:idx val="7"/>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0D-967F-4944-A804-C87EC640AF66}"/>
              </c:ext>
            </c:extLst>
          </c:dPt>
          <c:dPt>
            <c:idx val="8"/>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0F-967F-4944-A804-C87EC640AF66}"/>
              </c:ext>
            </c:extLst>
          </c:dPt>
          <c:dPt>
            <c:idx val="9"/>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11-967F-4944-A804-C87EC640AF66}"/>
              </c:ext>
            </c:extLst>
          </c:dPt>
          <c:dPt>
            <c:idx val="10"/>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13-967F-4944-A804-C87EC640AF66}"/>
              </c:ext>
            </c:extLst>
          </c:dPt>
          <c:dPt>
            <c:idx val="11"/>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15-967F-4944-A804-C87EC640AF66}"/>
              </c:ext>
            </c:extLst>
          </c:dPt>
          <c:val>
            <c:numRef>
              <c:f>'Northern Arc Draft'!$C$54:$N$54</c:f>
              <c:numCache>
                <c:formatCode>0</c:formatCode>
                <c:ptCount val="12"/>
                <c:pt idx="0">
                  <c:v>386.54399323181048</c:v>
                </c:pt>
                <c:pt idx="1">
                  <c:v>492.93294671982602</c:v>
                </c:pt>
                <c:pt idx="2">
                  <c:v>564.43203230148049</c:v>
                </c:pt>
                <c:pt idx="3">
                  <c:v>677.73611111111109</c:v>
                </c:pt>
                <c:pt idx="4">
                  <c:v>637.27486559139788</c:v>
                </c:pt>
                <c:pt idx="5">
                  <c:v>558.99268802228414</c:v>
                </c:pt>
                <c:pt idx="6">
                  <c:v>489.56485215053766</c:v>
                </c:pt>
                <c:pt idx="7">
                  <c:v>364.61559139784947</c:v>
                </c:pt>
                <c:pt idx="8">
                  <c:v>152.79227557411272</c:v>
                </c:pt>
                <c:pt idx="9">
                  <c:v>93.40561322568243</c:v>
                </c:pt>
                <c:pt idx="10">
                  <c:v>200.38824918807205</c:v>
                </c:pt>
                <c:pt idx="11">
                  <c:v>281.47540983606558</c:v>
                </c:pt>
              </c:numCache>
            </c:numRef>
          </c:val>
          <c:smooth val="0"/>
          <c:extLst>
            <c:ext xmlns:c16="http://schemas.microsoft.com/office/drawing/2014/chart" uri="{C3380CC4-5D6E-409C-BE32-E72D297353CC}">
              <c16:uniqueId val="{00000016-967F-4944-A804-C87EC640AF66}"/>
            </c:ext>
          </c:extLst>
        </c:ser>
        <c:ser>
          <c:idx val="5"/>
          <c:order val="3"/>
          <c:tx>
            <c:strRef>
              <c:f>'Northern Arc Draft'!$B$55</c:f>
              <c:strCache>
                <c:ptCount val="1"/>
                <c:pt idx="0">
                  <c:v>2025</c:v>
                </c:pt>
              </c:strCache>
            </c:strRef>
          </c:tx>
          <c:spPr>
            <a:ln w="22225" cap="rnd">
              <a:solidFill>
                <a:srgbClr val="8EB3DF"/>
              </a:solidFill>
              <a:round/>
            </a:ln>
            <a:effectLst/>
          </c:spPr>
          <c:marker>
            <c:symbol val="none"/>
          </c:marker>
          <c:dPt>
            <c:idx val="1"/>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18-967F-4944-A804-C87EC640AF66}"/>
              </c:ext>
            </c:extLst>
          </c:dPt>
          <c:dPt>
            <c:idx val="2"/>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1A-967F-4944-A804-C87EC640AF66}"/>
              </c:ext>
            </c:extLst>
          </c:dPt>
          <c:dPt>
            <c:idx val="3"/>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1C-967F-4944-A804-C87EC640AF66}"/>
              </c:ext>
            </c:extLst>
          </c:dPt>
          <c:dPt>
            <c:idx val="4"/>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1E-967F-4944-A804-C87EC640AF66}"/>
              </c:ext>
            </c:extLst>
          </c:dPt>
          <c:dPt>
            <c:idx val="5"/>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20-967F-4944-A804-C87EC640AF66}"/>
              </c:ext>
            </c:extLst>
          </c:dPt>
          <c:dPt>
            <c:idx val="7"/>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22-967F-4944-A804-C87EC640AF66}"/>
              </c:ext>
            </c:extLst>
          </c:dPt>
          <c:dPt>
            <c:idx val="8"/>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24-967F-4944-A804-C87EC640AF66}"/>
              </c:ext>
            </c:extLst>
          </c:dPt>
          <c:dPt>
            <c:idx val="9"/>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26-967F-4944-A804-C87EC640AF66}"/>
              </c:ext>
            </c:extLst>
          </c:dPt>
          <c:dPt>
            <c:idx val="10"/>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28-967F-4944-A804-C87EC640AF66}"/>
              </c:ext>
            </c:extLst>
          </c:dPt>
          <c:dPt>
            <c:idx val="11"/>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2A-967F-4944-A804-C87EC640AF66}"/>
              </c:ext>
            </c:extLst>
          </c:dPt>
          <c:val>
            <c:numRef>
              <c:f>'Northern Arc Draft'!$C$55:$N$55</c:f>
              <c:numCache>
                <c:formatCode>0</c:formatCode>
                <c:ptCount val="12"/>
                <c:pt idx="0">
                  <c:v>549.03076923076924</c:v>
                </c:pt>
                <c:pt idx="1">
                  <c:v>713.34461009174311</c:v>
                </c:pt>
                <c:pt idx="2">
                  <c:v>818.45045965270685</c:v>
                </c:pt>
                <c:pt idx="3">
                  <c:v>848.27613554434026</c:v>
                </c:pt>
                <c:pt idx="4">
                  <c:v>773.29288702928875</c:v>
                </c:pt>
                <c:pt idx="5">
                  <c:v>689.25098460436811</c:v>
                </c:pt>
                <c:pt idx="6">
                  <c:v>649.16487330787925</c:v>
                </c:pt>
                <c:pt idx="7">
                  <c:v>584.42435703479578</c:v>
                </c:pt>
                <c:pt idx="8">
                  <c:v>499.24528301886795</c:v>
                </c:pt>
                <c:pt idx="9">
                  <c:v>307.97870370370373</c:v>
                </c:pt>
                <c:pt idx="10">
                  <c:v>259.7313538352775</c:v>
                </c:pt>
                <c:pt idx="11">
                  <c:v>390.05688518903918</c:v>
                </c:pt>
              </c:numCache>
            </c:numRef>
          </c:val>
          <c:smooth val="0"/>
          <c:extLst>
            <c:ext xmlns:c16="http://schemas.microsoft.com/office/drawing/2014/chart" uri="{C3380CC4-5D6E-409C-BE32-E72D297353CC}">
              <c16:uniqueId val="{0000002B-967F-4944-A804-C87EC640AF66}"/>
            </c:ext>
          </c:extLst>
        </c:ser>
        <c:ser>
          <c:idx val="1"/>
          <c:order val="4"/>
          <c:tx>
            <c:strRef>
              <c:f>'Northern Arc Draft'!$B$56</c:f>
              <c:strCache>
                <c:ptCount val="1"/>
                <c:pt idx="0">
                  <c:v>2026</c:v>
                </c:pt>
              </c:strCache>
            </c:strRef>
          </c:tx>
          <c:spPr>
            <a:ln w="22225" cap="rnd">
              <a:solidFill>
                <a:srgbClr val="1F2F44"/>
              </a:solidFill>
              <a:round/>
            </a:ln>
            <a:effectLst/>
          </c:spPr>
          <c:marker>
            <c:symbol val="circle"/>
            <c:size val="5"/>
            <c:spPr>
              <a:solidFill>
                <a:schemeClr val="bg1"/>
              </a:solidFill>
              <a:ln w="28575">
                <a:solidFill>
                  <a:srgbClr val="1F2F44"/>
                </a:solidFill>
              </a:ln>
              <a:effectLst/>
            </c:spPr>
          </c:marker>
          <c:dPt>
            <c:idx val="2"/>
            <c:marker>
              <c:symbol val="circle"/>
              <c:size val="5"/>
              <c:spPr>
                <a:solidFill>
                  <a:schemeClr val="bg1"/>
                </a:solidFill>
                <a:ln w="28575">
                  <a:solidFill>
                    <a:srgbClr val="1F2F44"/>
                  </a:solidFill>
                </a:ln>
                <a:effectLst/>
              </c:spPr>
            </c:marker>
            <c:bubble3D val="0"/>
            <c:spPr>
              <a:ln w="22225" cap="rnd">
                <a:solidFill>
                  <a:srgbClr val="1F2F44"/>
                </a:solidFill>
                <a:prstDash val="solid"/>
                <a:round/>
              </a:ln>
              <a:effectLst/>
            </c:spPr>
            <c:extLst>
              <c:ext xmlns:c16="http://schemas.microsoft.com/office/drawing/2014/chart" uri="{C3380CC4-5D6E-409C-BE32-E72D297353CC}">
                <c16:uniqueId val="{0000002D-967F-4944-A804-C87EC640AF66}"/>
              </c:ext>
            </c:extLst>
          </c:dPt>
          <c:dPt>
            <c:idx val="4"/>
            <c:marker>
              <c:symbol val="circle"/>
              <c:size val="5"/>
              <c:spPr>
                <a:solidFill>
                  <a:schemeClr val="bg1"/>
                </a:solidFill>
                <a:ln w="28575">
                  <a:solidFill>
                    <a:srgbClr val="1F2F44"/>
                  </a:solidFill>
                </a:ln>
                <a:effectLst/>
              </c:spPr>
            </c:marker>
            <c:bubble3D val="0"/>
            <c:spPr>
              <a:ln w="22225" cap="rnd">
                <a:solidFill>
                  <a:srgbClr val="1F2F44"/>
                </a:solidFill>
                <a:prstDash val="solid"/>
                <a:round/>
              </a:ln>
              <a:effectLst/>
            </c:spPr>
            <c:extLst>
              <c:ext xmlns:c16="http://schemas.microsoft.com/office/drawing/2014/chart" uri="{C3380CC4-5D6E-409C-BE32-E72D297353CC}">
                <c16:uniqueId val="{0000002F-967F-4944-A804-C87EC640AF66}"/>
              </c:ext>
            </c:extLst>
          </c:dPt>
          <c:dPt>
            <c:idx val="5"/>
            <c:marker>
              <c:symbol val="circle"/>
              <c:size val="5"/>
              <c:spPr>
                <a:solidFill>
                  <a:schemeClr val="bg1"/>
                </a:solidFill>
                <a:ln w="28575">
                  <a:solidFill>
                    <a:srgbClr val="1F2F44"/>
                  </a:solidFill>
                </a:ln>
                <a:effectLst/>
              </c:spPr>
            </c:marker>
            <c:bubble3D val="0"/>
            <c:spPr>
              <a:ln w="22225" cap="rnd">
                <a:solidFill>
                  <a:srgbClr val="1F2F44"/>
                </a:solidFill>
                <a:prstDash val="solid"/>
                <a:round/>
              </a:ln>
              <a:effectLst/>
            </c:spPr>
            <c:extLst>
              <c:ext xmlns:c16="http://schemas.microsoft.com/office/drawing/2014/chart" uri="{C3380CC4-5D6E-409C-BE32-E72D297353CC}">
                <c16:uniqueId val="{00000031-967F-4944-A804-C87EC640AF66}"/>
              </c:ext>
            </c:extLst>
          </c:dPt>
          <c:dPt>
            <c:idx val="6"/>
            <c:marker>
              <c:symbol val="circle"/>
              <c:size val="5"/>
              <c:spPr>
                <a:solidFill>
                  <a:schemeClr val="bg1"/>
                </a:solidFill>
                <a:ln w="28575">
                  <a:solidFill>
                    <a:srgbClr val="1F2F44"/>
                  </a:solidFill>
                </a:ln>
                <a:effectLst/>
              </c:spPr>
            </c:marker>
            <c:bubble3D val="0"/>
            <c:spPr>
              <a:ln w="22225" cap="rnd">
                <a:solidFill>
                  <a:srgbClr val="1F2F44"/>
                </a:solidFill>
                <a:prstDash val="solid"/>
                <a:round/>
              </a:ln>
              <a:effectLst/>
            </c:spPr>
            <c:extLst>
              <c:ext xmlns:c16="http://schemas.microsoft.com/office/drawing/2014/chart" uri="{C3380CC4-5D6E-409C-BE32-E72D297353CC}">
                <c16:uniqueId val="{00000033-967F-4944-A804-C87EC640AF66}"/>
              </c:ext>
            </c:extLst>
          </c:dPt>
          <c:dPt>
            <c:idx val="7"/>
            <c:marker>
              <c:symbol val="circle"/>
              <c:size val="5"/>
              <c:spPr>
                <a:solidFill>
                  <a:schemeClr val="bg1"/>
                </a:solidFill>
                <a:ln w="28575">
                  <a:solidFill>
                    <a:srgbClr val="1F2F44"/>
                  </a:solidFill>
                </a:ln>
                <a:effectLst/>
              </c:spPr>
            </c:marker>
            <c:bubble3D val="0"/>
            <c:spPr>
              <a:ln w="22225" cap="rnd">
                <a:solidFill>
                  <a:srgbClr val="1F2F44"/>
                </a:solidFill>
                <a:prstDash val="dash"/>
                <a:round/>
              </a:ln>
              <a:effectLst/>
            </c:spPr>
            <c:extLst>
              <c:ext xmlns:c16="http://schemas.microsoft.com/office/drawing/2014/chart" uri="{C3380CC4-5D6E-409C-BE32-E72D297353CC}">
                <c16:uniqueId val="{00000035-967F-4944-A804-C87EC640AF66}"/>
              </c:ext>
            </c:extLst>
          </c:dPt>
          <c:val>
            <c:numRef>
              <c:f>'Northern Arc Draft'!$C$56:$N$56</c:f>
              <c:numCache>
                <c:formatCode>0</c:formatCode>
                <c:ptCount val="12"/>
                <c:pt idx="0">
                  <c:v>551.32501386577928</c:v>
                </c:pt>
                <c:pt idx="1">
                  <c:v>674.3773800456969</c:v>
                </c:pt>
                <c:pt idx="2">
                  <c:v>832.54267473118284</c:v>
                </c:pt>
                <c:pt idx="3">
                  <c:v>801.48285714285714</c:v>
                </c:pt>
                <c:pt idx="4">
                  <c:v>738.05216778286922</c:v>
                </c:pt>
                <c:pt idx="5">
                  <c:v>666.81584433634464</c:v>
                </c:pt>
                <c:pt idx="6">
                  <c:v>626.4545957918051</c:v>
                </c:pt>
              </c:numCache>
            </c:numRef>
          </c:val>
          <c:smooth val="0"/>
          <c:extLst>
            <c:ext xmlns:c16="http://schemas.microsoft.com/office/drawing/2014/chart" uri="{C3380CC4-5D6E-409C-BE32-E72D297353CC}">
              <c16:uniqueId val="{00000036-967F-4944-A804-C87EC640AF66}"/>
            </c:ext>
          </c:extLst>
        </c:ser>
        <c:ser>
          <c:idx val="2"/>
          <c:order val="5"/>
          <c:tx>
            <c:strRef>
              <c:f>'Northern Arc Draft'!$B$63</c:f>
              <c:strCache>
                <c:ptCount val="1"/>
                <c:pt idx="0">
                  <c:v>Média</c:v>
                </c:pt>
              </c:strCache>
            </c:strRef>
          </c:tx>
          <c:spPr>
            <a:ln w="22225" cap="rnd">
              <a:solidFill>
                <a:schemeClr val="accent3"/>
              </a:solidFill>
              <a:prstDash val="dash"/>
              <a:round/>
            </a:ln>
            <a:effectLst/>
          </c:spPr>
          <c:marker>
            <c:symbol val="none"/>
          </c:marker>
          <c:val>
            <c:numRef>
              <c:f>'Northern Arc Draft'!$C$63:$N$63</c:f>
              <c:numCache>
                <c:formatCode>0</c:formatCode>
                <c:ptCount val="12"/>
                <c:pt idx="0">
                  <c:v>534.69098757791483</c:v>
                </c:pt>
                <c:pt idx="1">
                  <c:v>684.28705667394422</c:v>
                </c:pt>
                <c:pt idx="2">
                  <c:v>799.69827712303925</c:v>
                </c:pt>
                <c:pt idx="3">
                  <c:v>841.69954822113505</c:v>
                </c:pt>
                <c:pt idx="4">
                  <c:v>759.60622080275164</c:v>
                </c:pt>
                <c:pt idx="5">
                  <c:v>680.51133278120199</c:v>
                </c:pt>
                <c:pt idx="6">
                  <c:v>628.18033257019636</c:v>
                </c:pt>
                <c:pt idx="7">
                  <c:v>519.54589599681935</c:v>
                </c:pt>
                <c:pt idx="8">
                  <c:v>373.01329094323575</c:v>
                </c:pt>
                <c:pt idx="9">
                  <c:v>233.50071627340262</c:v>
                </c:pt>
                <c:pt idx="10">
                  <c:v>261.85786094601525</c:v>
                </c:pt>
                <c:pt idx="11">
                  <c:v>365.54705938876702</c:v>
                </c:pt>
              </c:numCache>
            </c:numRef>
          </c:val>
          <c:smooth val="0"/>
          <c:extLst>
            <c:ext xmlns:c16="http://schemas.microsoft.com/office/drawing/2014/chart" uri="{C3380CC4-5D6E-409C-BE32-E72D297353CC}">
              <c16:uniqueId val="{00000037-967F-4944-A804-C87EC640AF66}"/>
            </c:ext>
          </c:extLst>
        </c:ser>
        <c:dLbls>
          <c:showLegendKey val="0"/>
          <c:showVal val="0"/>
          <c:showCatName val="0"/>
          <c:showSerName val="0"/>
          <c:showPercent val="0"/>
          <c:showBubbleSize val="0"/>
        </c:dLbls>
        <c:marker val="1"/>
        <c:smooth val="0"/>
        <c:axId val="781113615"/>
        <c:axId val="781109871"/>
      </c:lineChart>
      <c:catAx>
        <c:axId val="781113615"/>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j-lt"/>
                <a:ea typeface="+mn-ea"/>
                <a:cs typeface="+mn-cs"/>
              </a:defRPr>
            </a:pPr>
            <a:endParaRPr lang="pt-BR"/>
          </a:p>
        </c:txPr>
        <c:crossAx val="781109871"/>
        <c:crosses val="autoZero"/>
        <c:auto val="1"/>
        <c:lblAlgn val="ctr"/>
        <c:lblOffset val="100"/>
        <c:noMultiLvlLbl val="0"/>
      </c:catAx>
      <c:valAx>
        <c:axId val="781109871"/>
        <c:scaling>
          <c:orientation val="minMax"/>
          <c:max val="100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j-lt"/>
                <a:ea typeface="+mn-ea"/>
                <a:cs typeface="+mn-cs"/>
              </a:defRPr>
            </a:pPr>
            <a:endParaRPr lang="pt-BR"/>
          </a:p>
        </c:txPr>
        <c:crossAx val="781113615"/>
        <c:crosses val="autoZero"/>
        <c:crossBetween val="between"/>
      </c:valAx>
      <c:spPr>
        <a:noFill/>
        <a:ln>
          <a:noFill/>
        </a:ln>
        <a:effectLst/>
      </c:spPr>
    </c:plotArea>
    <c:legend>
      <c:legendPos val="t"/>
      <c:legendEntry>
        <c:idx val="0"/>
        <c:delete val="1"/>
      </c:legendEntry>
      <c:layout>
        <c:manualLayout>
          <c:xMode val="edge"/>
          <c:yMode val="edge"/>
          <c:x val="0"/>
          <c:y val="4.3608044940322221E-2"/>
          <c:w val="0.9972393557248096"/>
          <c:h val="0.10997926042587089"/>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j-lt"/>
              <a:ea typeface="+mn-ea"/>
              <a:cs typeface="+mn-cs"/>
            </a:defRPr>
          </a:pPr>
          <a:endParaRPr lang="pt-BR"/>
        </a:p>
      </c:txPr>
    </c:legend>
    <c:plotVisOnly val="1"/>
    <c:dispBlanksAs val="gap"/>
    <c:showDLblsOverMax val="0"/>
    <c:extLst/>
  </c:chart>
  <c:spPr>
    <a:solidFill>
      <a:schemeClr val="bg1"/>
    </a:solidFill>
    <a:ln w="9525" cap="flat" cmpd="sng" algn="ctr">
      <a:noFill/>
      <a:round/>
    </a:ln>
    <a:effectLst/>
  </c:spPr>
  <c:txPr>
    <a:bodyPr/>
    <a:lstStyle/>
    <a:p>
      <a:pPr>
        <a:defRPr sz="700">
          <a:latin typeface="+mj-lt"/>
        </a:defRPr>
      </a:pPr>
      <a:endParaRPr lang="pt-BR"/>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3029844165081949E-2"/>
          <c:y val="0.22827279957435964"/>
          <c:w val="0.87528329909852365"/>
          <c:h val="0.68300310295341304"/>
        </c:manualLayout>
      </c:layout>
      <c:areaChart>
        <c:grouping val="stacked"/>
        <c:varyColors val="0"/>
        <c:ser>
          <c:idx val="4"/>
          <c:order val="0"/>
          <c:tx>
            <c:strRef>
              <c:f>'Paraguay River Draft'!$B$82</c:f>
              <c:strCache>
                <c:ptCount val="1"/>
                <c:pt idx="0">
                  <c:v>Mín</c:v>
                </c:pt>
              </c:strCache>
            </c:strRef>
          </c:tx>
          <c:spPr>
            <a:solidFill>
              <a:schemeClr val="bg1"/>
            </a:solidFill>
            <a:ln>
              <a:noFill/>
            </a:ln>
            <a:effectLst/>
          </c:spPr>
          <c:val>
            <c:numRef>
              <c:f>'Paraguay River Draft'!$C$82:$N$82</c:f>
              <c:numCache>
                <c:formatCode>0</c:formatCode>
                <c:ptCount val="12"/>
                <c:pt idx="0">
                  <c:v>50.75</c:v>
                </c:pt>
                <c:pt idx="1">
                  <c:v>74.5</c:v>
                </c:pt>
                <c:pt idx="2">
                  <c:v>90.75</c:v>
                </c:pt>
                <c:pt idx="3">
                  <c:v>117.2</c:v>
                </c:pt>
                <c:pt idx="4">
                  <c:v>143.66666666666666</c:v>
                </c:pt>
                <c:pt idx="5">
                  <c:v>126.6</c:v>
                </c:pt>
                <c:pt idx="6">
                  <c:v>77</c:v>
                </c:pt>
                <c:pt idx="7">
                  <c:v>13.5</c:v>
                </c:pt>
                <c:pt idx="8">
                  <c:v>-31.4</c:v>
                </c:pt>
                <c:pt idx="9">
                  <c:v>-56.4</c:v>
                </c:pt>
                <c:pt idx="10">
                  <c:v>-8</c:v>
                </c:pt>
                <c:pt idx="11">
                  <c:v>4.25</c:v>
                </c:pt>
              </c:numCache>
            </c:numRef>
          </c:val>
          <c:extLst>
            <c:ext xmlns:c16="http://schemas.microsoft.com/office/drawing/2014/chart" uri="{C3380CC4-5D6E-409C-BE32-E72D297353CC}">
              <c16:uniqueId val="{00000000-967F-4944-A804-C87EC640AF66}"/>
            </c:ext>
          </c:extLst>
        </c:ser>
        <c:ser>
          <c:idx val="3"/>
          <c:order val="1"/>
          <c:tx>
            <c:strRef>
              <c:f>'Paraguay River Draft'!$B$81</c:f>
              <c:strCache>
                <c:ptCount val="1"/>
                <c:pt idx="0">
                  <c:v>Máx-Mín</c:v>
                </c:pt>
              </c:strCache>
            </c:strRef>
          </c:tx>
          <c:spPr>
            <a:solidFill>
              <a:schemeClr val="bg1">
                <a:lumMod val="85000"/>
              </a:schemeClr>
            </a:solidFill>
            <a:ln>
              <a:noFill/>
            </a:ln>
            <a:effectLst/>
          </c:spPr>
          <c:val>
            <c:numRef>
              <c:f>'Paraguay River Draft'!$C$81:$N$81</c:f>
              <c:numCache>
                <c:formatCode>0</c:formatCode>
                <c:ptCount val="12"/>
                <c:pt idx="0">
                  <c:v>261.75</c:v>
                </c:pt>
                <c:pt idx="1">
                  <c:v>279</c:v>
                </c:pt>
                <c:pt idx="2">
                  <c:v>309.25</c:v>
                </c:pt>
                <c:pt idx="3">
                  <c:v>353.05</c:v>
                </c:pt>
                <c:pt idx="4">
                  <c:v>360.58333333333337</c:v>
                </c:pt>
                <c:pt idx="5">
                  <c:v>394.4</c:v>
                </c:pt>
                <c:pt idx="6">
                  <c:v>431.25</c:v>
                </c:pt>
                <c:pt idx="7">
                  <c:v>438.5</c:v>
                </c:pt>
                <c:pt idx="8">
                  <c:v>420.4</c:v>
                </c:pt>
                <c:pt idx="9">
                  <c:v>363.65</c:v>
                </c:pt>
                <c:pt idx="10">
                  <c:v>264</c:v>
                </c:pt>
                <c:pt idx="11">
                  <c:v>246.5</c:v>
                </c:pt>
              </c:numCache>
            </c:numRef>
          </c:val>
          <c:extLst>
            <c:ext xmlns:c16="http://schemas.microsoft.com/office/drawing/2014/chart" uri="{C3380CC4-5D6E-409C-BE32-E72D297353CC}">
              <c16:uniqueId val="{00000001-967F-4944-A804-C87EC640AF66}"/>
            </c:ext>
          </c:extLst>
        </c:ser>
        <c:dLbls>
          <c:showLegendKey val="0"/>
          <c:showVal val="0"/>
          <c:showCatName val="0"/>
          <c:showSerName val="0"/>
          <c:showPercent val="0"/>
          <c:showBubbleSize val="0"/>
        </c:dLbls>
        <c:axId val="781113615"/>
        <c:axId val="781109871"/>
      </c:areaChart>
      <c:lineChart>
        <c:grouping val="standard"/>
        <c:varyColors val="0"/>
        <c:ser>
          <c:idx val="0"/>
          <c:order val="2"/>
          <c:tx>
            <c:strRef>
              <c:f>'Paraguay River Draft'!$B$76</c:f>
              <c:strCache>
                <c:ptCount val="1"/>
                <c:pt idx="0">
                  <c:v>2024</c:v>
                </c:pt>
              </c:strCache>
            </c:strRef>
          </c:tx>
          <c:spPr>
            <a:ln w="22225" cap="rnd">
              <a:solidFill>
                <a:srgbClr val="FFCC00"/>
              </a:solidFill>
              <a:round/>
            </a:ln>
            <a:effectLst/>
          </c:spPr>
          <c:marker>
            <c:symbol val="none"/>
          </c:marker>
          <c:dPt>
            <c:idx val="1"/>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03-967F-4944-A804-C87EC640AF66}"/>
              </c:ext>
            </c:extLst>
          </c:dPt>
          <c:dPt>
            <c:idx val="3"/>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05-967F-4944-A804-C87EC640AF66}"/>
              </c:ext>
            </c:extLst>
          </c:dPt>
          <c:dPt>
            <c:idx val="4"/>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07-967F-4944-A804-C87EC640AF66}"/>
              </c:ext>
            </c:extLst>
          </c:dPt>
          <c:dPt>
            <c:idx val="5"/>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09-967F-4944-A804-C87EC640AF66}"/>
              </c:ext>
            </c:extLst>
          </c:dPt>
          <c:dPt>
            <c:idx val="6"/>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0B-967F-4944-A804-C87EC640AF66}"/>
              </c:ext>
            </c:extLst>
          </c:dPt>
          <c:dPt>
            <c:idx val="7"/>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0D-967F-4944-A804-C87EC640AF66}"/>
              </c:ext>
            </c:extLst>
          </c:dPt>
          <c:dPt>
            <c:idx val="8"/>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0F-967F-4944-A804-C87EC640AF66}"/>
              </c:ext>
            </c:extLst>
          </c:dPt>
          <c:dPt>
            <c:idx val="9"/>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11-967F-4944-A804-C87EC640AF66}"/>
              </c:ext>
            </c:extLst>
          </c:dPt>
          <c:dPt>
            <c:idx val="10"/>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13-967F-4944-A804-C87EC640AF66}"/>
              </c:ext>
            </c:extLst>
          </c:dPt>
          <c:dPt>
            <c:idx val="11"/>
            <c:marker>
              <c:symbol val="none"/>
            </c:marker>
            <c:bubble3D val="0"/>
            <c:spPr>
              <a:ln w="22225" cap="rnd">
                <a:solidFill>
                  <a:srgbClr val="FFCC00"/>
                </a:solidFill>
                <a:prstDash val="solid"/>
                <a:round/>
              </a:ln>
              <a:effectLst/>
            </c:spPr>
            <c:extLst>
              <c:ext xmlns:c16="http://schemas.microsoft.com/office/drawing/2014/chart" uri="{C3380CC4-5D6E-409C-BE32-E72D297353CC}">
                <c16:uniqueId val="{00000015-967F-4944-A804-C87EC640AF66}"/>
              </c:ext>
            </c:extLst>
          </c:dPt>
          <c:cat>
            <c:numRef>
              <c:f>'Paraguay River Draft'!$C$66:$N$66</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'Paraguay River Draft'!$C$76:$N$76</c:f>
              <c:numCache>
                <c:formatCode>0</c:formatCode>
                <c:ptCount val="12"/>
                <c:pt idx="0">
                  <c:v>50.75</c:v>
                </c:pt>
                <c:pt idx="1">
                  <c:v>74.5</c:v>
                </c:pt>
                <c:pt idx="2">
                  <c:v>90.75</c:v>
                </c:pt>
                <c:pt idx="3">
                  <c:v>117.2</c:v>
                </c:pt>
                <c:pt idx="4">
                  <c:v>143.66666666666666</c:v>
                </c:pt>
                <c:pt idx="5">
                  <c:v>126.6</c:v>
                </c:pt>
                <c:pt idx="6">
                  <c:v>77</c:v>
                </c:pt>
                <c:pt idx="7">
                  <c:v>13.5</c:v>
                </c:pt>
                <c:pt idx="8">
                  <c:v>-31.4</c:v>
                </c:pt>
                <c:pt idx="9">
                  <c:v>-56.4</c:v>
                </c:pt>
                <c:pt idx="10">
                  <c:v>0</c:v>
                </c:pt>
                <c:pt idx="11">
                  <c:v>72.25</c:v>
                </c:pt>
              </c:numCache>
            </c:numRef>
          </c:val>
          <c:smooth val="0"/>
          <c:extLst>
            <c:ext xmlns:c16="http://schemas.microsoft.com/office/drawing/2014/chart" uri="{C3380CC4-5D6E-409C-BE32-E72D297353CC}">
              <c16:uniqueId val="{00000016-967F-4944-A804-C87EC640AF66}"/>
            </c:ext>
          </c:extLst>
        </c:ser>
        <c:ser>
          <c:idx val="5"/>
          <c:order val="3"/>
          <c:tx>
            <c:strRef>
              <c:f>'Paraguay River Draft'!$B$77</c:f>
              <c:strCache>
                <c:ptCount val="1"/>
                <c:pt idx="0">
                  <c:v>2025</c:v>
                </c:pt>
              </c:strCache>
            </c:strRef>
          </c:tx>
          <c:spPr>
            <a:ln w="22225" cap="rnd">
              <a:solidFill>
                <a:srgbClr val="8EB3DF"/>
              </a:solidFill>
              <a:round/>
            </a:ln>
            <a:effectLst/>
          </c:spPr>
          <c:marker>
            <c:symbol val="none"/>
          </c:marker>
          <c:dPt>
            <c:idx val="1"/>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18-967F-4944-A804-C87EC640AF66}"/>
              </c:ext>
            </c:extLst>
          </c:dPt>
          <c:dPt>
            <c:idx val="2"/>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1A-967F-4944-A804-C87EC640AF66}"/>
              </c:ext>
            </c:extLst>
          </c:dPt>
          <c:dPt>
            <c:idx val="3"/>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1C-967F-4944-A804-C87EC640AF66}"/>
              </c:ext>
            </c:extLst>
          </c:dPt>
          <c:dPt>
            <c:idx val="4"/>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1E-967F-4944-A804-C87EC640AF66}"/>
              </c:ext>
            </c:extLst>
          </c:dPt>
          <c:dPt>
            <c:idx val="5"/>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20-967F-4944-A804-C87EC640AF66}"/>
              </c:ext>
            </c:extLst>
          </c:dPt>
          <c:dPt>
            <c:idx val="7"/>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22-967F-4944-A804-C87EC640AF66}"/>
              </c:ext>
            </c:extLst>
          </c:dPt>
          <c:dPt>
            <c:idx val="8"/>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24-967F-4944-A804-C87EC640AF66}"/>
              </c:ext>
            </c:extLst>
          </c:dPt>
          <c:dPt>
            <c:idx val="9"/>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26-967F-4944-A804-C87EC640AF66}"/>
              </c:ext>
            </c:extLst>
          </c:dPt>
          <c:dPt>
            <c:idx val="10"/>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28-967F-4944-A804-C87EC640AF66}"/>
              </c:ext>
            </c:extLst>
          </c:dPt>
          <c:dPt>
            <c:idx val="11"/>
            <c:marker>
              <c:symbol val="none"/>
            </c:marker>
            <c:bubble3D val="0"/>
            <c:spPr>
              <a:ln w="22225" cap="rnd">
                <a:solidFill>
                  <a:srgbClr val="8EB3DF"/>
                </a:solidFill>
                <a:prstDash val="solid"/>
                <a:round/>
              </a:ln>
              <a:effectLst/>
            </c:spPr>
            <c:extLst>
              <c:ext xmlns:c16="http://schemas.microsoft.com/office/drawing/2014/chart" uri="{C3380CC4-5D6E-409C-BE32-E72D297353CC}">
                <c16:uniqueId val="{0000002A-967F-4944-A804-C87EC640AF66}"/>
              </c:ext>
            </c:extLst>
          </c:dPt>
          <c:val>
            <c:numRef>
              <c:f>'Paraguay River Draft'!$C$77:$N$77</c:f>
              <c:numCache>
                <c:formatCode>0</c:formatCode>
                <c:ptCount val="12"/>
                <c:pt idx="0">
                  <c:v>125.75</c:v>
                </c:pt>
                <c:pt idx="1">
                  <c:v>145.5</c:v>
                </c:pt>
                <c:pt idx="2">
                  <c:v>168.5</c:v>
                </c:pt>
                <c:pt idx="3">
                  <c:v>209.2</c:v>
                </c:pt>
                <c:pt idx="4">
                  <c:v>265.75</c:v>
                </c:pt>
                <c:pt idx="5">
                  <c:v>303.5</c:v>
                </c:pt>
                <c:pt idx="6">
                  <c:v>328.6</c:v>
                </c:pt>
                <c:pt idx="7">
                  <c:v>314.75</c:v>
                </c:pt>
                <c:pt idx="8">
                  <c:v>251.25</c:v>
                </c:pt>
                <c:pt idx="9">
                  <c:v>119</c:v>
                </c:pt>
                <c:pt idx="10">
                  <c:v>47</c:v>
                </c:pt>
                <c:pt idx="11">
                  <c:v>46.6</c:v>
                </c:pt>
              </c:numCache>
            </c:numRef>
          </c:val>
          <c:smooth val="0"/>
          <c:extLst>
            <c:ext xmlns:c16="http://schemas.microsoft.com/office/drawing/2014/chart" uri="{C3380CC4-5D6E-409C-BE32-E72D297353CC}">
              <c16:uniqueId val="{0000002B-967F-4944-A804-C87EC640AF66}"/>
            </c:ext>
          </c:extLst>
        </c:ser>
        <c:ser>
          <c:idx val="1"/>
          <c:order val="4"/>
          <c:tx>
            <c:strRef>
              <c:f>'Paraguay River Draft'!$B$78</c:f>
              <c:strCache>
                <c:ptCount val="1"/>
                <c:pt idx="0">
                  <c:v>2026</c:v>
                </c:pt>
              </c:strCache>
            </c:strRef>
          </c:tx>
          <c:spPr>
            <a:ln w="22225" cap="rnd">
              <a:solidFill>
                <a:srgbClr val="1F2F44"/>
              </a:solidFill>
              <a:round/>
            </a:ln>
            <a:effectLst/>
          </c:spPr>
          <c:marker>
            <c:symbol val="circle"/>
            <c:size val="5"/>
            <c:spPr>
              <a:solidFill>
                <a:schemeClr val="bg1"/>
              </a:solidFill>
              <a:ln w="28575">
                <a:solidFill>
                  <a:srgbClr val="1F2F44"/>
                </a:solidFill>
              </a:ln>
              <a:effectLst/>
            </c:spPr>
          </c:marker>
          <c:dPt>
            <c:idx val="2"/>
            <c:marker>
              <c:symbol val="circle"/>
              <c:size val="5"/>
              <c:spPr>
                <a:solidFill>
                  <a:schemeClr val="bg1"/>
                </a:solidFill>
                <a:ln w="28575">
                  <a:solidFill>
                    <a:srgbClr val="1F2F44"/>
                  </a:solidFill>
                </a:ln>
                <a:effectLst/>
              </c:spPr>
            </c:marker>
            <c:bubble3D val="0"/>
            <c:spPr>
              <a:ln w="22225" cap="rnd">
                <a:solidFill>
                  <a:srgbClr val="1F2F44"/>
                </a:solidFill>
                <a:prstDash val="solid"/>
                <a:round/>
              </a:ln>
              <a:effectLst/>
            </c:spPr>
            <c:extLst>
              <c:ext xmlns:c16="http://schemas.microsoft.com/office/drawing/2014/chart" uri="{C3380CC4-5D6E-409C-BE32-E72D297353CC}">
                <c16:uniqueId val="{0000002D-967F-4944-A804-C87EC640AF66}"/>
              </c:ext>
            </c:extLst>
          </c:dPt>
          <c:dPt>
            <c:idx val="4"/>
            <c:marker>
              <c:symbol val="circle"/>
              <c:size val="5"/>
              <c:spPr>
                <a:solidFill>
                  <a:schemeClr val="bg1"/>
                </a:solidFill>
                <a:ln w="28575">
                  <a:solidFill>
                    <a:srgbClr val="1F2F44"/>
                  </a:solidFill>
                </a:ln>
                <a:effectLst/>
              </c:spPr>
            </c:marker>
            <c:bubble3D val="0"/>
            <c:spPr>
              <a:ln w="22225" cap="rnd">
                <a:solidFill>
                  <a:srgbClr val="1F2F44"/>
                </a:solidFill>
                <a:prstDash val="solid"/>
                <a:round/>
              </a:ln>
              <a:effectLst/>
            </c:spPr>
            <c:extLst>
              <c:ext xmlns:c16="http://schemas.microsoft.com/office/drawing/2014/chart" uri="{C3380CC4-5D6E-409C-BE32-E72D297353CC}">
                <c16:uniqueId val="{0000002F-967F-4944-A804-C87EC640AF66}"/>
              </c:ext>
            </c:extLst>
          </c:dPt>
          <c:dPt>
            <c:idx val="5"/>
            <c:marker>
              <c:symbol val="circle"/>
              <c:size val="5"/>
              <c:spPr>
                <a:solidFill>
                  <a:schemeClr val="bg1"/>
                </a:solidFill>
                <a:ln w="28575">
                  <a:solidFill>
                    <a:srgbClr val="1F2F44"/>
                  </a:solidFill>
                </a:ln>
                <a:effectLst/>
              </c:spPr>
            </c:marker>
            <c:bubble3D val="0"/>
            <c:spPr>
              <a:ln w="22225" cap="rnd">
                <a:solidFill>
                  <a:srgbClr val="1F2F44"/>
                </a:solidFill>
                <a:prstDash val="solid"/>
                <a:round/>
              </a:ln>
              <a:effectLst/>
            </c:spPr>
            <c:extLst>
              <c:ext xmlns:c16="http://schemas.microsoft.com/office/drawing/2014/chart" uri="{C3380CC4-5D6E-409C-BE32-E72D297353CC}">
                <c16:uniqueId val="{00000031-967F-4944-A804-C87EC640AF66}"/>
              </c:ext>
            </c:extLst>
          </c:dPt>
          <c:dPt>
            <c:idx val="6"/>
            <c:marker>
              <c:symbol val="circle"/>
              <c:size val="5"/>
              <c:spPr>
                <a:solidFill>
                  <a:schemeClr val="bg1"/>
                </a:solidFill>
                <a:ln w="28575">
                  <a:solidFill>
                    <a:srgbClr val="1F2F44"/>
                  </a:solidFill>
                </a:ln>
                <a:effectLst/>
              </c:spPr>
            </c:marker>
            <c:bubble3D val="0"/>
            <c:spPr>
              <a:ln w="22225" cap="rnd">
                <a:solidFill>
                  <a:srgbClr val="1F2F44"/>
                </a:solidFill>
                <a:prstDash val="solid"/>
                <a:round/>
              </a:ln>
              <a:effectLst/>
            </c:spPr>
            <c:extLst>
              <c:ext xmlns:c16="http://schemas.microsoft.com/office/drawing/2014/chart" uri="{C3380CC4-5D6E-409C-BE32-E72D297353CC}">
                <c16:uniqueId val="{00000033-967F-4944-A804-C87EC640AF66}"/>
              </c:ext>
            </c:extLst>
          </c:dPt>
          <c:dPt>
            <c:idx val="7"/>
            <c:marker>
              <c:symbol val="circle"/>
              <c:size val="5"/>
              <c:spPr>
                <a:solidFill>
                  <a:schemeClr val="bg1"/>
                </a:solidFill>
                <a:ln w="28575">
                  <a:solidFill>
                    <a:srgbClr val="1F2F44"/>
                  </a:solidFill>
                </a:ln>
                <a:effectLst/>
              </c:spPr>
            </c:marker>
            <c:bubble3D val="0"/>
            <c:spPr>
              <a:ln w="22225" cap="rnd">
                <a:solidFill>
                  <a:srgbClr val="1F2F44"/>
                </a:solidFill>
                <a:prstDash val="dash"/>
                <a:round/>
              </a:ln>
              <a:effectLst/>
            </c:spPr>
            <c:extLst>
              <c:ext xmlns:c16="http://schemas.microsoft.com/office/drawing/2014/chart" uri="{C3380CC4-5D6E-409C-BE32-E72D297353CC}">
                <c16:uniqueId val="{00000035-967F-4944-A804-C87EC640AF66}"/>
              </c:ext>
            </c:extLst>
          </c:dPt>
          <c:cat>
            <c:numRef>
              <c:f>'Paraguay River Draft'!$C$66:$N$66</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'Paraguay River Draft'!$C$78:$N$78</c:f>
              <c:numCache>
                <c:formatCode>0</c:formatCode>
                <c:ptCount val="12"/>
                <c:pt idx="0">
                  <c:v>79.5</c:v>
                </c:pt>
                <c:pt idx="1">
                  <c:v>97.25</c:v>
                </c:pt>
                <c:pt idx="2">
                  <c:v>140.75</c:v>
                </c:pt>
                <c:pt idx="3">
                  <c:v>189.4</c:v>
                </c:pt>
                <c:pt idx="4">
                  <c:v>218.5</c:v>
                </c:pt>
                <c:pt idx="5">
                  <c:v>243.25</c:v>
                </c:pt>
                <c:pt idx="6">
                  <c:v>253.66666666666666</c:v>
                </c:pt>
                <c:pt idx="7">
                  <c:v>217</c:v>
                </c:pt>
              </c:numCache>
            </c:numRef>
          </c:val>
          <c:smooth val="0"/>
          <c:extLst>
            <c:ext xmlns:c16="http://schemas.microsoft.com/office/drawing/2014/chart" uri="{C3380CC4-5D6E-409C-BE32-E72D297353CC}">
              <c16:uniqueId val="{00000036-967F-4944-A804-C87EC640AF66}"/>
            </c:ext>
          </c:extLst>
        </c:ser>
        <c:ser>
          <c:idx val="2"/>
          <c:order val="5"/>
          <c:tx>
            <c:strRef>
              <c:f>'Paraguay River Draft'!$B$80</c:f>
              <c:strCache>
                <c:ptCount val="1"/>
                <c:pt idx="0">
                  <c:v>Média</c:v>
                </c:pt>
              </c:strCache>
            </c:strRef>
          </c:tx>
          <c:spPr>
            <a:ln w="22225" cap="rnd">
              <a:solidFill>
                <a:schemeClr val="accent3"/>
              </a:solidFill>
              <a:prstDash val="dash"/>
              <a:round/>
            </a:ln>
            <a:effectLst/>
          </c:spPr>
          <c:marker>
            <c:symbol val="none"/>
          </c:marker>
          <c:cat>
            <c:numRef>
              <c:f>'Paraguay River Draft'!$C$66:$N$66</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'Paraguay River Draft'!$C$80:$N$80</c:f>
              <c:numCache>
                <c:formatCode>0</c:formatCode>
                <c:ptCount val="12"/>
                <c:pt idx="0">
                  <c:v>141.56</c:v>
                </c:pt>
                <c:pt idx="1">
                  <c:v>178.66666666666666</c:v>
                </c:pt>
                <c:pt idx="2">
                  <c:v>209.59545454545457</c:v>
                </c:pt>
                <c:pt idx="3">
                  <c:v>249.71818181818179</c:v>
                </c:pt>
                <c:pt idx="4">
                  <c:v>284.96060606060604</c:v>
                </c:pt>
                <c:pt idx="5">
                  <c:v>311.53181818181815</c:v>
                </c:pt>
                <c:pt idx="6">
                  <c:v>308.64696969696968</c:v>
                </c:pt>
                <c:pt idx="7">
                  <c:v>266.08939393939391</c:v>
                </c:pt>
                <c:pt idx="8">
                  <c:v>200.315</c:v>
                </c:pt>
                <c:pt idx="9">
                  <c:v>123.92999999999999</c:v>
                </c:pt>
                <c:pt idx="10">
                  <c:v>83.37</c:v>
                </c:pt>
                <c:pt idx="11">
                  <c:v>93.39500000000001</c:v>
                </c:pt>
              </c:numCache>
            </c:numRef>
          </c:val>
          <c:smooth val="0"/>
          <c:extLst>
            <c:ext xmlns:c16="http://schemas.microsoft.com/office/drawing/2014/chart" uri="{C3380CC4-5D6E-409C-BE32-E72D297353CC}">
              <c16:uniqueId val="{00000037-967F-4944-A804-C87EC640AF66}"/>
            </c:ext>
          </c:extLst>
        </c:ser>
        <c:dLbls>
          <c:showLegendKey val="0"/>
          <c:showVal val="0"/>
          <c:showCatName val="0"/>
          <c:showSerName val="0"/>
          <c:showPercent val="0"/>
          <c:showBubbleSize val="0"/>
        </c:dLbls>
        <c:marker val="1"/>
        <c:smooth val="0"/>
        <c:axId val="781113615"/>
        <c:axId val="781109871"/>
      </c:lineChart>
      <c:catAx>
        <c:axId val="781113615"/>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j-lt"/>
                <a:ea typeface="+mn-ea"/>
                <a:cs typeface="+mn-cs"/>
              </a:defRPr>
            </a:pPr>
            <a:endParaRPr lang="pt-BR"/>
          </a:p>
        </c:txPr>
        <c:crossAx val="781109871"/>
        <c:crosses val="autoZero"/>
        <c:auto val="1"/>
        <c:lblAlgn val="ctr"/>
        <c:lblOffset val="100"/>
        <c:noMultiLvlLbl val="0"/>
      </c:catAx>
      <c:valAx>
        <c:axId val="781109871"/>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j-lt"/>
                <a:ea typeface="+mn-ea"/>
                <a:cs typeface="+mn-cs"/>
              </a:defRPr>
            </a:pPr>
            <a:endParaRPr lang="pt-BR"/>
          </a:p>
        </c:txPr>
        <c:crossAx val="781113615"/>
        <c:crosses val="autoZero"/>
        <c:crossBetween val="between"/>
      </c:valAx>
      <c:spPr>
        <a:noFill/>
        <a:ln>
          <a:noFill/>
        </a:ln>
        <a:effectLst/>
      </c:spPr>
    </c:plotArea>
    <c:legend>
      <c:legendPos val="t"/>
      <c:legendEntry>
        <c:idx val="0"/>
        <c:delete val="1"/>
      </c:legendEntry>
      <c:layout>
        <c:manualLayout>
          <c:xMode val="edge"/>
          <c:yMode val="edge"/>
          <c:x val="0"/>
          <c:y val="4.3608044940322221E-2"/>
          <c:w val="0.9972393557248096"/>
          <c:h val="0.10997926042587089"/>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j-lt"/>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700">
          <a:latin typeface="+mj-lt"/>
        </a:defRPr>
      </a:pPr>
      <a:endParaRPr lang="pt-B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130488527643724"/>
          <c:y val="0.15629077523887136"/>
          <c:w val="0.66018592837185686"/>
          <c:h val="0.68987011441102819"/>
        </c:manualLayout>
      </c:layout>
      <c:lineChart>
        <c:grouping val="standard"/>
        <c:varyColors val="0"/>
        <c:ser>
          <c:idx val="0"/>
          <c:order val="0"/>
          <c:tx>
            <c:strRef>
              <c:f>Sheet1!$B$1</c:f>
              <c:strCache>
                <c:ptCount val="1"/>
                <c:pt idx="0">
                  <c:v>Miritituba</c:v>
                </c:pt>
              </c:strCache>
            </c:strRef>
          </c:tx>
          <c:spPr>
            <a:ln w="28575" cap="rnd">
              <a:solidFill>
                <a:schemeClr val="accent1"/>
              </a:solidFill>
              <a:round/>
            </a:ln>
            <a:effectLst/>
          </c:spPr>
          <c:marker>
            <c:symbol val="circle"/>
            <c:size val="5"/>
            <c:spPr>
              <a:solidFill>
                <a:schemeClr val="bg1"/>
              </a:solidFill>
              <a:ln w="9525">
                <a:solidFill>
                  <a:schemeClr val="accent1"/>
                </a:solidFill>
              </a:ln>
              <a:effectLst/>
            </c:spPr>
          </c:marker>
          <c:cat>
            <c:numRef>
              <c:f>Sheet1!$A$2:$A$13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Sheet1!$B$2:$B$13</c:f>
              <c:numCache>
                <c:formatCode>0%</c:formatCode>
                <c:ptCount val="12"/>
                <c:pt idx="0">
                  <c:v>-4.4061302681992334E-2</c:v>
                </c:pt>
                <c:pt idx="1">
                  <c:v>-2.193273379884424E-2</c:v>
                </c:pt>
                <c:pt idx="2">
                  <c:v>-7.0444839365656478E-3</c:v>
                </c:pt>
                <c:pt idx="3">
                  <c:v>-1.7447188123100678E-2</c:v>
                </c:pt>
                <c:pt idx="4">
                  <c:v>-4.5572279064665412E-2</c:v>
                </c:pt>
                <c:pt idx="5">
                  <c:v>-1.4690069624203403E-2</c:v>
                </c:pt>
                <c:pt idx="6">
                  <c:v>0</c:v>
                </c:pt>
                <c:pt idx="7">
                  <c:v>-2.0211742059672761E-2</c:v>
                </c:pt>
                <c:pt idx="8">
                  <c:v>2.0414307105245975E-2</c:v>
                </c:pt>
                <c:pt idx="9">
                  <c:v>0</c:v>
                </c:pt>
                <c:pt idx="10">
                  <c:v>-2.1864060536926584E-2</c:v>
                </c:pt>
                <c:pt idx="11">
                  <c:v>-0.10812279862590764</c:v>
                </c:pt>
              </c:numCache>
            </c:numRef>
          </c:val>
          <c:smooth val="0"/>
          <c:extLst>
            <c:ext xmlns:c16="http://schemas.microsoft.com/office/drawing/2014/chart" uri="{C3380CC4-5D6E-409C-BE32-E72D297353CC}">
              <c16:uniqueId val="{00000000-F01B-4A19-859B-170A3257BAD1}"/>
            </c:ext>
          </c:extLst>
        </c:ser>
        <c:dLbls>
          <c:showLegendKey val="0"/>
          <c:showVal val="0"/>
          <c:showCatName val="0"/>
          <c:showSerName val="0"/>
          <c:showPercent val="0"/>
          <c:showBubbleSize val="0"/>
        </c:dLbls>
        <c:marker val="1"/>
        <c:smooth val="0"/>
        <c:axId val="1416886640"/>
        <c:axId val="1416894320"/>
      </c:lineChart>
      <c:lineChart>
        <c:grouping val="standard"/>
        <c:varyColors val="0"/>
        <c:ser>
          <c:idx val="1"/>
          <c:order val="1"/>
          <c:tx>
            <c:strRef>
              <c:f>Sheet1!$C$1</c:f>
              <c:strCache>
                <c:ptCount val="1"/>
                <c:pt idx="0">
                  <c:v>Ladário</c:v>
                </c:pt>
              </c:strCache>
            </c:strRef>
          </c:tx>
          <c:spPr>
            <a:ln w="28575" cap="rnd">
              <a:solidFill>
                <a:schemeClr val="accent2"/>
              </a:solidFill>
              <a:round/>
            </a:ln>
            <a:effectLst/>
          </c:spPr>
          <c:marker>
            <c:symbol val="circle"/>
            <c:size val="5"/>
            <c:spPr>
              <a:solidFill>
                <a:schemeClr val="bg1"/>
              </a:solidFill>
              <a:ln w="9525">
                <a:solidFill>
                  <a:schemeClr val="accent2"/>
                </a:solidFill>
              </a:ln>
              <a:effectLst/>
            </c:spPr>
          </c:marker>
          <c:cat>
            <c:numRef>
              <c:f>Sheet1!$A$2:$A$13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Sheet1!$C$2:$C$13</c:f>
              <c:numCache>
                <c:formatCode>0%</c:formatCode>
                <c:ptCount val="12"/>
                <c:pt idx="0">
                  <c:v>-0.36779324055666002</c:v>
                </c:pt>
                <c:pt idx="1">
                  <c:v>-0.34067796610169493</c:v>
                </c:pt>
                <c:pt idx="2">
                  <c:v>-0.16468842729970326</c:v>
                </c:pt>
                <c:pt idx="3">
                  <c:v>-0.21198252548366961</c:v>
                </c:pt>
                <c:pt idx="4">
                  <c:v>-0.17779868297271872</c:v>
                </c:pt>
                <c:pt idx="5">
                  <c:v>-0.19851729818780889</c:v>
                </c:pt>
                <c:pt idx="6">
                  <c:v>-0.13830791373525231</c:v>
                </c:pt>
                <c:pt idx="7">
                  <c:v>-0.31056393963463064</c:v>
                </c:pt>
                <c:pt idx="8">
                  <c:v>-0.51047196216581414</c:v>
                </c:pt>
                <c:pt idx="9">
                  <c:v>-0.30000000000000016</c:v>
                </c:pt>
                <c:pt idx="10">
                  <c:v>-0.18787878787878787</c:v>
                </c:pt>
                <c:pt idx="11">
                  <c:v>0.17474048442906576</c:v>
                </c:pt>
              </c:numCache>
            </c:numRef>
          </c:val>
          <c:smooth val="0"/>
          <c:extLst>
            <c:ext xmlns:c16="http://schemas.microsoft.com/office/drawing/2014/chart" uri="{C3380CC4-5D6E-409C-BE32-E72D297353CC}">
              <c16:uniqueId val="{00000001-F01B-4A19-859B-170A3257BAD1}"/>
            </c:ext>
          </c:extLst>
        </c:ser>
        <c:dLbls>
          <c:showLegendKey val="0"/>
          <c:showVal val="0"/>
          <c:showCatName val="0"/>
          <c:showSerName val="0"/>
          <c:showPercent val="0"/>
          <c:showBubbleSize val="0"/>
        </c:dLbls>
        <c:marker val="1"/>
        <c:smooth val="0"/>
        <c:axId val="1125928432"/>
        <c:axId val="1125926992"/>
      </c:lineChart>
      <c:catAx>
        <c:axId val="1416886640"/>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416894320"/>
        <c:crosses val="autoZero"/>
        <c:auto val="1"/>
        <c:lblAlgn val="ctr"/>
        <c:lblOffset val="100"/>
        <c:noMultiLvlLbl val="0"/>
      </c:catAx>
      <c:valAx>
        <c:axId val="1416894320"/>
        <c:scaling>
          <c:orientation val="minMax"/>
          <c:max val="0.1"/>
        </c:scaling>
        <c:delete val="0"/>
        <c:axPos val="l"/>
        <c:majorGridlines>
          <c:spPr>
            <a:ln w="9525" cap="flat" cmpd="sng" algn="ctr">
              <a:solidFill>
                <a:schemeClr val="tx1">
                  <a:lumMod val="15000"/>
                  <a:lumOff val="85000"/>
                </a:schemeClr>
              </a:solidFill>
              <a:prstDash val="dash"/>
              <a:round/>
            </a:ln>
            <a:effectLst/>
          </c:spPr>
        </c:majorGridlines>
        <c:title>
          <c:tx>
            <c:rich>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r>
                  <a:rPr lang="en-US"/>
                  <a:t>Miritituba</a:t>
                </a:r>
              </a:p>
            </c:rich>
          </c:tx>
          <c:overlay val="0"/>
          <c:spPr>
            <a:noFill/>
            <a:ln>
              <a:noFill/>
            </a:ln>
            <a:effectLst/>
          </c:spPr>
          <c:txPr>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416886640"/>
        <c:crosses val="autoZero"/>
        <c:crossBetween val="between"/>
      </c:valAx>
      <c:valAx>
        <c:axId val="1125926992"/>
        <c:scaling>
          <c:orientation val="minMax"/>
        </c:scaling>
        <c:delete val="0"/>
        <c:axPos val="r"/>
        <c:title>
          <c:tx>
            <c:rich>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r>
                  <a:rPr lang="en-US"/>
                  <a:t>Ladário</a:t>
                </a:r>
              </a:p>
            </c:rich>
          </c:tx>
          <c:overlay val="0"/>
          <c:spPr>
            <a:noFill/>
            <a:ln>
              <a:noFill/>
            </a:ln>
            <a:effectLst/>
          </c:spPr>
          <c:txPr>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125928432"/>
        <c:crosses val="max"/>
        <c:crossBetween val="between"/>
      </c:valAx>
      <c:catAx>
        <c:axId val="1125928432"/>
        <c:scaling>
          <c:orientation val="minMax"/>
        </c:scaling>
        <c:delete val="1"/>
        <c:axPos val="b"/>
        <c:numFmt formatCode="General" sourceLinked="1"/>
        <c:majorTickMark val="out"/>
        <c:minorTickMark val="none"/>
        <c:tickLblPos val="nextTo"/>
        <c:crossAx val="1125926992"/>
        <c:crosses val="autoZero"/>
        <c:auto val="1"/>
        <c:lblAlgn val="ctr"/>
        <c:lblOffset val="100"/>
        <c:noMultiLvlLbl val="0"/>
      </c:catAx>
      <c:spPr>
        <a:noFill/>
        <a:ln>
          <a:noFill/>
        </a:ln>
        <a:effectLst/>
      </c:spPr>
    </c:plotArea>
    <c:legend>
      <c:legendPos val="t"/>
      <c:layout>
        <c:manualLayout>
          <c:xMode val="edge"/>
          <c:yMode val="edge"/>
          <c:x val="0.22272153077639489"/>
          <c:y val="0"/>
          <c:w val="0.55455693844721021"/>
          <c:h val="0.11268273029854914"/>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7311843979965788E-2"/>
          <c:y val="0.16949499647688104"/>
          <c:w val="0.90537631204006841"/>
          <c:h val="0.62448145635091545"/>
        </c:manualLayout>
      </c:layout>
      <c:barChart>
        <c:barDir val="col"/>
        <c:grouping val="stacked"/>
        <c:varyColors val="0"/>
        <c:ser>
          <c:idx val="0"/>
          <c:order val="0"/>
          <c:tx>
            <c:strRef>
              <c:f>Sheet1!$A$2</c:f>
              <c:strCache>
                <c:ptCount val="1"/>
                <c:pt idx="0">
                  <c:v>Frete rodoviário</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Sheet1!$B$1:$D$1</c:f>
              <c:strCache>
                <c:ptCount val="3"/>
                <c:pt idx="0">
                  <c:v>Barcarena</c:v>
                </c:pt>
                <c:pt idx="1">
                  <c:v>Santos 
(by Rumo)</c:v>
                </c:pt>
                <c:pt idx="2">
                  <c:v>Santos 
(by Truck)</c:v>
                </c:pt>
              </c:strCache>
            </c:strRef>
          </c:cat>
          <c:val>
            <c:numRef>
              <c:f>Sheet1!$B$2:$D$2</c:f>
              <c:numCache>
                <c:formatCode>0</c:formatCode>
                <c:ptCount val="3"/>
                <c:pt idx="0">
                  <c:v>328.17117040531298</c:v>
                </c:pt>
                <c:pt idx="1">
                  <c:v>181.0396518783985</c:v>
                </c:pt>
                <c:pt idx="2">
                  <c:v>525.82187397920302</c:v>
                </c:pt>
              </c:numCache>
            </c:numRef>
          </c:val>
          <c:extLst>
            <c:ext xmlns:c16="http://schemas.microsoft.com/office/drawing/2014/chart" uri="{C3380CC4-5D6E-409C-BE32-E72D297353CC}">
              <c16:uniqueId val="{00000000-0B10-4E30-A754-A20B738C226A}"/>
            </c:ext>
          </c:extLst>
        </c:ser>
        <c:ser>
          <c:idx val="1"/>
          <c:order val="1"/>
          <c:tx>
            <c:strRef>
              <c:f>Sheet1!$A$3</c:f>
              <c:strCache>
                <c:ptCount val="1"/>
                <c:pt idx="0">
                  <c:v>Ferrovia/Hidrovia</c:v>
                </c:pt>
              </c:strCache>
            </c:strRef>
          </c:tx>
          <c:spPr>
            <a:solidFill>
              <a:schemeClr val="accent2"/>
            </a:solidFill>
            <a:ln>
              <a:noFill/>
            </a:ln>
            <a:effectLst/>
          </c:spPr>
          <c:invertIfNegative val="0"/>
          <c:dLbls>
            <c:dLbl>
              <c:idx val="2"/>
              <c:delete val="1"/>
              <c:extLst>
                <c:ext xmlns:c15="http://schemas.microsoft.com/office/drawing/2012/chart" uri="{CE6537A1-D6FC-4f65-9D91-7224C49458BB}"/>
                <c:ext xmlns:c16="http://schemas.microsoft.com/office/drawing/2014/chart" uri="{C3380CC4-5D6E-409C-BE32-E72D297353CC}">
                  <c16:uniqueId val="{00000001-0B10-4E30-A754-A20B738C226A}"/>
                </c:ext>
              </c:extLst>
            </c:dLbl>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Sheet1!$B$1:$D$1</c:f>
              <c:strCache>
                <c:ptCount val="3"/>
                <c:pt idx="0">
                  <c:v>Barcarena</c:v>
                </c:pt>
                <c:pt idx="1">
                  <c:v>Santos 
(by Rumo)</c:v>
                </c:pt>
                <c:pt idx="2">
                  <c:v>Santos 
(by Truck)</c:v>
                </c:pt>
              </c:strCache>
            </c:strRef>
          </c:cat>
          <c:val>
            <c:numRef>
              <c:f>Sheet1!$B$3:$D$3</c:f>
              <c:numCache>
                <c:formatCode>0</c:formatCode>
                <c:ptCount val="3"/>
                <c:pt idx="0">
                  <c:v>146.51999374899069</c:v>
                </c:pt>
                <c:pt idx="1">
                  <c:v>252.5542366815362</c:v>
                </c:pt>
                <c:pt idx="2">
                  <c:v>0</c:v>
                </c:pt>
              </c:numCache>
            </c:numRef>
          </c:val>
          <c:extLst>
            <c:ext xmlns:c16="http://schemas.microsoft.com/office/drawing/2014/chart" uri="{C3380CC4-5D6E-409C-BE32-E72D297353CC}">
              <c16:uniqueId val="{00000002-0B10-4E30-A754-A20B738C226A}"/>
            </c:ext>
          </c:extLst>
        </c:ser>
        <c:ser>
          <c:idx val="2"/>
          <c:order val="2"/>
          <c:tx>
            <c:strRef>
              <c:f>Sheet1!$A$4</c:f>
              <c:strCache>
                <c:ptCount val="1"/>
                <c:pt idx="0">
                  <c:v>Elevação</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Sheet1!$B$1:$D$1</c:f>
              <c:strCache>
                <c:ptCount val="3"/>
                <c:pt idx="0">
                  <c:v>Barcarena</c:v>
                </c:pt>
                <c:pt idx="1">
                  <c:v>Santos 
(by Rumo)</c:v>
                </c:pt>
                <c:pt idx="2">
                  <c:v>Santos 
(by Truck)</c:v>
                </c:pt>
              </c:strCache>
            </c:strRef>
          </c:cat>
          <c:val>
            <c:numRef>
              <c:f>Sheet1!$B$4:$D$4</c:f>
              <c:numCache>
                <c:formatCode>0</c:formatCode>
                <c:ptCount val="3"/>
                <c:pt idx="0">
                  <c:v>55</c:v>
                </c:pt>
                <c:pt idx="1">
                  <c:v>55</c:v>
                </c:pt>
                <c:pt idx="2">
                  <c:v>55</c:v>
                </c:pt>
              </c:numCache>
            </c:numRef>
          </c:val>
          <c:extLst>
            <c:ext xmlns:c16="http://schemas.microsoft.com/office/drawing/2014/chart" uri="{C3380CC4-5D6E-409C-BE32-E72D297353CC}">
              <c16:uniqueId val="{00000003-0B10-4E30-A754-A20B738C226A}"/>
            </c:ext>
          </c:extLst>
        </c:ser>
        <c:ser>
          <c:idx val="3"/>
          <c:order val="3"/>
          <c:tx>
            <c:strRef>
              <c:f>Sheet1!$A$5</c:f>
              <c:strCache>
                <c:ptCount val="1"/>
                <c:pt idx="0">
                  <c:v>Spread portuário</c:v>
                </c:pt>
              </c:strCache>
            </c:strRef>
          </c:tx>
          <c:spPr>
            <a:solidFill>
              <a:schemeClr val="bg1">
                <a:lumMod val="75000"/>
              </a:schemeClr>
            </a:solidFill>
            <a:ln>
              <a:noFill/>
            </a:ln>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04-0B10-4E30-A754-A20B738C226A}"/>
                </c:ext>
              </c:extLst>
            </c:dLbl>
            <c:dLbl>
              <c:idx val="2"/>
              <c:delete val="1"/>
              <c:extLst>
                <c:ext xmlns:c15="http://schemas.microsoft.com/office/drawing/2012/chart" uri="{CE6537A1-D6FC-4f65-9D91-7224C49458BB}"/>
                <c:ext xmlns:c16="http://schemas.microsoft.com/office/drawing/2014/chart" uri="{C3380CC4-5D6E-409C-BE32-E72D297353CC}">
                  <c16:uniqueId val="{00000005-0B10-4E30-A754-A20B738C226A}"/>
                </c:ext>
              </c:extLst>
            </c:dLbl>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Sheet1!$B$1:$D$1</c:f>
              <c:strCache>
                <c:ptCount val="3"/>
                <c:pt idx="0">
                  <c:v>Barcarena</c:v>
                </c:pt>
                <c:pt idx="1">
                  <c:v>Santos 
(by Rumo)</c:v>
                </c:pt>
                <c:pt idx="2">
                  <c:v>Santos 
(by Truck)</c:v>
                </c:pt>
              </c:strCache>
            </c:strRef>
          </c:cat>
          <c:val>
            <c:numRef>
              <c:f>Sheet1!$B$5:$D$5</c:f>
              <c:numCache>
                <c:formatCode>0</c:formatCode>
                <c:ptCount val="3"/>
                <c:pt idx="0">
                  <c:v>30</c:v>
                </c:pt>
                <c:pt idx="1">
                  <c:v>0</c:v>
                </c:pt>
                <c:pt idx="2">
                  <c:v>0</c:v>
                </c:pt>
              </c:numCache>
            </c:numRef>
          </c:val>
          <c:extLst>
            <c:ext xmlns:c16="http://schemas.microsoft.com/office/drawing/2014/chart" uri="{C3380CC4-5D6E-409C-BE32-E72D297353CC}">
              <c16:uniqueId val="{00000006-0B10-4E30-A754-A20B738C226A}"/>
            </c:ext>
          </c:extLst>
        </c:ser>
        <c:ser>
          <c:idx val="4"/>
          <c:order val="4"/>
          <c:tx>
            <c:strRef>
              <c:f>Sheet1!$A$6</c:f>
              <c:strCache>
                <c:ptCount val="1"/>
                <c:pt idx="0">
                  <c:v>Custo logístico total (R$/ton)</c:v>
                </c:pt>
              </c:strCache>
            </c:strRef>
          </c:tx>
          <c:spPr>
            <a:noFill/>
            <a:ln>
              <a:noFill/>
            </a:ln>
            <a:effectLst/>
          </c:spPr>
          <c:invertIfNegative val="0"/>
          <c:dLbls>
            <c:dLbl>
              <c:idx val="0"/>
              <c:tx>
                <c:rich>
                  <a:bodyPr/>
                  <a:lstStyle/>
                  <a:p>
                    <a:fld id="{1A0919B9-964C-40B1-B850-D9224DE7AFE3}" type="VALUE">
                      <a:rPr lang="en-US" smtClean="0"/>
                      <a:pPr/>
                      <a:t>[VALUE]</a:t>
                    </a:fld>
                    <a:endParaRPr lang="pt-BR"/>
                  </a:p>
                </c:rich>
              </c:tx>
              <c:dLblPos val="inBase"/>
              <c:showLegendKey val="0"/>
              <c:showVal val="1"/>
              <c:showCatName val="0"/>
              <c:showSerName val="0"/>
              <c:showPercent val="0"/>
              <c:showBubbleSize val="0"/>
              <c:separator>
</c:separator>
              <c:extLst>
                <c:ext xmlns:c15="http://schemas.microsoft.com/office/drawing/2012/chart" uri="{CE6537A1-D6FC-4f65-9D91-7224C49458BB}">
                  <c15:dlblFieldTable/>
                  <c15:showDataLabelsRange val="1"/>
                </c:ext>
                <c:ext xmlns:c16="http://schemas.microsoft.com/office/drawing/2014/chart" uri="{C3380CC4-5D6E-409C-BE32-E72D297353CC}">
                  <c16:uniqueId val="{00000007-0B10-4E30-A754-A20B738C226A}"/>
                </c:ext>
              </c:extLst>
            </c:dLbl>
            <c:dLbl>
              <c:idx val="1"/>
              <c:tx>
                <c:rich>
                  <a:bodyPr/>
                  <a:lstStyle/>
                  <a:p>
                    <a:fld id="{80BB275C-D67F-4D1D-8B7C-34D4D003E948}" type="CELLRANGE">
                      <a:rPr lang="en-US" smtClean="0"/>
                      <a:pPr/>
                      <a:t>[CELLRANGE]</a:t>
                    </a:fld>
                    <a:fld id="{5CE799DF-E688-4138-ABC4-13701EA4097F}" type="VALUE">
                      <a:rPr lang="en-US" smtClean="0"/>
                      <a:pPr/>
                      <a:t>[VALUE]</a:t>
                    </a:fld>
                    <a:endParaRPr lang="pt-BR"/>
                  </a:p>
                </c:rich>
              </c:tx>
              <c:dLblPos val="inBase"/>
              <c:showLegendKey val="0"/>
              <c:showVal val="1"/>
              <c:showCatName val="0"/>
              <c:showSerName val="0"/>
              <c:showPercent val="0"/>
              <c:showBubbleSize val="0"/>
              <c:separator>
</c:separator>
              <c:extLst>
                <c:ext xmlns:c15="http://schemas.microsoft.com/office/drawing/2012/chart" uri="{CE6537A1-D6FC-4f65-9D91-7224C49458BB}">
                  <c15:dlblFieldTable/>
                  <c15:showDataLabelsRange val="1"/>
                </c:ext>
                <c:ext xmlns:c16="http://schemas.microsoft.com/office/drawing/2014/chart" uri="{C3380CC4-5D6E-409C-BE32-E72D297353CC}">
                  <c16:uniqueId val="{00000008-0B10-4E30-A754-A20B738C226A}"/>
                </c:ext>
              </c:extLst>
            </c:dLbl>
            <c:dLbl>
              <c:idx val="2"/>
              <c:tx>
                <c:rich>
                  <a:bodyPr/>
                  <a:lstStyle/>
                  <a:p>
                    <a:fld id="{CBE9B251-DD10-4384-8099-28836B2E7613}" type="VALUE">
                      <a:rPr lang="en-US" smtClean="0"/>
                      <a:pPr/>
                      <a:t>[VALUE]</a:t>
                    </a:fld>
                    <a:endParaRPr lang="pt-BR"/>
                  </a:p>
                </c:rich>
              </c:tx>
              <c:dLblPos val="inBase"/>
              <c:showLegendKey val="0"/>
              <c:showVal val="1"/>
              <c:showCatName val="0"/>
              <c:showSerName val="0"/>
              <c:showPercent val="0"/>
              <c:showBubbleSize val="0"/>
              <c:separator>
</c:separator>
              <c:extLst>
                <c:ext xmlns:c15="http://schemas.microsoft.com/office/drawing/2012/chart" uri="{CE6537A1-D6FC-4f65-9D91-7224C49458BB}">
                  <c15:dlblFieldTable/>
                  <c15:showDataLabelsRange val="1"/>
                </c:ext>
                <c:ext xmlns:c16="http://schemas.microsoft.com/office/drawing/2014/chart" uri="{C3380CC4-5D6E-409C-BE32-E72D297353CC}">
                  <c16:uniqueId val="{00000009-0B10-4E30-A754-A20B738C226A}"/>
                </c:ext>
              </c:extLst>
            </c:dLbl>
            <c:numFmt formatCode="#,##0" sourceLinked="0"/>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Sheet1!$B$1:$D$1</c:f>
              <c:strCache>
                <c:ptCount val="3"/>
                <c:pt idx="0">
                  <c:v>Barcarena</c:v>
                </c:pt>
                <c:pt idx="1">
                  <c:v>Santos 
(by Rumo)</c:v>
                </c:pt>
                <c:pt idx="2">
                  <c:v>Santos 
(by Truck)</c:v>
                </c:pt>
              </c:strCache>
            </c:strRef>
          </c:cat>
          <c:val>
            <c:numRef>
              <c:f>Sheet1!$B$6:$D$6</c:f>
              <c:numCache>
                <c:formatCode>0.0</c:formatCode>
                <c:ptCount val="3"/>
                <c:pt idx="0">
                  <c:v>559.69116415430369</c:v>
                </c:pt>
                <c:pt idx="1">
                  <c:v>488.59388855993473</c:v>
                </c:pt>
                <c:pt idx="2">
                  <c:v>580.82187397920302</c:v>
                </c:pt>
              </c:numCache>
            </c:numRef>
          </c:val>
          <c:extLst>
            <c:ext xmlns:c15="http://schemas.microsoft.com/office/drawing/2012/chart" uri="{02D57815-91ED-43cb-92C2-25804820EDAC}">
              <c15:datalabelsRange>
                <c15:f>Sheet1!$C$8:$E$8</c15:f>
                <c15:dlblRangeCache>
                  <c:ptCount val="3"/>
                  <c:pt idx="0">
                    <c:v>+14.6%</c:v>
                  </c:pt>
                  <c:pt idx="2">
                    <c:v>+18.9%</c:v>
                  </c:pt>
                </c15:dlblRangeCache>
              </c15:datalabelsRange>
            </c:ext>
            <c:ext xmlns:c16="http://schemas.microsoft.com/office/drawing/2014/chart" uri="{C3380CC4-5D6E-409C-BE32-E72D297353CC}">
              <c16:uniqueId val="{0000000A-0B10-4E30-A754-A20B738C226A}"/>
            </c:ext>
          </c:extLst>
        </c:ser>
        <c:dLbls>
          <c:showLegendKey val="0"/>
          <c:showVal val="0"/>
          <c:showCatName val="0"/>
          <c:showSerName val="0"/>
          <c:showPercent val="0"/>
          <c:showBubbleSize val="0"/>
        </c:dLbls>
        <c:gapWidth val="100"/>
        <c:overlap val="100"/>
        <c:axId val="1606095264"/>
        <c:axId val="1606103904"/>
      </c:barChart>
      <c:catAx>
        <c:axId val="1606095264"/>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606103904"/>
        <c:crosses val="autoZero"/>
        <c:auto val="1"/>
        <c:lblAlgn val="ctr"/>
        <c:lblOffset val="100"/>
        <c:noMultiLvlLbl val="0"/>
      </c:catAx>
      <c:valAx>
        <c:axId val="1606103904"/>
        <c:scaling>
          <c:orientation val="minMax"/>
          <c:max val="750"/>
          <c:min val="0"/>
        </c:scaling>
        <c:delete val="0"/>
        <c:axPos val="l"/>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606095264"/>
        <c:crosses val="autoZero"/>
        <c:crossBetween val="between"/>
      </c:valAx>
      <c:spPr>
        <a:noFill/>
        <a:ln>
          <a:noFill/>
        </a:ln>
        <a:effectLst/>
      </c:spPr>
    </c:plotArea>
    <c:legend>
      <c:legendPos val="t"/>
      <c:legendEntry>
        <c:idx val="4"/>
        <c:delete val="1"/>
      </c:legendEntry>
      <c:layout>
        <c:manualLayout>
          <c:xMode val="edge"/>
          <c:yMode val="edge"/>
          <c:x val="0"/>
          <c:y val="5.2464978913011702E-3"/>
          <c:w val="0.96791770383540765"/>
          <c:h val="0.1279722011300937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en-US"/>
    </a:p>
  </c:txPr>
  <c:externalData r:id="rId4">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3525791262604733E-2"/>
          <c:y val="9.2975768708373582E-2"/>
          <c:w val="0.90704424690616903"/>
          <c:h val="0.78745411055729597"/>
        </c:manualLayout>
      </c:layout>
      <c:barChart>
        <c:barDir val="col"/>
        <c:grouping val="clustered"/>
        <c:varyColors val="0"/>
        <c:ser>
          <c:idx val="0"/>
          <c:order val="1"/>
          <c:tx>
            <c:strRef>
              <c:f>Soy!$B$29</c:f>
              <c:strCache>
                <c:ptCount val="1"/>
                <c:pt idx="0">
                  <c:v>Produção</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Soy!$L$27:$S$27</c:f>
              <c:strCache>
                <c:ptCount val="7"/>
                <c:pt idx="0">
                  <c:v>19/20</c:v>
                </c:pt>
                <c:pt idx="1">
                  <c:v>20/21</c:v>
                </c:pt>
                <c:pt idx="2">
                  <c:v>21/22</c:v>
                </c:pt>
                <c:pt idx="3">
                  <c:v>22/23</c:v>
                </c:pt>
                <c:pt idx="4">
                  <c:v>23/24</c:v>
                </c:pt>
                <c:pt idx="5">
                  <c:v>24/25</c:v>
                </c:pt>
                <c:pt idx="6">
                  <c:v>25/26</c:v>
                </c:pt>
              </c:strCache>
              <c:extLst/>
            </c:strRef>
          </c:cat>
          <c:val>
            <c:numRef>
              <c:f>Soy!$L$29:$S$29</c:f>
              <c:numCache>
                <c:formatCode>#,##0.0</c:formatCode>
                <c:ptCount val="7"/>
                <c:pt idx="0">
                  <c:v>35.4</c:v>
                </c:pt>
                <c:pt idx="1">
                  <c:v>36.049999999999997</c:v>
                </c:pt>
                <c:pt idx="2">
                  <c:v>40.85</c:v>
                </c:pt>
                <c:pt idx="3">
                  <c:v>45.32</c:v>
                </c:pt>
                <c:pt idx="4">
                  <c:v>38.700000000000003</c:v>
                </c:pt>
                <c:pt idx="5">
                  <c:v>50.89</c:v>
                </c:pt>
                <c:pt idx="6">
                  <c:v>51.559060000000002</c:v>
                </c:pt>
              </c:numCache>
              <c:extLst/>
            </c:numRef>
          </c:val>
          <c:extLst>
            <c:ext xmlns:c16="http://schemas.microsoft.com/office/drawing/2014/chart" uri="{C3380CC4-5D6E-409C-BE32-E72D297353CC}">
              <c16:uniqueId val="{00000000-64D4-49CB-B1F6-198E9DB747C2}"/>
            </c:ext>
          </c:extLst>
        </c:ser>
        <c:dLbls>
          <c:showLegendKey val="0"/>
          <c:showVal val="0"/>
          <c:showCatName val="0"/>
          <c:showSerName val="0"/>
          <c:showPercent val="0"/>
          <c:showBubbleSize val="0"/>
        </c:dLbls>
        <c:gapWidth val="30"/>
        <c:axId val="1369875840"/>
        <c:axId val="1369872000"/>
      </c:barChart>
      <c:barChart>
        <c:barDir val="col"/>
        <c:grouping val="clustered"/>
        <c:varyColors val="0"/>
        <c:ser>
          <c:idx val="2"/>
          <c:order val="0"/>
          <c:tx>
            <c:strRef>
              <c:f>Soy!$B$35</c:f>
              <c:strCache>
                <c:ptCount val="1"/>
                <c:pt idx="0">
                  <c:v>Exportações</c:v>
                </c:pt>
              </c:strCache>
            </c:strRef>
          </c:tx>
          <c:spPr>
            <a:solidFill>
              <a:srgbClr val="8EB3DF">
                <a:lumMod val="60000"/>
                <a:lumOff val="40000"/>
              </a:srgbClr>
            </a:solidFill>
            <a:ln>
              <a:noFill/>
            </a:ln>
            <a:effectLst/>
          </c:spPr>
          <c:invertIfNegative val="0"/>
          <c:dLbls>
            <c:dLbl>
              <c:idx val="0"/>
              <c:tx>
                <c:rich>
                  <a:bodyPr/>
                  <a:lstStyle/>
                  <a:p>
                    <a:fld id="{31503BBA-30DB-4E9E-9E81-7339E9058BC9}" type="VALUE">
                      <a:rPr lang="en-US" sz="900" smtClean="0"/>
                      <a:pPr/>
                      <a:t>[VALUE]</a:t>
                    </a:fld>
                    <a:endParaRPr lang="en-US" sz="1000" dirty="0"/>
                  </a:p>
                  <a:p>
                    <a:r>
                      <a:rPr lang="en-US" sz="800" b="0" i="0" u="none" strike="noStrike" kern="1200" baseline="0" dirty="0">
                        <a:solidFill>
                          <a:srgbClr val="18191A"/>
                        </a:solidFill>
                      </a:rPr>
                      <a:t>(63%)</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64D4-49CB-B1F6-198E9DB747C2}"/>
                </c:ext>
              </c:extLst>
            </c:dLbl>
            <c:dLbl>
              <c:idx val="1"/>
              <c:tx>
                <c:rich>
                  <a:bodyPr/>
                  <a:lstStyle/>
                  <a:p>
                    <a:fld id="{879E0E30-42AF-47FF-B733-DDEB46CAE16C}" type="VALUE">
                      <a:rPr lang="en-US" sz="900" smtClean="0"/>
                      <a:pPr/>
                      <a:t>[VALUE]</a:t>
                    </a:fld>
                    <a:endParaRPr lang="en-US" sz="1000" dirty="0"/>
                  </a:p>
                  <a:p>
                    <a:r>
                      <a:rPr lang="en-US" sz="800" b="0" i="0" u="none" strike="noStrike" kern="1200" baseline="0" dirty="0">
                        <a:solidFill>
                          <a:srgbClr val="18191A"/>
                        </a:solidFill>
                      </a:rPr>
                      <a:t>(66%)</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64D4-49CB-B1F6-198E9DB747C2}"/>
                </c:ext>
              </c:extLst>
            </c:dLbl>
            <c:dLbl>
              <c:idx val="2"/>
              <c:tx>
                <c:rich>
                  <a:bodyPr/>
                  <a:lstStyle/>
                  <a:p>
                    <a:r>
                      <a:rPr lang="en-US" sz="900" dirty="0"/>
                      <a:t>26</a:t>
                    </a:r>
                  </a:p>
                  <a:p>
                    <a:r>
                      <a:rPr lang="en-US" sz="800" b="0" i="0" u="none" strike="noStrike" kern="1200" baseline="0" dirty="0">
                        <a:solidFill>
                          <a:srgbClr val="18191A"/>
                        </a:solidFill>
                      </a:rPr>
                      <a:t>(61%)</a:t>
                    </a:r>
                    <a:endParaRPr lang="en-US" sz="900"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4D4-49CB-B1F6-198E9DB747C2}"/>
                </c:ext>
              </c:extLst>
            </c:dLbl>
            <c:dLbl>
              <c:idx val="3"/>
              <c:tx>
                <c:rich>
                  <a:bodyPr rot="0" spcFirstLastPara="1" vertOverflow="ellipsis" vert="horz" wrap="squar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sz="800" b="1" i="0" u="none" strike="noStrike" kern="1200" baseline="0">
                        <a:solidFill>
                          <a:srgbClr val="18191A"/>
                        </a:solidFill>
                        <a:latin typeface="+mn-lt"/>
                        <a:ea typeface="+mn-ea"/>
                        <a:cs typeface="+mn-cs"/>
                      </a:defRPr>
                    </a:pPr>
                    <a:fld id="{A7F7F6FC-54CD-42D7-AB09-951C4BE8607A}" type="VALUE">
                      <a:rPr lang="en-US" sz="900" smtClean="0"/>
                      <a:pPr marL="0" marR="0" lvl="0" indent="0" algn="ctr" defTabSz="914400" rtl="0" eaLnBrk="1" fontAlgn="auto" latinLnBrk="0" hangingPunct="1">
                        <a:lnSpc>
                          <a:spcPct val="100000"/>
                        </a:lnSpc>
                        <a:spcBef>
                          <a:spcPts val="0"/>
                        </a:spcBef>
                        <a:spcAft>
                          <a:spcPts val="0"/>
                        </a:spcAft>
                        <a:buClrTx/>
                        <a:buSzTx/>
                        <a:buFontTx/>
                        <a:buNone/>
                        <a:tabLst/>
                        <a:defRPr sz="800" b="1">
                          <a:solidFill>
                            <a:srgbClr val="18191A"/>
                          </a:solidFill>
                        </a:defRPr>
                      </a:pPr>
                      <a:t>[VALUE]</a:t>
                    </a:fld>
                    <a:endParaRPr lang="en-US" sz="1000" dirty="0"/>
                  </a:p>
                  <a:p>
                    <a:pPr marL="0" marR="0" lvl="0" indent="0" algn="ctr" defTabSz="914400" rtl="0" eaLnBrk="1" fontAlgn="auto" latinLnBrk="0" hangingPunct="1">
                      <a:lnSpc>
                        <a:spcPct val="100000"/>
                      </a:lnSpc>
                      <a:spcBef>
                        <a:spcPts val="0"/>
                      </a:spcBef>
                      <a:spcAft>
                        <a:spcPts val="0"/>
                      </a:spcAft>
                      <a:buClrTx/>
                      <a:buSzTx/>
                      <a:buFontTx/>
                      <a:buNone/>
                      <a:tabLst/>
                      <a:defRPr sz="800" b="1">
                        <a:solidFill>
                          <a:srgbClr val="18191A"/>
                        </a:solidFill>
                      </a:defRPr>
                    </a:pPr>
                    <a:r>
                      <a:rPr lang="en-US" sz="800" b="0" i="0" u="none" strike="noStrike" kern="1200" baseline="0" dirty="0">
                        <a:solidFill>
                          <a:srgbClr val="18191A"/>
                        </a:solidFill>
                      </a:rPr>
                      <a:t>(63%)</a:t>
                    </a:r>
                  </a:p>
                </c:rich>
              </c:tx>
              <c:numFmt formatCode="#,##0" sourceLinked="0"/>
              <c:spPr>
                <a:noFill/>
                <a:ln>
                  <a:noFill/>
                </a:ln>
                <a:effectLst/>
              </c:spPr>
              <c:txPr>
                <a:bodyPr rot="0" spcFirstLastPara="1" vertOverflow="ellipsis" vert="horz" wrap="squar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sz="800" b="1" i="0" u="none" strike="noStrike" kern="1200" baseline="0">
                      <a:solidFill>
                        <a:srgbClr val="18191A"/>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64D4-49CB-B1F6-198E9DB747C2}"/>
                </c:ext>
              </c:extLst>
            </c:dLbl>
            <c:dLbl>
              <c:idx val="4"/>
              <c:tx>
                <c:rich>
                  <a:bodyPr rot="0" spcFirstLastPara="1" vertOverflow="ellipsis" vert="horz" wrap="squar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sz="800" b="1" i="0" u="none" strike="noStrike" kern="1200" baseline="0">
                        <a:solidFill>
                          <a:srgbClr val="18191A"/>
                        </a:solidFill>
                        <a:latin typeface="+mn-lt"/>
                        <a:ea typeface="+mn-ea"/>
                        <a:cs typeface="+mn-cs"/>
                      </a:defRPr>
                    </a:pPr>
                    <a:fld id="{1742BCF1-96A5-444F-BCA8-B8217D3332FB}" type="VALUE">
                      <a:rPr lang="en-US" sz="900" smtClean="0"/>
                      <a:pPr marL="0" marR="0" lvl="0" indent="0" algn="ctr" defTabSz="914400" rtl="0" eaLnBrk="1" fontAlgn="auto" latinLnBrk="0" hangingPunct="1">
                        <a:lnSpc>
                          <a:spcPct val="100000"/>
                        </a:lnSpc>
                        <a:spcBef>
                          <a:spcPts val="0"/>
                        </a:spcBef>
                        <a:spcAft>
                          <a:spcPts val="0"/>
                        </a:spcAft>
                        <a:buClrTx/>
                        <a:buSzTx/>
                        <a:buFontTx/>
                        <a:buNone/>
                        <a:tabLst/>
                        <a:defRPr sz="800" b="1">
                          <a:solidFill>
                            <a:srgbClr val="18191A"/>
                          </a:solidFill>
                        </a:defRPr>
                      </a:pPr>
                      <a:t>[VALUE]</a:t>
                    </a:fld>
                    <a:endParaRPr lang="en-US" sz="1000" dirty="0"/>
                  </a:p>
                  <a:p>
                    <a:pPr marL="0" marR="0" lvl="0" indent="0" algn="ctr" defTabSz="914400" rtl="0" eaLnBrk="1" fontAlgn="auto" latinLnBrk="0" hangingPunct="1">
                      <a:lnSpc>
                        <a:spcPct val="100000"/>
                      </a:lnSpc>
                      <a:spcBef>
                        <a:spcPts val="0"/>
                      </a:spcBef>
                      <a:spcAft>
                        <a:spcPts val="0"/>
                      </a:spcAft>
                      <a:buClrTx/>
                      <a:buSzTx/>
                      <a:buFontTx/>
                      <a:buNone/>
                      <a:tabLst/>
                      <a:defRPr sz="800" b="1">
                        <a:solidFill>
                          <a:srgbClr val="18191A"/>
                        </a:solidFill>
                      </a:defRPr>
                    </a:pPr>
                    <a:r>
                      <a:rPr lang="en-US" sz="800" b="0" i="0" u="none" strike="noStrike" kern="1200" baseline="0" dirty="0">
                        <a:solidFill>
                          <a:srgbClr val="18191A"/>
                        </a:solidFill>
                      </a:rPr>
                      <a:t>(64%)</a:t>
                    </a:r>
                  </a:p>
                </c:rich>
              </c:tx>
              <c:numFmt formatCode="#,##0" sourceLinked="0"/>
              <c:spPr>
                <a:noFill/>
                <a:ln>
                  <a:noFill/>
                </a:ln>
                <a:effectLst/>
              </c:spPr>
              <c:txPr>
                <a:bodyPr rot="0" spcFirstLastPara="1" vertOverflow="ellipsis" vert="horz" wrap="squar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sz="800" b="1" i="0" u="none" strike="noStrike" kern="1200" baseline="0">
                      <a:solidFill>
                        <a:srgbClr val="18191A"/>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64D4-49CB-B1F6-198E9DB747C2}"/>
                </c:ext>
              </c:extLst>
            </c:dLbl>
            <c:dLbl>
              <c:idx val="5"/>
              <c:tx>
                <c:rich>
                  <a:bodyPr rot="0" spcFirstLastPara="1" vertOverflow="ellipsis" vert="horz" wrap="squar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sz="800" b="1" i="0" u="none" strike="noStrike" kern="1200" baseline="0">
                        <a:solidFill>
                          <a:srgbClr val="18191A"/>
                        </a:solidFill>
                        <a:latin typeface="+mn-lt"/>
                        <a:ea typeface="+mn-ea"/>
                        <a:cs typeface="+mn-cs"/>
                      </a:defRPr>
                    </a:pPr>
                    <a:fld id="{C83EF626-8FB2-4CB0-A7AC-03B334748ADA}" type="VALUE">
                      <a:rPr lang="en-US" sz="900" smtClean="0"/>
                      <a:pPr marL="0" marR="0" lvl="0" indent="0" algn="ctr" defTabSz="914400" rtl="0" eaLnBrk="1" fontAlgn="auto" latinLnBrk="0" hangingPunct="1">
                        <a:lnSpc>
                          <a:spcPct val="100000"/>
                        </a:lnSpc>
                        <a:spcBef>
                          <a:spcPts val="0"/>
                        </a:spcBef>
                        <a:spcAft>
                          <a:spcPts val="0"/>
                        </a:spcAft>
                        <a:buClrTx/>
                        <a:buSzTx/>
                        <a:buFontTx/>
                        <a:buNone/>
                        <a:tabLst/>
                        <a:defRPr sz="800" b="1">
                          <a:solidFill>
                            <a:srgbClr val="18191A"/>
                          </a:solidFill>
                        </a:defRPr>
                      </a:pPr>
                      <a:t>[VALUE]</a:t>
                    </a:fld>
                    <a:endParaRPr lang="en-US" sz="1000" dirty="0"/>
                  </a:p>
                  <a:p>
                    <a:pPr marL="0" marR="0" lvl="0" indent="0" algn="ctr" defTabSz="914400" rtl="0" eaLnBrk="1" fontAlgn="auto" latinLnBrk="0" hangingPunct="1">
                      <a:lnSpc>
                        <a:spcPct val="100000"/>
                      </a:lnSpc>
                      <a:spcBef>
                        <a:spcPts val="0"/>
                      </a:spcBef>
                      <a:spcAft>
                        <a:spcPts val="0"/>
                      </a:spcAft>
                      <a:buClrTx/>
                      <a:buSzTx/>
                      <a:buFontTx/>
                      <a:buNone/>
                      <a:tabLst/>
                      <a:defRPr sz="800" b="1">
                        <a:solidFill>
                          <a:srgbClr val="18191A"/>
                        </a:solidFill>
                      </a:defRPr>
                    </a:pPr>
                    <a:r>
                      <a:rPr lang="en-US" sz="800" b="0" i="0" u="none" strike="noStrike" kern="1200" baseline="0" dirty="0">
                        <a:solidFill>
                          <a:srgbClr val="18191A"/>
                        </a:solidFill>
                      </a:rPr>
                      <a:t>(63%)</a:t>
                    </a:r>
                  </a:p>
                </c:rich>
              </c:tx>
              <c:numFmt formatCode="#,##0" sourceLinked="0"/>
              <c:spPr>
                <a:noFill/>
                <a:ln>
                  <a:noFill/>
                </a:ln>
                <a:effectLst/>
              </c:spPr>
              <c:txPr>
                <a:bodyPr rot="0" spcFirstLastPara="1" vertOverflow="ellipsis" vert="horz" wrap="squar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sz="800" b="1" i="0" u="none" strike="noStrike" kern="1200" baseline="0">
                      <a:solidFill>
                        <a:srgbClr val="18191A"/>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64D4-49CB-B1F6-198E9DB747C2}"/>
                </c:ext>
              </c:extLst>
            </c:dLbl>
            <c:dLbl>
              <c:idx val="6"/>
              <c:tx>
                <c:rich>
                  <a:bodyPr rot="0" spcFirstLastPara="1" vertOverflow="ellipsis" vert="horz" wrap="squar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sz="800" b="1" i="0" u="none" strike="noStrike" kern="1200" baseline="0">
                        <a:solidFill>
                          <a:srgbClr val="18191A"/>
                        </a:solidFill>
                        <a:latin typeface="+mn-lt"/>
                        <a:ea typeface="+mn-ea"/>
                        <a:cs typeface="+mn-cs"/>
                      </a:defRPr>
                    </a:pPr>
                    <a:fld id="{C3B43537-249D-4681-818C-3E534FEF24D2}" type="VALUE">
                      <a:rPr lang="en-US" sz="900" smtClean="0"/>
                      <a:pPr marL="0" marR="0" lvl="0" indent="0" algn="ctr" defTabSz="914400" rtl="0" eaLnBrk="1" fontAlgn="auto" latinLnBrk="0" hangingPunct="1">
                        <a:lnSpc>
                          <a:spcPct val="100000"/>
                        </a:lnSpc>
                        <a:spcBef>
                          <a:spcPts val="0"/>
                        </a:spcBef>
                        <a:spcAft>
                          <a:spcPts val="0"/>
                        </a:spcAft>
                        <a:buClrTx/>
                        <a:buSzTx/>
                        <a:buFontTx/>
                        <a:buNone/>
                        <a:tabLst/>
                        <a:defRPr sz="800" b="1">
                          <a:solidFill>
                            <a:srgbClr val="18191A"/>
                          </a:solidFill>
                        </a:defRPr>
                      </a:pPr>
                      <a:t>[VALUE]</a:t>
                    </a:fld>
                    <a:endParaRPr lang="en-US" sz="1000" dirty="0"/>
                  </a:p>
                  <a:p>
                    <a:pPr marL="0" marR="0" lvl="0" indent="0" algn="ctr" defTabSz="914400" rtl="0" eaLnBrk="1" fontAlgn="auto" latinLnBrk="0" hangingPunct="1">
                      <a:lnSpc>
                        <a:spcPct val="100000"/>
                      </a:lnSpc>
                      <a:spcBef>
                        <a:spcPts val="0"/>
                      </a:spcBef>
                      <a:spcAft>
                        <a:spcPts val="0"/>
                      </a:spcAft>
                      <a:buClrTx/>
                      <a:buSzTx/>
                      <a:buFontTx/>
                      <a:buNone/>
                      <a:tabLst/>
                      <a:defRPr sz="800" b="1">
                        <a:solidFill>
                          <a:srgbClr val="18191A"/>
                        </a:solidFill>
                      </a:defRPr>
                    </a:pPr>
                    <a:r>
                      <a:rPr lang="en-US" sz="800" b="0" i="0" u="none" strike="noStrike" kern="1200" baseline="0" dirty="0">
                        <a:solidFill>
                          <a:srgbClr val="18191A"/>
                        </a:solidFill>
                      </a:rPr>
                      <a:t>(62%)</a:t>
                    </a:r>
                  </a:p>
                </c:rich>
              </c:tx>
              <c:numFmt formatCode="#,##0" sourceLinked="0"/>
              <c:spPr>
                <a:noFill/>
                <a:ln>
                  <a:noFill/>
                </a:ln>
                <a:effectLst/>
              </c:spPr>
              <c:txPr>
                <a:bodyPr rot="0" spcFirstLastPara="1" vertOverflow="ellipsis" vert="horz" wrap="squar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sz="800" b="1" i="0" u="none" strike="noStrike" kern="1200" baseline="0">
                      <a:solidFill>
                        <a:srgbClr val="18191A"/>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64D4-49CB-B1F6-198E9DB747C2}"/>
                </c:ext>
              </c:extLst>
            </c:dLbl>
            <c:numFmt formatCode="#,##0" sourceLinked="0"/>
            <c:spPr>
              <a:noFill/>
              <a:ln>
                <a:noFill/>
              </a:ln>
              <a:effectLst/>
            </c:spPr>
            <c:txPr>
              <a:bodyPr rot="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Soy!$L$27:$S$27</c:f>
              <c:strCache>
                <c:ptCount val="7"/>
                <c:pt idx="0">
                  <c:v>19/20</c:v>
                </c:pt>
                <c:pt idx="1">
                  <c:v>20/21</c:v>
                </c:pt>
                <c:pt idx="2">
                  <c:v>21/22</c:v>
                </c:pt>
                <c:pt idx="3">
                  <c:v>22/23</c:v>
                </c:pt>
                <c:pt idx="4">
                  <c:v>23/24</c:v>
                </c:pt>
                <c:pt idx="5">
                  <c:v>24/25</c:v>
                </c:pt>
                <c:pt idx="6">
                  <c:v>25/26</c:v>
                </c:pt>
              </c:strCache>
              <c:extLst/>
            </c:strRef>
          </c:cat>
          <c:val>
            <c:numRef>
              <c:f>Soy!$L$35:$S$35</c:f>
              <c:numCache>
                <c:formatCode>#,##0.0</c:formatCode>
                <c:ptCount val="7"/>
                <c:pt idx="0">
                  <c:v>22.29</c:v>
                </c:pt>
                <c:pt idx="1">
                  <c:v>23.77</c:v>
                </c:pt>
                <c:pt idx="2">
                  <c:v>24.76</c:v>
                </c:pt>
                <c:pt idx="3">
                  <c:v>28.34</c:v>
                </c:pt>
                <c:pt idx="4">
                  <c:v>24.73</c:v>
                </c:pt>
                <c:pt idx="5">
                  <c:v>32.01</c:v>
                </c:pt>
                <c:pt idx="6">
                  <c:v>32.11</c:v>
                </c:pt>
              </c:numCache>
              <c:extLst/>
            </c:numRef>
          </c:val>
          <c:extLst>
            <c:ext xmlns:c16="http://schemas.microsoft.com/office/drawing/2014/chart" uri="{C3380CC4-5D6E-409C-BE32-E72D297353CC}">
              <c16:uniqueId val="{00000009-64D4-49CB-B1F6-198E9DB747C2}"/>
            </c:ext>
          </c:extLst>
        </c:ser>
        <c:dLbls>
          <c:showLegendKey val="0"/>
          <c:showVal val="0"/>
          <c:showCatName val="0"/>
          <c:showSerName val="0"/>
          <c:showPercent val="0"/>
          <c:showBubbleSize val="0"/>
        </c:dLbls>
        <c:gapWidth val="70"/>
        <c:axId val="556150207"/>
        <c:axId val="556162687"/>
      </c:barChart>
      <c:catAx>
        <c:axId val="136987584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369872000"/>
        <c:crosses val="autoZero"/>
        <c:auto val="1"/>
        <c:lblAlgn val="ctr"/>
        <c:lblOffset val="100"/>
        <c:noMultiLvlLbl val="0"/>
      </c:catAx>
      <c:valAx>
        <c:axId val="1369872000"/>
        <c:scaling>
          <c:orientation val="minMax"/>
          <c:max val="65"/>
          <c:min val="0"/>
        </c:scaling>
        <c:delete val="0"/>
        <c:axPos val="l"/>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1369875840"/>
        <c:crosses val="autoZero"/>
        <c:crossBetween val="between"/>
      </c:valAx>
      <c:valAx>
        <c:axId val="556162687"/>
        <c:scaling>
          <c:orientation val="minMax"/>
          <c:max val="65"/>
          <c:min val="0"/>
        </c:scaling>
        <c:delete val="0"/>
        <c:axPos val="r"/>
        <c:numFmt formatCode="#,##0.0" sourceLinked="1"/>
        <c:majorTickMark val="out"/>
        <c:minorTickMark val="none"/>
        <c:tickLblPos val="none"/>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556150207"/>
        <c:crosses val="max"/>
        <c:crossBetween val="between"/>
      </c:valAx>
      <c:catAx>
        <c:axId val="556150207"/>
        <c:scaling>
          <c:orientation val="minMax"/>
        </c:scaling>
        <c:delete val="1"/>
        <c:axPos val="b"/>
        <c:numFmt formatCode="General" sourceLinked="1"/>
        <c:majorTickMark val="out"/>
        <c:minorTickMark val="none"/>
        <c:tickLblPos val="nextTo"/>
        <c:crossAx val="556162687"/>
        <c:crosses val="autoZero"/>
        <c:auto val="1"/>
        <c:lblAlgn val="ctr"/>
        <c:lblOffset val="100"/>
        <c:noMultiLvlLbl val="0"/>
      </c:catAx>
      <c:spPr>
        <a:noFill/>
        <a:ln>
          <a:noFill/>
        </a:ln>
        <a:effectLst/>
      </c:spPr>
    </c:plotArea>
    <c:legend>
      <c:legendPos val="t"/>
      <c:layout>
        <c:manualLayout>
          <c:xMode val="edge"/>
          <c:yMode val="edge"/>
          <c:x val="0"/>
          <c:y val="4.9436016670278922E-2"/>
          <c:w val="0.9914347642028617"/>
          <c:h val="0.13390071229754519"/>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sz="700"/>
      </a:pPr>
      <a:endParaRPr lang="en-US"/>
    </a:p>
  </c:txPr>
  <c:externalData r:id="rId4">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2.8385742104817539E-2"/>
          <c:y val="9.2975661917398186E-2"/>
          <c:w val="0.94647414504813376"/>
          <c:h val="0.78745411055729597"/>
        </c:manualLayout>
      </c:layout>
      <c:barChart>
        <c:barDir val="col"/>
        <c:grouping val="clustered"/>
        <c:varyColors val="0"/>
        <c:ser>
          <c:idx val="0"/>
          <c:order val="1"/>
          <c:tx>
            <c:strRef>
              <c:f>Corn!$V$47</c:f>
              <c:strCache>
                <c:ptCount val="1"/>
                <c:pt idx="0">
                  <c:v>Produção</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Corn!$AG$1:$AM$1</c:f>
              <c:strCache>
                <c:ptCount val="7"/>
                <c:pt idx="0">
                  <c:v>19/20</c:v>
                </c:pt>
                <c:pt idx="1">
                  <c:v>20/21</c:v>
                </c:pt>
                <c:pt idx="2">
                  <c:v>21/22</c:v>
                </c:pt>
                <c:pt idx="3">
                  <c:v>22/23</c:v>
                </c:pt>
                <c:pt idx="4">
                  <c:v>23/24</c:v>
                </c:pt>
                <c:pt idx="5">
                  <c:v>24/25</c:v>
                </c:pt>
                <c:pt idx="6">
                  <c:v>25/26</c:v>
                </c:pt>
              </c:strCache>
            </c:strRef>
          </c:cat>
          <c:val>
            <c:numRef>
              <c:f>Corn!$AG$47:$AM$47</c:f>
              <c:numCache>
                <c:formatCode>#,##0.0</c:formatCode>
                <c:ptCount val="7"/>
                <c:pt idx="0">
                  <c:v>35.450000000000003</c:v>
                </c:pt>
                <c:pt idx="1">
                  <c:v>32.56</c:v>
                </c:pt>
                <c:pt idx="2">
                  <c:v>43.84</c:v>
                </c:pt>
                <c:pt idx="3">
                  <c:v>52.5</c:v>
                </c:pt>
                <c:pt idx="4">
                  <c:v>47.35</c:v>
                </c:pt>
                <c:pt idx="5">
                  <c:v>55.43</c:v>
                </c:pt>
                <c:pt idx="6">
                  <c:v>53.349392000000002</c:v>
                </c:pt>
              </c:numCache>
            </c:numRef>
          </c:val>
          <c:extLst>
            <c:ext xmlns:c16="http://schemas.microsoft.com/office/drawing/2014/chart" uri="{C3380CC4-5D6E-409C-BE32-E72D297353CC}">
              <c16:uniqueId val="{00000000-AEA8-40B4-AE59-DB0B7F78CB93}"/>
            </c:ext>
          </c:extLst>
        </c:ser>
        <c:dLbls>
          <c:showLegendKey val="0"/>
          <c:showVal val="0"/>
          <c:showCatName val="0"/>
          <c:showSerName val="0"/>
          <c:showPercent val="0"/>
          <c:showBubbleSize val="0"/>
        </c:dLbls>
        <c:gapWidth val="30"/>
        <c:axId val="1369875840"/>
        <c:axId val="1369872000"/>
      </c:barChart>
      <c:barChart>
        <c:barDir val="col"/>
        <c:grouping val="clustered"/>
        <c:varyColors val="0"/>
        <c:ser>
          <c:idx val="2"/>
          <c:order val="0"/>
          <c:tx>
            <c:strRef>
              <c:f>Corn!$V$57</c:f>
              <c:strCache>
                <c:ptCount val="1"/>
                <c:pt idx="0">
                  <c:v>Exportações</c:v>
                </c:pt>
              </c:strCache>
            </c:strRef>
          </c:tx>
          <c:spPr>
            <a:solidFill>
              <a:srgbClr val="8EB3DF">
                <a:lumMod val="60000"/>
                <a:lumOff val="40000"/>
              </a:srgbClr>
            </a:solidFill>
            <a:ln>
              <a:noFill/>
            </a:ln>
            <a:effectLst/>
          </c:spPr>
          <c:invertIfNegative val="0"/>
          <c:dLbls>
            <c:dLbl>
              <c:idx val="0"/>
              <c:tx>
                <c:rich>
                  <a:bodyPr/>
                  <a:lstStyle/>
                  <a:p>
                    <a:fld id="{85C54EDC-D7E5-4AA7-A6AB-75D7808C423F}" type="VALUE">
                      <a:rPr lang="en-US" sz="900" smtClean="0"/>
                      <a:pPr/>
                      <a:t>[VALUE]</a:t>
                    </a:fld>
                    <a:endParaRPr lang="en-US" dirty="0"/>
                  </a:p>
                  <a:p>
                    <a:r>
                      <a:rPr lang="en-US" sz="800" b="0" dirty="0"/>
                      <a:t>(47%)</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AEA8-40B4-AE59-DB0B7F78CB93}"/>
                </c:ext>
              </c:extLst>
            </c:dLbl>
            <c:dLbl>
              <c:idx val="1"/>
              <c:tx>
                <c:rich>
                  <a:bodyPr/>
                  <a:lstStyle/>
                  <a:p>
                    <a:fld id="{3CCA131D-B648-4152-8898-86A59C772AFE}" type="VALUE">
                      <a:rPr lang="en-US" sz="900" smtClean="0"/>
                      <a:pPr/>
                      <a:t>[VALUE]</a:t>
                    </a:fld>
                    <a:endParaRPr lang="en-US" dirty="0"/>
                  </a:p>
                  <a:p>
                    <a:r>
                      <a:rPr lang="en-US" sz="800" b="0" dirty="0"/>
                      <a:t>(63%)</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AEA8-40B4-AE59-DB0B7F78CB93}"/>
                </c:ext>
              </c:extLst>
            </c:dLbl>
            <c:dLbl>
              <c:idx val="2"/>
              <c:tx>
                <c:rich>
                  <a:bodyPr/>
                  <a:lstStyle/>
                  <a:p>
                    <a:fld id="{6A9A8FA8-DB12-47DE-B584-A3A978A2A3E6}" type="VALUE">
                      <a:rPr lang="en-US" sz="900" smtClean="0"/>
                      <a:pPr/>
                      <a:t>[VALUE]</a:t>
                    </a:fld>
                    <a:endParaRPr lang="en-US" dirty="0"/>
                  </a:p>
                  <a:p>
                    <a:r>
                      <a:rPr lang="en-US" sz="800" b="0" dirty="0"/>
                      <a:t>(58%)</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AEA8-40B4-AE59-DB0B7F78CB93}"/>
                </c:ext>
              </c:extLst>
            </c:dLbl>
            <c:dLbl>
              <c:idx val="3"/>
              <c:tx>
                <c:rich>
                  <a:bodyPr/>
                  <a:lstStyle/>
                  <a:p>
                    <a:fld id="{20629843-1A63-4693-A183-20AFE0374138}" type="VALUE">
                      <a:rPr lang="en-US" sz="900" smtClean="0"/>
                      <a:pPr/>
                      <a:t>[VALUE]</a:t>
                    </a:fld>
                    <a:endParaRPr lang="en-US" sz="900" dirty="0"/>
                  </a:p>
                  <a:p>
                    <a:r>
                      <a:rPr lang="en-US" sz="800" b="0" dirty="0"/>
                      <a:t>(51%)</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AEA8-40B4-AE59-DB0B7F78CB93}"/>
                </c:ext>
              </c:extLst>
            </c:dLbl>
            <c:dLbl>
              <c:idx val="4"/>
              <c:tx>
                <c:rich>
                  <a:bodyPr/>
                  <a:lstStyle/>
                  <a:p>
                    <a:fld id="{A2F1B3AE-DEC4-4E49-A62A-E2EC7602600D}" type="VALUE">
                      <a:rPr lang="en-US" sz="900" smtClean="0"/>
                      <a:pPr/>
                      <a:t>[VALUE]</a:t>
                    </a:fld>
                    <a:endParaRPr lang="en-US" dirty="0"/>
                  </a:p>
                  <a:p>
                    <a:r>
                      <a:rPr lang="en-US" sz="800" b="0" dirty="0"/>
                      <a:t>(43%)</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AEA8-40B4-AE59-DB0B7F78CB93}"/>
                </c:ext>
              </c:extLst>
            </c:dLbl>
            <c:dLbl>
              <c:idx val="5"/>
              <c:tx>
                <c:rich>
                  <a:bodyPr/>
                  <a:lstStyle/>
                  <a:p>
                    <a:fld id="{AA5CFC8A-09D5-4268-A834-2E8CB4B81E79}" type="VALUE">
                      <a:rPr lang="en-US" sz="900" smtClean="0"/>
                      <a:pPr/>
                      <a:t>[VALUE]</a:t>
                    </a:fld>
                    <a:endParaRPr lang="en-US" dirty="0"/>
                  </a:p>
                  <a:p>
                    <a:r>
                      <a:rPr lang="en-US" sz="800" b="0" dirty="0"/>
                      <a:t>(43%)</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AEA8-40B4-AE59-DB0B7F78CB93}"/>
                </c:ext>
              </c:extLst>
            </c:dLbl>
            <c:dLbl>
              <c:idx val="6"/>
              <c:tx>
                <c:rich>
                  <a:bodyPr/>
                  <a:lstStyle/>
                  <a:p>
                    <a:fld id="{C348F81F-D905-4B35-80BA-293038267102}" type="VALUE">
                      <a:rPr lang="en-US" sz="800" smtClean="0"/>
                      <a:pPr/>
                      <a:t>[VALUE]</a:t>
                    </a:fld>
                    <a:endParaRPr lang="en-US" sz="900" dirty="0"/>
                  </a:p>
                  <a:p>
                    <a:r>
                      <a:rPr lang="en-US" sz="800" b="0" dirty="0"/>
                      <a:t>(43%)</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AEA8-40B4-AE59-DB0B7F78CB93}"/>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Corn!$AG$1:$AM$1</c:f>
              <c:strCache>
                <c:ptCount val="7"/>
                <c:pt idx="0">
                  <c:v>19/20</c:v>
                </c:pt>
                <c:pt idx="1">
                  <c:v>20/21</c:v>
                </c:pt>
                <c:pt idx="2">
                  <c:v>21/22</c:v>
                </c:pt>
                <c:pt idx="3">
                  <c:v>22/23</c:v>
                </c:pt>
                <c:pt idx="4">
                  <c:v>23/24</c:v>
                </c:pt>
                <c:pt idx="5">
                  <c:v>24/25</c:v>
                </c:pt>
                <c:pt idx="6">
                  <c:v>25/26</c:v>
                </c:pt>
              </c:strCache>
            </c:strRef>
          </c:cat>
          <c:val>
            <c:numRef>
              <c:f>Corn!$AG$57:$AM$57</c:f>
              <c:numCache>
                <c:formatCode>#,##0.0</c:formatCode>
                <c:ptCount val="7"/>
                <c:pt idx="0">
                  <c:v>22.18</c:v>
                </c:pt>
                <c:pt idx="1">
                  <c:v>16.54</c:v>
                </c:pt>
                <c:pt idx="2">
                  <c:v>26.42</c:v>
                </c:pt>
                <c:pt idx="3">
                  <c:v>29.98</c:v>
                </c:pt>
                <c:pt idx="4">
                  <c:v>23.8</c:v>
                </c:pt>
                <c:pt idx="5">
                  <c:v>24.18</c:v>
                </c:pt>
                <c:pt idx="6">
                  <c:v>23.1</c:v>
                </c:pt>
              </c:numCache>
            </c:numRef>
          </c:val>
          <c:extLst>
            <c:ext xmlns:c16="http://schemas.microsoft.com/office/drawing/2014/chart" uri="{C3380CC4-5D6E-409C-BE32-E72D297353CC}">
              <c16:uniqueId val="{00000008-AEA8-40B4-AE59-DB0B7F78CB93}"/>
            </c:ext>
          </c:extLst>
        </c:ser>
        <c:dLbls>
          <c:showLegendKey val="0"/>
          <c:showVal val="0"/>
          <c:showCatName val="0"/>
          <c:showSerName val="0"/>
          <c:showPercent val="0"/>
          <c:showBubbleSize val="0"/>
        </c:dLbls>
        <c:gapWidth val="70"/>
        <c:axId val="556150207"/>
        <c:axId val="556162687"/>
      </c:barChart>
      <c:catAx>
        <c:axId val="136987584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369872000"/>
        <c:crosses val="autoZero"/>
        <c:auto val="1"/>
        <c:lblAlgn val="ctr"/>
        <c:lblOffset val="100"/>
        <c:noMultiLvlLbl val="0"/>
      </c:catAx>
      <c:valAx>
        <c:axId val="1369872000"/>
        <c:scaling>
          <c:orientation val="minMax"/>
          <c:max val="65"/>
          <c:min val="0"/>
        </c:scaling>
        <c:delete val="0"/>
        <c:axPos val="l"/>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1369875840"/>
        <c:crosses val="autoZero"/>
        <c:crossBetween val="between"/>
      </c:valAx>
      <c:valAx>
        <c:axId val="556162687"/>
        <c:scaling>
          <c:orientation val="minMax"/>
          <c:max val="65"/>
          <c:min val="0"/>
        </c:scaling>
        <c:delete val="0"/>
        <c:axPos val="r"/>
        <c:numFmt formatCode="#,##0.0" sourceLinked="1"/>
        <c:majorTickMark val="out"/>
        <c:minorTickMark val="none"/>
        <c:tickLblPos val="none"/>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556150207"/>
        <c:crosses val="max"/>
        <c:crossBetween val="between"/>
      </c:valAx>
      <c:catAx>
        <c:axId val="556150207"/>
        <c:scaling>
          <c:orientation val="minMax"/>
        </c:scaling>
        <c:delete val="1"/>
        <c:axPos val="b"/>
        <c:numFmt formatCode="General" sourceLinked="1"/>
        <c:majorTickMark val="out"/>
        <c:minorTickMark val="none"/>
        <c:tickLblPos val="nextTo"/>
        <c:crossAx val="556162687"/>
        <c:crosses val="autoZero"/>
        <c:auto val="1"/>
        <c:lblAlgn val="ctr"/>
        <c:lblOffset val="100"/>
        <c:noMultiLvlLbl val="0"/>
      </c:catAx>
      <c:spPr>
        <a:noFill/>
        <a:ln>
          <a:noFill/>
        </a:ln>
        <a:effectLst/>
      </c:spPr>
    </c:plotArea>
    <c:legend>
      <c:legendPos val="t"/>
      <c:layout>
        <c:manualLayout>
          <c:xMode val="edge"/>
          <c:yMode val="edge"/>
          <c:x val="0.11645381424096181"/>
          <c:y val="3.384459941820387E-2"/>
          <c:w val="0.76454846281541233"/>
          <c:h val="0.13390071229754519"/>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sz="700"/>
      </a:pPr>
      <a:endParaRPr lang="en-US"/>
    </a:p>
  </c:txPr>
  <c:externalData r:id="rId4">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noFill/>
            <a:ln>
              <a:noFill/>
            </a:ln>
            <a:effectLst/>
          </c:spPr>
          <c:invertIfNegative val="0"/>
          <c:dLbls>
            <c:dLbl>
              <c:idx val="0"/>
              <c:layout>
                <c:manualLayout>
                  <c:x val="1.9713033922095473E-17"/>
                  <c:y val="3.118299569146758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ACE-4D9B-9CBC-C3949F14CEA9}"/>
                </c:ext>
              </c:extLst>
            </c:dLbl>
            <c:dLbl>
              <c:idx val="2"/>
              <c:layout>
                <c:manualLayout>
                  <c:x val="0"/>
                  <c:y val="-5.45702424600682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ACE-4D9B-9CBC-C3949F14CEA9}"/>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MT</c:v>
                </c:pt>
                <c:pt idx="1">
                  <c:v>MATOPIBA</c:v>
                </c:pt>
                <c:pt idx="2">
                  <c:v>Brasil</c:v>
                </c:pt>
              </c:strCache>
            </c:strRef>
          </c:cat>
          <c:val>
            <c:numRef>
              <c:f>Sheet1!$B$2:$B$4</c:f>
              <c:numCache>
                <c:formatCode>0.0%</c:formatCode>
                <c:ptCount val="3"/>
                <c:pt idx="0">
                  <c:v>-0.03</c:v>
                </c:pt>
                <c:pt idx="1">
                  <c:v>-6.5000000000000002E-2</c:v>
                </c:pt>
                <c:pt idx="2">
                  <c:v>0</c:v>
                </c:pt>
              </c:numCache>
            </c:numRef>
          </c:val>
          <c:extLst>
            <c:ext xmlns:c16="http://schemas.microsoft.com/office/drawing/2014/chart" uri="{C3380CC4-5D6E-409C-BE32-E72D297353CC}">
              <c16:uniqueId val="{00000000-7ACE-4D9B-9CBC-C3949F14CEA9}"/>
            </c:ext>
          </c:extLst>
        </c:ser>
        <c:ser>
          <c:idx val="1"/>
          <c:order val="1"/>
          <c:tx>
            <c:strRef>
              <c:f>Sheet1!$C$1</c:f>
              <c:strCache>
                <c:ptCount val="1"/>
                <c:pt idx="0">
                  <c:v>Series 2</c:v>
                </c:pt>
              </c:strCache>
            </c:strRef>
          </c:tx>
          <c:spPr>
            <a:solidFill>
              <a:schemeClr val="accent2"/>
            </a:solidFill>
            <a:ln>
              <a:noFill/>
            </a:ln>
            <a:effectLst/>
          </c:spPr>
          <c:invertIfNegative val="0"/>
          <c:dPt>
            <c:idx val="0"/>
            <c:invertIfNegative val="0"/>
            <c:bubble3D val="0"/>
            <c:spPr>
              <a:solidFill>
                <a:schemeClr val="accent1">
                  <a:lumMod val="25000"/>
                  <a:lumOff val="75000"/>
                </a:schemeClr>
              </a:solidFill>
              <a:ln>
                <a:noFill/>
              </a:ln>
              <a:effectLst/>
            </c:spPr>
            <c:extLst>
              <c:ext xmlns:c16="http://schemas.microsoft.com/office/drawing/2014/chart" uri="{C3380CC4-5D6E-409C-BE32-E72D297353CC}">
                <c16:uniqueId val="{00000005-7ACE-4D9B-9CBC-C3949F14CEA9}"/>
              </c:ext>
            </c:extLst>
          </c:dPt>
          <c:dPt>
            <c:idx val="1"/>
            <c:invertIfNegative val="0"/>
            <c:bubble3D val="0"/>
            <c:spPr>
              <a:solidFill>
                <a:schemeClr val="accent1">
                  <a:lumMod val="50000"/>
                  <a:lumOff val="50000"/>
                </a:schemeClr>
              </a:solidFill>
              <a:ln>
                <a:noFill/>
              </a:ln>
              <a:effectLst/>
            </c:spPr>
            <c:extLst>
              <c:ext xmlns:c16="http://schemas.microsoft.com/office/drawing/2014/chart" uri="{C3380CC4-5D6E-409C-BE32-E72D297353CC}">
                <c16:uniqueId val="{00000006-7ACE-4D9B-9CBC-C3949F14CEA9}"/>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7-7ACE-4D9B-9CBC-C3949F14CEA9}"/>
              </c:ext>
            </c:extLst>
          </c:dPt>
          <c:cat>
            <c:strRef>
              <c:f>Sheet1!$A$2:$A$4</c:f>
              <c:strCache>
                <c:ptCount val="3"/>
                <c:pt idx="0">
                  <c:v>MT</c:v>
                </c:pt>
                <c:pt idx="1">
                  <c:v>MATOPIBA</c:v>
                </c:pt>
                <c:pt idx="2">
                  <c:v>Brasil</c:v>
                </c:pt>
              </c:strCache>
            </c:strRef>
          </c:cat>
          <c:val>
            <c:numRef>
              <c:f>Sheet1!$C$2:$C$4</c:f>
              <c:numCache>
                <c:formatCode>0.0%</c:formatCode>
                <c:ptCount val="3"/>
                <c:pt idx="0">
                  <c:v>-0.13</c:v>
                </c:pt>
                <c:pt idx="1">
                  <c:v>-0.40250000000000002</c:v>
                </c:pt>
                <c:pt idx="2">
                  <c:v>-0.08</c:v>
                </c:pt>
              </c:numCache>
            </c:numRef>
          </c:val>
          <c:extLst>
            <c:ext xmlns:c16="http://schemas.microsoft.com/office/drawing/2014/chart" uri="{C3380CC4-5D6E-409C-BE32-E72D297353CC}">
              <c16:uniqueId val="{00000003-7ACE-4D9B-9CBC-C3949F14CEA9}"/>
            </c:ext>
          </c:extLst>
        </c:ser>
        <c:ser>
          <c:idx val="2"/>
          <c:order val="2"/>
          <c:tx>
            <c:strRef>
              <c:f>Sheet1!$D$1</c:f>
              <c:strCache>
                <c:ptCount val="1"/>
                <c:pt idx="0">
                  <c:v>Series 3</c:v>
                </c:pt>
              </c:strCache>
            </c:strRef>
          </c:tx>
          <c:spPr>
            <a:no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MT</c:v>
                </c:pt>
                <c:pt idx="1">
                  <c:v>MATOPIBA</c:v>
                </c:pt>
                <c:pt idx="2">
                  <c:v>Brasil</c:v>
                </c:pt>
              </c:strCache>
            </c:strRef>
          </c:cat>
          <c:val>
            <c:numRef>
              <c:f>Sheet1!$D$2:$D$4</c:f>
              <c:numCache>
                <c:formatCode>0.0%</c:formatCode>
                <c:ptCount val="3"/>
                <c:pt idx="0">
                  <c:v>-0.16</c:v>
                </c:pt>
                <c:pt idx="1">
                  <c:v>-0.46750000000000003</c:v>
                </c:pt>
                <c:pt idx="2">
                  <c:v>-0.08</c:v>
                </c:pt>
              </c:numCache>
            </c:numRef>
          </c:val>
          <c:extLst>
            <c:ext xmlns:c16="http://schemas.microsoft.com/office/drawing/2014/chart" uri="{C3380CC4-5D6E-409C-BE32-E72D297353CC}">
              <c16:uniqueId val="{00000004-7ACE-4D9B-9CBC-C3949F14CEA9}"/>
            </c:ext>
          </c:extLst>
        </c:ser>
        <c:dLbls>
          <c:showLegendKey val="0"/>
          <c:showVal val="0"/>
          <c:showCatName val="0"/>
          <c:showSerName val="0"/>
          <c:showPercent val="0"/>
          <c:showBubbleSize val="0"/>
        </c:dLbls>
        <c:gapWidth val="40"/>
        <c:overlap val="100"/>
        <c:axId val="1897278879"/>
        <c:axId val="1897277919"/>
      </c:barChart>
      <c:catAx>
        <c:axId val="1897278879"/>
        <c:scaling>
          <c:orientation val="minMax"/>
        </c:scaling>
        <c:delete val="0"/>
        <c:axPos val="b"/>
        <c:numFmt formatCode="General" sourceLinked="1"/>
        <c:majorTickMark val="none"/>
        <c:minorTickMark val="none"/>
        <c:tickLblPos val="high"/>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97277919"/>
        <c:crosses val="autoZero"/>
        <c:auto val="1"/>
        <c:lblAlgn val="ctr"/>
        <c:lblOffset val="100"/>
        <c:noMultiLvlLbl val="0"/>
      </c:catAx>
      <c:valAx>
        <c:axId val="1897277919"/>
        <c:scaling>
          <c:orientation val="minMax"/>
          <c:max val="0.1"/>
          <c:min val="-0.60000000000000009"/>
        </c:scaling>
        <c:delete val="0"/>
        <c:axPos val="l"/>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972788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noFill/>
            <a:ln>
              <a:noFill/>
            </a:ln>
            <a:effectLst/>
          </c:spPr>
          <c:invertIfNegative val="0"/>
          <c:dLbls>
            <c:dLbl>
              <c:idx val="0"/>
              <c:layout>
                <c:manualLayout>
                  <c:x val="0"/>
                  <c:y val="-3.89787446143344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ACE-4D9B-9CBC-C3949F14CEA9}"/>
                </c:ext>
              </c:extLst>
            </c:dLbl>
            <c:dLbl>
              <c:idx val="2"/>
              <c:layout>
                <c:manualLayout>
                  <c:x val="0"/>
                  <c:y val="-5.45702424600682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ACE-4D9B-9CBC-C3949F14CEA9}"/>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MT</c:v>
                </c:pt>
                <c:pt idx="1">
                  <c:v>MATOPIBA</c:v>
                </c:pt>
                <c:pt idx="2">
                  <c:v>Brasil</c:v>
                </c:pt>
              </c:strCache>
            </c:strRef>
          </c:cat>
          <c:val>
            <c:numRef>
              <c:f>Sheet1!$B$2:$B$4</c:f>
              <c:numCache>
                <c:formatCode>0.0%</c:formatCode>
                <c:ptCount val="3"/>
                <c:pt idx="0">
                  <c:v>0</c:v>
                </c:pt>
                <c:pt idx="1">
                  <c:v>-0.06</c:v>
                </c:pt>
                <c:pt idx="2">
                  <c:v>0</c:v>
                </c:pt>
              </c:numCache>
            </c:numRef>
          </c:val>
          <c:extLst>
            <c:ext xmlns:c16="http://schemas.microsoft.com/office/drawing/2014/chart" uri="{C3380CC4-5D6E-409C-BE32-E72D297353CC}">
              <c16:uniqueId val="{00000000-7ACE-4D9B-9CBC-C3949F14CEA9}"/>
            </c:ext>
          </c:extLst>
        </c:ser>
        <c:ser>
          <c:idx val="1"/>
          <c:order val="1"/>
          <c:tx>
            <c:strRef>
              <c:f>Sheet1!$C$1</c:f>
              <c:strCache>
                <c:ptCount val="1"/>
                <c:pt idx="0">
                  <c:v>Series 2</c:v>
                </c:pt>
              </c:strCache>
            </c:strRef>
          </c:tx>
          <c:spPr>
            <a:solidFill>
              <a:schemeClr val="accent2"/>
            </a:solidFill>
            <a:ln>
              <a:noFill/>
            </a:ln>
            <a:effectLst/>
          </c:spPr>
          <c:invertIfNegative val="0"/>
          <c:dPt>
            <c:idx val="0"/>
            <c:invertIfNegative val="0"/>
            <c:bubble3D val="0"/>
            <c:spPr>
              <a:solidFill>
                <a:schemeClr val="accent1">
                  <a:lumMod val="25000"/>
                  <a:lumOff val="75000"/>
                </a:schemeClr>
              </a:solidFill>
              <a:ln>
                <a:noFill/>
              </a:ln>
              <a:effectLst/>
            </c:spPr>
            <c:extLst>
              <c:ext xmlns:c16="http://schemas.microsoft.com/office/drawing/2014/chart" uri="{C3380CC4-5D6E-409C-BE32-E72D297353CC}">
                <c16:uniqueId val="{00000005-7ACE-4D9B-9CBC-C3949F14CEA9}"/>
              </c:ext>
            </c:extLst>
          </c:dPt>
          <c:dPt>
            <c:idx val="1"/>
            <c:invertIfNegative val="0"/>
            <c:bubble3D val="0"/>
            <c:spPr>
              <a:solidFill>
                <a:schemeClr val="accent1">
                  <a:lumMod val="50000"/>
                  <a:lumOff val="50000"/>
                </a:schemeClr>
              </a:solidFill>
              <a:ln>
                <a:noFill/>
              </a:ln>
              <a:effectLst/>
            </c:spPr>
            <c:extLst>
              <c:ext xmlns:c16="http://schemas.microsoft.com/office/drawing/2014/chart" uri="{C3380CC4-5D6E-409C-BE32-E72D297353CC}">
                <c16:uniqueId val="{00000006-7ACE-4D9B-9CBC-C3949F14CEA9}"/>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7-7ACE-4D9B-9CBC-C3949F14CEA9}"/>
              </c:ext>
            </c:extLst>
          </c:dPt>
          <c:cat>
            <c:strRef>
              <c:f>Sheet1!$A$2:$A$4</c:f>
              <c:strCache>
                <c:ptCount val="3"/>
                <c:pt idx="0">
                  <c:v>MT</c:v>
                </c:pt>
                <c:pt idx="1">
                  <c:v>MATOPIBA</c:v>
                </c:pt>
                <c:pt idx="2">
                  <c:v>Brasil</c:v>
                </c:pt>
              </c:strCache>
            </c:strRef>
          </c:cat>
          <c:val>
            <c:numRef>
              <c:f>Sheet1!$C$2:$C$4</c:f>
              <c:numCache>
                <c:formatCode>0.0%</c:formatCode>
                <c:ptCount val="3"/>
                <c:pt idx="0">
                  <c:v>-0.34</c:v>
                </c:pt>
                <c:pt idx="1">
                  <c:v>-0.26500000000000001</c:v>
                </c:pt>
                <c:pt idx="2">
                  <c:v>-0.23</c:v>
                </c:pt>
              </c:numCache>
            </c:numRef>
          </c:val>
          <c:extLst>
            <c:ext xmlns:c16="http://schemas.microsoft.com/office/drawing/2014/chart" uri="{C3380CC4-5D6E-409C-BE32-E72D297353CC}">
              <c16:uniqueId val="{00000003-7ACE-4D9B-9CBC-C3949F14CEA9}"/>
            </c:ext>
          </c:extLst>
        </c:ser>
        <c:ser>
          <c:idx val="2"/>
          <c:order val="2"/>
          <c:tx>
            <c:strRef>
              <c:f>Sheet1!$D$1</c:f>
              <c:strCache>
                <c:ptCount val="1"/>
                <c:pt idx="0">
                  <c:v>Series 3</c:v>
                </c:pt>
              </c:strCache>
            </c:strRef>
          </c:tx>
          <c:spPr>
            <a:no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MT</c:v>
                </c:pt>
                <c:pt idx="1">
                  <c:v>MATOPIBA</c:v>
                </c:pt>
                <c:pt idx="2">
                  <c:v>Brasil</c:v>
                </c:pt>
              </c:strCache>
            </c:strRef>
          </c:cat>
          <c:val>
            <c:numRef>
              <c:f>Sheet1!$D$2:$D$4</c:f>
              <c:numCache>
                <c:formatCode>0.0%</c:formatCode>
                <c:ptCount val="3"/>
                <c:pt idx="0">
                  <c:v>-0.34</c:v>
                </c:pt>
                <c:pt idx="1">
                  <c:v>-0.32500000000000001</c:v>
                </c:pt>
                <c:pt idx="2">
                  <c:v>-0.23</c:v>
                </c:pt>
              </c:numCache>
            </c:numRef>
          </c:val>
          <c:extLst>
            <c:ext xmlns:c16="http://schemas.microsoft.com/office/drawing/2014/chart" uri="{C3380CC4-5D6E-409C-BE32-E72D297353CC}">
              <c16:uniqueId val="{00000004-7ACE-4D9B-9CBC-C3949F14CEA9}"/>
            </c:ext>
          </c:extLst>
        </c:ser>
        <c:dLbls>
          <c:showLegendKey val="0"/>
          <c:showVal val="0"/>
          <c:showCatName val="0"/>
          <c:showSerName val="0"/>
          <c:showPercent val="0"/>
          <c:showBubbleSize val="0"/>
        </c:dLbls>
        <c:gapWidth val="40"/>
        <c:overlap val="100"/>
        <c:axId val="1897278879"/>
        <c:axId val="1897277919"/>
      </c:barChart>
      <c:catAx>
        <c:axId val="1897278879"/>
        <c:scaling>
          <c:orientation val="minMax"/>
        </c:scaling>
        <c:delete val="0"/>
        <c:axPos val="b"/>
        <c:numFmt formatCode="General" sourceLinked="1"/>
        <c:majorTickMark val="none"/>
        <c:minorTickMark val="none"/>
        <c:tickLblPos val="high"/>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97277919"/>
        <c:crosses val="autoZero"/>
        <c:auto val="1"/>
        <c:lblAlgn val="ctr"/>
        <c:lblOffset val="100"/>
        <c:noMultiLvlLbl val="0"/>
      </c:catAx>
      <c:valAx>
        <c:axId val="1897277919"/>
        <c:scaling>
          <c:orientation val="minMax"/>
          <c:max val="0.1"/>
          <c:min val="-0.60000000000000009"/>
        </c:scaling>
        <c:delete val="0"/>
        <c:axPos val="l"/>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8972788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904919-855E-41AB-8A84-30C374ADE181}" type="datetimeFigureOut">
              <a:rPr lang="en-US" smtClean="0"/>
              <a:t>7/21/2026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984EC9-51C0-4BB7-A48B-D32011637DBD}" type="slidenum">
              <a:rPr lang="en-US" smtClean="0"/>
              <a:t>‹#›</a:t>
            </a:fld>
            <a:endParaRPr lang="en-US"/>
          </a:p>
        </p:txBody>
      </p:sp>
    </p:spTree>
    <p:extLst>
      <p:ext uri="{BB962C8B-B14F-4D97-AF65-F5344CB8AC3E}">
        <p14:creationId xmlns:p14="http://schemas.microsoft.com/office/powerpoint/2010/main" val="584803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984EC9-51C0-4BB7-A48B-D32011637DBD}" type="slidenum">
              <a:rPr lang="en-US" smtClean="0"/>
              <a:t>3</a:t>
            </a:fld>
            <a:endParaRPr lang="en-US"/>
          </a:p>
        </p:txBody>
      </p:sp>
    </p:spTree>
    <p:extLst>
      <p:ext uri="{BB962C8B-B14F-4D97-AF65-F5344CB8AC3E}">
        <p14:creationId xmlns:p14="http://schemas.microsoft.com/office/powerpoint/2010/main" val="2181880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1.png"/><Relationship Id="rId4" Type="http://schemas.microsoft.com/office/2007/relationships/hdphoto" Target="../media/hdphoto1.wdp"/><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png"/><Relationship Id="rId8"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microsoft.com/office/2007/relationships/hdphoto" Target="../media/hdphoto2.wdp"/><Relationship Id="rId7" Type="http://schemas.openxmlformats.org/officeDocument/2006/relationships/image" Target="../media/image7.png"/><Relationship Id="rId8"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microsoft.com/office/2007/relationships/hdphoto" Target="../media/hdphoto2.wdp"/><Relationship Id="rId7" Type="http://schemas.openxmlformats.org/officeDocument/2006/relationships/image" Target="../media/image7.png"/><Relationship Id="rId8"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microsoft.com/office/2007/relationships/hdphoto" Target="../media/hdphoto2.wdp"/><Relationship Id="rId7" Type="http://schemas.openxmlformats.org/officeDocument/2006/relationships/image" Target="../media/image7.png"/><Relationship Id="rId8"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microsoft.com/office/2007/relationships/hdphoto" Target="../media/hdphoto2.wdp"/><Relationship Id="rId7" Type="http://schemas.openxmlformats.org/officeDocument/2006/relationships/image" Target="../media/image7.png"/><Relationship Id="rId8"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microsoft.com/office/2007/relationships/hdphoto" Target="../media/hdphoto2.wdp"/><Relationship Id="rId7" Type="http://schemas.openxmlformats.org/officeDocument/2006/relationships/image" Target="../media/image7.png"/><Relationship Id="rId8" Type="http://schemas.openxmlformats.org/officeDocument/2006/relationships/image" Target="../media/image8.sv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microsoft.com/office/2007/relationships/hdphoto" Target="../media/hdphoto2.wdp"/><Relationship Id="rId7" Type="http://schemas.openxmlformats.org/officeDocument/2006/relationships/image" Target="../media/image7.png"/><Relationship Id="rId8" Type="http://schemas.openxmlformats.org/officeDocument/2006/relationships/image" Target="../media/image8.sv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microsoft.com/office/2007/relationships/hdphoto" Target="../media/hdphoto2.wdp"/><Relationship Id="rId7" Type="http://schemas.openxmlformats.org/officeDocument/2006/relationships/image" Target="../media/image7.png"/><Relationship Id="rId8" Type="http://schemas.openxmlformats.org/officeDocument/2006/relationships/image" Target="../media/image8.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microsoft.com/office/2007/relationships/hdphoto" Target="../media/hdphoto2.wdp"/><Relationship Id="rId7" Type="http://schemas.openxmlformats.org/officeDocument/2006/relationships/image" Target="../media/image7.png"/><Relationship Id="rId8" Type="http://schemas.openxmlformats.org/officeDocument/2006/relationships/image" Target="../media/image8.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9.png"/><Relationship Id="rId6" Type="http://schemas.microsoft.com/office/2007/relationships/hdphoto" Target="../media/hdphoto3.wdp"/><Relationship Id="rId7" Type="http://schemas.openxmlformats.org/officeDocument/2006/relationships/image" Target="../media/image7.png"/><Relationship Id="rId8" Type="http://schemas.openxmlformats.org/officeDocument/2006/relationships/image" Target="../media/image8.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10.png"/><Relationship Id="rId8" Type="http://schemas.microsoft.com/office/2007/relationships/hdphoto" Target="../media/hdphoto4.wdp"/></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10.png"/><Relationship Id="rId8" Type="http://schemas.microsoft.com/office/2007/relationships/hdphoto" Target="../media/hdphoto4.wdp"/></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2.xml"/><Relationship Id="rId3" Type="http://schemas.openxmlformats.org/officeDocument/2006/relationships/image" Target="../media/image11.jpe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image" Target="../media/image2.png"/><Relationship Id="rId7" Type="http://schemas.openxmlformats.org/officeDocument/2006/relationships/image" Target="../media/image3.svg"/><Relationship Id="rId8" Type="http://schemas.openxmlformats.org/officeDocument/2006/relationships/image" Target="../media/image1.png"/><Relationship Id="rId9" Type="http://schemas.microsoft.com/office/2007/relationships/hdphoto" Target="../media/hdphoto1.wdp"/><Relationship Id="rId10" Type="http://schemas.openxmlformats.org/officeDocument/2006/relationships/image" Target="../media/image12.png"/><Relationship Id="rId11" Type="http://schemas.microsoft.com/office/2007/relationships/hdphoto" Target="../media/hdphoto5.wdp"/></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2.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image" Target="../media/image6.png"/><Relationship Id="rId7" Type="http://schemas.microsoft.com/office/2007/relationships/hdphoto" Target="../media/hdphoto2.wdp"/><Relationship Id="rId8" Type="http://schemas.openxmlformats.org/officeDocument/2006/relationships/image" Target="../media/image7.png"/><Relationship Id="rId9" Type="http://schemas.openxmlformats.org/officeDocument/2006/relationships/image" Target="../media/image8.svg"/><Relationship Id="rId10" Type="http://schemas.openxmlformats.org/officeDocument/2006/relationships/hyperlink" Target="https://www.extelinsights.com/"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2.xml"/><Relationship Id="rId3" Type="http://schemas.openxmlformats.org/officeDocument/2006/relationships/image" Target="../media/image14.pn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2.xml"/><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2.xml"/><Relationship Id="rId3"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2.xml"/><Relationship Id="rId3"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2.xml"/><Relationship Id="rId3"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2.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9.png"/><Relationship Id="rId6" Type="http://schemas.microsoft.com/office/2007/relationships/hdphoto" Target="../media/hdphoto3.wdp"/><Relationship Id="rId7" Type="http://schemas.openxmlformats.org/officeDocument/2006/relationships/image" Target="../media/image7.png"/><Relationship Id="rId8" Type="http://schemas.openxmlformats.org/officeDocument/2006/relationships/image" Target="../media/image8.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2.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10.png"/><Relationship Id="rId8" Type="http://schemas.microsoft.com/office/2007/relationships/hdphoto" Target="../media/hdphoto4.wdp"/></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slideMaster" Target="../slideMasters/slideMaster2.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15.png"/><Relationship Id="rId6" Type="http://schemas.microsoft.com/office/2007/relationships/hdphoto" Target="../media/hdphoto6.wdp"/><Relationship Id="rId7" Type="http://schemas.openxmlformats.org/officeDocument/2006/relationships/image" Target="../media/image16.emf"/><Relationship Id="rId8" Type="http://schemas.openxmlformats.org/officeDocument/2006/relationships/image" Target="../media/image17.png"/><Relationship Id="rId9" Type="http://schemas.openxmlformats.org/officeDocument/2006/relationships/image" Target="../media/image18.svg"/><Relationship Id="rId10" Type="http://schemas.openxmlformats.org/officeDocument/2006/relationships/image" Target="../media/image19.png"/><Relationship Id="rId11" Type="http://schemas.openxmlformats.org/officeDocument/2006/relationships/image" Target="../media/image20.png"/></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slideMaster" Target="../slideMasters/slideMaster2.xml"/><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3.png"/><Relationship Id="rId6" Type="http://schemas.openxmlformats.org/officeDocument/2006/relationships/image" Target="../media/image24.svg"/></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slideMaster" Target="../slideMasters/slideMaster2.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microsoft.com/office/2007/relationships/hdphoto" Target="../media/hdphoto2.wdp"/><Relationship Id="rId7" Type="http://schemas.openxmlformats.org/officeDocument/2006/relationships/image" Target="../media/image7.png"/><Relationship Id="rId8" Type="http://schemas.openxmlformats.org/officeDocument/2006/relationships/image" Target="../media/image8.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Agro, alimentos e bebidas">
    <p:bg>
      <p:bgPr>
        <a:solidFill>
          <a:schemeClr val="accent6"/>
        </a:solidFill>
        <a:effectLst/>
      </p:bgPr>
    </p:bg>
    <p:spTree>
      <p:nvGrpSpPr>
        <p:cNvPr id="1" name=""/>
        <p:cNvGrpSpPr/>
        <p:nvPr/>
      </p:nvGrpSpPr>
      <p:grpSpPr>
        <a:xfrm>
          <a:off x="0" y="0"/>
          <a:ext cx="0" cy="0"/>
          <a:chOff x="0" y="0"/>
          <a:chExt cx="0" cy="0"/>
        </a:xfrm>
      </p:grpSpPr>
      <p:pic>
        <p:nvPicPr>
          <p:cNvPr id="9" name="Picture 8" descr="A blue and white dot pattern&#10;&#10;AI-generated content may be incorrect.">
            <a:extLst>
              <a:ext uri="{FF2B5EF4-FFF2-40B4-BE49-F238E27FC236}">
                <a16:creationId xmlns:a16="http://schemas.microsoft.com/office/drawing/2014/main" id="{D572D620-A33D-FA48-00AE-F1018BB7DF23}"/>
              </a:ext>
            </a:extLst>
          </p:cNvPr>
          <p:cNvPicPr>
            <a:picLocks noChangeAspect="1"/>
          </p:cNvPicPr>
          <p:nvPr userDrawn="1"/>
        </p:nvPicPr>
        <p:blipFill>
          <a:blip r:embed="rId3" cstate="screen">
            <a:alphaModFix amt="18000"/>
            <a:extLst>
              <a:ext uri="{BEBA8EAE-BF5A-486C-A8C5-ECC9F3942E4B}">
                <a14:imgProps xmlns:a14="http://schemas.microsoft.com/office/drawing/2010/main">
                  <a14:imgLayer r:embed="rId4">
                    <a14:imgEffect>
                      <a14:colorTemperature colorTemp="4700"/>
                    </a14:imgEffect>
                    <a14:imgEffect>
                      <a14:saturation sat="33000"/>
                    </a14:imgEffect>
                  </a14:imgLayer>
                </a14:imgProps>
              </a:ext>
              <a:ext uri="{28A0092B-C50C-407E-A947-70E740481C1C}">
                <a14:useLocalDpi xmlns:a14="http://schemas.microsoft.com/office/drawing/2010/main"/>
              </a:ext>
            </a:extLst>
          </a:blip>
          <a:srcRect t="-673"/>
          <a:stretch/>
        </p:blipFill>
        <p:spPr>
          <a:xfrm>
            <a:off x="0" y="1062189"/>
            <a:ext cx="6858000" cy="8809959"/>
          </a:xfrm>
          <a:prstGeom prst="rect">
            <a:avLst/>
          </a:prstGeom>
        </p:spPr>
      </p:pic>
      <p:grpSp>
        <p:nvGrpSpPr>
          <p:cNvPr id="69" name="Group 68">
            <a:extLst>
              <a:ext uri="{FF2B5EF4-FFF2-40B4-BE49-F238E27FC236}">
                <a16:creationId xmlns:a16="http://schemas.microsoft.com/office/drawing/2014/main" id="{8F5893B4-B956-CA4C-4E89-2275C6A23F7F}"/>
              </a:ext>
            </a:extLst>
          </p:cNvPr>
          <p:cNvGrpSpPr/>
          <p:nvPr userDrawn="1"/>
        </p:nvGrpSpPr>
        <p:grpSpPr>
          <a:xfrm flipH="1">
            <a:off x="-113256" y="3"/>
            <a:ext cx="6971256" cy="6334517"/>
            <a:chOff x="-31505" y="3"/>
            <a:chExt cx="7944898" cy="6841768"/>
          </a:xfrm>
        </p:grpSpPr>
        <p:sp>
          <p:nvSpPr>
            <p:cNvPr id="65" name="Isosceles Triangle 64">
              <a:extLst>
                <a:ext uri="{FF2B5EF4-FFF2-40B4-BE49-F238E27FC236}">
                  <a16:creationId xmlns:a16="http://schemas.microsoft.com/office/drawing/2014/main" id="{7E756C03-7B9D-CF88-83F4-C1619FDA2C7C}"/>
                </a:ext>
              </a:extLst>
            </p:cNvPr>
            <p:cNvSpPr/>
            <p:nvPr userDrawn="1"/>
          </p:nvSpPr>
          <p:spPr>
            <a:xfrm rot="16200000">
              <a:off x="2660727" y="1589105"/>
              <a:ext cx="5619144" cy="4886188"/>
            </a:xfrm>
            <a:prstGeom prst="triangle">
              <a:avLst>
                <a:gd name="adj" fmla="val 100000"/>
              </a:avLst>
            </a:prstGeom>
            <a:gradFill>
              <a:gsLst>
                <a:gs pos="93000">
                  <a:srgbClr val="8EB3DF">
                    <a:alpha val="0"/>
                  </a:srgbClr>
                </a:gs>
                <a:gs pos="0">
                  <a:schemeClr val="accent3"/>
                </a:gs>
                <a:gs pos="70000">
                  <a:schemeClr val="accent3">
                    <a:alpha val="11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66" name="Group 65">
              <a:extLst>
                <a:ext uri="{FF2B5EF4-FFF2-40B4-BE49-F238E27FC236}">
                  <a16:creationId xmlns:a16="http://schemas.microsoft.com/office/drawing/2014/main" id="{F23A80A8-5B7B-720A-0498-48FB270B56F2}"/>
                </a:ext>
              </a:extLst>
            </p:cNvPr>
            <p:cNvGrpSpPr/>
            <p:nvPr userDrawn="1"/>
          </p:nvGrpSpPr>
          <p:grpSpPr>
            <a:xfrm flipV="1">
              <a:off x="-31505" y="3"/>
              <a:ext cx="3073148" cy="1233884"/>
              <a:chOff x="-33216277" y="3696971"/>
              <a:chExt cx="17875623" cy="1180237"/>
            </a:xfrm>
          </p:grpSpPr>
          <p:cxnSp>
            <p:nvCxnSpPr>
              <p:cNvPr id="67" name="Straight Connector 66">
                <a:extLst>
                  <a:ext uri="{FF2B5EF4-FFF2-40B4-BE49-F238E27FC236}">
                    <a16:creationId xmlns:a16="http://schemas.microsoft.com/office/drawing/2014/main" id="{F1A1FDB4-0FB7-BEEB-2B9D-D1E8FE3853CA}"/>
                  </a:ext>
                </a:extLst>
              </p:cNvPr>
              <p:cNvCxnSpPr>
                <a:cxnSpLocks/>
              </p:cNvCxnSpPr>
              <p:nvPr userDrawn="1"/>
            </p:nvCxnSpPr>
            <p:spPr>
              <a:xfrm flipV="1">
                <a:off x="-33216277" y="3710462"/>
                <a:ext cx="1787562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D45C79A-47B8-8CD3-9D6C-3CA04B7EC39E}"/>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13" name="Graphic 12">
            <a:extLst>
              <a:ext uri="{FF2B5EF4-FFF2-40B4-BE49-F238E27FC236}">
                <a16:creationId xmlns:a16="http://schemas.microsoft.com/office/drawing/2014/main" id="{2B3617B2-4386-53AD-39A7-6CFB852D60D5}"/>
              </a:ext>
            </a:extLst>
          </p:cNvPr>
          <p:cNvPicPr>
            <a:picLocks noChangeAspect="1"/>
          </p:cNvPicPr>
          <p:nvPr userDrawn="1"/>
        </p:nvPicPr>
        <p:blipFill>
          <a:blip r:embed="rId5">
            <a:alphaModFix amt="66000"/>
            <a:extLst>
              <a:ext uri="{96DAC541-7B7A-43D3-8B79-37D633B846F1}">
                <asvg:svgBlip xmlns:asvg="http://schemas.microsoft.com/office/drawing/2016/SVG/main" r:embed="rId6"/>
              </a:ext>
            </a:extLst>
          </a:blip>
          <a:srcRect l="27193" t="22453" r="47498" b="7994"/>
          <a:stretch/>
        </p:blipFill>
        <p:spPr>
          <a:xfrm>
            <a:off x="0" y="1133591"/>
            <a:ext cx="6858000" cy="8738553"/>
          </a:xfrm>
          <a:prstGeom prst="rect">
            <a:avLst/>
          </a:prstGeom>
        </p:spPr>
      </p:pic>
      <p:sp>
        <p:nvSpPr>
          <p:cNvPr id="6" name="Rectangle 5" hidden="1">
            <a:extLst>
              <a:ext uri="{FF2B5EF4-FFF2-40B4-BE49-F238E27FC236}">
                <a16:creationId xmlns:a16="http://schemas.microsoft.com/office/drawing/2014/main" id="{7227264A-2A2E-B464-74B1-0F6F1C10C77E}"/>
              </a:ext>
            </a:extLst>
          </p:cNvPr>
          <p:cNvSpPr/>
          <p:nvPr userDrawn="1"/>
        </p:nvSpPr>
        <p:spPr>
          <a:xfrm>
            <a:off x="-1" y="8774019"/>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 name="Rectangle 4">
            <a:extLst>
              <a:ext uri="{FF2B5EF4-FFF2-40B4-BE49-F238E27FC236}">
                <a16:creationId xmlns:a16="http://schemas.microsoft.com/office/drawing/2014/main" id="{3E3B1163-CCC9-1979-5D10-8ECD746F5FCC}"/>
              </a:ext>
            </a:extLst>
          </p:cNvPr>
          <p:cNvSpPr/>
          <p:nvPr userDrawn="1"/>
        </p:nvSpPr>
        <p:spPr>
          <a:xfrm>
            <a:off x="0" y="-3"/>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16" name="Group 15">
            <a:extLst>
              <a:ext uri="{FF2B5EF4-FFF2-40B4-BE49-F238E27FC236}">
                <a16:creationId xmlns:a16="http://schemas.microsoft.com/office/drawing/2014/main" id="{C4DF0931-276A-C4B3-E0A7-02B6EAA3C49B}"/>
              </a:ext>
            </a:extLst>
          </p:cNvPr>
          <p:cNvGrpSpPr/>
          <p:nvPr userDrawn="1"/>
        </p:nvGrpSpPr>
        <p:grpSpPr>
          <a:xfrm>
            <a:off x="390154" y="406178"/>
            <a:ext cx="1240285" cy="341910"/>
            <a:chOff x="2700591" y="2522601"/>
            <a:chExt cx="6428993" cy="1772284"/>
          </a:xfrm>
        </p:grpSpPr>
        <p:sp>
          <p:nvSpPr>
            <p:cNvPr id="17" name="Freeform: Shape 16">
              <a:extLst>
                <a:ext uri="{FF2B5EF4-FFF2-40B4-BE49-F238E27FC236}">
                  <a16:creationId xmlns:a16="http://schemas.microsoft.com/office/drawing/2014/main" id="{70B9B340-5E1C-9327-69F1-5AE446FF2255}"/>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20" name="Graphic 20">
              <a:extLst>
                <a:ext uri="{FF2B5EF4-FFF2-40B4-BE49-F238E27FC236}">
                  <a16:creationId xmlns:a16="http://schemas.microsoft.com/office/drawing/2014/main" id="{1E0C2497-164B-3E45-6090-5F805C67AB02}"/>
                </a:ext>
              </a:extLst>
            </p:cNvPr>
            <p:cNvGrpSpPr/>
            <p:nvPr/>
          </p:nvGrpSpPr>
          <p:grpSpPr>
            <a:xfrm>
              <a:off x="5034660" y="3339528"/>
              <a:ext cx="4094924" cy="747077"/>
              <a:chOff x="5034660" y="3339528"/>
              <a:chExt cx="4094924" cy="747077"/>
            </a:xfrm>
            <a:solidFill>
              <a:srgbClr val="FFFFFF"/>
            </a:solidFill>
          </p:grpSpPr>
          <p:sp>
            <p:nvSpPr>
              <p:cNvPr id="21" name="Freeform: Shape 20">
                <a:extLst>
                  <a:ext uri="{FF2B5EF4-FFF2-40B4-BE49-F238E27FC236}">
                    <a16:creationId xmlns:a16="http://schemas.microsoft.com/office/drawing/2014/main" id="{3198B4CB-7FA3-A37E-E540-E2FBA81CCDC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A8605D5-3EDB-F7D1-AC3B-DF5CEE51614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18B3AC0-A0B3-67F5-F442-48F0E029DF5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AD7D35-F105-3B1F-6CF2-EDD48ACC71B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9371C5E-12BC-7944-E1F6-FF98963DBD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67F76F1-36B6-C9E1-0D69-7196D96834A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0C5B1F5-1F12-DAC8-A282-CAB55191AC3B}"/>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4F4377A-A2E8-D20E-9FC2-72262641410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grpSp>
        <p:nvGrpSpPr>
          <p:cNvPr id="72" name="Group 71">
            <a:extLst>
              <a:ext uri="{FF2B5EF4-FFF2-40B4-BE49-F238E27FC236}">
                <a16:creationId xmlns:a16="http://schemas.microsoft.com/office/drawing/2014/main" id="{7D85C331-0D97-F14F-BCEE-E4CACC063DDB}"/>
              </a:ext>
            </a:extLst>
          </p:cNvPr>
          <p:cNvGrpSpPr/>
          <p:nvPr userDrawn="1"/>
        </p:nvGrpSpPr>
        <p:grpSpPr>
          <a:xfrm>
            <a:off x="340252" y="1670475"/>
            <a:ext cx="2267822" cy="1002192"/>
            <a:chOff x="423863" y="1657596"/>
            <a:chExt cx="2267822" cy="1002192"/>
          </a:xfrm>
        </p:grpSpPr>
        <p:sp>
          <p:nvSpPr>
            <p:cNvPr id="31" name="TextBox 30">
              <a:extLst>
                <a:ext uri="{FF2B5EF4-FFF2-40B4-BE49-F238E27FC236}">
                  <a16:creationId xmlns:a16="http://schemas.microsoft.com/office/drawing/2014/main" id="{8EC449FF-42C7-1A50-8B68-6D905C6EC17A}"/>
                </a:ext>
              </a:extLst>
            </p:cNvPr>
            <p:cNvSpPr txBox="1"/>
            <p:nvPr userDrawn="1"/>
          </p:nvSpPr>
          <p:spPr>
            <a:xfrm>
              <a:off x="423863" y="1657596"/>
              <a:ext cx="2267822" cy="615553"/>
            </a:xfrm>
            <a:prstGeom prst="rect">
              <a:avLst/>
            </a:prstGeom>
            <a:noFill/>
          </p:spPr>
          <p:txBody>
            <a:bodyPr wrap="square" lIns="0" tIns="0" rIns="0" bIns="0" rtlCol="0">
              <a:spAutoFit/>
            </a:bodyPr>
            <a:lstStyle/>
            <a:p>
              <a:pPr algn="r"/>
              <a:r>
                <a:rPr lang="pt-BR" sz="4000" b="1" i="1" dirty="0">
                  <a:solidFill>
                    <a:schemeClr val="bg1"/>
                  </a:solidFill>
                  <a:latin typeface="XP" pitchFamily="50" charset="0"/>
                  <a:ea typeface="XP" pitchFamily="50" charset="0"/>
                  <a:cs typeface="Roboto" panose="02000000000000000000" pitchFamily="2" charset="0"/>
                </a:rPr>
                <a:t>Thematic</a:t>
              </a:r>
            </a:p>
          </p:txBody>
        </p:sp>
        <p:sp>
          <p:nvSpPr>
            <p:cNvPr id="71" name="TextBox 70">
              <a:extLst>
                <a:ext uri="{FF2B5EF4-FFF2-40B4-BE49-F238E27FC236}">
                  <a16:creationId xmlns:a16="http://schemas.microsoft.com/office/drawing/2014/main" id="{F39388AA-C6A0-BACD-48D5-2675535A9633}"/>
                </a:ext>
              </a:extLst>
            </p:cNvPr>
            <p:cNvSpPr txBox="1"/>
            <p:nvPr userDrawn="1"/>
          </p:nvSpPr>
          <p:spPr>
            <a:xfrm>
              <a:off x="637566" y="2105790"/>
              <a:ext cx="2054119" cy="553998"/>
            </a:xfrm>
            <a:prstGeom prst="rect">
              <a:avLst/>
            </a:prstGeom>
            <a:noFill/>
          </p:spPr>
          <p:txBody>
            <a:bodyPr wrap="square" lIns="0" tIns="0" rIns="0" bIns="0" rtlCol="0">
              <a:spAutoFit/>
            </a:bodyPr>
            <a:lstStyle/>
            <a:p>
              <a:pPr algn="r"/>
              <a:r>
                <a:rPr lang="pt-BR" sz="3600" b="0" i="0" dirty="0">
                  <a:solidFill>
                    <a:schemeClr val="bg1"/>
                  </a:solidFill>
                  <a:latin typeface="XP Light Lighthouse" pitchFamily="50" charset="0"/>
                  <a:ea typeface="XP Light Lighthouse" pitchFamily="50" charset="0"/>
                  <a:cs typeface="Roboto" panose="02000000000000000000" pitchFamily="2" charset="0"/>
                </a:rPr>
                <a:t>Research</a:t>
              </a:r>
            </a:p>
          </p:txBody>
        </p:sp>
      </p:grpSp>
      <p:sp>
        <p:nvSpPr>
          <p:cNvPr id="75" name="Espaço Reservado para Texto 6">
            <a:extLst>
              <a:ext uri="{FF2B5EF4-FFF2-40B4-BE49-F238E27FC236}">
                <a16:creationId xmlns:a16="http://schemas.microsoft.com/office/drawing/2014/main" id="{354E5287-B1CE-DBCC-A334-7B6607B9F04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noProof="0"/>
              <a:t>Sector / Segment</a:t>
            </a:r>
          </a:p>
        </p:txBody>
      </p:sp>
      <p:sp>
        <p:nvSpPr>
          <p:cNvPr id="7" name="Date Placeholder 10">
            <a:extLst>
              <a:ext uri="{FF2B5EF4-FFF2-40B4-BE49-F238E27FC236}">
                <a16:creationId xmlns:a16="http://schemas.microsoft.com/office/drawing/2014/main" id="{624580AB-8B11-2158-FF8A-2264EA11D9E6}"/>
              </a:ext>
            </a:extLst>
          </p:cNvPr>
          <p:cNvSpPr>
            <a:spLocks noGrp="1"/>
          </p:cNvSpPr>
          <p:nvPr>
            <p:ph type="dt" sz="half" idx="2"/>
          </p:nvPr>
        </p:nvSpPr>
        <p:spPr>
          <a:xfrm>
            <a:off x="3371691" y="438763"/>
            <a:ext cx="3132139" cy="184666"/>
          </a:xfrm>
        </p:spPr>
        <p:txBody>
          <a:bodyPr/>
          <a:lstStyle>
            <a:lvl1pPr>
              <a:defRPr>
                <a:solidFill>
                  <a:srgbClr val="F9C113"/>
                </a:solidFill>
              </a:defRPr>
            </a:lvl1pPr>
          </a:lstStyle>
          <a:p>
            <a:fld id="{7C15C50E-5CAF-4D73-A24B-0338FF2E9F05}" type="datetime4">
              <a:rPr lang="en-US" smtClean="0"/>
              <a:pPr/>
              <a:t>July 21, 2026</a:t>
            </a:fld>
            <a:endParaRPr lang="en-US" dirty="0"/>
          </a:p>
        </p:txBody>
      </p:sp>
      <p:pic>
        <p:nvPicPr>
          <p:cNvPr id="10" name="Graphic 9">
            <a:extLst>
              <a:ext uri="{FF2B5EF4-FFF2-40B4-BE49-F238E27FC236}">
                <a16:creationId xmlns:a16="http://schemas.microsoft.com/office/drawing/2014/main" id="{F49ABFC1-C342-CD17-8E24-68B202FF4DD6}"/>
              </a:ext>
            </a:extLst>
          </p:cNvPr>
          <p:cNvPicPr>
            <a:picLocks noChangeAspect="1"/>
          </p:cNvPicPr>
          <p:nvPr userDrawn="1"/>
        </p:nvPicPr>
        <p:blipFill rotWithShape="1">
          <a:blip r:embed="rId7">
            <a:extLst>
              <a:ext uri="{96DAC541-7B7A-43D3-8B79-37D633B846F1}">
                <asvg:svgBlip xmlns:asvg="http://schemas.microsoft.com/office/drawing/2016/SVG/main" r:embed="rId8"/>
              </a:ext>
            </a:extLst>
          </a:blip>
          <a:srcRect l="19269" t="2351" r="1339" b="20035"/>
          <a:stretch/>
        </p:blipFill>
        <p:spPr>
          <a:xfrm flipV="1">
            <a:off x="-1" y="0"/>
            <a:ext cx="6858001" cy="9906000"/>
          </a:xfrm>
          <a:prstGeom prst="rect">
            <a:avLst/>
          </a:prstGeom>
        </p:spPr>
      </p:pic>
    </p:spTree>
    <p:extLst>
      <p:ext uri="{BB962C8B-B14F-4D97-AF65-F5344CB8AC3E}">
        <p14:creationId xmlns:p14="http://schemas.microsoft.com/office/powerpoint/2010/main" val="425166022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ap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688A787-9182-A426-2B75-FA6C6DDF288A}"/>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0" y="0"/>
            <a:ext cx="6858000" cy="2003470"/>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A4E2FB3C-1561-CDE0-F2B0-0E2716BC040B}"/>
              </a:ext>
            </a:extLst>
          </p:cNvPr>
          <p:cNvPicPr>
            <a:picLocks noChangeAspect="1"/>
          </p:cNvPicPr>
          <p:nvPr/>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9" name="Graphic 8">
            <a:extLst>
              <a:ext uri="{FF2B5EF4-FFF2-40B4-BE49-F238E27FC236}">
                <a16:creationId xmlns:a16="http://schemas.microsoft.com/office/drawing/2014/main" id="{2E2DBF91-C31C-E0F0-254B-B03F97806A89}"/>
              </a:ext>
            </a:extLst>
          </p:cNvPr>
          <p:cNvPicPr>
            <a:picLocks noChangeAspect="1"/>
          </p:cNvPicPr>
          <p:nvPr userDrawn="1"/>
        </p:nvPicPr>
        <p:blipFill>
          <a:blip r:embed="rId7">
            <a:alphaModFix amt="66000"/>
            <a:extLst>
              <a:ext uri="{96DAC541-7B7A-43D3-8B79-37D633B846F1}">
                <asvg:svgBlip xmlns:asvg="http://schemas.microsoft.com/office/drawing/2016/SVG/main" r:embed="rId8"/>
              </a:ext>
            </a:extLst>
          </a:blip>
          <a:srcRect l="51901" t="57744" r="40349" b="-120"/>
          <a:stretch/>
        </p:blipFill>
        <p:spPr>
          <a:xfrm rot="5400000" flipH="1">
            <a:off x="3316774" y="-1537758"/>
            <a:ext cx="2003470" cy="5078985"/>
          </a:xfrm>
          <a:prstGeom prst="rect">
            <a:avLst/>
          </a:prstGeom>
        </p:spPr>
      </p:pic>
      <p:sp>
        <p:nvSpPr>
          <p:cNvPr id="3" name="Rectangle 2">
            <a:extLst>
              <a:ext uri="{FF2B5EF4-FFF2-40B4-BE49-F238E27FC236}">
                <a16:creationId xmlns:a16="http://schemas.microsoft.com/office/drawing/2014/main" id="{13223387-3725-FC20-F192-6D6716DE37D5}"/>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userDrawn="1">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userDrawn="1">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July 21, 2026</a:t>
            </a:fld>
            <a:endParaRPr lang="en-US" dirty="0"/>
          </a:p>
        </p:txBody>
      </p:sp>
      <p:sp>
        <p:nvSpPr>
          <p:cNvPr id="36" name="Espaço Reservado para Texto 6">
            <a:extLst>
              <a:ext uri="{FF2B5EF4-FFF2-40B4-BE49-F238E27FC236}">
                <a16:creationId xmlns:a16="http://schemas.microsoft.com/office/drawing/2014/main" id="{984F9560-6699-43C8-BEE0-490CDFCBCF21}"/>
              </a:ext>
            </a:extLst>
          </p:cNvPr>
          <p:cNvSpPr>
            <a:spLocks noGrp="1"/>
          </p:cNvSpPr>
          <p:nvPr userDrawn="1">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userDrawn="1">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 name="Espaço Reservado para Conteúdo 14">
            <a:extLst>
              <a:ext uri="{FF2B5EF4-FFF2-40B4-BE49-F238E27FC236}">
                <a16:creationId xmlns:a16="http://schemas.microsoft.com/office/drawing/2014/main" id="{3422534A-F1CB-BBFF-8CE5-5CB138892884}"/>
              </a:ext>
            </a:extLst>
          </p:cNvPr>
          <p:cNvSpPr>
            <a:spLocks noGrp="1"/>
          </p:cNvSpPr>
          <p:nvPr>
            <p:ph sz="quarter" idx="21" hasCustomPrompt="1"/>
          </p:nvPr>
        </p:nvSpPr>
        <p:spPr>
          <a:xfrm>
            <a:off x="382829"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052BA432-D493-B8B5-ADA1-4440290AC12E}"/>
              </a:ext>
            </a:extLst>
          </p:cNvPr>
          <p:cNvSpPr>
            <a:spLocks noGrp="1"/>
          </p:cNvSpPr>
          <p:nvPr>
            <p:ph sz="quarter" idx="22" hasCustomPrompt="1"/>
          </p:nvPr>
        </p:nvSpPr>
        <p:spPr>
          <a:xfrm>
            <a:off x="3536951"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78436872-10E7-F7BB-DA0B-A6FFDDD07333}"/>
              </a:ext>
            </a:extLst>
          </p:cNvPr>
          <p:cNvSpPr>
            <a:spLocks noGrp="1"/>
          </p:cNvSpPr>
          <p:nvPr>
            <p:ph sz="quarter" idx="24" hasCustomPrompt="1"/>
          </p:nvPr>
        </p:nvSpPr>
        <p:spPr>
          <a:xfrm>
            <a:off x="382829"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8" name="Espaço Reservado para Conteúdo 14">
            <a:extLst>
              <a:ext uri="{FF2B5EF4-FFF2-40B4-BE49-F238E27FC236}">
                <a16:creationId xmlns:a16="http://schemas.microsoft.com/office/drawing/2014/main" id="{19DBE73C-C2CD-83C2-C6D2-8217714624B1}"/>
              </a:ext>
            </a:extLst>
          </p:cNvPr>
          <p:cNvSpPr>
            <a:spLocks noGrp="1"/>
          </p:cNvSpPr>
          <p:nvPr>
            <p:ph sz="quarter" idx="25" hasCustomPrompt="1"/>
          </p:nvPr>
        </p:nvSpPr>
        <p:spPr>
          <a:xfrm>
            <a:off x="3536951"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10" name="Straight Connector 9">
            <a:extLst>
              <a:ext uri="{FF2B5EF4-FFF2-40B4-BE49-F238E27FC236}">
                <a16:creationId xmlns:a16="http://schemas.microsoft.com/office/drawing/2014/main" id="{15D71B80-AC72-49AC-B09D-E52C19B52064}"/>
              </a:ext>
            </a:extLst>
          </p:cNvPr>
          <p:cNvCxnSpPr>
            <a:cxnSpLocks/>
          </p:cNvCxnSpPr>
          <p:nvPr userDrawn="1"/>
        </p:nvCxnSpPr>
        <p:spPr>
          <a:xfrm>
            <a:off x="4227459" y="2150951"/>
            <a:ext cx="0" cy="525891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89BF6539-9496-327C-37FC-619DC6D9078A}"/>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13" name="Text Placeholder 4">
            <a:extLst>
              <a:ext uri="{FF2B5EF4-FFF2-40B4-BE49-F238E27FC236}">
                <a16:creationId xmlns:a16="http://schemas.microsoft.com/office/drawing/2014/main" id="{9FE7D662-06FD-4510-0814-E74815AED648}"/>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14" name="Text Placeholder 4">
            <a:extLst>
              <a:ext uri="{FF2B5EF4-FFF2-40B4-BE49-F238E27FC236}">
                <a16:creationId xmlns:a16="http://schemas.microsoft.com/office/drawing/2014/main" id="{66D34F81-1353-1F11-EDF6-131DEC8F78E3}"/>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16" name="Text Placeholder 4">
            <a:extLst>
              <a:ext uri="{FF2B5EF4-FFF2-40B4-BE49-F238E27FC236}">
                <a16:creationId xmlns:a16="http://schemas.microsoft.com/office/drawing/2014/main" id="{9C0F5FBA-7015-1C4F-6440-8D2DC566707E}"/>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17" name="Text Placeholder 4">
            <a:extLst>
              <a:ext uri="{FF2B5EF4-FFF2-40B4-BE49-F238E27FC236}">
                <a16:creationId xmlns:a16="http://schemas.microsoft.com/office/drawing/2014/main" id="{2F372600-E1E8-A42B-36DD-8F450B0D3FB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18" name="Text Placeholder 4">
            <a:extLst>
              <a:ext uri="{FF2B5EF4-FFF2-40B4-BE49-F238E27FC236}">
                <a16:creationId xmlns:a16="http://schemas.microsoft.com/office/drawing/2014/main" id="{5BE5F1CC-0CA1-970E-03FC-5B891C2CEF42}"/>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19" name="Text Placeholder 4">
            <a:extLst>
              <a:ext uri="{FF2B5EF4-FFF2-40B4-BE49-F238E27FC236}">
                <a16:creationId xmlns:a16="http://schemas.microsoft.com/office/drawing/2014/main" id="{35824A92-0CF6-962F-0FE9-04EC29CA20F0}"/>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0" name="Text Placeholder 4">
            <a:extLst>
              <a:ext uri="{FF2B5EF4-FFF2-40B4-BE49-F238E27FC236}">
                <a16:creationId xmlns:a16="http://schemas.microsoft.com/office/drawing/2014/main" id="{0B3A3938-C409-5084-9827-D18788FC36AE}"/>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1" name="Text Placeholder 4">
            <a:extLst>
              <a:ext uri="{FF2B5EF4-FFF2-40B4-BE49-F238E27FC236}">
                <a16:creationId xmlns:a16="http://schemas.microsoft.com/office/drawing/2014/main" id="{110F7DB8-030A-FD87-106E-18EC0280F85D}"/>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2" name="Espaço Reservado para Conteúdo 14">
            <a:extLst>
              <a:ext uri="{FF2B5EF4-FFF2-40B4-BE49-F238E27FC236}">
                <a16:creationId xmlns:a16="http://schemas.microsoft.com/office/drawing/2014/main" id="{34EB6BD4-0983-55AD-E75C-92B427051854}"/>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3" name="Text Placeholder 4">
            <a:extLst>
              <a:ext uri="{FF2B5EF4-FFF2-40B4-BE49-F238E27FC236}">
                <a16:creationId xmlns:a16="http://schemas.microsoft.com/office/drawing/2014/main" id="{C29922D5-A5CB-5E06-BEF1-C535371BF795}"/>
              </a:ext>
            </a:extLst>
          </p:cNvPr>
          <p:cNvSpPr>
            <a:spLocks noGrp="1"/>
          </p:cNvSpPr>
          <p:nvPr>
            <p:ph type="body" sz="quarter" idx="23"/>
          </p:nvPr>
        </p:nvSpPr>
        <p:spPr>
          <a:xfrm>
            <a:off x="390154" y="3836988"/>
            <a:ext cx="3734172" cy="357287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4" name="Text Placeholder 4">
            <a:extLst>
              <a:ext uri="{FF2B5EF4-FFF2-40B4-BE49-F238E27FC236}">
                <a16:creationId xmlns:a16="http://schemas.microsoft.com/office/drawing/2014/main" id="{61B2C06E-6371-A6FA-77BC-61B45402995B}"/>
              </a:ext>
            </a:extLst>
          </p:cNvPr>
          <p:cNvSpPr>
            <a:spLocks noGrp="1"/>
          </p:cNvSpPr>
          <p:nvPr>
            <p:ph type="body" sz="quarter" idx="42"/>
          </p:nvPr>
        </p:nvSpPr>
        <p:spPr>
          <a:xfrm>
            <a:off x="390154" y="2150952"/>
            <a:ext cx="3734171" cy="1541573"/>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Tree>
    <p:extLst>
      <p:ext uri="{BB962C8B-B14F-4D97-AF65-F5344CB8AC3E}">
        <p14:creationId xmlns:p14="http://schemas.microsoft.com/office/powerpoint/2010/main" val="3117013153"/>
      </p:ext>
    </p:extLst>
  </p:cSld>
  <p:clrMapOvr>
    <a:masterClrMapping/>
  </p:clrMapOvr>
  <p:extLst>
    <p:ext uri="{DCECCB84-F9BA-43D5-87BE-67443E8EF086}">
      <p15:sldGuideLst xmlns:p15="http://schemas.microsoft.com/office/powerpoint/2012/main">
        <p15:guide id="0" pos="2228" userDrawn="1">
          <p15:clr>
            <a:srgbClr val="FBAE40"/>
          </p15:clr>
        </p15:guide>
        <p15:guide id="1" pos="20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3" name="Espaço Reservado para Conteúdo 14">
            <a:extLst>
              <a:ext uri="{FF2B5EF4-FFF2-40B4-BE49-F238E27FC236}">
                <a16:creationId xmlns:a16="http://schemas.microsoft.com/office/drawing/2014/main" id="{4D005A3B-2044-D406-2A9E-49AD2BFCCD4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22" name="Graphic 21">
            <a:extLst>
              <a:ext uri="{FF2B5EF4-FFF2-40B4-BE49-F238E27FC236}">
                <a16:creationId xmlns:a16="http://schemas.microsoft.com/office/drawing/2014/main" id="{4CAB420E-0A94-D115-0077-F9F55F89139D}"/>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0" y="0"/>
            <a:ext cx="6858000" cy="2003470"/>
          </a:xfrm>
          <a:prstGeom prst="rect">
            <a:avLst/>
          </a:prstGeom>
        </p:spPr>
      </p:pic>
      <p:pic>
        <p:nvPicPr>
          <p:cNvPr id="23" name="Picture 22" descr="A blue and white dot pattern&#10;&#10;AI-generated content may be incorrect.">
            <a:extLst>
              <a:ext uri="{FF2B5EF4-FFF2-40B4-BE49-F238E27FC236}">
                <a16:creationId xmlns:a16="http://schemas.microsoft.com/office/drawing/2014/main" id="{7F805A88-8B36-4FC0-2BAC-7102017DAE07}"/>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37" name="Graphic 36">
            <a:extLst>
              <a:ext uri="{FF2B5EF4-FFF2-40B4-BE49-F238E27FC236}">
                <a16:creationId xmlns:a16="http://schemas.microsoft.com/office/drawing/2014/main" id="{635058DA-5475-8BF5-129B-1EE343C5E3C6}"/>
              </a:ext>
            </a:extLst>
          </p:cNvPr>
          <p:cNvPicPr>
            <a:picLocks noChangeAspect="1"/>
          </p:cNvPicPr>
          <p:nvPr userDrawn="1"/>
        </p:nvPicPr>
        <p:blipFill>
          <a:blip r:embed="rId7">
            <a:alphaModFix amt="66000"/>
            <a:extLst>
              <a:ext uri="{96DAC541-7B7A-43D3-8B79-37D633B846F1}">
                <asvg:svgBlip xmlns:asvg="http://schemas.microsoft.com/office/drawing/2016/SVG/main" r:embed="rId8"/>
              </a:ext>
            </a:extLst>
          </a:blip>
          <a:srcRect l="51901" t="57744" r="40349" b="-120"/>
          <a:stretch/>
        </p:blipFill>
        <p:spPr>
          <a:xfrm rot="5400000" flipH="1">
            <a:off x="3316774" y="-1537758"/>
            <a:ext cx="2003470" cy="5078985"/>
          </a:xfrm>
          <a:prstGeom prst="rect">
            <a:avLst/>
          </a:prstGeom>
        </p:spPr>
      </p:pic>
      <p:sp>
        <p:nvSpPr>
          <p:cNvPr id="41" name="Rectangle 40">
            <a:extLst>
              <a:ext uri="{FF2B5EF4-FFF2-40B4-BE49-F238E27FC236}">
                <a16:creationId xmlns:a16="http://schemas.microsoft.com/office/drawing/2014/main" id="{8CBEA2C4-70F8-1154-FB31-9D26C9A42D0D}"/>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2" name="Espaço Reservado para Texto 6">
            <a:extLst>
              <a:ext uri="{FF2B5EF4-FFF2-40B4-BE49-F238E27FC236}">
                <a16:creationId xmlns:a16="http://schemas.microsoft.com/office/drawing/2014/main" id="{C47910B7-568C-3E88-95FA-56FAB4778E25}"/>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3" name="Group 42">
            <a:extLst>
              <a:ext uri="{FF2B5EF4-FFF2-40B4-BE49-F238E27FC236}">
                <a16:creationId xmlns:a16="http://schemas.microsoft.com/office/drawing/2014/main" id="{50445D10-5B4D-1FC3-55EF-1D91917A065A}"/>
              </a:ext>
            </a:extLst>
          </p:cNvPr>
          <p:cNvGrpSpPr/>
          <p:nvPr userDrawn="1"/>
        </p:nvGrpSpPr>
        <p:grpSpPr>
          <a:xfrm>
            <a:off x="390154" y="406178"/>
            <a:ext cx="1240285" cy="341910"/>
            <a:chOff x="2700591" y="2522601"/>
            <a:chExt cx="6428993" cy="1772284"/>
          </a:xfrm>
        </p:grpSpPr>
        <p:sp>
          <p:nvSpPr>
            <p:cNvPr id="44" name="Freeform: Shape 40">
              <a:extLst>
                <a:ext uri="{FF2B5EF4-FFF2-40B4-BE49-F238E27FC236}">
                  <a16:creationId xmlns:a16="http://schemas.microsoft.com/office/drawing/2014/main" id="{FF71E2E5-E6E2-0C32-655B-4E016B2592F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5" name="Graphic 20">
              <a:extLst>
                <a:ext uri="{FF2B5EF4-FFF2-40B4-BE49-F238E27FC236}">
                  <a16:creationId xmlns:a16="http://schemas.microsoft.com/office/drawing/2014/main" id="{A1160CB9-1491-3F15-932D-6F25368647FB}"/>
                </a:ext>
              </a:extLst>
            </p:cNvPr>
            <p:cNvGrpSpPr/>
            <p:nvPr/>
          </p:nvGrpSpPr>
          <p:grpSpPr>
            <a:xfrm>
              <a:off x="5034660" y="3339528"/>
              <a:ext cx="4094924" cy="747077"/>
              <a:chOff x="5034660" y="3339528"/>
              <a:chExt cx="4094924" cy="747077"/>
            </a:xfrm>
            <a:solidFill>
              <a:srgbClr val="FFFFFF"/>
            </a:solidFill>
          </p:grpSpPr>
          <p:sp>
            <p:nvSpPr>
              <p:cNvPr id="46" name="Freeform: Shape 42">
                <a:extLst>
                  <a:ext uri="{FF2B5EF4-FFF2-40B4-BE49-F238E27FC236}">
                    <a16:creationId xmlns:a16="http://schemas.microsoft.com/office/drawing/2014/main" id="{AC720A55-3697-F62E-3140-B4B6F386517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7" name="Freeform: Shape 43">
                <a:extLst>
                  <a:ext uri="{FF2B5EF4-FFF2-40B4-BE49-F238E27FC236}">
                    <a16:creationId xmlns:a16="http://schemas.microsoft.com/office/drawing/2014/main" id="{3184EE8E-9FAA-955A-267B-4CDB02A7A3C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8" name="Freeform: Shape 44">
                <a:extLst>
                  <a:ext uri="{FF2B5EF4-FFF2-40B4-BE49-F238E27FC236}">
                    <a16:creationId xmlns:a16="http://schemas.microsoft.com/office/drawing/2014/main" id="{CD1F6BEB-4C47-857A-7BC0-5AA4F690B143}"/>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9" name="Freeform: Shape 45">
                <a:extLst>
                  <a:ext uri="{FF2B5EF4-FFF2-40B4-BE49-F238E27FC236}">
                    <a16:creationId xmlns:a16="http://schemas.microsoft.com/office/drawing/2014/main" id="{128423AA-7459-6F7E-819C-5DE5E497CD6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50" name="Freeform: Shape 46">
                <a:extLst>
                  <a:ext uri="{FF2B5EF4-FFF2-40B4-BE49-F238E27FC236}">
                    <a16:creationId xmlns:a16="http://schemas.microsoft.com/office/drawing/2014/main" id="{4CEB9D67-85BF-A5AC-4D96-8BFC4C3760B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51" name="Freeform: Shape 47">
                <a:extLst>
                  <a:ext uri="{FF2B5EF4-FFF2-40B4-BE49-F238E27FC236}">
                    <a16:creationId xmlns:a16="http://schemas.microsoft.com/office/drawing/2014/main" id="{05075832-6ABB-B69D-B6EF-F5AF63922CFC}"/>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2" name="Freeform: Shape 48">
                <a:extLst>
                  <a:ext uri="{FF2B5EF4-FFF2-40B4-BE49-F238E27FC236}">
                    <a16:creationId xmlns:a16="http://schemas.microsoft.com/office/drawing/2014/main" id="{9F517DAC-F307-7045-2FA5-846E86E2E93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3" name="Freeform: Shape 49">
                <a:extLst>
                  <a:ext uri="{FF2B5EF4-FFF2-40B4-BE49-F238E27FC236}">
                    <a16:creationId xmlns:a16="http://schemas.microsoft.com/office/drawing/2014/main" id="{A406673A-0EDD-0165-F953-A4D02C86C1F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5" name="Espaço Reservado para Texto 6">
            <a:extLst>
              <a:ext uri="{FF2B5EF4-FFF2-40B4-BE49-F238E27FC236}">
                <a16:creationId xmlns:a16="http://schemas.microsoft.com/office/drawing/2014/main" id="{EEDF3783-FF4C-74D1-C6CF-53A7F73D871C}"/>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6" name="Date Placeholder 1">
            <a:extLst>
              <a:ext uri="{FF2B5EF4-FFF2-40B4-BE49-F238E27FC236}">
                <a16:creationId xmlns:a16="http://schemas.microsoft.com/office/drawing/2014/main" id="{DD5E9FA3-7626-82A6-0ECD-999CE74FFEE1}"/>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July 21, 2026</a:t>
            </a:fld>
            <a:endParaRPr lang="en-US" dirty="0"/>
          </a:p>
        </p:txBody>
      </p:sp>
      <p:sp>
        <p:nvSpPr>
          <p:cNvPr id="57" name="Espaço Reservado para Texto 6">
            <a:extLst>
              <a:ext uri="{FF2B5EF4-FFF2-40B4-BE49-F238E27FC236}">
                <a16:creationId xmlns:a16="http://schemas.microsoft.com/office/drawing/2014/main" id="{629D0B6B-57EC-157E-009C-9AAD86067E5D}"/>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6B23C9D9-D221-14FE-B73D-CEDC08C3A690}"/>
              </a:ext>
            </a:extLst>
          </p:cNvPr>
          <p:cNvSpPr>
            <a:spLocks noGrp="1"/>
          </p:cNvSpPr>
          <p:nvPr>
            <p:ph type="body" sz="quarter" idx="41"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9158793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Text Placeholder 4">
            <a:extLst>
              <a:ext uri="{FF2B5EF4-FFF2-40B4-BE49-F238E27FC236}">
                <a16:creationId xmlns:a16="http://schemas.microsoft.com/office/drawing/2014/main" id="{9CDC6F15-9156-27BD-DE24-345453CF452B}"/>
              </a:ext>
            </a:extLst>
          </p:cNvPr>
          <p:cNvSpPr>
            <a:spLocks noGrp="1"/>
          </p:cNvSpPr>
          <p:nvPr>
            <p:ph type="body" sz="quarter" idx="20"/>
          </p:nvPr>
        </p:nvSpPr>
        <p:spPr>
          <a:xfrm>
            <a:off x="390154" y="2150950"/>
            <a:ext cx="6098400"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4" name="Text Placeholder 4">
            <a:extLst>
              <a:ext uri="{FF2B5EF4-FFF2-40B4-BE49-F238E27FC236}">
                <a16:creationId xmlns:a16="http://schemas.microsoft.com/office/drawing/2014/main" id="{D09E0B4F-0CB9-DC61-CCA9-25A73A1C8DD4}"/>
              </a:ext>
            </a:extLst>
          </p:cNvPr>
          <p:cNvSpPr>
            <a:spLocks noGrp="1"/>
          </p:cNvSpPr>
          <p:nvPr>
            <p:ph type="body" sz="quarter" idx="23"/>
          </p:nvPr>
        </p:nvSpPr>
        <p:spPr>
          <a:xfrm>
            <a:off x="390154" y="3691053"/>
            <a:ext cx="3734170" cy="4018975"/>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5" name="Text Placeholder 4">
            <a:extLst>
              <a:ext uri="{FF2B5EF4-FFF2-40B4-BE49-F238E27FC236}">
                <a16:creationId xmlns:a16="http://schemas.microsoft.com/office/drawing/2014/main" id="{5A7F030E-73C4-E07A-33DF-312D56F0F76C}"/>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6" name="Text Placeholder 4">
            <a:extLst>
              <a:ext uri="{FF2B5EF4-FFF2-40B4-BE49-F238E27FC236}">
                <a16:creationId xmlns:a16="http://schemas.microsoft.com/office/drawing/2014/main" id="{BB3A3439-E17D-6D38-1316-DAE169B84D8D}"/>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8" name="Text Placeholder 4">
            <a:extLst>
              <a:ext uri="{FF2B5EF4-FFF2-40B4-BE49-F238E27FC236}">
                <a16:creationId xmlns:a16="http://schemas.microsoft.com/office/drawing/2014/main" id="{D879252A-E1C2-E728-21D3-50B31743B00B}"/>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9" name="Text Placeholder 4">
            <a:extLst>
              <a:ext uri="{FF2B5EF4-FFF2-40B4-BE49-F238E27FC236}">
                <a16:creationId xmlns:a16="http://schemas.microsoft.com/office/drawing/2014/main" id="{F9B99FB5-852F-6BAD-F3AA-BCFE83FADD59}"/>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0" name="Text Placeholder 4">
            <a:extLst>
              <a:ext uri="{FF2B5EF4-FFF2-40B4-BE49-F238E27FC236}">
                <a16:creationId xmlns:a16="http://schemas.microsoft.com/office/drawing/2014/main" id="{40246B11-FD7D-36D8-6E07-4D3E3BAC269E}"/>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1" name="Text Placeholder 4">
            <a:extLst>
              <a:ext uri="{FF2B5EF4-FFF2-40B4-BE49-F238E27FC236}">
                <a16:creationId xmlns:a16="http://schemas.microsoft.com/office/drawing/2014/main" id="{6BB6FA29-C19C-7F7C-3184-635E561111AC}"/>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2" name="Text Placeholder 4">
            <a:extLst>
              <a:ext uri="{FF2B5EF4-FFF2-40B4-BE49-F238E27FC236}">
                <a16:creationId xmlns:a16="http://schemas.microsoft.com/office/drawing/2014/main" id="{5AB78DE9-33F1-89EC-EAD1-9DA325469D9C}"/>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3" name="Text Placeholder 4">
            <a:extLst>
              <a:ext uri="{FF2B5EF4-FFF2-40B4-BE49-F238E27FC236}">
                <a16:creationId xmlns:a16="http://schemas.microsoft.com/office/drawing/2014/main" id="{5E8516FE-9642-556F-F777-2569F79C7BFC}"/>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4" name="Text Placeholder 4">
            <a:extLst>
              <a:ext uri="{FF2B5EF4-FFF2-40B4-BE49-F238E27FC236}">
                <a16:creationId xmlns:a16="http://schemas.microsoft.com/office/drawing/2014/main" id="{5FC8989C-C279-357C-1E1A-D58DEA9EF4A5}"/>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9" name="Espaço Reservado para Conteúdo 14">
            <a:extLst>
              <a:ext uri="{FF2B5EF4-FFF2-40B4-BE49-F238E27FC236}">
                <a16:creationId xmlns:a16="http://schemas.microsoft.com/office/drawing/2014/main" id="{0367F594-505D-738C-FC34-474862284B60}"/>
              </a:ext>
            </a:extLst>
          </p:cNvPr>
          <p:cNvSpPr>
            <a:spLocks noGrp="1"/>
          </p:cNvSpPr>
          <p:nvPr>
            <p:ph sz="quarter" idx="21" hasCustomPrompt="1"/>
          </p:nvPr>
        </p:nvSpPr>
        <p:spPr>
          <a:xfrm>
            <a:off x="382830" y="8150455"/>
            <a:ext cx="610686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2BBD1FCD-CECD-31A7-94DA-02CCEF482D42}"/>
              </a:ext>
            </a:extLst>
          </p:cNvPr>
          <p:cNvSpPr>
            <a:spLocks noGrp="1"/>
          </p:cNvSpPr>
          <p:nvPr>
            <p:ph sz="quarter" idx="22" hasCustomPrompt="1"/>
          </p:nvPr>
        </p:nvSpPr>
        <p:spPr>
          <a:xfrm>
            <a:off x="4330593" y="6790831"/>
            <a:ext cx="2159107" cy="91919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8" name="Espaço Reservado para Conteúdo 14">
            <a:extLst>
              <a:ext uri="{FF2B5EF4-FFF2-40B4-BE49-F238E27FC236}">
                <a16:creationId xmlns:a16="http://schemas.microsoft.com/office/drawing/2014/main" id="{BA06DE38-13ED-2B77-02BB-67B91D04C2A2}"/>
              </a:ext>
            </a:extLst>
          </p:cNvPr>
          <p:cNvSpPr>
            <a:spLocks noGrp="1"/>
          </p:cNvSpPr>
          <p:nvPr>
            <p:ph sz="quarter" idx="37" hasCustomPrompt="1"/>
          </p:nvPr>
        </p:nvSpPr>
        <p:spPr>
          <a:xfrm>
            <a:off x="382830" y="7861837"/>
            <a:ext cx="610686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9" name="Espaço Reservado para Conteúdo 14">
            <a:extLst>
              <a:ext uri="{FF2B5EF4-FFF2-40B4-BE49-F238E27FC236}">
                <a16:creationId xmlns:a16="http://schemas.microsoft.com/office/drawing/2014/main" id="{C1B6818F-6251-98B3-CD88-0BD6F91489D4}"/>
              </a:ext>
            </a:extLst>
          </p:cNvPr>
          <p:cNvSpPr>
            <a:spLocks noGrp="1"/>
          </p:cNvSpPr>
          <p:nvPr>
            <p:ph sz="quarter" idx="24" hasCustomPrompt="1"/>
          </p:nvPr>
        </p:nvSpPr>
        <p:spPr>
          <a:xfrm>
            <a:off x="4330593" y="65022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0" name="Espaço Reservado para Conteúdo 14">
            <a:extLst>
              <a:ext uri="{FF2B5EF4-FFF2-40B4-BE49-F238E27FC236}">
                <a16:creationId xmlns:a16="http://schemas.microsoft.com/office/drawing/2014/main" id="{9ED6545B-3ECC-FC98-B90F-BBC0841F64A7}"/>
              </a:ext>
            </a:extLst>
          </p:cNvPr>
          <p:cNvSpPr>
            <a:spLocks noGrp="1"/>
          </p:cNvSpPr>
          <p:nvPr>
            <p:ph sz="quarter" idx="41"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70" name="Straight Connector 69">
            <a:extLst>
              <a:ext uri="{FF2B5EF4-FFF2-40B4-BE49-F238E27FC236}">
                <a16:creationId xmlns:a16="http://schemas.microsoft.com/office/drawing/2014/main" id="{C89909FC-D97F-7AAE-54BD-012E87CABC70}"/>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7DE368EF-9DBD-D2EB-FE88-5082F657D8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92F8F97F-64C3-B5F1-CC17-D7DD0BA445B2}"/>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1E08EE3C-A447-126D-DDD8-AA16CB5FBCC5}"/>
              </a:ext>
            </a:extLst>
          </p:cNvPr>
          <p:cNvPicPr>
            <a:picLocks noChangeAspect="1"/>
          </p:cNvPicPr>
          <p:nvPr userDrawn="1"/>
        </p:nvPicPr>
        <p:blipFill>
          <a:blip r:embed="rId7">
            <a:alphaModFix amt="66000"/>
            <a:extLst>
              <a:ext uri="{96DAC541-7B7A-43D3-8B79-37D633B846F1}">
                <asvg:svgBlip xmlns:asvg="http://schemas.microsoft.com/office/drawing/2016/SVG/main" r:embed="rId8"/>
              </a:ext>
            </a:extLst>
          </a:blip>
          <a:srcRect l="51901" t="57744" r="40349" b="-120"/>
          <a:stretch/>
        </p:blipFill>
        <p:spPr>
          <a:xfrm rot="5400000" flipH="1">
            <a:off x="3316774" y="-1537758"/>
            <a:ext cx="2003470" cy="5078985"/>
          </a:xfrm>
          <a:prstGeom prst="rect">
            <a:avLst/>
          </a:prstGeom>
        </p:spPr>
      </p:pic>
      <p:sp>
        <p:nvSpPr>
          <p:cNvPr id="35" name="Rectangle 34">
            <a:extLst>
              <a:ext uri="{FF2B5EF4-FFF2-40B4-BE49-F238E27FC236}">
                <a16:creationId xmlns:a16="http://schemas.microsoft.com/office/drawing/2014/main" id="{6F30ED1A-F839-4155-2DF1-3B08CC622F3C}"/>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8" name="Espaço Reservado para Texto 6">
            <a:extLst>
              <a:ext uri="{FF2B5EF4-FFF2-40B4-BE49-F238E27FC236}">
                <a16:creationId xmlns:a16="http://schemas.microsoft.com/office/drawing/2014/main" id="{765BBC64-340B-AEE8-3114-AC48D39E3DCD}"/>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51" name="Group 50">
            <a:extLst>
              <a:ext uri="{FF2B5EF4-FFF2-40B4-BE49-F238E27FC236}">
                <a16:creationId xmlns:a16="http://schemas.microsoft.com/office/drawing/2014/main" id="{DB04402B-D0F7-6E96-DF15-6F460AD07D70}"/>
              </a:ext>
            </a:extLst>
          </p:cNvPr>
          <p:cNvGrpSpPr/>
          <p:nvPr userDrawn="1"/>
        </p:nvGrpSpPr>
        <p:grpSpPr>
          <a:xfrm>
            <a:off x="390154" y="406178"/>
            <a:ext cx="1240285" cy="341910"/>
            <a:chOff x="2700591" y="2522601"/>
            <a:chExt cx="6428993" cy="1772284"/>
          </a:xfrm>
        </p:grpSpPr>
        <p:sp>
          <p:nvSpPr>
            <p:cNvPr id="53" name="Freeform: Shape 40">
              <a:extLst>
                <a:ext uri="{FF2B5EF4-FFF2-40B4-BE49-F238E27FC236}">
                  <a16:creationId xmlns:a16="http://schemas.microsoft.com/office/drawing/2014/main" id="{DF551665-3C6D-B239-C827-584E974971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084CE03A-3B82-E1CE-CA1E-2980BB054ABB}"/>
                </a:ext>
              </a:extLst>
            </p:cNvPr>
            <p:cNvGrpSpPr/>
            <p:nvPr/>
          </p:nvGrpSpPr>
          <p:grpSpPr>
            <a:xfrm>
              <a:off x="5034660" y="3339528"/>
              <a:ext cx="4094924" cy="747077"/>
              <a:chOff x="5034660" y="3339528"/>
              <a:chExt cx="4094924" cy="747077"/>
            </a:xfrm>
            <a:solidFill>
              <a:srgbClr val="FFFFFF"/>
            </a:solidFill>
          </p:grpSpPr>
          <p:sp>
            <p:nvSpPr>
              <p:cNvPr id="55" name="Freeform: Shape 42">
                <a:extLst>
                  <a:ext uri="{FF2B5EF4-FFF2-40B4-BE49-F238E27FC236}">
                    <a16:creationId xmlns:a16="http://schemas.microsoft.com/office/drawing/2014/main" id="{5DD8F7C7-C66B-0E88-0338-C15BB7C4829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7" name="Freeform: Shape 43">
                <a:extLst>
                  <a:ext uri="{FF2B5EF4-FFF2-40B4-BE49-F238E27FC236}">
                    <a16:creationId xmlns:a16="http://schemas.microsoft.com/office/drawing/2014/main" id="{8EB900E1-B6FE-5006-C7AB-386F591035F4}"/>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61" name="Freeform: Shape 44">
                <a:extLst>
                  <a:ext uri="{FF2B5EF4-FFF2-40B4-BE49-F238E27FC236}">
                    <a16:creationId xmlns:a16="http://schemas.microsoft.com/office/drawing/2014/main" id="{3E68FD6F-A3BA-8ED9-44C9-548F7ECB58F1}"/>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62" name="Freeform: Shape 45">
                <a:extLst>
                  <a:ext uri="{FF2B5EF4-FFF2-40B4-BE49-F238E27FC236}">
                    <a16:creationId xmlns:a16="http://schemas.microsoft.com/office/drawing/2014/main" id="{2A0F1337-B604-F12F-4E54-B9BB6B1DE57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63" name="Freeform: Shape 46">
                <a:extLst>
                  <a:ext uri="{FF2B5EF4-FFF2-40B4-BE49-F238E27FC236}">
                    <a16:creationId xmlns:a16="http://schemas.microsoft.com/office/drawing/2014/main" id="{43843578-116B-0B3C-9613-5806743ED7F4}"/>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64" name="Freeform: Shape 47">
                <a:extLst>
                  <a:ext uri="{FF2B5EF4-FFF2-40B4-BE49-F238E27FC236}">
                    <a16:creationId xmlns:a16="http://schemas.microsoft.com/office/drawing/2014/main" id="{E198D074-C2A9-27A2-DD70-957167587712}"/>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65" name="Freeform: Shape 48">
                <a:extLst>
                  <a:ext uri="{FF2B5EF4-FFF2-40B4-BE49-F238E27FC236}">
                    <a16:creationId xmlns:a16="http://schemas.microsoft.com/office/drawing/2014/main" id="{2B87AE26-76BA-EF21-EC91-226F3E2FD9A7}"/>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66" name="Freeform: Shape 49">
                <a:extLst>
                  <a:ext uri="{FF2B5EF4-FFF2-40B4-BE49-F238E27FC236}">
                    <a16:creationId xmlns:a16="http://schemas.microsoft.com/office/drawing/2014/main" id="{9A6F990E-C626-7C53-CAB3-36C7F46AE355}"/>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67" name="Espaço Reservado para Texto 6">
            <a:extLst>
              <a:ext uri="{FF2B5EF4-FFF2-40B4-BE49-F238E27FC236}">
                <a16:creationId xmlns:a16="http://schemas.microsoft.com/office/drawing/2014/main" id="{4FD74D62-0AC6-7F8E-2129-D927075C87F0}"/>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68" name="Date Placeholder 1">
            <a:extLst>
              <a:ext uri="{FF2B5EF4-FFF2-40B4-BE49-F238E27FC236}">
                <a16:creationId xmlns:a16="http://schemas.microsoft.com/office/drawing/2014/main" id="{5D5AFE9C-9406-C324-70B7-61AE233586C1}"/>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July 21, 2026</a:t>
            </a:fld>
            <a:endParaRPr lang="en-US" dirty="0"/>
          </a:p>
        </p:txBody>
      </p:sp>
      <p:sp>
        <p:nvSpPr>
          <p:cNvPr id="69" name="Espaço Reservado para Texto 6">
            <a:extLst>
              <a:ext uri="{FF2B5EF4-FFF2-40B4-BE49-F238E27FC236}">
                <a16:creationId xmlns:a16="http://schemas.microsoft.com/office/drawing/2014/main" id="{F3241822-E5AA-2070-1435-F2979768E6E8}"/>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71" name="Espaço Reservado para Texto 6">
            <a:extLst>
              <a:ext uri="{FF2B5EF4-FFF2-40B4-BE49-F238E27FC236}">
                <a16:creationId xmlns:a16="http://schemas.microsoft.com/office/drawing/2014/main" id="{0DD40EF2-E1A6-2835-E898-623CF332E356}"/>
              </a:ext>
            </a:extLst>
          </p:cNvPr>
          <p:cNvSpPr>
            <a:spLocks noGrp="1"/>
          </p:cNvSpPr>
          <p:nvPr>
            <p:ph type="body" sz="quarter" idx="42"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3030028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15" name="Espaço Reservado para Conteúdo 14">
            <a:extLst>
              <a:ext uri="{FF2B5EF4-FFF2-40B4-BE49-F238E27FC236}">
                <a16:creationId xmlns:a16="http://schemas.microsoft.com/office/drawing/2014/main" id="{592D369A-CDFC-B507-81B4-EA34E7471120}"/>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4" name="Espaço Reservado para Conteúdo 14">
            <a:extLst>
              <a:ext uri="{FF2B5EF4-FFF2-40B4-BE49-F238E27FC236}">
                <a16:creationId xmlns:a16="http://schemas.microsoft.com/office/drawing/2014/main" id="{EC7D38A6-E6A5-A9D6-2ED6-31212B379779}"/>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5" name="Straight Connector 24">
            <a:extLst>
              <a:ext uri="{FF2B5EF4-FFF2-40B4-BE49-F238E27FC236}">
                <a16:creationId xmlns:a16="http://schemas.microsoft.com/office/drawing/2014/main" id="{66BF18E4-3D29-42A7-6C25-B8127BF9DF8A}"/>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8E11B218-731B-DED1-E2DD-B6A88194082F}"/>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8" name="Text Placeholder 4">
            <a:extLst>
              <a:ext uri="{FF2B5EF4-FFF2-40B4-BE49-F238E27FC236}">
                <a16:creationId xmlns:a16="http://schemas.microsoft.com/office/drawing/2014/main" id="{5E2B7853-2B3B-5C3E-31FA-0D980EB9825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9" name="Text Placeholder 4">
            <a:extLst>
              <a:ext uri="{FF2B5EF4-FFF2-40B4-BE49-F238E27FC236}">
                <a16:creationId xmlns:a16="http://schemas.microsoft.com/office/drawing/2014/main" id="{CE0A76F7-79E8-A32B-B2C3-0DF23F12736F}"/>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0" name="Text Placeholder 4">
            <a:extLst>
              <a:ext uri="{FF2B5EF4-FFF2-40B4-BE49-F238E27FC236}">
                <a16:creationId xmlns:a16="http://schemas.microsoft.com/office/drawing/2014/main" id="{1572963F-527C-266C-CEA7-4BBE605CF227}"/>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1" name="Text Placeholder 4">
            <a:extLst>
              <a:ext uri="{FF2B5EF4-FFF2-40B4-BE49-F238E27FC236}">
                <a16:creationId xmlns:a16="http://schemas.microsoft.com/office/drawing/2014/main" id="{3E235B2D-3B3B-8BD6-F30A-7B508DC31E12}"/>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2" name="Text Placeholder 4">
            <a:extLst>
              <a:ext uri="{FF2B5EF4-FFF2-40B4-BE49-F238E27FC236}">
                <a16:creationId xmlns:a16="http://schemas.microsoft.com/office/drawing/2014/main" id="{F76892AD-65D9-283F-1D35-F2253E08B6E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3" name="Text Placeholder 4">
            <a:extLst>
              <a:ext uri="{FF2B5EF4-FFF2-40B4-BE49-F238E27FC236}">
                <a16:creationId xmlns:a16="http://schemas.microsoft.com/office/drawing/2014/main" id="{C6AD9A9A-18E9-A7F8-886F-1061653B815D}"/>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4" name="Text Placeholder 4">
            <a:extLst>
              <a:ext uri="{FF2B5EF4-FFF2-40B4-BE49-F238E27FC236}">
                <a16:creationId xmlns:a16="http://schemas.microsoft.com/office/drawing/2014/main" id="{B88D50CA-40BF-B59C-5995-423CE5987457}"/>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5" name="Text Placeholder 4">
            <a:extLst>
              <a:ext uri="{FF2B5EF4-FFF2-40B4-BE49-F238E27FC236}">
                <a16:creationId xmlns:a16="http://schemas.microsoft.com/office/drawing/2014/main" id="{633C82EA-D2E2-815F-F550-B8F1A48AFB80}"/>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8" name="Text Placeholder 4">
            <a:extLst>
              <a:ext uri="{FF2B5EF4-FFF2-40B4-BE49-F238E27FC236}">
                <a16:creationId xmlns:a16="http://schemas.microsoft.com/office/drawing/2014/main" id="{7566DC93-2836-DD9B-3BE7-83D2D5C802F4}"/>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9" name="Text Placeholder 4">
            <a:extLst>
              <a:ext uri="{FF2B5EF4-FFF2-40B4-BE49-F238E27FC236}">
                <a16:creationId xmlns:a16="http://schemas.microsoft.com/office/drawing/2014/main" id="{86F96AEB-7089-8287-1C31-39DA1D1938AD}"/>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40" name="Espaço Reservado para Conteúdo 14">
            <a:extLst>
              <a:ext uri="{FF2B5EF4-FFF2-40B4-BE49-F238E27FC236}">
                <a16:creationId xmlns:a16="http://schemas.microsoft.com/office/drawing/2014/main" id="{9C7F0BE1-AF7E-208B-0029-AE82B626A70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pic>
        <p:nvPicPr>
          <p:cNvPr id="3" name="Graphic 2">
            <a:extLst>
              <a:ext uri="{FF2B5EF4-FFF2-40B4-BE49-F238E27FC236}">
                <a16:creationId xmlns:a16="http://schemas.microsoft.com/office/drawing/2014/main" id="{61702F68-FFD9-B47A-24D6-FB4506C6B076}"/>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716ABA5D-E64F-E6EF-5E63-D6E6006C9F91}"/>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83049380-F600-F3AE-2363-8FA5D2D44D8A}"/>
              </a:ext>
            </a:extLst>
          </p:cNvPr>
          <p:cNvPicPr>
            <a:picLocks noChangeAspect="1"/>
          </p:cNvPicPr>
          <p:nvPr userDrawn="1"/>
        </p:nvPicPr>
        <p:blipFill>
          <a:blip r:embed="rId7">
            <a:alphaModFix amt="66000"/>
            <a:extLst>
              <a:ext uri="{96DAC541-7B7A-43D3-8B79-37D633B846F1}">
                <asvg:svgBlip xmlns:asvg="http://schemas.microsoft.com/office/drawing/2016/SVG/main" r:embed="rId8"/>
              </a:ext>
            </a:extLst>
          </a:blip>
          <a:srcRect l="51901" t="57744" r="40349" b="-120"/>
          <a:stretch/>
        </p:blipFill>
        <p:spPr>
          <a:xfrm rot="5400000" flipH="1">
            <a:off x="3316774" y="-1537758"/>
            <a:ext cx="2003470" cy="5078985"/>
          </a:xfrm>
          <a:prstGeom prst="rect">
            <a:avLst/>
          </a:prstGeom>
        </p:spPr>
      </p:pic>
      <p:sp>
        <p:nvSpPr>
          <p:cNvPr id="36" name="Rectangle 35">
            <a:extLst>
              <a:ext uri="{FF2B5EF4-FFF2-40B4-BE49-F238E27FC236}">
                <a16:creationId xmlns:a16="http://schemas.microsoft.com/office/drawing/2014/main" id="{377F840C-4848-8FD0-AE07-3B51C318DADB}"/>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2" name="Espaço Reservado para Texto 6">
            <a:extLst>
              <a:ext uri="{FF2B5EF4-FFF2-40B4-BE49-F238E27FC236}">
                <a16:creationId xmlns:a16="http://schemas.microsoft.com/office/drawing/2014/main" id="{3585AAF1-3147-FDB2-5B06-85003F14462D}"/>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3" name="Group 42">
            <a:extLst>
              <a:ext uri="{FF2B5EF4-FFF2-40B4-BE49-F238E27FC236}">
                <a16:creationId xmlns:a16="http://schemas.microsoft.com/office/drawing/2014/main" id="{37421BC8-DDB6-46AC-A3C0-B055281C82A4}"/>
              </a:ext>
            </a:extLst>
          </p:cNvPr>
          <p:cNvGrpSpPr/>
          <p:nvPr userDrawn="1"/>
        </p:nvGrpSpPr>
        <p:grpSpPr>
          <a:xfrm>
            <a:off x="390154" y="406178"/>
            <a:ext cx="1240285" cy="341910"/>
            <a:chOff x="2700591" y="2522601"/>
            <a:chExt cx="6428993" cy="1772284"/>
          </a:xfrm>
        </p:grpSpPr>
        <p:sp>
          <p:nvSpPr>
            <p:cNvPr id="44" name="Freeform: Shape 40">
              <a:extLst>
                <a:ext uri="{FF2B5EF4-FFF2-40B4-BE49-F238E27FC236}">
                  <a16:creationId xmlns:a16="http://schemas.microsoft.com/office/drawing/2014/main" id="{16260E95-5264-E4C5-3829-286A82658172}"/>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5" name="Graphic 20">
              <a:extLst>
                <a:ext uri="{FF2B5EF4-FFF2-40B4-BE49-F238E27FC236}">
                  <a16:creationId xmlns:a16="http://schemas.microsoft.com/office/drawing/2014/main" id="{00D097C2-8BB4-7B32-F34A-A899E253B8A0}"/>
                </a:ext>
              </a:extLst>
            </p:cNvPr>
            <p:cNvGrpSpPr/>
            <p:nvPr/>
          </p:nvGrpSpPr>
          <p:grpSpPr>
            <a:xfrm>
              <a:off x="5034660" y="3339528"/>
              <a:ext cx="4094924" cy="747077"/>
              <a:chOff x="5034660" y="3339528"/>
              <a:chExt cx="4094924" cy="747077"/>
            </a:xfrm>
            <a:solidFill>
              <a:srgbClr val="FFFFFF"/>
            </a:solidFill>
          </p:grpSpPr>
          <p:sp>
            <p:nvSpPr>
              <p:cNvPr id="46" name="Freeform: Shape 42">
                <a:extLst>
                  <a:ext uri="{FF2B5EF4-FFF2-40B4-BE49-F238E27FC236}">
                    <a16:creationId xmlns:a16="http://schemas.microsoft.com/office/drawing/2014/main" id="{BFA97F36-57EE-E468-54A2-DF08D8D9D44F}"/>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7" name="Freeform: Shape 43">
                <a:extLst>
                  <a:ext uri="{FF2B5EF4-FFF2-40B4-BE49-F238E27FC236}">
                    <a16:creationId xmlns:a16="http://schemas.microsoft.com/office/drawing/2014/main" id="{F7CE59F9-AB81-752A-B62C-2100C7950E44}"/>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8" name="Freeform: Shape 44">
                <a:extLst>
                  <a:ext uri="{FF2B5EF4-FFF2-40B4-BE49-F238E27FC236}">
                    <a16:creationId xmlns:a16="http://schemas.microsoft.com/office/drawing/2014/main" id="{2FB3C421-2916-72F4-8E8E-88519EA75812}"/>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9" name="Freeform: Shape 45">
                <a:extLst>
                  <a:ext uri="{FF2B5EF4-FFF2-40B4-BE49-F238E27FC236}">
                    <a16:creationId xmlns:a16="http://schemas.microsoft.com/office/drawing/2014/main" id="{1AC35BF6-52DE-5DF5-F0AD-96AAEEEEEB2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50" name="Freeform: Shape 46">
                <a:extLst>
                  <a:ext uri="{FF2B5EF4-FFF2-40B4-BE49-F238E27FC236}">
                    <a16:creationId xmlns:a16="http://schemas.microsoft.com/office/drawing/2014/main" id="{6FF35EB8-24E5-6D40-BBF9-B8CCFBED2E53}"/>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51" name="Freeform: Shape 47">
                <a:extLst>
                  <a:ext uri="{FF2B5EF4-FFF2-40B4-BE49-F238E27FC236}">
                    <a16:creationId xmlns:a16="http://schemas.microsoft.com/office/drawing/2014/main" id="{0DB01190-7F20-A520-581F-25C0E40D56EF}"/>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2" name="Freeform: Shape 48">
                <a:extLst>
                  <a:ext uri="{FF2B5EF4-FFF2-40B4-BE49-F238E27FC236}">
                    <a16:creationId xmlns:a16="http://schemas.microsoft.com/office/drawing/2014/main" id="{600B6F24-2926-E3E9-041B-FC5D4571C3FD}"/>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3" name="Freeform: Shape 49">
                <a:extLst>
                  <a:ext uri="{FF2B5EF4-FFF2-40B4-BE49-F238E27FC236}">
                    <a16:creationId xmlns:a16="http://schemas.microsoft.com/office/drawing/2014/main" id="{0C932134-D252-1E17-4385-CAB35EB4F745}"/>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4" name="Espaço Reservado para Texto 6">
            <a:extLst>
              <a:ext uri="{FF2B5EF4-FFF2-40B4-BE49-F238E27FC236}">
                <a16:creationId xmlns:a16="http://schemas.microsoft.com/office/drawing/2014/main" id="{43EAF689-CC3A-27D8-5F70-B2E76B851A6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5" name="Date Placeholder 1">
            <a:extLst>
              <a:ext uri="{FF2B5EF4-FFF2-40B4-BE49-F238E27FC236}">
                <a16:creationId xmlns:a16="http://schemas.microsoft.com/office/drawing/2014/main" id="{0AFB8DEE-33AF-703A-08FB-D291C8039FFB}"/>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July 21, 2026</a:t>
            </a:fld>
            <a:endParaRPr lang="en-US" dirty="0"/>
          </a:p>
        </p:txBody>
      </p:sp>
      <p:sp>
        <p:nvSpPr>
          <p:cNvPr id="56" name="Espaço Reservado para Texto 6">
            <a:extLst>
              <a:ext uri="{FF2B5EF4-FFF2-40B4-BE49-F238E27FC236}">
                <a16:creationId xmlns:a16="http://schemas.microsoft.com/office/drawing/2014/main" id="{90C61F80-6C94-B7A4-4E3B-C5D6EA510DD5}"/>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7" name="Espaço Reservado para Texto 6">
            <a:extLst>
              <a:ext uri="{FF2B5EF4-FFF2-40B4-BE49-F238E27FC236}">
                <a16:creationId xmlns:a16="http://schemas.microsoft.com/office/drawing/2014/main" id="{F9B4A42F-00FD-EC2E-3D05-CC0FAC3D1110}"/>
              </a:ext>
            </a:extLst>
          </p:cNvPr>
          <p:cNvSpPr>
            <a:spLocks noGrp="1"/>
          </p:cNvSpPr>
          <p:nvPr>
            <p:ph type="body" sz="quarter" idx="41"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85697767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Text Placeholder 4">
            <a:extLst>
              <a:ext uri="{FF2B5EF4-FFF2-40B4-BE49-F238E27FC236}">
                <a16:creationId xmlns:a16="http://schemas.microsoft.com/office/drawing/2014/main" id="{03F24DE4-04E0-A5A8-F149-FAF4BF9651B6}"/>
              </a:ext>
            </a:extLst>
          </p:cNvPr>
          <p:cNvSpPr>
            <a:spLocks noGrp="1"/>
          </p:cNvSpPr>
          <p:nvPr>
            <p:ph type="body" sz="quarter" idx="39" hasCustomPrompt="1"/>
          </p:nvPr>
        </p:nvSpPr>
        <p:spPr>
          <a:xfrm>
            <a:off x="4330593" y="6544495"/>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2911FEF9-0A77-5C12-1418-42473AFCE41A}"/>
              </a:ext>
            </a:extLst>
          </p:cNvPr>
          <p:cNvSpPr>
            <a:spLocks noGrp="1"/>
          </p:cNvSpPr>
          <p:nvPr>
            <p:ph type="body" sz="quarter" idx="40" hasCustomPrompt="1"/>
          </p:nvPr>
        </p:nvSpPr>
        <p:spPr>
          <a:xfrm>
            <a:off x="4330593" y="670629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262FBF81-AC68-DDE3-9791-5EB1369BB13D}"/>
              </a:ext>
            </a:extLst>
          </p:cNvPr>
          <p:cNvSpPr>
            <a:spLocks noGrp="1"/>
          </p:cNvSpPr>
          <p:nvPr>
            <p:ph type="body" sz="quarter" idx="41" hasCustomPrompt="1"/>
          </p:nvPr>
        </p:nvSpPr>
        <p:spPr>
          <a:xfrm>
            <a:off x="4330593" y="68331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72B7B639-7E4C-008E-2F07-EFDDF1658B2C}"/>
              </a:ext>
            </a:extLst>
          </p:cNvPr>
          <p:cNvSpPr>
            <a:spLocks noGrp="1"/>
          </p:cNvSpPr>
          <p:nvPr>
            <p:ph type="body" sz="quarter" idx="42" hasCustomPrompt="1"/>
          </p:nvPr>
        </p:nvSpPr>
        <p:spPr>
          <a:xfrm>
            <a:off x="4330593" y="703075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DED10EBA-827E-ACAF-F415-E893CEA58E46}"/>
              </a:ext>
            </a:extLst>
          </p:cNvPr>
          <p:cNvSpPr>
            <a:spLocks noGrp="1"/>
          </p:cNvSpPr>
          <p:nvPr>
            <p:ph type="body" sz="quarter" idx="43" hasCustomPrompt="1"/>
          </p:nvPr>
        </p:nvSpPr>
        <p:spPr>
          <a:xfrm>
            <a:off x="4330593" y="719254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EF921770-73BA-30FA-5FFA-AF7977B7F701}"/>
              </a:ext>
            </a:extLst>
          </p:cNvPr>
          <p:cNvSpPr>
            <a:spLocks noGrp="1"/>
          </p:cNvSpPr>
          <p:nvPr>
            <p:ph type="body" sz="quarter" idx="44" hasCustomPrompt="1"/>
          </p:nvPr>
        </p:nvSpPr>
        <p:spPr>
          <a:xfrm>
            <a:off x="4330593" y="73194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20ACEDB3-2C09-E20D-821E-DDD418D3FEB1}"/>
              </a:ext>
            </a:extLst>
          </p:cNvPr>
          <p:cNvSpPr>
            <a:spLocks noGrp="1"/>
          </p:cNvSpPr>
          <p:nvPr>
            <p:ph type="body" sz="quarter" idx="45" hasCustomPrompt="1"/>
          </p:nvPr>
        </p:nvSpPr>
        <p:spPr>
          <a:xfrm>
            <a:off x="4330593" y="752432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86DF4C01-3652-C9F0-F8FF-57CF059BACF5}"/>
              </a:ext>
            </a:extLst>
          </p:cNvPr>
          <p:cNvSpPr>
            <a:spLocks noGrp="1"/>
          </p:cNvSpPr>
          <p:nvPr>
            <p:ph type="body" sz="quarter" idx="46" hasCustomPrompt="1"/>
          </p:nvPr>
        </p:nvSpPr>
        <p:spPr>
          <a:xfrm>
            <a:off x="4330593" y="768611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716E856C-FAC0-A224-30F5-9210B261B290}"/>
              </a:ext>
            </a:extLst>
          </p:cNvPr>
          <p:cNvSpPr>
            <a:spLocks noGrp="1"/>
          </p:cNvSpPr>
          <p:nvPr>
            <p:ph type="body" sz="quarter" idx="47" hasCustomPrompt="1"/>
          </p:nvPr>
        </p:nvSpPr>
        <p:spPr>
          <a:xfrm>
            <a:off x="4330593" y="78129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3" name="Espaço Reservado para Conteúdo 14">
            <a:extLst>
              <a:ext uri="{FF2B5EF4-FFF2-40B4-BE49-F238E27FC236}">
                <a16:creationId xmlns:a16="http://schemas.microsoft.com/office/drawing/2014/main" id="{B7A0699F-1107-A7EB-E37F-3282D8B26723}"/>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4" name="Espaço Reservado para Conteúdo 14">
            <a:extLst>
              <a:ext uri="{FF2B5EF4-FFF2-40B4-BE49-F238E27FC236}">
                <a16:creationId xmlns:a16="http://schemas.microsoft.com/office/drawing/2014/main" id="{8E3A02D8-6F7D-7ADF-FBA5-4B8274BFE885}"/>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35" name="Straight Connector 34">
            <a:extLst>
              <a:ext uri="{FF2B5EF4-FFF2-40B4-BE49-F238E27FC236}">
                <a16:creationId xmlns:a16="http://schemas.microsoft.com/office/drawing/2014/main" id="{72580441-ACD3-34DD-BE7E-A48F3B2C9853}"/>
              </a:ext>
            </a:extLst>
          </p:cNvPr>
          <p:cNvCxnSpPr>
            <a:cxnSpLocks/>
          </p:cNvCxnSpPr>
          <p:nvPr userDrawn="1"/>
        </p:nvCxnSpPr>
        <p:spPr>
          <a:xfrm>
            <a:off x="4227459" y="3692524"/>
            <a:ext cx="0" cy="576103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3AD50A6F-9852-2DF4-CD76-ABDAB2ECB230}"/>
              </a:ext>
            </a:extLst>
          </p:cNvPr>
          <p:cNvSpPr>
            <a:spLocks noGrp="1"/>
          </p:cNvSpPr>
          <p:nvPr>
            <p:ph sz="quarter" idx="25" hasCustomPrompt="1"/>
          </p:nvPr>
        </p:nvSpPr>
        <p:spPr>
          <a:xfrm>
            <a:off x="4330593" y="5400654"/>
            <a:ext cx="2159107" cy="94624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A1EEFDF8-66EC-B678-3690-4B90D5170795}"/>
              </a:ext>
            </a:extLst>
          </p:cNvPr>
          <p:cNvSpPr>
            <a:spLocks noGrp="1"/>
          </p:cNvSpPr>
          <p:nvPr>
            <p:ph sz="quarter" idx="48" hasCustomPrompt="1"/>
          </p:nvPr>
        </p:nvSpPr>
        <p:spPr>
          <a:xfrm>
            <a:off x="4330593" y="5112035"/>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0FE5B210-6AEE-6D43-743F-B26EA372DEB4}"/>
              </a:ext>
            </a:extLst>
          </p:cNvPr>
          <p:cNvSpPr>
            <a:spLocks noGrp="1"/>
          </p:cNvSpPr>
          <p:nvPr>
            <p:ph sz="quarter" idx="49" hasCustomPrompt="1"/>
          </p:nvPr>
        </p:nvSpPr>
        <p:spPr>
          <a:xfrm>
            <a:off x="4330593" y="3692524"/>
            <a:ext cx="2159107" cy="123918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Text Placeholder 4">
            <a:extLst>
              <a:ext uri="{FF2B5EF4-FFF2-40B4-BE49-F238E27FC236}">
                <a16:creationId xmlns:a16="http://schemas.microsoft.com/office/drawing/2014/main" id="{76703E1C-3A23-54F1-0E55-A22109AD96E7}"/>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41" name="Text Placeholder 4">
            <a:extLst>
              <a:ext uri="{FF2B5EF4-FFF2-40B4-BE49-F238E27FC236}">
                <a16:creationId xmlns:a16="http://schemas.microsoft.com/office/drawing/2014/main" id="{5E067759-B73B-DD64-0392-7F84B67AA6EA}"/>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60" name="Graphic 59">
            <a:extLst>
              <a:ext uri="{FF2B5EF4-FFF2-40B4-BE49-F238E27FC236}">
                <a16:creationId xmlns:a16="http://schemas.microsoft.com/office/drawing/2014/main" id="{488913DE-64DE-725E-2901-ACC6D7ED67D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0" y="0"/>
            <a:ext cx="6858000" cy="2003470"/>
          </a:xfrm>
          <a:prstGeom prst="rect">
            <a:avLst/>
          </a:prstGeom>
        </p:spPr>
      </p:pic>
      <p:pic>
        <p:nvPicPr>
          <p:cNvPr id="61" name="Picture 60" descr="A blue and white dot pattern&#10;&#10;AI-generated content may be incorrect.">
            <a:extLst>
              <a:ext uri="{FF2B5EF4-FFF2-40B4-BE49-F238E27FC236}">
                <a16:creationId xmlns:a16="http://schemas.microsoft.com/office/drawing/2014/main" id="{CD3B1B4D-4EB1-96E9-9DD0-F60C97FA17B4}"/>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62" name="Graphic 61">
            <a:extLst>
              <a:ext uri="{FF2B5EF4-FFF2-40B4-BE49-F238E27FC236}">
                <a16:creationId xmlns:a16="http://schemas.microsoft.com/office/drawing/2014/main" id="{041A732F-BCCC-2457-2DC2-372E9B0E3236}"/>
              </a:ext>
            </a:extLst>
          </p:cNvPr>
          <p:cNvPicPr>
            <a:picLocks noChangeAspect="1"/>
          </p:cNvPicPr>
          <p:nvPr userDrawn="1"/>
        </p:nvPicPr>
        <p:blipFill>
          <a:blip r:embed="rId7">
            <a:alphaModFix amt="66000"/>
            <a:extLst>
              <a:ext uri="{96DAC541-7B7A-43D3-8B79-37D633B846F1}">
                <asvg:svgBlip xmlns:asvg="http://schemas.microsoft.com/office/drawing/2016/SVG/main" r:embed="rId8"/>
              </a:ext>
            </a:extLst>
          </a:blip>
          <a:srcRect l="51901" t="57744" r="40349" b="-120"/>
          <a:stretch/>
        </p:blipFill>
        <p:spPr>
          <a:xfrm rot="5400000" flipH="1">
            <a:off x="3316774" y="-1537758"/>
            <a:ext cx="2003470" cy="5078985"/>
          </a:xfrm>
          <a:prstGeom prst="rect">
            <a:avLst/>
          </a:prstGeom>
        </p:spPr>
      </p:pic>
      <p:sp>
        <p:nvSpPr>
          <p:cNvPr id="63" name="Rectangle 62">
            <a:extLst>
              <a:ext uri="{FF2B5EF4-FFF2-40B4-BE49-F238E27FC236}">
                <a16:creationId xmlns:a16="http://schemas.microsoft.com/office/drawing/2014/main" id="{42656AAB-8730-CADD-E968-CE6ADF729A23}"/>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4" name="Espaço Reservado para Texto 6">
            <a:extLst>
              <a:ext uri="{FF2B5EF4-FFF2-40B4-BE49-F238E27FC236}">
                <a16:creationId xmlns:a16="http://schemas.microsoft.com/office/drawing/2014/main" id="{D00FF986-E161-ED01-B9B0-044B5618655B}"/>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65" name="Group 64">
            <a:extLst>
              <a:ext uri="{FF2B5EF4-FFF2-40B4-BE49-F238E27FC236}">
                <a16:creationId xmlns:a16="http://schemas.microsoft.com/office/drawing/2014/main" id="{2DF15460-A64C-A507-8247-BC8BCAB27008}"/>
              </a:ext>
            </a:extLst>
          </p:cNvPr>
          <p:cNvGrpSpPr/>
          <p:nvPr userDrawn="1"/>
        </p:nvGrpSpPr>
        <p:grpSpPr>
          <a:xfrm>
            <a:off x="390154" y="406178"/>
            <a:ext cx="1240285" cy="341910"/>
            <a:chOff x="2700591" y="2522601"/>
            <a:chExt cx="6428993" cy="1772284"/>
          </a:xfrm>
        </p:grpSpPr>
        <p:sp>
          <p:nvSpPr>
            <p:cNvPr id="66" name="Freeform: Shape 40">
              <a:extLst>
                <a:ext uri="{FF2B5EF4-FFF2-40B4-BE49-F238E27FC236}">
                  <a16:creationId xmlns:a16="http://schemas.microsoft.com/office/drawing/2014/main" id="{A5735508-84B2-C333-E17F-988AFC579FC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67" name="Graphic 20">
              <a:extLst>
                <a:ext uri="{FF2B5EF4-FFF2-40B4-BE49-F238E27FC236}">
                  <a16:creationId xmlns:a16="http://schemas.microsoft.com/office/drawing/2014/main" id="{5DD881CB-BD90-77BB-EC8F-24C359EC2E9D}"/>
                </a:ext>
              </a:extLst>
            </p:cNvPr>
            <p:cNvGrpSpPr/>
            <p:nvPr/>
          </p:nvGrpSpPr>
          <p:grpSpPr>
            <a:xfrm>
              <a:off x="5034660" y="3339528"/>
              <a:ext cx="4094924" cy="747077"/>
              <a:chOff x="5034660" y="3339528"/>
              <a:chExt cx="4094924" cy="747077"/>
            </a:xfrm>
            <a:solidFill>
              <a:srgbClr val="FFFFFF"/>
            </a:solidFill>
          </p:grpSpPr>
          <p:sp>
            <p:nvSpPr>
              <p:cNvPr id="68" name="Freeform: Shape 42">
                <a:extLst>
                  <a:ext uri="{FF2B5EF4-FFF2-40B4-BE49-F238E27FC236}">
                    <a16:creationId xmlns:a16="http://schemas.microsoft.com/office/drawing/2014/main" id="{23186555-8418-5293-C5B9-8E2D68B1DAD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69" name="Freeform: Shape 43">
                <a:extLst>
                  <a:ext uri="{FF2B5EF4-FFF2-40B4-BE49-F238E27FC236}">
                    <a16:creationId xmlns:a16="http://schemas.microsoft.com/office/drawing/2014/main" id="{CC458950-6FEB-E061-6B8B-78F0939A8A1B}"/>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70" name="Freeform: Shape 44">
                <a:extLst>
                  <a:ext uri="{FF2B5EF4-FFF2-40B4-BE49-F238E27FC236}">
                    <a16:creationId xmlns:a16="http://schemas.microsoft.com/office/drawing/2014/main" id="{E5048AC9-B827-5C33-BB02-DAC97FB1831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71" name="Freeform: Shape 45">
                <a:extLst>
                  <a:ext uri="{FF2B5EF4-FFF2-40B4-BE49-F238E27FC236}">
                    <a16:creationId xmlns:a16="http://schemas.microsoft.com/office/drawing/2014/main" id="{3F279BFE-4205-1161-0B52-6749E9664DAF}"/>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72" name="Freeform: Shape 46">
                <a:extLst>
                  <a:ext uri="{FF2B5EF4-FFF2-40B4-BE49-F238E27FC236}">
                    <a16:creationId xmlns:a16="http://schemas.microsoft.com/office/drawing/2014/main" id="{FA1584E1-5813-7134-3D53-606754F4CDF0}"/>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73" name="Freeform: Shape 47">
                <a:extLst>
                  <a:ext uri="{FF2B5EF4-FFF2-40B4-BE49-F238E27FC236}">
                    <a16:creationId xmlns:a16="http://schemas.microsoft.com/office/drawing/2014/main" id="{F51B60BC-97AB-DF48-54FF-4BAF933DC69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74" name="Freeform: Shape 48">
                <a:extLst>
                  <a:ext uri="{FF2B5EF4-FFF2-40B4-BE49-F238E27FC236}">
                    <a16:creationId xmlns:a16="http://schemas.microsoft.com/office/drawing/2014/main" id="{664716FE-A3FD-CD9E-95FA-D16A95DF5F23}"/>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75" name="Freeform: Shape 49">
                <a:extLst>
                  <a:ext uri="{FF2B5EF4-FFF2-40B4-BE49-F238E27FC236}">
                    <a16:creationId xmlns:a16="http://schemas.microsoft.com/office/drawing/2014/main" id="{9C8E083D-9044-1216-0736-D79B7E5CB7E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76" name="Espaço Reservado para Texto 6">
            <a:extLst>
              <a:ext uri="{FF2B5EF4-FFF2-40B4-BE49-F238E27FC236}">
                <a16:creationId xmlns:a16="http://schemas.microsoft.com/office/drawing/2014/main" id="{7C298CFA-A669-5222-A96E-32F03BCFA7F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77" name="Date Placeholder 1">
            <a:extLst>
              <a:ext uri="{FF2B5EF4-FFF2-40B4-BE49-F238E27FC236}">
                <a16:creationId xmlns:a16="http://schemas.microsoft.com/office/drawing/2014/main" id="{54C0798F-039A-A3EC-EAA9-427170CC4215}"/>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July 21, 2026</a:t>
            </a:fld>
            <a:endParaRPr lang="en-US" dirty="0"/>
          </a:p>
        </p:txBody>
      </p:sp>
      <p:sp>
        <p:nvSpPr>
          <p:cNvPr id="78" name="Espaço Reservado para Texto 6">
            <a:extLst>
              <a:ext uri="{FF2B5EF4-FFF2-40B4-BE49-F238E27FC236}">
                <a16:creationId xmlns:a16="http://schemas.microsoft.com/office/drawing/2014/main" id="{6B13DFE6-D448-CFBC-B8D1-60EF9BFE6572}"/>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79" name="Espaço Reservado para Texto 6">
            <a:extLst>
              <a:ext uri="{FF2B5EF4-FFF2-40B4-BE49-F238E27FC236}">
                <a16:creationId xmlns:a16="http://schemas.microsoft.com/office/drawing/2014/main" id="{428403CC-42AD-1E37-3FBF-2895B87B8BA4}"/>
              </a:ext>
            </a:extLst>
          </p:cNvPr>
          <p:cNvSpPr>
            <a:spLocks noGrp="1"/>
          </p:cNvSpPr>
          <p:nvPr>
            <p:ph type="body" sz="quarter" idx="50"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76475646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Text Placeholder 4">
            <a:extLst>
              <a:ext uri="{FF2B5EF4-FFF2-40B4-BE49-F238E27FC236}">
                <a16:creationId xmlns:a16="http://schemas.microsoft.com/office/drawing/2014/main" id="{A955F5D8-0156-E60B-A6A0-DA6EBBCACA35}"/>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671F3DC4-3146-7572-DF86-04CF30B4670A}"/>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C25FBB51-101B-7BC4-6209-A6AE0F61B541}"/>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CCD507EB-0DD5-E0FE-7EBF-64F0329C193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B2D3B57B-5654-08D9-CF35-1B0510FBDB43}"/>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3E40D777-F23D-154B-ED18-B3AC90627CAD}"/>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2FB8FCA1-B9F0-6733-CCF5-17884C12C282}"/>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1C6E0D76-848C-96AE-C91B-C6E6F86E0FE1}"/>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70DBE899-3012-A4CF-0309-407CAE5D714A}"/>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3" name="Espaço Reservado para Conteúdo 14">
            <a:extLst>
              <a:ext uri="{FF2B5EF4-FFF2-40B4-BE49-F238E27FC236}">
                <a16:creationId xmlns:a16="http://schemas.microsoft.com/office/drawing/2014/main" id="{AF3F2DBA-090D-C776-7BBA-64874B35F7AC}"/>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C2553539-94F4-53FE-224D-42D9F145E1FE}"/>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020CCC31-EABC-9A13-29FD-F75168E56A12}"/>
              </a:ext>
            </a:extLst>
          </p:cNvPr>
          <p:cNvSpPr>
            <a:spLocks noGrp="1"/>
          </p:cNvSpPr>
          <p:nvPr>
            <p:ph type="body" sz="quarter" idx="23"/>
          </p:nvPr>
        </p:nvSpPr>
        <p:spPr>
          <a:xfrm>
            <a:off x="390154" y="3692524"/>
            <a:ext cx="3734170" cy="5761038"/>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36" name="Text Placeholder 4">
            <a:extLst>
              <a:ext uri="{FF2B5EF4-FFF2-40B4-BE49-F238E27FC236}">
                <a16:creationId xmlns:a16="http://schemas.microsoft.com/office/drawing/2014/main" id="{528AB6C8-4A03-776C-6C2F-A6FFEB8FB5AB}"/>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3" name="Graphic 2">
            <a:extLst>
              <a:ext uri="{FF2B5EF4-FFF2-40B4-BE49-F238E27FC236}">
                <a16:creationId xmlns:a16="http://schemas.microsoft.com/office/drawing/2014/main" id="{05BB9D5A-EBDE-C175-CD3E-E0B507A11BB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E247E6EB-E84C-0DD6-761F-7C783AE1C859}"/>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1B940E1D-D282-572B-9FA1-16CEBA5BF584}"/>
              </a:ext>
            </a:extLst>
          </p:cNvPr>
          <p:cNvPicPr>
            <a:picLocks noChangeAspect="1"/>
          </p:cNvPicPr>
          <p:nvPr userDrawn="1"/>
        </p:nvPicPr>
        <p:blipFill>
          <a:blip r:embed="rId7">
            <a:alphaModFix amt="66000"/>
            <a:extLst>
              <a:ext uri="{96DAC541-7B7A-43D3-8B79-37D633B846F1}">
                <asvg:svgBlip xmlns:asvg="http://schemas.microsoft.com/office/drawing/2016/SVG/main" r:embed="rId8"/>
              </a:ext>
            </a:extLst>
          </a:blip>
          <a:srcRect l="51901" t="57744" r="40349" b="-120"/>
          <a:stretch/>
        </p:blipFill>
        <p:spPr>
          <a:xfrm rot="5400000" flipH="1">
            <a:off x="3316774" y="-1537758"/>
            <a:ext cx="2003470" cy="5078985"/>
          </a:xfrm>
          <a:prstGeom prst="rect">
            <a:avLst/>
          </a:prstGeom>
        </p:spPr>
      </p:pic>
      <p:sp>
        <p:nvSpPr>
          <p:cNvPr id="37" name="Rectangle 36">
            <a:extLst>
              <a:ext uri="{FF2B5EF4-FFF2-40B4-BE49-F238E27FC236}">
                <a16:creationId xmlns:a16="http://schemas.microsoft.com/office/drawing/2014/main" id="{07F2DFBC-A822-DD8E-3CC6-647666F476F6}"/>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0" name="Espaço Reservado para Texto 6">
            <a:extLst>
              <a:ext uri="{FF2B5EF4-FFF2-40B4-BE49-F238E27FC236}">
                <a16:creationId xmlns:a16="http://schemas.microsoft.com/office/drawing/2014/main" id="{6AC03389-438B-A71B-B298-F45CEE930085}"/>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1" name="Group 40">
            <a:extLst>
              <a:ext uri="{FF2B5EF4-FFF2-40B4-BE49-F238E27FC236}">
                <a16:creationId xmlns:a16="http://schemas.microsoft.com/office/drawing/2014/main" id="{3F70470F-88B3-C8C1-6D31-C3AC721DD7A0}"/>
              </a:ext>
            </a:extLst>
          </p:cNvPr>
          <p:cNvGrpSpPr/>
          <p:nvPr userDrawn="1"/>
        </p:nvGrpSpPr>
        <p:grpSpPr>
          <a:xfrm>
            <a:off x="390154" y="406178"/>
            <a:ext cx="1240285" cy="341910"/>
            <a:chOff x="2700591" y="2522601"/>
            <a:chExt cx="6428993" cy="1772284"/>
          </a:xfrm>
        </p:grpSpPr>
        <p:sp>
          <p:nvSpPr>
            <p:cNvPr id="42" name="Freeform: Shape 40">
              <a:extLst>
                <a:ext uri="{FF2B5EF4-FFF2-40B4-BE49-F238E27FC236}">
                  <a16:creationId xmlns:a16="http://schemas.microsoft.com/office/drawing/2014/main" id="{FA38B550-E69A-14BF-7816-DC6FCB871E19}"/>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3" name="Graphic 20">
              <a:extLst>
                <a:ext uri="{FF2B5EF4-FFF2-40B4-BE49-F238E27FC236}">
                  <a16:creationId xmlns:a16="http://schemas.microsoft.com/office/drawing/2014/main" id="{6691A48E-6730-90AB-EEEC-ED1B9915CE2E}"/>
                </a:ext>
              </a:extLst>
            </p:cNvPr>
            <p:cNvGrpSpPr/>
            <p:nvPr/>
          </p:nvGrpSpPr>
          <p:grpSpPr>
            <a:xfrm>
              <a:off x="5034660" y="3339528"/>
              <a:ext cx="4094924" cy="747077"/>
              <a:chOff x="5034660" y="3339528"/>
              <a:chExt cx="4094924" cy="747077"/>
            </a:xfrm>
            <a:solidFill>
              <a:srgbClr val="FFFFFF"/>
            </a:solidFill>
          </p:grpSpPr>
          <p:sp>
            <p:nvSpPr>
              <p:cNvPr id="44" name="Freeform: Shape 42">
                <a:extLst>
                  <a:ext uri="{FF2B5EF4-FFF2-40B4-BE49-F238E27FC236}">
                    <a16:creationId xmlns:a16="http://schemas.microsoft.com/office/drawing/2014/main" id="{5B874800-9A82-0C18-70B7-60FFD09CC379}"/>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0259C9DA-CB4D-D241-4687-D7E02A62A05D}"/>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FD90D22C-AB1D-687C-F41E-F0962B87050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02D21845-2E7F-6152-F430-C6C2E393E45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2BE651EB-2E73-D5E7-C720-62FAB08CDC6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A95C3E20-FF5E-A0EB-88B7-DF350ACA9952}"/>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A44196F-EB7E-7BFB-B9D9-79C4F7170F2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2" name="Freeform: Shape 49">
                <a:extLst>
                  <a:ext uri="{FF2B5EF4-FFF2-40B4-BE49-F238E27FC236}">
                    <a16:creationId xmlns:a16="http://schemas.microsoft.com/office/drawing/2014/main" id="{BB84E2C9-366C-61C6-EF98-739C95F3BCD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3" name="Espaço Reservado para Texto 6">
            <a:extLst>
              <a:ext uri="{FF2B5EF4-FFF2-40B4-BE49-F238E27FC236}">
                <a16:creationId xmlns:a16="http://schemas.microsoft.com/office/drawing/2014/main" id="{09F7EE18-A3CE-B647-3F7D-F46C103DD4D9}"/>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4" name="Date Placeholder 1">
            <a:extLst>
              <a:ext uri="{FF2B5EF4-FFF2-40B4-BE49-F238E27FC236}">
                <a16:creationId xmlns:a16="http://schemas.microsoft.com/office/drawing/2014/main" id="{8E5AB956-024E-968E-D4E7-BEECA616A51F}"/>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July 21, 2026</a:t>
            </a:fld>
            <a:endParaRPr lang="en-US" dirty="0"/>
          </a:p>
        </p:txBody>
      </p:sp>
      <p:sp>
        <p:nvSpPr>
          <p:cNvPr id="56" name="Espaço Reservado para Texto 6">
            <a:extLst>
              <a:ext uri="{FF2B5EF4-FFF2-40B4-BE49-F238E27FC236}">
                <a16:creationId xmlns:a16="http://schemas.microsoft.com/office/drawing/2014/main" id="{D51BA7C7-F6B6-3F30-55F1-536EE9CD935B}"/>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7" name="Espaço Reservado para Texto 6">
            <a:extLst>
              <a:ext uri="{FF2B5EF4-FFF2-40B4-BE49-F238E27FC236}">
                <a16:creationId xmlns:a16="http://schemas.microsoft.com/office/drawing/2014/main" id="{32394EDD-DF82-E908-FC7C-D719F162DC7B}"/>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84879057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15" name="Text Placeholder 4">
            <a:extLst>
              <a:ext uri="{FF2B5EF4-FFF2-40B4-BE49-F238E27FC236}">
                <a16:creationId xmlns:a16="http://schemas.microsoft.com/office/drawing/2014/main" id="{BF7DFD60-2E36-4F02-82F8-E04D808E1906}"/>
              </a:ext>
            </a:extLst>
          </p:cNvPr>
          <p:cNvSpPr>
            <a:spLocks noGrp="1"/>
          </p:cNvSpPr>
          <p:nvPr>
            <p:ph type="body" sz="quarter" idx="20"/>
          </p:nvPr>
        </p:nvSpPr>
        <p:spPr>
          <a:xfrm>
            <a:off x="390154" y="2150953"/>
            <a:ext cx="3734171" cy="7246052"/>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24" name="Text Placeholder 4">
            <a:extLst>
              <a:ext uri="{FF2B5EF4-FFF2-40B4-BE49-F238E27FC236}">
                <a16:creationId xmlns:a16="http://schemas.microsoft.com/office/drawing/2014/main" id="{6B77B479-67B9-3D1F-DB63-5A937E29D921}"/>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5" name="Text Placeholder 4">
            <a:extLst>
              <a:ext uri="{FF2B5EF4-FFF2-40B4-BE49-F238E27FC236}">
                <a16:creationId xmlns:a16="http://schemas.microsoft.com/office/drawing/2014/main" id="{CF97AD4E-3588-342E-979B-0CCDF1CF3A66}"/>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6" name="Text Placeholder 4">
            <a:extLst>
              <a:ext uri="{FF2B5EF4-FFF2-40B4-BE49-F238E27FC236}">
                <a16:creationId xmlns:a16="http://schemas.microsoft.com/office/drawing/2014/main" id="{B85DC042-1D7C-4735-DB80-659003055DC8}"/>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8" name="Text Placeholder 4">
            <a:extLst>
              <a:ext uri="{FF2B5EF4-FFF2-40B4-BE49-F238E27FC236}">
                <a16:creationId xmlns:a16="http://schemas.microsoft.com/office/drawing/2014/main" id="{35C34336-3E73-5DC1-40F0-6AF846D48E78}"/>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9" name="Text Placeholder 4">
            <a:extLst>
              <a:ext uri="{FF2B5EF4-FFF2-40B4-BE49-F238E27FC236}">
                <a16:creationId xmlns:a16="http://schemas.microsoft.com/office/drawing/2014/main" id="{8CD3B534-6D99-4C48-73C6-A90E786EAF1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0" name="Text Placeholder 4">
            <a:extLst>
              <a:ext uri="{FF2B5EF4-FFF2-40B4-BE49-F238E27FC236}">
                <a16:creationId xmlns:a16="http://schemas.microsoft.com/office/drawing/2014/main" id="{2028EDBB-9588-28C2-3D10-94EAAEC88F4D}"/>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1" name="Text Placeholder 4">
            <a:extLst>
              <a:ext uri="{FF2B5EF4-FFF2-40B4-BE49-F238E27FC236}">
                <a16:creationId xmlns:a16="http://schemas.microsoft.com/office/drawing/2014/main" id="{2A785A59-B1EC-BCA9-3C61-AA41FD3030AA}"/>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2" name="Text Placeholder 4">
            <a:extLst>
              <a:ext uri="{FF2B5EF4-FFF2-40B4-BE49-F238E27FC236}">
                <a16:creationId xmlns:a16="http://schemas.microsoft.com/office/drawing/2014/main" id="{687FE4BC-3557-8ACF-282E-E55A17020846}"/>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3" name="Text Placeholder 4">
            <a:extLst>
              <a:ext uri="{FF2B5EF4-FFF2-40B4-BE49-F238E27FC236}">
                <a16:creationId xmlns:a16="http://schemas.microsoft.com/office/drawing/2014/main" id="{71BC99D4-EA9B-7B0F-636D-51A7398724C0}"/>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4" name="Straight Connector 33">
            <a:extLst>
              <a:ext uri="{FF2B5EF4-FFF2-40B4-BE49-F238E27FC236}">
                <a16:creationId xmlns:a16="http://schemas.microsoft.com/office/drawing/2014/main" id="{539D7FB9-B2E7-F477-8C41-841677DAAFE0}"/>
              </a:ext>
            </a:extLst>
          </p:cNvPr>
          <p:cNvCxnSpPr>
            <a:cxnSpLocks/>
          </p:cNvCxnSpPr>
          <p:nvPr userDrawn="1"/>
        </p:nvCxnSpPr>
        <p:spPr>
          <a:xfrm>
            <a:off x="4227459" y="2150951"/>
            <a:ext cx="0" cy="724605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Espaço Reservado para Conteúdo 14">
            <a:extLst>
              <a:ext uri="{FF2B5EF4-FFF2-40B4-BE49-F238E27FC236}">
                <a16:creationId xmlns:a16="http://schemas.microsoft.com/office/drawing/2014/main" id="{5D3EDB8D-754F-B41B-52BE-3C9C63C87727}"/>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pic>
        <p:nvPicPr>
          <p:cNvPr id="3" name="Graphic 2">
            <a:extLst>
              <a:ext uri="{FF2B5EF4-FFF2-40B4-BE49-F238E27FC236}">
                <a16:creationId xmlns:a16="http://schemas.microsoft.com/office/drawing/2014/main" id="{35506383-B761-D6BF-E9C5-213A99292D8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47D37BCB-8BD1-530F-56F4-52C5492387D4}"/>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4253F920-37E1-2CCC-D0AD-0BD23A499100}"/>
              </a:ext>
            </a:extLst>
          </p:cNvPr>
          <p:cNvPicPr>
            <a:picLocks noChangeAspect="1"/>
          </p:cNvPicPr>
          <p:nvPr userDrawn="1"/>
        </p:nvPicPr>
        <p:blipFill>
          <a:blip r:embed="rId7">
            <a:alphaModFix amt="66000"/>
            <a:extLst>
              <a:ext uri="{96DAC541-7B7A-43D3-8B79-37D633B846F1}">
                <asvg:svgBlip xmlns:asvg="http://schemas.microsoft.com/office/drawing/2016/SVG/main" r:embed="rId8"/>
              </a:ext>
            </a:extLst>
          </a:blip>
          <a:srcRect l="51901" t="57744" r="40349" b="-120"/>
          <a:stretch/>
        </p:blipFill>
        <p:spPr>
          <a:xfrm rot="5400000" flipH="1">
            <a:off x="3316774" y="-1537758"/>
            <a:ext cx="2003470" cy="5078985"/>
          </a:xfrm>
          <a:prstGeom prst="rect">
            <a:avLst/>
          </a:prstGeom>
        </p:spPr>
      </p:pic>
      <p:sp>
        <p:nvSpPr>
          <p:cNvPr id="36" name="Rectangle 35">
            <a:extLst>
              <a:ext uri="{FF2B5EF4-FFF2-40B4-BE49-F238E27FC236}">
                <a16:creationId xmlns:a16="http://schemas.microsoft.com/office/drawing/2014/main" id="{E3A5AFDE-C0AE-61B1-43A2-060D526B8D00}"/>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39" name="Espaço Reservado para Texto 6">
            <a:extLst>
              <a:ext uri="{FF2B5EF4-FFF2-40B4-BE49-F238E27FC236}">
                <a16:creationId xmlns:a16="http://schemas.microsoft.com/office/drawing/2014/main" id="{ABC67BA8-3B7B-64ED-E732-64AB943B733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0" name="Group 39">
            <a:extLst>
              <a:ext uri="{FF2B5EF4-FFF2-40B4-BE49-F238E27FC236}">
                <a16:creationId xmlns:a16="http://schemas.microsoft.com/office/drawing/2014/main" id="{8180E645-A281-578A-9584-040B1B360A76}"/>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C2A4BCDC-C853-CEEC-FDC4-37A7DDB5273C}"/>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99AF96D5-788D-A4B8-E8B9-9DB8B25439A4}"/>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70473335-3A57-EADC-D22A-2CB0F56A1F2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05C36AE0-F013-88E6-CE9C-9FE55D18312B}"/>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2DCB93B2-FF33-AE52-CE4C-1894F302393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3163FF1D-01B0-986B-BAC6-648384EFBD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949DC71-6D26-236E-9F09-DA4F2A5D361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5478D96D-1F00-583E-2831-8AE7D9E00C6B}"/>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ACBDB0BC-490E-2746-BE69-4945759C771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A6763E9-4D09-7546-0D6F-D7300AF97A4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1" name="Espaço Reservado para Texto 6">
            <a:extLst>
              <a:ext uri="{FF2B5EF4-FFF2-40B4-BE49-F238E27FC236}">
                <a16:creationId xmlns:a16="http://schemas.microsoft.com/office/drawing/2014/main" id="{96A76248-D278-A93C-29A0-F3B678A4A768}"/>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2" name="Date Placeholder 1">
            <a:extLst>
              <a:ext uri="{FF2B5EF4-FFF2-40B4-BE49-F238E27FC236}">
                <a16:creationId xmlns:a16="http://schemas.microsoft.com/office/drawing/2014/main" id="{50D3FFE1-1214-4FAD-7C1E-F096A11C5683}"/>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July 21, 2026</a:t>
            </a:fld>
            <a:endParaRPr lang="en-US" dirty="0"/>
          </a:p>
        </p:txBody>
      </p:sp>
      <p:sp>
        <p:nvSpPr>
          <p:cNvPr id="53" name="Espaço Reservado para Texto 6">
            <a:extLst>
              <a:ext uri="{FF2B5EF4-FFF2-40B4-BE49-F238E27FC236}">
                <a16:creationId xmlns:a16="http://schemas.microsoft.com/office/drawing/2014/main" id="{1A4BAC10-6E9D-8385-641C-6B58829F3F45}"/>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4" name="Espaço Reservado para Texto 6">
            <a:extLst>
              <a:ext uri="{FF2B5EF4-FFF2-40B4-BE49-F238E27FC236}">
                <a16:creationId xmlns:a16="http://schemas.microsoft.com/office/drawing/2014/main" id="{91B88A0C-F37B-BB3A-DBD6-ABA7F32903D2}"/>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71603771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369252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385432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398119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417877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434057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446744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467234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483414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496101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pic>
        <p:nvPicPr>
          <p:cNvPr id="3" name="Graphic 2">
            <a:extLst>
              <a:ext uri="{FF2B5EF4-FFF2-40B4-BE49-F238E27FC236}">
                <a16:creationId xmlns:a16="http://schemas.microsoft.com/office/drawing/2014/main" id="{A14C112E-6DCA-347F-EE5D-94BD1FF4690A}"/>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0" y="0"/>
            <a:ext cx="6858000" cy="2003470"/>
          </a:xfrm>
          <a:prstGeom prst="rect">
            <a:avLst/>
          </a:prstGeom>
        </p:spPr>
      </p:pic>
      <p:pic>
        <p:nvPicPr>
          <p:cNvPr id="22" name="Picture 21" descr="A blue and white dot pattern&#10;&#10;AI-generated content may be incorrect.">
            <a:extLst>
              <a:ext uri="{FF2B5EF4-FFF2-40B4-BE49-F238E27FC236}">
                <a16:creationId xmlns:a16="http://schemas.microsoft.com/office/drawing/2014/main" id="{266E850E-7816-E3FB-7226-A8CEE21A4F54}"/>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23" name="Graphic 22">
            <a:extLst>
              <a:ext uri="{FF2B5EF4-FFF2-40B4-BE49-F238E27FC236}">
                <a16:creationId xmlns:a16="http://schemas.microsoft.com/office/drawing/2014/main" id="{A19085B0-E61E-AC5E-FDC5-AA0B2FF285FE}"/>
              </a:ext>
            </a:extLst>
          </p:cNvPr>
          <p:cNvPicPr>
            <a:picLocks noChangeAspect="1"/>
          </p:cNvPicPr>
          <p:nvPr userDrawn="1"/>
        </p:nvPicPr>
        <p:blipFill>
          <a:blip r:embed="rId7">
            <a:alphaModFix amt="66000"/>
            <a:extLst>
              <a:ext uri="{96DAC541-7B7A-43D3-8B79-37D633B846F1}">
                <asvg:svgBlip xmlns:asvg="http://schemas.microsoft.com/office/drawing/2016/SVG/main" r:embed="rId8"/>
              </a:ext>
            </a:extLst>
          </a:blip>
          <a:srcRect l="51901" t="57744" r="40349" b="-120"/>
          <a:stretch/>
        </p:blipFill>
        <p:spPr>
          <a:xfrm rot="5400000" flipH="1">
            <a:off x="3316774" y="-1537758"/>
            <a:ext cx="2003470" cy="5078985"/>
          </a:xfrm>
          <a:prstGeom prst="rect">
            <a:avLst/>
          </a:prstGeom>
        </p:spPr>
      </p:pic>
      <p:sp>
        <p:nvSpPr>
          <p:cNvPr id="33" name="Rectangle 32">
            <a:extLst>
              <a:ext uri="{FF2B5EF4-FFF2-40B4-BE49-F238E27FC236}">
                <a16:creationId xmlns:a16="http://schemas.microsoft.com/office/drawing/2014/main" id="{87A6E124-C454-3CB2-445A-4AF1960A1BAD}"/>
              </a:ext>
            </a:extLst>
          </p:cNvPr>
          <p:cNvSpPr/>
          <p:nvPr userDrawn="1"/>
        </p:nvSpPr>
        <p:spPr>
          <a:xfrm>
            <a:off x="0" y="-1"/>
            <a:ext cx="6858000" cy="2003471"/>
          </a:xfrm>
          <a:prstGeom prst="rect">
            <a:avLst/>
          </a:prstGeom>
          <a:gradFill>
            <a:gsLst>
              <a:gs pos="40000">
                <a:schemeClr val="tx1">
                  <a:alpha val="0"/>
                </a:schemeClr>
              </a:gs>
              <a:gs pos="82000">
                <a:schemeClr val="tx1">
                  <a:alpha val="90306"/>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0" name="Espaço Reservado para Texto 6">
            <a:extLst>
              <a:ext uri="{FF2B5EF4-FFF2-40B4-BE49-F238E27FC236}">
                <a16:creationId xmlns:a16="http://schemas.microsoft.com/office/drawing/2014/main" id="{77A0EA1E-B1C6-89A3-CA3F-DBA7725D0861}"/>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41" name="Group 40">
            <a:extLst>
              <a:ext uri="{FF2B5EF4-FFF2-40B4-BE49-F238E27FC236}">
                <a16:creationId xmlns:a16="http://schemas.microsoft.com/office/drawing/2014/main" id="{4355ED90-9BB0-9B47-3D12-3994341D7F5E}"/>
              </a:ext>
            </a:extLst>
          </p:cNvPr>
          <p:cNvGrpSpPr/>
          <p:nvPr userDrawn="1"/>
        </p:nvGrpSpPr>
        <p:grpSpPr>
          <a:xfrm>
            <a:off x="390154" y="406178"/>
            <a:ext cx="1240285" cy="341910"/>
            <a:chOff x="2700591" y="2522601"/>
            <a:chExt cx="6428993" cy="1772284"/>
          </a:xfrm>
        </p:grpSpPr>
        <p:sp>
          <p:nvSpPr>
            <p:cNvPr id="42" name="Freeform: Shape 40">
              <a:extLst>
                <a:ext uri="{FF2B5EF4-FFF2-40B4-BE49-F238E27FC236}">
                  <a16:creationId xmlns:a16="http://schemas.microsoft.com/office/drawing/2014/main" id="{B4CAC0FC-6CB6-396E-D603-01B7C63AEBAB}"/>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3" name="Graphic 20">
              <a:extLst>
                <a:ext uri="{FF2B5EF4-FFF2-40B4-BE49-F238E27FC236}">
                  <a16:creationId xmlns:a16="http://schemas.microsoft.com/office/drawing/2014/main" id="{93640F19-A573-6591-D881-F7514B92A0EC}"/>
                </a:ext>
              </a:extLst>
            </p:cNvPr>
            <p:cNvGrpSpPr/>
            <p:nvPr/>
          </p:nvGrpSpPr>
          <p:grpSpPr>
            <a:xfrm>
              <a:off x="5034660" y="3339528"/>
              <a:ext cx="4094924" cy="747077"/>
              <a:chOff x="5034660" y="3339528"/>
              <a:chExt cx="4094924" cy="747077"/>
            </a:xfrm>
            <a:solidFill>
              <a:srgbClr val="FFFFFF"/>
            </a:solidFill>
          </p:grpSpPr>
          <p:sp>
            <p:nvSpPr>
              <p:cNvPr id="44" name="Freeform: Shape 42">
                <a:extLst>
                  <a:ext uri="{FF2B5EF4-FFF2-40B4-BE49-F238E27FC236}">
                    <a16:creationId xmlns:a16="http://schemas.microsoft.com/office/drawing/2014/main" id="{980A1C3B-BDD6-1624-9D56-F61461366687}"/>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ACB0653D-D9CE-184D-870B-0AF98AAF0011}"/>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1EBF33D-BB2A-5D47-B614-77FEC291A0B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B827DE25-E39B-23AF-347D-00DD1BE6296F}"/>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A30F8FB0-7C17-CC2E-8551-19F64F34E9F6}"/>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67257BAD-B632-E55E-00DD-D18DB6D18476}"/>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1AD43897-A594-3DAC-1F4A-264F898BF90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031F5F64-E36B-432B-EB75-281EF5EF779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042E2818-2681-CC77-2A2E-5C0F5876E115}"/>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Date Placeholder 1">
            <a:extLst>
              <a:ext uri="{FF2B5EF4-FFF2-40B4-BE49-F238E27FC236}">
                <a16:creationId xmlns:a16="http://schemas.microsoft.com/office/drawing/2014/main" id="{DF3A696C-8363-F4F9-A4F9-E35C8C06A8DF}"/>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July 21, 2026</a:t>
            </a:fld>
            <a:endParaRPr lang="en-US" dirty="0"/>
          </a:p>
        </p:txBody>
      </p:sp>
      <p:sp>
        <p:nvSpPr>
          <p:cNvPr id="55" name="Espaço Reservado para Texto 6">
            <a:extLst>
              <a:ext uri="{FF2B5EF4-FFF2-40B4-BE49-F238E27FC236}">
                <a16:creationId xmlns:a16="http://schemas.microsoft.com/office/drawing/2014/main" id="{BE80DB58-0BEF-DBD0-C931-338EC79821AA}"/>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6" name="Espaço Reservado para Texto 6">
            <a:extLst>
              <a:ext uri="{FF2B5EF4-FFF2-40B4-BE49-F238E27FC236}">
                <a16:creationId xmlns:a16="http://schemas.microsoft.com/office/drawing/2014/main" id="{882E17B6-41EA-9697-2836-56691F98857A}"/>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effectLst/>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80186430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EE9ED39-57B7-5C8F-E9B2-57A1AC073839}"/>
              </a:ext>
            </a:extLst>
          </p:cNvPr>
          <p:cNvGrpSpPr/>
          <p:nvPr userDrawn="1"/>
        </p:nvGrpSpPr>
        <p:grpSpPr>
          <a:xfrm flipV="1">
            <a:off x="4738912" y="0"/>
            <a:ext cx="2119086" cy="9906000"/>
            <a:chOff x="-1" y="0"/>
            <a:chExt cx="1467060" cy="6858000"/>
          </a:xfrm>
        </p:grpSpPr>
        <p:pic>
          <p:nvPicPr>
            <p:cNvPr id="4" name="Graphic 3">
              <a:extLst>
                <a:ext uri="{FF2B5EF4-FFF2-40B4-BE49-F238E27FC236}">
                  <a16:creationId xmlns:a16="http://schemas.microsoft.com/office/drawing/2014/main" id="{D76B8EF7-CCD7-9A94-CD80-B82D9220F66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71178" b="20035"/>
            <a:stretch/>
          </p:blipFill>
          <p:spPr>
            <a:xfrm flipV="1">
              <a:off x="0" y="0"/>
              <a:ext cx="1467059" cy="6858000"/>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E28CC665-FF99-579A-7610-C998972AF3D6}"/>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1" y="0"/>
              <a:ext cx="1467060" cy="6858000"/>
            </a:xfrm>
            <a:prstGeom prst="rect">
              <a:avLst/>
            </a:prstGeom>
          </p:spPr>
        </p:pic>
      </p:grpSp>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dirty="0" err="1">
                <a:solidFill>
                  <a:srgbClr val="242424"/>
                </a:solidFill>
                <a:latin typeface="+mj-lt"/>
                <a:ea typeface="XP Light Lighthouse" pitchFamily="50" charset="0"/>
              </a:rPr>
              <a:t>Table</a:t>
            </a:r>
            <a:r>
              <a:rPr lang="pt-BR" sz="2800" dirty="0">
                <a:solidFill>
                  <a:srgbClr val="242424"/>
                </a:solidFill>
                <a:latin typeface="+mj-lt"/>
                <a:ea typeface="XP Light Lighthouse" pitchFamily="50" charset="0"/>
              </a:rPr>
              <a:t> </a:t>
            </a:r>
            <a:r>
              <a:rPr lang="pt-BR" sz="2800" dirty="0" err="1">
                <a:solidFill>
                  <a:srgbClr val="242424"/>
                </a:solidFill>
                <a:latin typeface="+mj-lt"/>
                <a:ea typeface="XP Light Lighthouse" pitchFamily="50" charset="0"/>
              </a:rPr>
              <a:t>of</a:t>
            </a:r>
            <a:r>
              <a:rPr lang="pt-BR" sz="2800" dirty="0">
                <a:solidFill>
                  <a:srgbClr val="242424"/>
                </a:solidFill>
                <a:latin typeface="+mj-lt"/>
                <a:ea typeface="XP Light Lighthouse" pitchFamily="50" charset="0"/>
              </a:rPr>
              <a:t> </a:t>
            </a:r>
            <a:r>
              <a:rPr lang="pt-BR" sz="2800" dirty="0" err="1">
                <a:solidFill>
                  <a:srgbClr val="242424"/>
                </a:solidFill>
                <a:latin typeface="+mj-lt"/>
                <a:ea typeface="XP Light Lighthouse" pitchFamily="50" charset="0"/>
              </a:rPr>
              <a:t>contents</a:t>
            </a:r>
            <a:endParaRPr lang="pt-BR" sz="2800" dirty="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pic>
        <p:nvPicPr>
          <p:cNvPr id="7" name="Graphic 6">
            <a:extLst>
              <a:ext uri="{FF2B5EF4-FFF2-40B4-BE49-F238E27FC236}">
                <a16:creationId xmlns:a16="http://schemas.microsoft.com/office/drawing/2014/main" id="{77BEDD1F-2524-1721-0294-2410EF7793F2}"/>
              </a:ext>
            </a:extLst>
          </p:cNvPr>
          <p:cNvPicPr>
            <a:picLocks noChangeAspect="1"/>
          </p:cNvPicPr>
          <p:nvPr userDrawn="1"/>
        </p:nvPicPr>
        <p:blipFill>
          <a:blip r:embed="rId7">
            <a:alphaModFix amt="66000"/>
            <a:extLst>
              <a:ext uri="{96DAC541-7B7A-43D3-8B79-37D633B846F1}">
                <asvg:svgBlip xmlns:asvg="http://schemas.microsoft.com/office/drawing/2016/SVG/main" r:embed="rId8"/>
              </a:ext>
            </a:extLst>
          </a:blip>
          <a:srcRect l="53016" t="24344" r="39234" b="-323"/>
          <a:stretch/>
        </p:blipFill>
        <p:spPr>
          <a:xfrm flipH="1">
            <a:off x="4738912" y="193872"/>
            <a:ext cx="2119088" cy="9712130"/>
          </a:xfrm>
          <a:prstGeom prst="rect">
            <a:avLst/>
          </a:prstGeom>
        </p:spPr>
      </p:pic>
    </p:spTree>
    <p:extLst>
      <p:ext uri="{BB962C8B-B14F-4D97-AF65-F5344CB8AC3E}">
        <p14:creationId xmlns:p14="http://schemas.microsoft.com/office/powerpoint/2010/main" val="122746759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8D2F29-33FD-47A7-AB10-B1FA6BDB1599}" type="datetime4">
              <a:rPr lang="en-US" smtClean="0"/>
              <a:pPr/>
              <a:t>July 21, 2026</a:t>
            </a:fld>
            <a:endParaRPr lang="en-US" dirty="0"/>
          </a:p>
        </p:txBody>
      </p:sp>
    </p:spTree>
    <p:extLst>
      <p:ext uri="{BB962C8B-B14F-4D97-AF65-F5344CB8AC3E}">
        <p14:creationId xmlns:p14="http://schemas.microsoft.com/office/powerpoint/2010/main" val="330531609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AD01827-9A36-4138-95B8-B0189D2D0C96}" type="datetime4">
              <a:rPr lang="en-US" smtClean="0"/>
              <a:pPr/>
              <a:t>July 21, 2026</a:t>
            </a:fld>
            <a:endParaRPr lang="en-US"/>
          </a:p>
        </p:txBody>
      </p:sp>
    </p:spTree>
    <p:extLst>
      <p:ext uri="{BB962C8B-B14F-4D97-AF65-F5344CB8AC3E}">
        <p14:creationId xmlns:p14="http://schemas.microsoft.com/office/powerpoint/2010/main" val="39697635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EBDDC5B-631B-4336-9543-98257A1F05F5}" type="datetime4">
              <a:rPr lang="en-US" smtClean="0"/>
              <a:pPr/>
              <a:t>July 21, 2026</a:t>
            </a:fld>
            <a:endParaRPr lang="en-US"/>
          </a:p>
        </p:txBody>
      </p:sp>
    </p:spTree>
    <p:extLst>
      <p:ext uri="{BB962C8B-B14F-4D97-AF65-F5344CB8AC3E}">
        <p14:creationId xmlns:p14="http://schemas.microsoft.com/office/powerpoint/2010/main" val="3967573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r:embed="rId5">
            <a:alphaModFix amt="66000"/>
            <a:extLst>
              <a:ext uri="{96DAC541-7B7A-43D3-8B79-37D633B846F1}">
                <asvg:svgBlip xmlns:asvg="http://schemas.microsoft.com/office/drawing/2016/SVG/main" r:embed="rId6"/>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66630"/>
            <a:ext cx="148017" cy="145499"/>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7">
            <a:alphaModFix amt="18000"/>
            <a:extLst>
              <a:ext uri="{BEBA8EAE-BF5A-486C-A8C5-ECC9F3942E4B}">
                <a14:imgProps xmlns:a14="http://schemas.microsoft.com/office/drawing/2010/main">
                  <a14:imgLayer r:embed="rId8">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sp>
        <p:nvSpPr>
          <p:cNvPr id="89" name="Text Placeholder 40">
            <a:extLst>
              <a:ext uri="{FF2B5EF4-FFF2-40B4-BE49-F238E27FC236}">
                <a16:creationId xmlns:a16="http://schemas.microsoft.com/office/drawing/2014/main" id="{91D72DC1-72BB-4D90-888F-230C2490908D}"/>
              </a:ext>
            </a:extLst>
          </p:cNvPr>
          <p:cNvSpPr>
            <a:spLocks noGrp="1"/>
          </p:cNvSpPr>
          <p:nvPr userDrawn="1">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90" name="Text Placeholder 40">
            <a:extLst>
              <a:ext uri="{FF2B5EF4-FFF2-40B4-BE49-F238E27FC236}">
                <a16:creationId xmlns:a16="http://schemas.microsoft.com/office/drawing/2014/main" id="{B7833D10-130C-44AA-A9F0-0C48CBA6D02C}"/>
              </a:ext>
            </a:extLst>
          </p:cNvPr>
          <p:cNvSpPr>
            <a:spLocks noGrp="1"/>
          </p:cNvSpPr>
          <p:nvPr userDrawn="1">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50858086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A406CDC-6C73-4F07-BA2F-100422012497}" type="datetime4">
              <a:rPr lang="en-US" smtClean="0"/>
              <a:pPr/>
              <a:t>July 21, 2026</a:t>
            </a:fld>
            <a:endParaRPr lang="en-US" dirty="0"/>
          </a:p>
        </p:txBody>
      </p:sp>
    </p:spTree>
    <p:extLst>
      <p:ext uri="{BB962C8B-B14F-4D97-AF65-F5344CB8AC3E}">
        <p14:creationId xmlns:p14="http://schemas.microsoft.com/office/powerpoint/2010/main" val="3717197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44B1522-D64F-491F-B357-196ED417A415}" type="datetime4">
              <a:rPr lang="en-US" smtClean="0"/>
              <a:pPr/>
              <a:t>July 21, 2026</a:t>
            </a:fld>
            <a:endParaRPr lang="en-US" dirty="0"/>
          </a:p>
        </p:txBody>
      </p:sp>
    </p:spTree>
    <p:extLst>
      <p:ext uri="{BB962C8B-B14F-4D97-AF65-F5344CB8AC3E}">
        <p14:creationId xmlns:p14="http://schemas.microsoft.com/office/powerpoint/2010/main" val="173597992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July 21, 2026</a:t>
            </a:fld>
            <a:endParaRPr lang="en-US"/>
          </a:p>
        </p:txBody>
      </p:sp>
    </p:spTree>
    <p:extLst>
      <p:ext uri="{BB962C8B-B14F-4D97-AF65-F5344CB8AC3E}">
        <p14:creationId xmlns:p14="http://schemas.microsoft.com/office/powerpoint/2010/main" val="18672606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July 21,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884321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03E599-AFA5-4A08-AC9F-588B0C61A5AB}" type="datetime4">
              <a:rPr lang="en-US" smtClean="0"/>
              <a:pPr/>
              <a:t>July 21, 2026</a:t>
            </a:fld>
            <a:endParaRPr lang="en-US" dirty="0"/>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8592096"/>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report was prepared considering the product risk classification in order to generate allocation results for each investor profile.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analysts are obligated to comply with all the rules laid down in the APIMEC </a:t>
            </a:r>
            <a:r>
              <a:rPr lang="en-US" sz="700" kern="1200" spc="-10" baseline="0" dirty="0" err="1">
                <a:solidFill>
                  <a:schemeClr val="tx2"/>
                </a:solidFill>
                <a:effectLst/>
                <a:latin typeface="XP" pitchFamily="2" charset="77"/>
                <a:ea typeface="XP" pitchFamily="2" charset="77"/>
                <a:cs typeface="+mn-cs"/>
              </a:rPr>
              <a:t>Brasil’s</a:t>
            </a:r>
            <a:r>
              <a:rPr lang="en-US" sz="700" kern="1200" spc="-10" baseline="0" dirty="0">
                <a:solidFill>
                  <a:schemeClr val="tx2"/>
                </a:solidFill>
                <a:effectLst/>
                <a:latin typeface="XP" pitchFamily="2" charset="77"/>
                <a:ea typeface="XP" pitchFamily="2" charset="77"/>
                <a:cs typeface="+mn-cs"/>
              </a:rPr>
              <a:t> conduct code for the securities analyst and XP Investimentos’ analyst of securities conduct policy.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Customer service is carried out by XP Investimentos employees or by investments advisors who perform their activities through XP, in accordance with CVM Resolution 178/2023, which are registered in the national association of brokers and distributors of securities (“ANCORD”). The investments advisors may not provide consulting, administration or management of customer net worth, and must act as an intermediary and request prior authorization from the client for the realization of any operation in the capital market.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report is intended exclusively for to the XP Investimentos’ network, including XP’s investments advisors and XP’s customers, and may also be released on XP’s website. It is prohibited to reproduce or redistribute this report to any person, in whole or in part, whatever the purpose, without the prior express consent of XP Investimentos.</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a:t>
            </a:r>
            <a:r>
              <a:rPr lang="en-US" sz="700" kern="1200" spc="-10" baseline="0" dirty="0" err="1">
                <a:solidFill>
                  <a:schemeClr val="tx2"/>
                </a:solidFill>
                <a:effectLst/>
                <a:latin typeface="XP" pitchFamily="2" charset="77"/>
                <a:ea typeface="XP" pitchFamily="2" charset="77"/>
                <a:cs typeface="+mn-cs"/>
              </a:rPr>
              <a:t>ttps</a:t>
            </a:r>
            <a:r>
              <a:rPr lang="en-US" sz="700" kern="1200" spc="-10" baseline="0" dirty="0">
                <a:solidFill>
                  <a:schemeClr val="tx2"/>
                </a:solidFill>
                <a:effectLst/>
                <a:latin typeface="XP" pitchFamily="2" charset="77"/>
                <a:ea typeface="XP" pitchFamily="2" charset="77"/>
                <a:cs typeface="+mn-cs"/>
              </a:rPr>
              <a:t>://</a:t>
            </a:r>
            <a:r>
              <a:rPr lang="en-US" sz="700" kern="1200" spc="-10" baseline="0" dirty="0" err="1">
                <a:solidFill>
                  <a:schemeClr val="tx2"/>
                </a:solidFill>
                <a:effectLst/>
                <a:latin typeface="XP" pitchFamily="2" charset="77"/>
                <a:ea typeface="XP" pitchFamily="2" charset="77"/>
                <a:cs typeface="+mn-cs"/>
              </a:rPr>
              <a:t>institucional.xpi.com.br</a:t>
            </a:r>
            <a:r>
              <a:rPr lang="en-US" sz="700" kern="1200" spc="-10" baseline="0" dirty="0">
                <a:solidFill>
                  <a:schemeClr val="tx2"/>
                </a:solidFill>
                <a:effectLst/>
                <a:latin typeface="XP" pitchFamily="2" charset="77"/>
                <a:ea typeface="XP" pitchFamily="2" charset="77"/>
                <a:cs typeface="+mn-cs"/>
              </a:rPr>
              <a:t>/</a:t>
            </a:r>
            <a:r>
              <a:rPr lang="en-US" sz="700" kern="1200" spc="-10" baseline="0" dirty="0" err="1">
                <a:solidFill>
                  <a:schemeClr val="tx2"/>
                </a:solidFill>
                <a:effectLst/>
                <a:latin typeface="XP" pitchFamily="2" charset="77"/>
                <a:ea typeface="XP" pitchFamily="2" charset="77"/>
                <a:cs typeface="+mn-cs"/>
              </a:rPr>
              <a:t>ouvidoria.aspx</a:t>
            </a:r>
            <a:r>
              <a:rPr lang="en-US" sz="700" kern="1200" spc="-10" baseline="0" dirty="0">
                <a:solidFill>
                  <a:schemeClr val="tx2"/>
                </a:solidFill>
                <a:effectLst/>
                <a:latin typeface="XP" pitchFamily="2" charset="77"/>
                <a:ea typeface="XP" pitchFamily="2" charset="77"/>
                <a:cs typeface="+mn-cs"/>
              </a:rPr>
              <a: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The cost of the transactions billing policies are defined in the operational cost tables which are made available on XP Investimentos website: </a:t>
            </a:r>
            <a:r>
              <a:rPr lang="en-US" sz="700" kern="1200" spc="-10" baseline="0" dirty="0" err="1">
                <a:solidFill>
                  <a:schemeClr val="tx2"/>
                </a:solidFill>
                <a:effectLst/>
                <a:latin typeface="XP" pitchFamily="2" charset="77"/>
                <a:ea typeface="XP" pitchFamily="2" charset="77"/>
                <a:cs typeface="+mn-cs"/>
              </a:rPr>
              <a:t>www.xpi.com.br</a:t>
            </a:r>
            <a:r>
              <a:rPr lang="en-US" sz="700" kern="1200" spc="-10" baseline="0" dirty="0">
                <a:solidFill>
                  <a:schemeClr val="tx2"/>
                </a:solidFill>
                <a:effectLst/>
                <a:latin typeface="XP" pitchFamily="2" charset="77"/>
                <a:ea typeface="XP" pitchFamily="2" charset="77"/>
                <a:cs typeface="+mn-cs"/>
              </a:rPr>
              <a:t>.</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is exempt from any liability for any damages, direct or indirect, that come from the use of this report or its contents.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This institution is adhering ANBIMA Code of Regulation for Distribution of Investment Products.</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Investments US, LLC, a broker-dealer registered with the U.S. Securities and Exchange Commission, has assumed responsibility for this research for purposes of U.S. law.  All transactions arising from this research should be directed to XP Investments US, LLC, at +1 646-664-0525.</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en-US" sz="700" kern="1200" spc="-10" baseline="0" dirty="0">
                <a:solidFill>
                  <a:schemeClr val="tx2"/>
                </a:solidFill>
                <a:effectLst/>
                <a:latin typeface="XP" pitchFamily="2" charset="77"/>
                <a:ea typeface="XP" pitchFamily="2" charset="77"/>
                <a:cs typeface="+mn-cs"/>
              </a:rPr>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extLst>
      <p:ext uri="{BB962C8B-B14F-4D97-AF65-F5344CB8AC3E}">
        <p14:creationId xmlns:p14="http://schemas.microsoft.com/office/powerpoint/2010/main" val="51886037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9_Fechamento">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r:embed="rId5">
            <a:alphaModFix amt="66000"/>
            <a:extLst>
              <a:ext uri="{96DAC541-7B7A-43D3-8B79-37D633B846F1}">
                <asvg:svgBlip xmlns:asvg="http://schemas.microsoft.com/office/drawing/2016/SVG/main" r:embed="rId6"/>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7">
            <a:alphaModFix amt="18000"/>
            <a:extLst>
              <a:ext uri="{BEBA8EAE-BF5A-486C-A8C5-ECC9F3942E4B}">
                <a14:imgProps xmlns:a14="http://schemas.microsoft.com/office/drawing/2010/main">
                  <a14:imgLayer r:embed="rId8">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grpSp>
        <p:nvGrpSpPr>
          <p:cNvPr id="52" name="Group 51">
            <a:extLst>
              <a:ext uri="{FF2B5EF4-FFF2-40B4-BE49-F238E27FC236}">
                <a16:creationId xmlns:a16="http://schemas.microsoft.com/office/drawing/2014/main" id="{EC4BCA75-7F1B-481D-83B9-D8049585F325}"/>
              </a:ext>
            </a:extLst>
          </p:cNvPr>
          <p:cNvGrpSpPr/>
          <p:nvPr userDrawn="1"/>
        </p:nvGrpSpPr>
        <p:grpSpPr>
          <a:xfrm>
            <a:off x="2258539" y="4630339"/>
            <a:ext cx="2340922" cy="645323"/>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pPr algn="ctr"/>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pPr algn="ctr"/>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pPr algn="ctr"/>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pPr algn="ctr"/>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pPr algn="ctr"/>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pPr algn="ctr"/>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2023449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Agro, alimentos e bebidas">
    <p:bg>
      <p:bgRef idx="1001">
        <a:schemeClr val="bg1"/>
      </p:bgRef>
    </p:bg>
    <p:spTree>
      <p:nvGrpSpPr>
        <p:cNvPr id="1" name=""/>
        <p:cNvGrpSpPr/>
        <p:nvPr/>
      </p:nvGrpSpPr>
      <p:grpSpPr>
        <a:xfrm>
          <a:off x="0" y="0"/>
          <a:ext cx="0" cy="0"/>
          <a:chOff x="0" y="0"/>
          <a:chExt cx="0" cy="0"/>
        </a:xfrm>
      </p:grpSpPr>
      <p:sp>
        <p:nvSpPr>
          <p:cNvPr id="6" name="Rectangle 5" hidden="1">
            <a:extLst>
              <a:ext uri="{FF2B5EF4-FFF2-40B4-BE49-F238E27FC236}">
                <a16:creationId xmlns:a16="http://schemas.microsoft.com/office/drawing/2014/main" id="{7227264A-2A2E-B464-74B1-0F6F1C10C77E}"/>
              </a:ext>
            </a:extLst>
          </p:cNvPr>
          <p:cNvSpPr/>
          <p:nvPr userDrawn="1"/>
        </p:nvSpPr>
        <p:spPr>
          <a:xfrm>
            <a:off x="-1" y="8774019"/>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 name="Rectangle 4">
            <a:extLst>
              <a:ext uri="{FF2B5EF4-FFF2-40B4-BE49-F238E27FC236}">
                <a16:creationId xmlns:a16="http://schemas.microsoft.com/office/drawing/2014/main" id="{3E3B1163-CCC9-1979-5D10-8ECD746F5FCC}"/>
              </a:ext>
            </a:extLst>
          </p:cNvPr>
          <p:cNvSpPr/>
          <p:nvPr userDrawn="1"/>
        </p:nvSpPr>
        <p:spPr>
          <a:xfrm>
            <a:off x="0" y="-3"/>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pic>
        <p:nvPicPr>
          <p:cNvPr id="8" name="Imagem 7" descr="Frutas e vegetais&#10;&#10;Descrição gerada automaticamente">
            <a:extLst>
              <a:ext uri="{FF2B5EF4-FFF2-40B4-BE49-F238E27FC236}">
                <a16:creationId xmlns:a16="http://schemas.microsoft.com/office/drawing/2014/main" id="{19467A36-704B-386B-9F69-26B3AAC82C6C}"/>
              </a:ext>
            </a:extLst>
          </p:cNvPr>
          <p:cNvPicPr>
            <a:picLocks noChangeAspect="1"/>
          </p:cNvPicPr>
          <p:nvPr userDrawn="1"/>
        </p:nvPicPr>
        <p:blipFill>
          <a:blip r:embed="rId3" cstate="screen">
            <a:alphaModFix amt="25000"/>
            <a:extLst>
              <a:ext uri="{28A0092B-C50C-407E-A947-70E740481C1C}">
                <a14:useLocalDpi xmlns:a14="http://schemas.microsoft.com/office/drawing/2010/main"/>
              </a:ext>
            </a:extLst>
          </a:blip>
          <a:srcRect/>
          <a:stretch>
            <a:fillRect/>
          </a:stretch>
        </p:blipFill>
        <p:spPr>
          <a:xfrm>
            <a:off x="0" y="3"/>
            <a:ext cx="6858000" cy="9905997"/>
          </a:xfrm>
          <a:custGeom>
            <a:avLst/>
            <a:gdLst>
              <a:gd name="connsiteX0" fmla="*/ 0 w 6858000"/>
              <a:gd name="connsiteY0" fmla="*/ 0 h 9905997"/>
              <a:gd name="connsiteX1" fmla="*/ 6858000 w 6858000"/>
              <a:gd name="connsiteY1" fmla="*/ 0 h 9905997"/>
              <a:gd name="connsiteX2" fmla="*/ 6858000 w 6858000"/>
              <a:gd name="connsiteY2" fmla="*/ 9905997 h 9905997"/>
              <a:gd name="connsiteX3" fmla="*/ 0 w 6858000"/>
              <a:gd name="connsiteY3" fmla="*/ 9905997 h 9905997"/>
            </a:gdLst>
            <a:ahLst/>
            <a:cxnLst>
              <a:cxn ang="0">
                <a:pos x="connsiteX0" y="connsiteY0"/>
              </a:cxn>
              <a:cxn ang="0">
                <a:pos x="connsiteX1" y="connsiteY1"/>
              </a:cxn>
              <a:cxn ang="0">
                <a:pos x="connsiteX2" y="connsiteY2"/>
              </a:cxn>
              <a:cxn ang="0">
                <a:pos x="connsiteX3" y="connsiteY3"/>
              </a:cxn>
            </a:cxnLst>
            <a:rect l="l" t="t" r="r" b="b"/>
            <a:pathLst>
              <a:path w="6858000" h="9905997">
                <a:moveTo>
                  <a:pt x="0" y="0"/>
                </a:moveTo>
                <a:lnTo>
                  <a:pt x="6858000" y="0"/>
                </a:lnTo>
                <a:lnTo>
                  <a:pt x="6858000" y="9905997"/>
                </a:lnTo>
                <a:lnTo>
                  <a:pt x="0" y="9905997"/>
                </a:lnTo>
                <a:close/>
              </a:path>
            </a:pathLst>
          </a:custGeom>
        </p:spPr>
      </p:pic>
      <p:pic>
        <p:nvPicPr>
          <p:cNvPr id="10" name="Graphic 9">
            <a:extLst>
              <a:ext uri="{FF2B5EF4-FFF2-40B4-BE49-F238E27FC236}">
                <a16:creationId xmlns:a16="http://schemas.microsoft.com/office/drawing/2014/main" id="{F49ABFC1-C342-CD17-8E24-68B202FF4DD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9269" t="2351" r="1339" b="20035"/>
          <a:stretch/>
        </p:blipFill>
        <p:spPr>
          <a:xfrm flipV="1">
            <a:off x="-1" y="0"/>
            <a:ext cx="6858001" cy="9906000"/>
          </a:xfrm>
          <a:prstGeom prst="rect">
            <a:avLst/>
          </a:prstGeom>
        </p:spPr>
      </p:pic>
      <p:grpSp>
        <p:nvGrpSpPr>
          <p:cNvPr id="2" name="Agrupar 1">
            <a:extLst>
              <a:ext uri="{FF2B5EF4-FFF2-40B4-BE49-F238E27FC236}">
                <a16:creationId xmlns:a16="http://schemas.microsoft.com/office/drawing/2014/main" id="{12DD471D-7E3A-5696-BFDC-BC93E1279A2D}"/>
              </a:ext>
            </a:extLst>
          </p:cNvPr>
          <p:cNvGrpSpPr/>
          <p:nvPr userDrawn="1"/>
        </p:nvGrpSpPr>
        <p:grpSpPr>
          <a:xfrm>
            <a:off x="-2" y="-33856"/>
            <a:ext cx="6858001" cy="9906000"/>
            <a:chOff x="3836069" y="701305"/>
            <a:chExt cx="6858001" cy="9906000"/>
          </a:xfrm>
        </p:grpSpPr>
        <p:sp>
          <p:nvSpPr>
            <p:cNvPr id="3" name="Rectangle 50">
              <a:extLst>
                <a:ext uri="{FF2B5EF4-FFF2-40B4-BE49-F238E27FC236}">
                  <a16:creationId xmlns:a16="http://schemas.microsoft.com/office/drawing/2014/main" id="{62502AB0-64AA-9E82-4E61-E8AC520077F2}"/>
                </a:ext>
              </a:extLst>
            </p:cNvPr>
            <p:cNvSpPr/>
            <p:nvPr/>
          </p:nvSpPr>
          <p:spPr>
            <a:xfrm rot="10800000">
              <a:off x="3836070"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 name="Rectangle 1">
              <a:extLst>
                <a:ext uri="{FF2B5EF4-FFF2-40B4-BE49-F238E27FC236}">
                  <a16:creationId xmlns:a16="http://schemas.microsoft.com/office/drawing/2014/main" id="{65C3F032-3230-CC1F-B579-F0F95BD08170}"/>
                </a:ext>
              </a:extLst>
            </p:cNvPr>
            <p:cNvSpPr>
              <a:spLocks/>
            </p:cNvSpPr>
            <p:nvPr/>
          </p:nvSpPr>
          <p:spPr>
            <a:xfrm>
              <a:off x="3836069"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pic>
        <p:nvPicPr>
          <p:cNvPr id="13" name="Graphic 12">
            <a:extLst>
              <a:ext uri="{FF2B5EF4-FFF2-40B4-BE49-F238E27FC236}">
                <a16:creationId xmlns:a16="http://schemas.microsoft.com/office/drawing/2014/main" id="{2B3617B2-4386-53AD-39A7-6CFB852D60D5}"/>
              </a:ext>
            </a:extLst>
          </p:cNvPr>
          <p:cNvPicPr>
            <a:picLocks noChangeAspect="1"/>
          </p:cNvPicPr>
          <p:nvPr userDrawn="1"/>
        </p:nvPicPr>
        <p:blipFill>
          <a:blip r:embed="rId6">
            <a:alphaModFix amt="66000"/>
            <a:extLst>
              <a:ext uri="{96DAC541-7B7A-43D3-8B79-37D633B846F1}">
                <asvg:svgBlip xmlns:asvg="http://schemas.microsoft.com/office/drawing/2016/SVG/main" r:embed="rId7"/>
              </a:ext>
            </a:extLst>
          </a:blip>
          <a:srcRect l="27193" t="22453" r="47498" b="7994"/>
          <a:stretch/>
        </p:blipFill>
        <p:spPr>
          <a:xfrm>
            <a:off x="0" y="1133591"/>
            <a:ext cx="6858000" cy="8738553"/>
          </a:xfrm>
          <a:prstGeom prst="rect">
            <a:avLst/>
          </a:prstGeom>
        </p:spPr>
      </p:pic>
      <p:pic>
        <p:nvPicPr>
          <p:cNvPr id="9" name="Picture 8" descr="A blue and white dot pattern&#10;&#10;AI-generated content may be incorrect.">
            <a:extLst>
              <a:ext uri="{FF2B5EF4-FFF2-40B4-BE49-F238E27FC236}">
                <a16:creationId xmlns:a16="http://schemas.microsoft.com/office/drawing/2014/main" id="{D572D620-A33D-FA48-00AE-F1018BB7DF23}"/>
              </a:ext>
            </a:extLst>
          </p:cNvPr>
          <p:cNvPicPr>
            <a:picLocks noChangeAspect="1"/>
          </p:cNvPicPr>
          <p:nvPr userDrawn="1"/>
        </p:nvPicPr>
        <p:blipFill>
          <a:blip r:embed="rId8" cstate="screen">
            <a:alphaModFix amt="18000"/>
            <a:extLst>
              <a:ext uri="{BEBA8EAE-BF5A-486C-A8C5-ECC9F3942E4B}">
                <a14:imgProps xmlns:a14="http://schemas.microsoft.com/office/drawing/2010/main">
                  <a14:imgLayer r:embed="rId9">
                    <a14:imgEffect>
                      <a14:colorTemperature colorTemp="4700"/>
                    </a14:imgEffect>
                    <a14:imgEffect>
                      <a14:saturation sat="33000"/>
                    </a14:imgEffect>
                  </a14:imgLayer>
                </a14:imgProps>
              </a:ext>
              <a:ext uri="{28A0092B-C50C-407E-A947-70E740481C1C}">
                <a14:useLocalDpi xmlns:a14="http://schemas.microsoft.com/office/drawing/2010/main"/>
              </a:ext>
            </a:extLst>
          </a:blip>
          <a:srcRect t="-673"/>
          <a:stretch/>
        </p:blipFill>
        <p:spPr>
          <a:xfrm>
            <a:off x="0" y="875240"/>
            <a:ext cx="6858000" cy="8809959"/>
          </a:xfrm>
          <a:prstGeom prst="rect">
            <a:avLst/>
          </a:prstGeom>
        </p:spPr>
      </p:pic>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5" name="Espaço Reservado para Texto 6">
            <a:extLst>
              <a:ext uri="{FF2B5EF4-FFF2-40B4-BE49-F238E27FC236}">
                <a16:creationId xmlns:a16="http://schemas.microsoft.com/office/drawing/2014/main" id="{354E5287-B1CE-DBCC-A334-7B6607B9F04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noProof="0"/>
              <a:t>Sector / Segment</a:t>
            </a:r>
          </a:p>
        </p:txBody>
      </p:sp>
      <p:sp>
        <p:nvSpPr>
          <p:cNvPr id="7" name="Date Placeholder 10">
            <a:extLst>
              <a:ext uri="{FF2B5EF4-FFF2-40B4-BE49-F238E27FC236}">
                <a16:creationId xmlns:a16="http://schemas.microsoft.com/office/drawing/2014/main" id="{624580AB-8B11-2158-FF8A-2264EA11D9E6}"/>
              </a:ext>
            </a:extLst>
          </p:cNvPr>
          <p:cNvSpPr>
            <a:spLocks noGrp="1"/>
          </p:cNvSpPr>
          <p:nvPr>
            <p:ph type="dt" sz="half" idx="2"/>
          </p:nvPr>
        </p:nvSpPr>
        <p:spPr>
          <a:xfrm>
            <a:off x="3371691" y="438763"/>
            <a:ext cx="3132139" cy="184666"/>
          </a:xfrm>
        </p:spPr>
        <p:txBody>
          <a:bodyPr/>
          <a:lstStyle>
            <a:lvl1pPr>
              <a:defRPr>
                <a:solidFill>
                  <a:srgbClr val="F9C113"/>
                </a:solidFill>
              </a:defRPr>
            </a:lvl1pPr>
          </a:lstStyle>
          <a:p>
            <a:fld id="{7C15C50E-5CAF-4D73-A24B-0338FF2E9F05}" type="datetime4">
              <a:rPr lang="en-US" smtClean="0"/>
              <a:pPr/>
              <a:t>July 21, 2026</a:t>
            </a:fld>
            <a:endParaRPr lang="en-US" dirty="0"/>
          </a:p>
        </p:txBody>
      </p:sp>
      <p:grpSp>
        <p:nvGrpSpPr>
          <p:cNvPr id="16" name="Group 15">
            <a:extLst>
              <a:ext uri="{FF2B5EF4-FFF2-40B4-BE49-F238E27FC236}">
                <a16:creationId xmlns:a16="http://schemas.microsoft.com/office/drawing/2014/main" id="{C4DF0931-276A-C4B3-E0A7-02B6EAA3C49B}"/>
              </a:ext>
            </a:extLst>
          </p:cNvPr>
          <p:cNvGrpSpPr/>
          <p:nvPr userDrawn="1"/>
        </p:nvGrpSpPr>
        <p:grpSpPr>
          <a:xfrm>
            <a:off x="390154" y="406178"/>
            <a:ext cx="1240285" cy="341910"/>
            <a:chOff x="2700591" y="2522601"/>
            <a:chExt cx="6428993" cy="1772284"/>
          </a:xfrm>
        </p:grpSpPr>
        <p:sp>
          <p:nvSpPr>
            <p:cNvPr id="17" name="Freeform: Shape 16">
              <a:extLst>
                <a:ext uri="{FF2B5EF4-FFF2-40B4-BE49-F238E27FC236}">
                  <a16:creationId xmlns:a16="http://schemas.microsoft.com/office/drawing/2014/main" id="{70B9B340-5E1C-9327-69F1-5AE446FF2255}"/>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20" name="Graphic 20">
              <a:extLst>
                <a:ext uri="{FF2B5EF4-FFF2-40B4-BE49-F238E27FC236}">
                  <a16:creationId xmlns:a16="http://schemas.microsoft.com/office/drawing/2014/main" id="{1E0C2497-164B-3E45-6090-5F805C67AB02}"/>
                </a:ext>
              </a:extLst>
            </p:cNvPr>
            <p:cNvGrpSpPr/>
            <p:nvPr/>
          </p:nvGrpSpPr>
          <p:grpSpPr>
            <a:xfrm>
              <a:off x="5034660" y="3339528"/>
              <a:ext cx="4094924" cy="747077"/>
              <a:chOff x="5034660" y="3339528"/>
              <a:chExt cx="4094924" cy="747077"/>
            </a:xfrm>
            <a:solidFill>
              <a:srgbClr val="FFFFFF"/>
            </a:solidFill>
          </p:grpSpPr>
          <p:sp>
            <p:nvSpPr>
              <p:cNvPr id="21" name="Freeform: Shape 20">
                <a:extLst>
                  <a:ext uri="{FF2B5EF4-FFF2-40B4-BE49-F238E27FC236}">
                    <a16:creationId xmlns:a16="http://schemas.microsoft.com/office/drawing/2014/main" id="{3198B4CB-7FA3-A37E-E540-E2FBA81CCDC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A8605D5-3EDB-F7D1-AC3B-DF5CEE51614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18B3AC0-A0B3-67F5-F442-48F0E029DF5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AD7D35-F105-3B1F-6CF2-EDD48ACC71B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9371C5E-12BC-7944-E1F6-FF98963DBD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67F76F1-36B6-C9E1-0D69-7196D96834A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0C5B1F5-1F12-DAC8-A282-CAB55191AC3B}"/>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4F4377A-A2E8-D20E-9FC2-72262641410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pic>
        <p:nvPicPr>
          <p:cNvPr id="14" name="Picture 2">
            <a:extLst>
              <a:ext uri="{FF2B5EF4-FFF2-40B4-BE49-F238E27FC236}">
                <a16:creationId xmlns:a16="http://schemas.microsoft.com/office/drawing/2014/main" id="{22A90CF6-A144-39BB-DCF6-0041D29A59FB}"/>
              </a:ext>
            </a:extLst>
          </p:cNvPr>
          <p:cNvPicPr>
            <a:picLocks noChangeAspect="1" noChangeArrowheads="1"/>
          </p:cNvPicPr>
          <p:nvPr userDrawn="1"/>
        </p:nvPicPr>
        <p:blipFill rotWithShape="1">
          <a:blip r:embed="rId10">
            <a:alphaModFix amt="80000"/>
            <a:extLst>
              <a:ext uri="{BEBA8EAE-BF5A-486C-A8C5-ECC9F3942E4B}">
                <a14:imgProps xmlns:a14="http://schemas.microsoft.com/office/drawing/2010/main">
                  <a14:imgLayer r:embed="rId11">
                    <a14:imgEffect>
                      <a14:saturation sat="200000"/>
                    </a14:imgEffect>
                  </a14:imgLayer>
                </a14:imgProps>
              </a:ext>
              <a:ext uri="{28A0092B-C50C-407E-A947-70E740481C1C}">
                <a14:useLocalDpi xmlns:a14="http://schemas.microsoft.com/office/drawing/2010/main" val="0"/>
              </a:ext>
            </a:extLst>
          </a:blip>
          <a:srcRect t="2779"/>
          <a:stretch>
            <a:fillRect/>
          </a:stretch>
        </p:blipFill>
        <p:spPr bwMode="auto">
          <a:xfrm>
            <a:off x="-41031" y="1125104"/>
            <a:ext cx="6851600" cy="8814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 name="Group 21">
            <a:extLst>
              <a:ext uri="{FF2B5EF4-FFF2-40B4-BE49-F238E27FC236}">
                <a16:creationId xmlns:a16="http://schemas.microsoft.com/office/drawing/2014/main" id="{00E5A002-6DCB-C694-6314-EB76626E8A19}"/>
              </a:ext>
            </a:extLst>
          </p:cNvPr>
          <p:cNvGrpSpPr/>
          <p:nvPr userDrawn="1"/>
        </p:nvGrpSpPr>
        <p:grpSpPr>
          <a:xfrm flipH="1">
            <a:off x="-113256" y="3"/>
            <a:ext cx="6971256" cy="6334019"/>
            <a:chOff x="-31505" y="3"/>
            <a:chExt cx="7944897" cy="6841233"/>
          </a:xfrm>
        </p:grpSpPr>
        <p:grpSp>
          <p:nvGrpSpPr>
            <p:cNvPr id="28" name="Group 27">
              <a:extLst>
                <a:ext uri="{FF2B5EF4-FFF2-40B4-BE49-F238E27FC236}">
                  <a16:creationId xmlns:a16="http://schemas.microsoft.com/office/drawing/2014/main" id="{F6E60C19-6EC6-79F0-2571-4F969A84DE7D}"/>
                </a:ext>
              </a:extLst>
            </p:cNvPr>
            <p:cNvGrpSpPr/>
            <p:nvPr userDrawn="1"/>
          </p:nvGrpSpPr>
          <p:grpSpPr>
            <a:xfrm flipV="1">
              <a:off x="-31505" y="3"/>
              <a:ext cx="3073148" cy="1233884"/>
              <a:chOff x="-33216277" y="3696971"/>
              <a:chExt cx="17875623" cy="1180237"/>
            </a:xfrm>
          </p:grpSpPr>
          <p:cxnSp>
            <p:nvCxnSpPr>
              <p:cNvPr id="33" name="Straight Connector 32">
                <a:extLst>
                  <a:ext uri="{FF2B5EF4-FFF2-40B4-BE49-F238E27FC236}">
                    <a16:creationId xmlns:a16="http://schemas.microsoft.com/office/drawing/2014/main" id="{319BE25D-5958-7D73-F3C0-7D0831EA1E8C}"/>
                  </a:ext>
                </a:extLst>
              </p:cNvPr>
              <p:cNvCxnSpPr>
                <a:cxnSpLocks/>
              </p:cNvCxnSpPr>
              <p:nvPr userDrawn="1"/>
            </p:nvCxnSpPr>
            <p:spPr>
              <a:xfrm flipV="1">
                <a:off x="-33216277" y="3710462"/>
                <a:ext cx="1787562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519488C-120C-21BC-6154-B447D94CB464}"/>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2" name="Isosceles Triangle 31">
              <a:extLst>
                <a:ext uri="{FF2B5EF4-FFF2-40B4-BE49-F238E27FC236}">
                  <a16:creationId xmlns:a16="http://schemas.microsoft.com/office/drawing/2014/main" id="{6A393549-862E-9CC3-C781-5E5E886F481D}"/>
                </a:ext>
              </a:extLst>
            </p:cNvPr>
            <p:cNvSpPr/>
            <p:nvPr userDrawn="1"/>
          </p:nvSpPr>
          <p:spPr>
            <a:xfrm rot="16200000">
              <a:off x="2660727" y="1588567"/>
              <a:ext cx="5619144" cy="4886188"/>
            </a:xfrm>
            <a:prstGeom prst="triangle">
              <a:avLst>
                <a:gd name="adj" fmla="val 100000"/>
              </a:avLst>
            </a:prstGeom>
            <a:gradFill>
              <a:gsLst>
                <a:gs pos="93000">
                  <a:srgbClr val="8EB3DF">
                    <a:alpha val="0"/>
                  </a:srgbClr>
                </a:gs>
                <a:gs pos="0">
                  <a:schemeClr val="accent3"/>
                </a:gs>
                <a:gs pos="70000">
                  <a:schemeClr val="accent3">
                    <a:alpha val="11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grpSp>
        <p:nvGrpSpPr>
          <p:cNvPr id="35" name="Group 34">
            <a:extLst>
              <a:ext uri="{FF2B5EF4-FFF2-40B4-BE49-F238E27FC236}">
                <a16:creationId xmlns:a16="http://schemas.microsoft.com/office/drawing/2014/main" id="{34DD8100-7337-EDA7-4EFE-347665ACE117}"/>
              </a:ext>
            </a:extLst>
          </p:cNvPr>
          <p:cNvGrpSpPr/>
          <p:nvPr userDrawn="1"/>
        </p:nvGrpSpPr>
        <p:grpSpPr>
          <a:xfrm>
            <a:off x="340252" y="1670475"/>
            <a:ext cx="2267822" cy="1002192"/>
            <a:chOff x="423863" y="1657596"/>
            <a:chExt cx="2267822" cy="1002192"/>
          </a:xfrm>
        </p:grpSpPr>
        <p:sp>
          <p:nvSpPr>
            <p:cNvPr id="36" name="TextBox 35">
              <a:extLst>
                <a:ext uri="{FF2B5EF4-FFF2-40B4-BE49-F238E27FC236}">
                  <a16:creationId xmlns:a16="http://schemas.microsoft.com/office/drawing/2014/main" id="{570DE430-6303-59C5-EDA1-B39F1B7BA68F}"/>
                </a:ext>
              </a:extLst>
            </p:cNvPr>
            <p:cNvSpPr txBox="1"/>
            <p:nvPr userDrawn="1"/>
          </p:nvSpPr>
          <p:spPr>
            <a:xfrm>
              <a:off x="637566" y="2105790"/>
              <a:ext cx="2054119" cy="553998"/>
            </a:xfrm>
            <a:prstGeom prst="rect">
              <a:avLst/>
            </a:prstGeom>
            <a:noFill/>
          </p:spPr>
          <p:txBody>
            <a:bodyPr wrap="square" lIns="0" tIns="0" rIns="0" bIns="0" rtlCol="0">
              <a:spAutoFit/>
            </a:bodyPr>
            <a:lstStyle/>
            <a:p>
              <a:pPr algn="r"/>
              <a:r>
                <a:rPr lang="pt-BR" sz="3600" b="0" i="0" dirty="0">
                  <a:solidFill>
                    <a:schemeClr val="bg1"/>
                  </a:solidFill>
                  <a:latin typeface="XP Light Lighthouse" pitchFamily="50" charset="0"/>
                  <a:ea typeface="XP Light Lighthouse" pitchFamily="50" charset="0"/>
                  <a:cs typeface="Roboto" panose="02000000000000000000" pitchFamily="2" charset="0"/>
                </a:rPr>
                <a:t>Research</a:t>
              </a:r>
            </a:p>
          </p:txBody>
        </p:sp>
        <p:sp>
          <p:nvSpPr>
            <p:cNvPr id="37" name="TextBox 36">
              <a:extLst>
                <a:ext uri="{FF2B5EF4-FFF2-40B4-BE49-F238E27FC236}">
                  <a16:creationId xmlns:a16="http://schemas.microsoft.com/office/drawing/2014/main" id="{9D861BE0-80B8-476F-5D19-E2E1D2C7E5C5}"/>
                </a:ext>
              </a:extLst>
            </p:cNvPr>
            <p:cNvSpPr txBox="1"/>
            <p:nvPr userDrawn="1"/>
          </p:nvSpPr>
          <p:spPr>
            <a:xfrm>
              <a:off x="423863" y="1657596"/>
              <a:ext cx="2267822" cy="615553"/>
            </a:xfrm>
            <a:prstGeom prst="rect">
              <a:avLst/>
            </a:prstGeom>
            <a:noFill/>
          </p:spPr>
          <p:txBody>
            <a:bodyPr wrap="square" lIns="0" tIns="0" rIns="0" bIns="0" rtlCol="0">
              <a:spAutoFit/>
            </a:bodyPr>
            <a:lstStyle/>
            <a:p>
              <a:pPr algn="r"/>
              <a:r>
                <a:rPr lang="pt-BR" sz="4000" b="1" i="1" dirty="0">
                  <a:solidFill>
                    <a:schemeClr val="bg1"/>
                  </a:solidFill>
                  <a:latin typeface="XP" pitchFamily="50" charset="0"/>
                  <a:ea typeface="XP" pitchFamily="50" charset="0"/>
                  <a:cs typeface="Roboto" panose="02000000000000000000" pitchFamily="2" charset="0"/>
                </a:rPr>
                <a:t>Thematic</a:t>
              </a:r>
            </a:p>
          </p:txBody>
        </p:sp>
      </p:grpSp>
    </p:spTree>
    <p:extLst>
      <p:ext uri="{BB962C8B-B14F-4D97-AF65-F5344CB8AC3E}">
        <p14:creationId xmlns:p14="http://schemas.microsoft.com/office/powerpoint/2010/main" val="97514465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2" name="Picture 1" descr="A white text on a black background&#10;&#10;AI-generated content may be incorrect.">
            <a:extLst>
              <a:ext uri="{FF2B5EF4-FFF2-40B4-BE49-F238E27FC236}">
                <a16:creationId xmlns:a16="http://schemas.microsoft.com/office/drawing/2014/main" id="{5A83CCB0-1CE3-0BC3-AB34-0407A8AE4CF1}"/>
              </a:ext>
            </a:extLst>
          </p:cNvPr>
          <p:cNvPicPr>
            <a:picLocks noChangeAspect="1"/>
          </p:cNvPicPr>
          <p:nvPr userDrawn="1"/>
        </p:nvPicPr>
        <p:blipFill>
          <a:blip r:embed="rId3" cstate="screen">
            <a:extLst>
              <a:ext uri="{28A0092B-C50C-407E-A947-70E740481C1C}">
                <a14:useLocalDpi xmlns:a14="http://schemas.microsoft.com/office/drawing/2010/main"/>
              </a:ext>
            </a:extLst>
          </a:blip>
          <a:srcRect t="19524" b="18938"/>
          <a:stretch/>
        </p:blipFill>
        <p:spPr>
          <a:xfrm>
            <a:off x="382588" y="8996264"/>
            <a:ext cx="6119812" cy="457299"/>
          </a:xfrm>
          <a:prstGeom prst="rect">
            <a:avLst/>
          </a:prstGeom>
        </p:spPr>
      </p:pic>
      <p:grpSp>
        <p:nvGrpSpPr>
          <p:cNvPr id="5" name="Group 4">
            <a:extLst>
              <a:ext uri="{FF2B5EF4-FFF2-40B4-BE49-F238E27FC236}">
                <a16:creationId xmlns:a16="http://schemas.microsoft.com/office/drawing/2014/main" id="{E947FC7A-C3B3-EC7B-71A5-804DAD0FB37E}"/>
              </a:ext>
            </a:extLst>
          </p:cNvPr>
          <p:cNvGrpSpPr/>
          <p:nvPr userDrawn="1"/>
        </p:nvGrpSpPr>
        <p:grpSpPr>
          <a:xfrm>
            <a:off x="0" y="0"/>
            <a:ext cx="6858000" cy="2003470"/>
            <a:chOff x="0" y="104872"/>
            <a:chExt cx="10296496" cy="3007979"/>
          </a:xfrm>
        </p:grpSpPr>
        <p:pic>
          <p:nvPicPr>
            <p:cNvPr id="6" name="Graphic 5">
              <a:extLst>
                <a:ext uri="{FF2B5EF4-FFF2-40B4-BE49-F238E27FC236}">
                  <a16:creationId xmlns:a16="http://schemas.microsoft.com/office/drawing/2014/main" id="{1688A787-9182-A426-2B75-FA6C6DDF288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9269" t="2351" r="1339" b="20035"/>
            <a:stretch/>
          </p:blipFill>
          <p:spPr>
            <a:xfrm flipV="1">
              <a:off x="0" y="104872"/>
              <a:ext cx="10296496" cy="3007979"/>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A4E2FB3C-1561-CDE0-F2B0-0E2716BC040B}"/>
                </a:ext>
              </a:extLst>
            </p:cNvPr>
            <p:cNvPicPr>
              <a:picLocks noChangeAspect="1"/>
            </p:cNvPicPr>
            <p:nvPr/>
          </p:nvPicPr>
          <p:blipFill>
            <a:blip r:embed="rId6" cstate="screen">
              <a:alphaModFix amt="18000"/>
              <a:extLst>
                <a:ext uri="{BEBA8EAE-BF5A-486C-A8C5-ECC9F3942E4B}">
                  <a14:imgProps xmlns:a14="http://schemas.microsoft.com/office/drawing/2010/main">
                    <a14:imgLayer r:embed="rId7">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74" y="122889"/>
              <a:ext cx="10274622" cy="2989962"/>
            </a:xfrm>
            <a:prstGeom prst="rect">
              <a:avLst/>
            </a:prstGeom>
          </p:spPr>
        </p:pic>
      </p:grpSp>
      <p:pic>
        <p:nvPicPr>
          <p:cNvPr id="9" name="Graphic 8">
            <a:extLst>
              <a:ext uri="{FF2B5EF4-FFF2-40B4-BE49-F238E27FC236}">
                <a16:creationId xmlns:a16="http://schemas.microsoft.com/office/drawing/2014/main" id="{2E2DBF91-C31C-E0F0-254B-B03F97806A89}"/>
              </a:ext>
            </a:extLst>
          </p:cNvPr>
          <p:cNvPicPr>
            <a:picLocks noChangeAspect="1"/>
          </p:cNvPicPr>
          <p:nvPr userDrawn="1"/>
        </p:nvPicPr>
        <p:blipFill>
          <a:blip r:embed="rId8">
            <a:alphaModFix amt="66000"/>
            <a:extLst>
              <a:ext uri="{96DAC541-7B7A-43D3-8B79-37D633B846F1}">
                <asvg:svgBlip xmlns:asvg="http://schemas.microsoft.com/office/drawing/2016/SVG/main" r:embed="rId9"/>
              </a:ext>
            </a:extLst>
          </a:blip>
          <a:srcRect l="51901" t="57744" r="40349" b="-120"/>
          <a:stretch/>
        </p:blipFill>
        <p:spPr>
          <a:xfrm rot="5400000" flipH="1">
            <a:off x="3316774" y="-1537758"/>
            <a:ext cx="2003470" cy="5078985"/>
          </a:xfrm>
          <a:prstGeom prst="rect">
            <a:avLst/>
          </a:pr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2517889"/>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6992214"/>
            <a:ext cx="2938221" cy="190879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6992214"/>
            <a:ext cx="2965558" cy="190879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670359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670359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July 21,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8" name="Rectangle: Rounded Corners 20">
            <a:hlinkClick r:id="rId10"/>
            <a:extLst>
              <a:ext uri="{FF2B5EF4-FFF2-40B4-BE49-F238E27FC236}">
                <a16:creationId xmlns:a16="http://schemas.microsoft.com/office/drawing/2014/main" id="{16108F45-CD6B-8ADB-9A8E-AC4CBA115993}"/>
              </a:ext>
            </a:extLst>
          </p:cNvPr>
          <p:cNvSpPr/>
          <p:nvPr userDrawn="1"/>
        </p:nvSpPr>
        <p:spPr>
          <a:xfrm>
            <a:off x="3436284" y="9249382"/>
            <a:ext cx="965200" cy="131802"/>
          </a:xfrm>
          <a:prstGeom prst="roundRect">
            <a:avLst>
              <a:gd name="adj" fmla="val 0"/>
            </a:avLst>
          </a:prstGeom>
          <a:solidFill>
            <a:srgbClr val="3E7A9B"/>
          </a:solidFill>
          <a:ln>
            <a:noFill/>
          </a:ln>
          <a:effectLst>
            <a:outerShdw blurRad="222914" dist="58514" dir="5400000" sx="40000" sy="40000" algn="t" rotWithShape="0">
              <a:prstClr val="black">
                <a:alpha val="86883"/>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500" b="1" spc="200" dirty="0">
                <a:solidFill>
                  <a:srgbClr val="E8E8E8"/>
                </a:solidFill>
                <a:effectLst>
                  <a:outerShdw blurRad="276269" dist="38100" dir="2700000" algn="tl" rotWithShape="0">
                    <a:prstClr val="black">
                      <a:alpha val="40000"/>
                    </a:prstClr>
                  </a:outerShdw>
                </a:effectLst>
                <a:latin typeface="XP" pitchFamily="50" charset="0"/>
                <a:ea typeface="XP" pitchFamily="50" charset="0"/>
                <a:cs typeface="Roboto" panose="02000000000000000000" pitchFamily="2" charset="0"/>
              </a:rPr>
              <a:t>VOTE HERE</a:t>
            </a:r>
          </a:p>
        </p:txBody>
      </p:sp>
    </p:spTree>
    <p:extLst>
      <p:ext uri="{BB962C8B-B14F-4D97-AF65-F5344CB8AC3E}">
        <p14:creationId xmlns:p14="http://schemas.microsoft.com/office/powerpoint/2010/main" val="236786039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97162727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2972137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3577092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98975719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21,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97778738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EE9ED39-57B7-5C8F-E9B2-57A1AC073839}"/>
              </a:ext>
            </a:extLst>
          </p:cNvPr>
          <p:cNvGrpSpPr/>
          <p:nvPr userDrawn="1"/>
        </p:nvGrpSpPr>
        <p:grpSpPr>
          <a:xfrm flipV="1">
            <a:off x="4738912" y="0"/>
            <a:ext cx="2119086" cy="9906000"/>
            <a:chOff x="-1" y="0"/>
            <a:chExt cx="1467060" cy="6858000"/>
          </a:xfrm>
        </p:grpSpPr>
        <p:pic>
          <p:nvPicPr>
            <p:cNvPr id="4" name="Graphic 3">
              <a:extLst>
                <a:ext uri="{FF2B5EF4-FFF2-40B4-BE49-F238E27FC236}">
                  <a16:creationId xmlns:a16="http://schemas.microsoft.com/office/drawing/2014/main" id="{D76B8EF7-CCD7-9A94-CD80-B82D9220F66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71178" b="20035"/>
            <a:stretch/>
          </p:blipFill>
          <p:spPr>
            <a:xfrm flipV="1">
              <a:off x="0" y="0"/>
              <a:ext cx="1467059" cy="6858000"/>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E28CC665-FF99-579A-7610-C998972AF3D6}"/>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1" y="0"/>
              <a:ext cx="1467060" cy="6858000"/>
            </a:xfrm>
            <a:prstGeom prst="rect">
              <a:avLst/>
            </a:prstGeom>
          </p:spPr>
        </p:pic>
      </p:grpSp>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dirty="0" err="1">
                <a:solidFill>
                  <a:srgbClr val="242424"/>
                </a:solidFill>
                <a:latin typeface="+mj-lt"/>
                <a:ea typeface="XP Light Lighthouse" pitchFamily="50" charset="0"/>
              </a:rPr>
              <a:t>Summary</a:t>
            </a:r>
            <a:endParaRPr lang="pt-BR" sz="2800" dirty="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pic>
        <p:nvPicPr>
          <p:cNvPr id="7" name="Graphic 6">
            <a:extLst>
              <a:ext uri="{FF2B5EF4-FFF2-40B4-BE49-F238E27FC236}">
                <a16:creationId xmlns:a16="http://schemas.microsoft.com/office/drawing/2014/main" id="{77BEDD1F-2524-1721-0294-2410EF7793F2}"/>
              </a:ext>
            </a:extLst>
          </p:cNvPr>
          <p:cNvPicPr>
            <a:picLocks noChangeAspect="1"/>
          </p:cNvPicPr>
          <p:nvPr userDrawn="1"/>
        </p:nvPicPr>
        <p:blipFill>
          <a:blip r:embed="rId7">
            <a:alphaModFix amt="66000"/>
            <a:extLst>
              <a:ext uri="{96DAC541-7B7A-43D3-8B79-37D633B846F1}">
                <asvg:svgBlip xmlns:asvg="http://schemas.microsoft.com/office/drawing/2016/SVG/main" r:embed="rId8"/>
              </a:ext>
            </a:extLst>
          </a:blip>
          <a:srcRect l="53016" t="24344" r="39234" b="-323"/>
          <a:stretch/>
        </p:blipFill>
        <p:spPr>
          <a:xfrm flipH="1">
            <a:off x="4738912" y="193872"/>
            <a:ext cx="2119088" cy="9712130"/>
          </a:xfrm>
          <a:prstGeom prst="rect">
            <a:avLst/>
          </a:prstGeom>
        </p:spPr>
      </p:pic>
    </p:spTree>
    <p:extLst>
      <p:ext uri="{BB962C8B-B14F-4D97-AF65-F5344CB8AC3E}">
        <p14:creationId xmlns:p14="http://schemas.microsoft.com/office/powerpoint/2010/main" val="214514169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8D2F29-33FD-47A7-AB10-B1FA6BDB1599}" type="datetime4">
              <a:rPr lang="en-US" smtClean="0"/>
              <a:pPr/>
              <a:t>July 21, 2026</a:t>
            </a:fld>
            <a:endParaRPr lang="en-US" dirty="0"/>
          </a:p>
        </p:txBody>
      </p:sp>
    </p:spTree>
    <p:extLst>
      <p:ext uri="{BB962C8B-B14F-4D97-AF65-F5344CB8AC3E}">
        <p14:creationId xmlns:p14="http://schemas.microsoft.com/office/powerpoint/2010/main" val="423530422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AD01827-9A36-4138-95B8-B0189D2D0C96}" type="datetime4">
              <a:rPr lang="en-US" smtClean="0"/>
              <a:pPr/>
              <a:t>July 21, 2026</a:t>
            </a:fld>
            <a:endParaRPr lang="en-US"/>
          </a:p>
        </p:txBody>
      </p:sp>
    </p:spTree>
    <p:extLst>
      <p:ext uri="{BB962C8B-B14F-4D97-AF65-F5344CB8AC3E}">
        <p14:creationId xmlns:p14="http://schemas.microsoft.com/office/powerpoint/2010/main" val="286978814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EBDDC5B-631B-4336-9543-98257A1F05F5}" type="datetime4">
              <a:rPr lang="en-US" smtClean="0"/>
              <a:pPr/>
              <a:t>July 21, 2026</a:t>
            </a:fld>
            <a:endParaRPr lang="en-US"/>
          </a:p>
        </p:txBody>
      </p:sp>
    </p:spTree>
    <p:extLst>
      <p:ext uri="{BB962C8B-B14F-4D97-AF65-F5344CB8AC3E}">
        <p14:creationId xmlns:p14="http://schemas.microsoft.com/office/powerpoint/2010/main" val="263728300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r:embed="rId5">
            <a:alphaModFix amt="66000"/>
            <a:extLst>
              <a:ext uri="{96DAC541-7B7A-43D3-8B79-37D633B846F1}">
                <asvg:svgBlip xmlns:asvg="http://schemas.microsoft.com/office/drawing/2016/SVG/main" r:embed="rId6"/>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66630"/>
            <a:ext cx="148017" cy="145499"/>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7">
            <a:alphaModFix amt="18000"/>
            <a:extLst>
              <a:ext uri="{BEBA8EAE-BF5A-486C-A8C5-ECC9F3942E4B}">
                <a14:imgProps xmlns:a14="http://schemas.microsoft.com/office/drawing/2010/main">
                  <a14:imgLayer r:embed="rId8">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sp>
        <p:nvSpPr>
          <p:cNvPr id="89" name="Text Placeholder 40">
            <a:extLst>
              <a:ext uri="{FF2B5EF4-FFF2-40B4-BE49-F238E27FC236}">
                <a16:creationId xmlns:a16="http://schemas.microsoft.com/office/drawing/2014/main" id="{91D72DC1-72BB-4D90-888F-230C2490908D}"/>
              </a:ext>
            </a:extLst>
          </p:cNvPr>
          <p:cNvSpPr>
            <a:spLocks noGrp="1"/>
          </p:cNvSpPr>
          <p:nvPr userDrawn="1">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90" name="Text Placeholder 40">
            <a:extLst>
              <a:ext uri="{FF2B5EF4-FFF2-40B4-BE49-F238E27FC236}">
                <a16:creationId xmlns:a16="http://schemas.microsoft.com/office/drawing/2014/main" id="{B7833D10-130C-44AA-A9F0-0C48CBA6D02C}"/>
              </a:ext>
            </a:extLst>
          </p:cNvPr>
          <p:cNvSpPr>
            <a:spLocks noGrp="1"/>
          </p:cNvSpPr>
          <p:nvPr userDrawn="1">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76082172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A406CDC-6C73-4F07-BA2F-100422012497}" type="datetime4">
              <a:rPr lang="en-US" smtClean="0"/>
              <a:pPr/>
              <a:t>July 21, 2026</a:t>
            </a:fld>
            <a:endParaRPr lang="en-US" dirty="0"/>
          </a:p>
        </p:txBody>
      </p:sp>
    </p:spTree>
    <p:extLst>
      <p:ext uri="{BB962C8B-B14F-4D97-AF65-F5344CB8AC3E}">
        <p14:creationId xmlns:p14="http://schemas.microsoft.com/office/powerpoint/2010/main" val="240088488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44B1522-D64F-491F-B357-196ED417A415}" type="datetime4">
              <a:rPr lang="en-US" smtClean="0"/>
              <a:pPr/>
              <a:t>July 21, 2026</a:t>
            </a:fld>
            <a:endParaRPr lang="en-US" dirty="0"/>
          </a:p>
        </p:txBody>
      </p:sp>
    </p:spTree>
    <p:extLst>
      <p:ext uri="{BB962C8B-B14F-4D97-AF65-F5344CB8AC3E}">
        <p14:creationId xmlns:p14="http://schemas.microsoft.com/office/powerpoint/2010/main" val="400938554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July 21, 2026</a:t>
            </a:fld>
            <a:endParaRPr lang="en-US"/>
          </a:p>
        </p:txBody>
      </p:sp>
    </p:spTree>
    <p:extLst>
      <p:ext uri="{BB962C8B-B14F-4D97-AF65-F5344CB8AC3E}">
        <p14:creationId xmlns:p14="http://schemas.microsoft.com/office/powerpoint/2010/main" val="61333852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July 21,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53039945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03E599-AFA5-4A08-AC9F-588B0C61A5AB}" type="datetime4">
              <a:rPr lang="en-US" smtClean="0"/>
              <a:pPr/>
              <a:t>July 21, 2026</a:t>
            </a:fld>
            <a:endParaRPr lang="en-US" dirty="0"/>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8347413"/>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1) 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lvl="0"/>
            <a:r>
              <a:rPr lang="en-US" dirty="0"/>
              <a:t>2) This report was prepared considering the product risk classification in order to generate allocation results for each investor profile.  			</a:t>
            </a:r>
          </a:p>
          <a:p>
            <a:pPr lvl="0"/>
            <a:r>
              <a:rPr lang="en-US" dirty="0"/>
              <a:t>3) 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lvl="0"/>
            <a:r>
              <a:rPr lang="en-US" dirty="0"/>
              <a:t>4) 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lvl="0"/>
            <a:r>
              <a:rPr lang="en-US" dirty="0"/>
              <a:t>5) 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lvl="0"/>
            <a:r>
              <a:rPr lang="en-US" dirty="0"/>
              <a:t>6) XP Investimentos’ analysts are obligated to comply with all the rules laid down in the APIMEC’s conduct code for the securities analyst and XP Investimentos’ analyst of securities conduct policy.  				</a:t>
            </a:r>
          </a:p>
          <a:p>
            <a:pPr lvl="0"/>
            <a:r>
              <a:rPr lang="en-US" dirty="0"/>
              <a:t>7) 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lvl="0"/>
            <a:r>
              <a:rPr lang="en-US" dirty="0"/>
              <a:t>8) The products presented in this report may not be suitable for all types of customer. Before making any decisions, customers should ensure that the products presented are suitable for their investor profile. This material does not suggest any change of portfolio, but only guidance on products suitable to a certain investor profile.  		</a:t>
            </a:r>
          </a:p>
          <a:p>
            <a:pPr lvl="0"/>
            <a:r>
              <a:rPr lang="en-US" dirty="0"/>
              <a:t>9) 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lvl="0"/>
            <a:r>
              <a:rPr lang="en-US" dirty="0"/>
              <a:t>10) 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lvl="0"/>
            <a:r>
              <a:rPr lang="en-US" dirty="0"/>
              <a:t>11) 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a:pPr lvl="0"/>
            <a:r>
              <a:rPr lang="en-US" dirty="0"/>
              <a:t>12) The cost of the transactions billing policies are defined in the operational cost tables which are made available on XP Investimentos website: www.xpi.com.br.</a:t>
            </a:r>
          </a:p>
          <a:p>
            <a:pPr lvl="0"/>
            <a:r>
              <a:rPr lang="en-US" dirty="0"/>
              <a:t>13) XP Investimentos is exempt from any liability for any damages, direct or indirect, that come from the use of this report or its contents.  			</a:t>
            </a:r>
          </a:p>
          <a:p>
            <a:pPr lvl="0"/>
            <a:r>
              <a:rPr lang="en-US" dirty="0"/>
              <a:t>14) 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lvl="0"/>
            <a:r>
              <a:rPr lang="en-US" dirty="0"/>
              <a:t>15) Investment in stocks is appropriate for moderate and aggressive profile investors, according to the suitability policy practiced by XP Investimentos. 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lvl="0"/>
            <a:r>
              <a:rPr lang="en-US" dirty="0"/>
              <a:t>16) Investment in options is preferably indicated for aggressive profile investors, according to the suitability policy practiced by XP Investimentos. In options market,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lvl="0"/>
            <a:r>
              <a:rPr lang="en-US" dirty="0"/>
              <a:t>17) Investment in terms is indicated for aggressive profile investors, according to the suitability policy practiced by XP Investimentos. They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a:pPr lvl="0"/>
            <a:r>
              <a:rPr lang="en-US" dirty="0"/>
              <a:t>18) Investments in futures markets are subject to significant loss of principal, and are therefore appropriate for aggressive profile investors, according to the suitability policies practiced by XP Investimentos.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lvl="0"/>
            <a:r>
              <a:rPr lang="en-US" dirty="0"/>
              <a:t>19) This institution is adhering ANBIMA Code of Regulation and best practices for the distribution activity of retail investment products.			</a:t>
            </a:r>
          </a:p>
          <a:p>
            <a:pPr lvl="0"/>
            <a:r>
              <a:rPr lang="en-US" dirty="0"/>
              <a:t>20) XP Investments US, LLC, a broker-dealer registered with the U.S. Securities and Exchange Commission, has assumed responsibility for this research for purposes of U.S. law.  All transactions arising from this research should be directed to XP Investments US, LLC, at +1 646-664-0525</a:t>
            </a:r>
          </a:p>
        </p:txBody>
      </p:sp>
    </p:spTree>
    <p:extLst>
      <p:ext uri="{BB962C8B-B14F-4D97-AF65-F5344CB8AC3E}">
        <p14:creationId xmlns:p14="http://schemas.microsoft.com/office/powerpoint/2010/main" val="11551146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D5BD79F-4454-2D65-87B4-C2D3C48209C8}"/>
              </a:ext>
            </a:extLst>
          </p:cNvPr>
          <p:cNvGrpSpPr/>
          <p:nvPr userDrawn="1"/>
        </p:nvGrpSpPr>
        <p:grpSpPr>
          <a:xfrm flipV="1">
            <a:off x="2" y="0"/>
            <a:ext cx="6857998" cy="9906000"/>
            <a:chOff x="-3280787" y="0"/>
            <a:chExt cx="4747846" cy="6858000"/>
          </a:xfrm>
        </p:grpSpPr>
        <p:pic>
          <p:nvPicPr>
            <p:cNvPr id="3" name="Graphic 2">
              <a:extLst>
                <a:ext uri="{FF2B5EF4-FFF2-40B4-BE49-F238E27FC236}">
                  <a16:creationId xmlns:a16="http://schemas.microsoft.com/office/drawing/2014/main" id="{D973D275-0385-3239-FB4B-03EF1135D7BF}"/>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3659" t="4143" r="65424" b="18244"/>
            <a:stretch/>
          </p:blipFill>
          <p:spPr>
            <a:xfrm flipV="1">
              <a:off x="-3280787" y="0"/>
              <a:ext cx="4747846" cy="685800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654FA633-917C-CB58-CF96-7914AEA9030C}"/>
                </a:ext>
              </a:extLst>
            </p:cNvPr>
            <p:cNvPicPr>
              <a:picLocks noChangeAspect="1"/>
            </p:cNvPicPr>
            <p:nvPr userDrawn="1"/>
          </p:nvPicPr>
          <p:blipFill>
            <a:blip r:embed="rId5">
              <a:alphaModFix amt="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3280787" y="0"/>
              <a:ext cx="4747846" cy="6858000"/>
            </a:xfrm>
            <a:prstGeom prst="rect">
              <a:avLst/>
            </a:prstGeom>
          </p:spPr>
        </p:pic>
      </p:grpSp>
      <p:sp>
        <p:nvSpPr>
          <p:cNvPr id="12" name="Oval 11">
            <a:extLst>
              <a:ext uri="{FF2B5EF4-FFF2-40B4-BE49-F238E27FC236}">
                <a16:creationId xmlns:a16="http://schemas.microsoft.com/office/drawing/2014/main" id="{576BEF12-E339-3B9B-71E5-4A34D3AFBE18}"/>
              </a:ext>
            </a:extLst>
          </p:cNvPr>
          <p:cNvSpPr/>
          <p:nvPr userDrawn="1"/>
        </p:nvSpPr>
        <p:spPr>
          <a:xfrm>
            <a:off x="1281737" y="8619991"/>
            <a:ext cx="75009" cy="75009"/>
          </a:xfrm>
          <a:prstGeom prst="ellipse">
            <a:avLst/>
          </a:prstGeom>
          <a:solidFill>
            <a:srgbClr val="5ABDF0"/>
          </a:solidFill>
          <a:ln w="25400">
            <a:solidFill>
              <a:srgbClr val="2F476A"/>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pic>
        <p:nvPicPr>
          <p:cNvPr id="5" name="Picture 4">
            <a:extLst>
              <a:ext uri="{FF2B5EF4-FFF2-40B4-BE49-F238E27FC236}">
                <a16:creationId xmlns:a16="http://schemas.microsoft.com/office/drawing/2014/main" id="{48ACD417-70EE-F1AD-B5E3-83B54E15FB77}"/>
              </a:ext>
            </a:extLst>
          </p:cNvPr>
          <p:cNvPicPr>
            <a:picLocks noChangeAspect="1"/>
          </p:cNvPicPr>
          <p:nvPr userDrawn="1"/>
        </p:nvPicPr>
        <p:blipFill>
          <a:blip r:embed="rId7"/>
          <a:stretch>
            <a:fillRect/>
          </a:stretch>
        </p:blipFill>
        <p:spPr>
          <a:xfrm>
            <a:off x="-1243014" y="-143634"/>
            <a:ext cx="8601075" cy="8576717"/>
          </a:xfrm>
          <a:prstGeom prst="rect">
            <a:avLst/>
          </a:prstGeom>
        </p:spPr>
      </p:pic>
      <p:sp>
        <p:nvSpPr>
          <p:cNvPr id="13" name="Oval 12">
            <a:extLst>
              <a:ext uri="{FF2B5EF4-FFF2-40B4-BE49-F238E27FC236}">
                <a16:creationId xmlns:a16="http://schemas.microsoft.com/office/drawing/2014/main" id="{2FD66861-BE23-F378-9110-5556E3D873A0}"/>
              </a:ext>
            </a:extLst>
          </p:cNvPr>
          <p:cNvSpPr/>
          <p:nvPr userDrawn="1"/>
        </p:nvSpPr>
        <p:spPr>
          <a:xfrm>
            <a:off x="2755632" y="8619991"/>
            <a:ext cx="75009" cy="75009"/>
          </a:xfrm>
          <a:prstGeom prst="ellipse">
            <a:avLst/>
          </a:prstGeom>
          <a:solidFill>
            <a:srgbClr val="5ABDF0"/>
          </a:solidFill>
          <a:ln w="25400">
            <a:solidFill>
              <a:srgbClr val="2F476A"/>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14" name="Oval 13">
            <a:extLst>
              <a:ext uri="{FF2B5EF4-FFF2-40B4-BE49-F238E27FC236}">
                <a16:creationId xmlns:a16="http://schemas.microsoft.com/office/drawing/2014/main" id="{31C96C6B-6288-1F5B-5F07-91810E4EDA0F}"/>
              </a:ext>
            </a:extLst>
          </p:cNvPr>
          <p:cNvSpPr/>
          <p:nvPr userDrawn="1"/>
        </p:nvSpPr>
        <p:spPr>
          <a:xfrm>
            <a:off x="4235185" y="8619991"/>
            <a:ext cx="75009" cy="75009"/>
          </a:xfrm>
          <a:prstGeom prst="ellipse">
            <a:avLst/>
          </a:prstGeom>
          <a:solidFill>
            <a:srgbClr val="5ABDF0"/>
          </a:solidFill>
          <a:ln w="25400">
            <a:solidFill>
              <a:srgbClr val="2F476A"/>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15" name="Oval 14">
            <a:extLst>
              <a:ext uri="{FF2B5EF4-FFF2-40B4-BE49-F238E27FC236}">
                <a16:creationId xmlns:a16="http://schemas.microsoft.com/office/drawing/2014/main" id="{264ADC5C-17D7-868C-35BA-A5A9F92F836B}"/>
              </a:ext>
            </a:extLst>
          </p:cNvPr>
          <p:cNvSpPr/>
          <p:nvPr userDrawn="1"/>
        </p:nvSpPr>
        <p:spPr>
          <a:xfrm>
            <a:off x="5530850" y="8619991"/>
            <a:ext cx="75009" cy="75009"/>
          </a:xfrm>
          <a:prstGeom prst="ellipse">
            <a:avLst/>
          </a:prstGeom>
          <a:solidFill>
            <a:srgbClr val="5ABDF0"/>
          </a:solidFill>
          <a:ln w="25400">
            <a:solidFill>
              <a:srgbClr val="2F476A"/>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16" name="TextBox 15">
            <a:extLst>
              <a:ext uri="{FF2B5EF4-FFF2-40B4-BE49-F238E27FC236}">
                <a16:creationId xmlns:a16="http://schemas.microsoft.com/office/drawing/2014/main" id="{07BB3C16-F6F1-8520-2570-747D8A446F85}"/>
              </a:ext>
            </a:extLst>
          </p:cNvPr>
          <p:cNvSpPr txBox="1"/>
          <p:nvPr userDrawn="1"/>
        </p:nvSpPr>
        <p:spPr>
          <a:xfrm>
            <a:off x="716016" y="7208936"/>
            <a:ext cx="1169934" cy="246221"/>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RESEARCH</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17" name="TextBox 16">
            <a:extLst>
              <a:ext uri="{FF2B5EF4-FFF2-40B4-BE49-F238E27FC236}">
                <a16:creationId xmlns:a16="http://schemas.microsoft.com/office/drawing/2014/main" id="{306C03D2-36C2-FBC5-7BA5-D38441168A4E}"/>
              </a:ext>
            </a:extLst>
          </p:cNvPr>
          <p:cNvSpPr txBox="1"/>
          <p:nvPr userDrawn="1"/>
        </p:nvSpPr>
        <p:spPr>
          <a:xfrm>
            <a:off x="3603966" y="7208936"/>
            <a:ext cx="1336256" cy="400110"/>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EQUITY SALES</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18" name="TextBox 17">
            <a:extLst>
              <a:ext uri="{FF2B5EF4-FFF2-40B4-BE49-F238E27FC236}">
                <a16:creationId xmlns:a16="http://schemas.microsoft.com/office/drawing/2014/main" id="{855EA9C3-42DF-DA1B-76A5-89E58C6DAFA7}"/>
              </a:ext>
            </a:extLst>
          </p:cNvPr>
          <p:cNvSpPr txBox="1"/>
          <p:nvPr userDrawn="1"/>
        </p:nvSpPr>
        <p:spPr>
          <a:xfrm>
            <a:off x="2130763" y="7208936"/>
            <a:ext cx="1336256" cy="400110"/>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CORPORATE ACCESS</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19" name="TextBox 18">
            <a:extLst>
              <a:ext uri="{FF2B5EF4-FFF2-40B4-BE49-F238E27FC236}">
                <a16:creationId xmlns:a16="http://schemas.microsoft.com/office/drawing/2014/main" id="{DCB2BF63-61BE-3C01-1A87-7D0AC730DC10}"/>
              </a:ext>
            </a:extLst>
          </p:cNvPr>
          <p:cNvSpPr txBox="1"/>
          <p:nvPr userDrawn="1"/>
        </p:nvSpPr>
        <p:spPr>
          <a:xfrm>
            <a:off x="4942133" y="7208936"/>
            <a:ext cx="1283012" cy="400110"/>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TRADING &amp; EXECUTION</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63009675-3558-40C9-D842-FA434A04CE4E}"/>
              </a:ext>
            </a:extLst>
          </p:cNvPr>
          <p:cNvSpPr txBox="1"/>
          <p:nvPr userDrawn="1"/>
        </p:nvSpPr>
        <p:spPr>
          <a:xfrm>
            <a:off x="1339890" y="5815511"/>
            <a:ext cx="4247892" cy="830997"/>
          </a:xfrm>
          <a:prstGeom prst="rect">
            <a:avLst/>
          </a:prstGeom>
          <a:noFill/>
          <a:effectLst/>
        </p:spPr>
        <p:txBody>
          <a:bodyPr wrap="square" lIns="0">
            <a:spAutoFit/>
          </a:bodyPr>
          <a:lstStyle/>
          <a:p>
            <a:pPr algn="ctr"/>
            <a:r>
              <a:rPr lang="en-US" sz="2400" b="0" dirty="0">
                <a:solidFill>
                  <a:schemeClr val="accent2"/>
                </a:solidFill>
                <a:latin typeface="XP Medium Lighthouse" pitchFamily="50" charset="0"/>
                <a:ea typeface="XP Medium Lighthouse" pitchFamily="50" charset="0"/>
              </a:rPr>
              <a:t>Vote</a:t>
            </a:r>
            <a:r>
              <a:rPr lang="en-US" sz="2400" dirty="0">
                <a:solidFill>
                  <a:schemeClr val="bg1"/>
                </a:solidFill>
                <a:latin typeface="XP Medium Lighthouse" pitchFamily="50" charset="0"/>
                <a:ea typeface="XP Medium Lighthouse" pitchFamily="50" charset="0"/>
              </a:rPr>
              <a:t> for all XP teams that helped shape your decisions</a:t>
            </a:r>
          </a:p>
        </p:txBody>
      </p:sp>
      <p:pic>
        <p:nvPicPr>
          <p:cNvPr id="22" name="Graphic 21">
            <a:extLst>
              <a:ext uri="{FF2B5EF4-FFF2-40B4-BE49-F238E27FC236}">
                <a16:creationId xmlns:a16="http://schemas.microsoft.com/office/drawing/2014/main" id="{08D32E14-9DDD-D477-6386-D1BFD8ACD883}"/>
              </a:ext>
            </a:extLst>
          </p:cNvPr>
          <p:cNvPicPr>
            <a:picLocks noChangeAspect="1"/>
          </p:cNvPicPr>
          <p:nvPr userDrawn="1"/>
        </p:nvPicPr>
        <p:blipFill>
          <a:blip r:embed="rId8">
            <a:extLst>
              <a:ext uri="{96DAC541-7B7A-43D3-8B79-37D633B846F1}">
                <asvg:svgBlip xmlns:asvg="http://schemas.microsoft.com/office/drawing/2016/SVG/main" r:embed="rId9"/>
              </a:ext>
            </a:extLst>
          </a:blip>
          <a:srcRect r="73524"/>
          <a:stretch/>
        </p:blipFill>
        <p:spPr>
          <a:xfrm>
            <a:off x="720223" y="739775"/>
            <a:ext cx="396583" cy="346021"/>
          </a:xfrm>
          <a:prstGeom prst="rect">
            <a:avLst/>
          </a:prstGeom>
        </p:spPr>
      </p:pic>
      <p:pic>
        <p:nvPicPr>
          <p:cNvPr id="23" name="Picture 22">
            <a:extLst>
              <a:ext uri="{FF2B5EF4-FFF2-40B4-BE49-F238E27FC236}">
                <a16:creationId xmlns:a16="http://schemas.microsoft.com/office/drawing/2014/main" id="{7A2E1EC0-4DD1-620D-A35B-7720B258D198}"/>
              </a:ext>
            </a:extLst>
          </p:cNvPr>
          <p:cNvPicPr>
            <a:picLocks noChangeAspect="1"/>
          </p:cNvPicPr>
          <p:nvPr userDrawn="1"/>
        </p:nvPicPr>
        <p:blipFill>
          <a:blip r:embed="rId10">
            <a:extLst>
              <a:ext uri="{28A0092B-C50C-407E-A947-70E740481C1C}">
                <a14:useLocalDpi xmlns:a14="http://schemas.microsoft.com/office/drawing/2010/main"/>
              </a:ext>
            </a:extLst>
          </a:blip>
          <a:stretch>
            <a:fillRect/>
          </a:stretch>
        </p:blipFill>
        <p:spPr>
          <a:xfrm>
            <a:off x="4904913" y="739775"/>
            <a:ext cx="1232864" cy="363104"/>
          </a:xfrm>
          <a:prstGeom prst="rect">
            <a:avLst/>
          </a:prstGeom>
        </p:spPr>
      </p:pic>
      <p:pic>
        <p:nvPicPr>
          <p:cNvPr id="8" name="Picture 7" descr="A black and blue text&#10;&#10;AI-generated content may be incorrect.">
            <a:extLst>
              <a:ext uri="{FF2B5EF4-FFF2-40B4-BE49-F238E27FC236}">
                <a16:creationId xmlns:a16="http://schemas.microsoft.com/office/drawing/2014/main" id="{03DB3816-3B2D-CC15-7D1B-974CFCF119B2}"/>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228726" y="3587425"/>
            <a:ext cx="4400549" cy="2156269"/>
          </a:xfrm>
          <a:prstGeom prst="rect">
            <a:avLst/>
          </a:prstGeom>
        </p:spPr>
      </p:pic>
    </p:spTree>
    <p:extLst>
      <p:ext uri="{BB962C8B-B14F-4D97-AF65-F5344CB8AC3E}">
        <p14:creationId xmlns:p14="http://schemas.microsoft.com/office/powerpoint/2010/main" val="413365934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99_Fechamento">
    <p:bg>
      <p:bgPr>
        <a:solidFill>
          <a:schemeClr val="bg1"/>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27171232-7BF1-4967-485B-275EADEAAE8D}"/>
              </a:ext>
            </a:extLst>
          </p:cNvPr>
          <p:cNvPicPr>
            <a:picLocks noChangeAspect="1"/>
          </p:cNvPicPr>
          <p:nvPr userDrawn="1"/>
        </p:nvPicPr>
        <p:blipFill>
          <a:blip r:embed="rId3">
            <a:extLst>
              <a:ext uri="{96DAC541-7B7A-43D3-8B79-37D633B846F1}">
                <asvg:svgBlip xmlns:asvg="http://schemas.microsoft.com/office/drawing/2016/SVG/main" r:embed="rId4"/>
              </a:ext>
            </a:extLst>
          </a:blip>
          <a:srcRect l="2458" t="10946" r="3302" b="8889"/>
          <a:stretch>
            <a:fillRect/>
          </a:stretch>
        </p:blipFill>
        <p:spPr>
          <a:xfrm flipH="1">
            <a:off x="0" y="0"/>
            <a:ext cx="6858000" cy="9906000"/>
          </a:xfrm>
          <a:prstGeom prst="rect">
            <a:avLst/>
          </a:prstGeom>
        </p:spPr>
      </p:pic>
      <p:pic>
        <p:nvPicPr>
          <p:cNvPr id="5" name="Gráfico 4">
            <a:extLst>
              <a:ext uri="{FF2B5EF4-FFF2-40B4-BE49-F238E27FC236}">
                <a16:creationId xmlns:a16="http://schemas.microsoft.com/office/drawing/2014/main" id="{0847E396-B434-41DC-D227-816D7403C0D7}"/>
              </a:ext>
            </a:extLst>
          </p:cNvPr>
          <p:cNvPicPr>
            <a:picLocks noChangeAspect="1"/>
          </p:cNvPicPr>
          <p:nvPr userDrawn="1"/>
        </p:nvPicPr>
        <p:blipFill>
          <a:blip r:embed="rId5">
            <a:alphaModFix/>
            <a:extLst>
              <a:ext uri="{96DAC541-7B7A-43D3-8B79-37D633B846F1}">
                <asvg:svgBlip xmlns:asvg="http://schemas.microsoft.com/office/drawing/2016/SVG/main" r:embed="rId6"/>
              </a:ext>
            </a:extLst>
          </a:blip>
          <a:stretch>
            <a:fillRect/>
          </a:stretch>
        </p:blipFill>
        <p:spPr>
          <a:xfrm rot="5400000">
            <a:off x="-2249729" y="-1976693"/>
            <a:ext cx="12152932" cy="12118256"/>
          </a:xfrm>
          <a:prstGeom prst="rect">
            <a:avLst/>
          </a:prstGeom>
        </p:spPr>
      </p:pic>
      <p:sp>
        <p:nvSpPr>
          <p:cNvPr id="7" name="Retângulo 6">
            <a:extLst>
              <a:ext uri="{FF2B5EF4-FFF2-40B4-BE49-F238E27FC236}">
                <a16:creationId xmlns:a16="http://schemas.microsoft.com/office/drawing/2014/main" id="{1F8FBF0A-E77D-DD6C-D194-759FBDDFE698}"/>
              </a:ext>
            </a:extLst>
          </p:cNvPr>
          <p:cNvSpPr/>
          <p:nvPr userDrawn="1"/>
        </p:nvSpPr>
        <p:spPr>
          <a:xfrm>
            <a:off x="0" y="3120861"/>
            <a:ext cx="6858000" cy="6785139"/>
          </a:xfrm>
          <a:prstGeom prst="rect">
            <a:avLst/>
          </a:prstGeom>
          <a:gradFill>
            <a:gsLst>
              <a:gs pos="0">
                <a:schemeClr val="accent6">
                  <a:alpha val="0"/>
                </a:schemeClr>
              </a:gs>
              <a:gs pos="10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2258539" y="4630339"/>
            <a:ext cx="2340922" cy="645323"/>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pPr algn="ctr"/>
                <a:endParaRPr lang="en-US" dirty="0">
                  <a:latin typeface="Roboto Light" panose="02000000000000000000" pitchFamily="2" charset="0"/>
                </a:endParaRPr>
              </a:p>
            </p:txBody>
          </p:sp>
        </p:grpSp>
      </p:grpSp>
    </p:spTree>
    <p:extLst>
      <p:ext uri="{BB962C8B-B14F-4D97-AF65-F5344CB8AC3E}">
        <p14:creationId xmlns:p14="http://schemas.microsoft.com/office/powerpoint/2010/main" val="98578498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pic>
        <p:nvPicPr>
          <p:cNvPr id="2" name="Graphic 1">
            <a:extLst>
              <a:ext uri="{FF2B5EF4-FFF2-40B4-BE49-F238E27FC236}">
                <a16:creationId xmlns:a16="http://schemas.microsoft.com/office/drawing/2014/main" id="{DAE82E8C-95AD-0361-B8B0-B7C0D8684CF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29FA0211-7640-B008-5F80-DFE4BF78EDCF}"/>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17F97C21-6648-EF6C-A98D-137E0F480F1A}"/>
              </a:ext>
            </a:extLst>
          </p:cNvPr>
          <p:cNvPicPr>
            <a:picLocks noChangeAspect="1"/>
          </p:cNvPicPr>
          <p:nvPr userDrawn="1"/>
        </p:nvPicPr>
        <p:blipFill>
          <a:blip r:embed="rId7">
            <a:alphaModFix amt="66000"/>
            <a:extLst>
              <a:ext uri="{96DAC541-7B7A-43D3-8B79-37D633B846F1}">
                <asvg:svgBlip xmlns:asvg="http://schemas.microsoft.com/office/drawing/2016/SVG/main" r:embed="rId8"/>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928D0FCD-860E-59BE-AB6B-2EA27033053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grpSp>
        <p:nvGrpSpPr>
          <p:cNvPr id="7" name="Group 6">
            <a:extLst>
              <a:ext uri="{FF2B5EF4-FFF2-40B4-BE49-F238E27FC236}">
                <a16:creationId xmlns:a16="http://schemas.microsoft.com/office/drawing/2014/main" id="{7B14105F-6B03-AB02-2E6B-E280AFC5EA3E}"/>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F910343D-7729-C09A-9C77-894C9CA08B3A}"/>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19EE9025-8994-9F60-34A1-5C3B3CFAD1EC}"/>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7B5DDC33-C3D4-9796-19F2-58D7C38A2C6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F4C69D50-6649-D4B4-7D87-4089B8DBE46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883D8FB5-0F60-B49C-34DC-9175C66F908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371036E0-69E7-A8D3-000E-87223966A2ED}"/>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02898492-89A0-DE15-D6C5-D551EFE24C9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E25F01F7-A7A9-F302-A1F0-C58B6E4EF15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DFD7414B-9A29-543D-FEA3-E085A244A597}"/>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057F6B16-BFF0-4DFA-603A-E9BCA79F806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C856C89A-7562-82C0-70CE-765A1BE0195E}"/>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21" name="Date Placeholder 1">
            <a:extLst>
              <a:ext uri="{FF2B5EF4-FFF2-40B4-BE49-F238E27FC236}">
                <a16:creationId xmlns:a16="http://schemas.microsoft.com/office/drawing/2014/main" id="{BFDFB630-05CE-02BE-378B-A5C3EA6BC938}"/>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July 21, 2026</a:t>
            </a:fld>
            <a:endParaRPr lang="en-US" dirty="0"/>
          </a:p>
        </p:txBody>
      </p:sp>
      <p:sp>
        <p:nvSpPr>
          <p:cNvPr id="22" name="Espaço Reservado para Texto 6">
            <a:extLst>
              <a:ext uri="{FF2B5EF4-FFF2-40B4-BE49-F238E27FC236}">
                <a16:creationId xmlns:a16="http://schemas.microsoft.com/office/drawing/2014/main" id="{BC5C97CA-C109-C89E-B0DA-580EB374FF5A}"/>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6CE2BDD4-5FBE-4506-6AAF-2D2BA90A0DD8}"/>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369252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385432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398119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417877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434057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446744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467234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483414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496101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dirty="0"/>
              <a:t>Click to edit Master text styles</a:t>
            </a:r>
          </a:p>
        </p:txBody>
      </p:sp>
    </p:spTree>
    <p:extLst>
      <p:ext uri="{BB962C8B-B14F-4D97-AF65-F5344CB8AC3E}">
        <p14:creationId xmlns:p14="http://schemas.microsoft.com/office/powerpoint/2010/main" val="378050549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 Id="rId9" Type="http://schemas.openxmlformats.org/officeDocument/2006/relationships/slideLayout" Target="../slideLayouts/slideLayout29.xml"/><Relationship Id="rId10" Type="http://schemas.openxmlformats.org/officeDocument/2006/relationships/slideLayout" Target="../slideLayouts/slideLayout30.xml"/><Relationship Id="rId11" Type="http://schemas.openxmlformats.org/officeDocument/2006/relationships/slideLayout" Target="../slideLayouts/slideLayout31.xml"/><Relationship Id="rId12" Type="http://schemas.openxmlformats.org/officeDocument/2006/relationships/slideLayout" Target="../slideLayouts/slideLayout32.xml"/><Relationship Id="rId13" Type="http://schemas.openxmlformats.org/officeDocument/2006/relationships/slideLayout" Target="../slideLayouts/slideLayout33.xml"/><Relationship Id="rId14" Type="http://schemas.openxmlformats.org/officeDocument/2006/relationships/slideLayout" Target="../slideLayouts/slideLayout34.xml"/><Relationship Id="rId15" Type="http://schemas.openxmlformats.org/officeDocument/2006/relationships/slideLayout" Target="../slideLayouts/slideLayout35.xml"/><Relationship Id="rId16" Type="http://schemas.openxmlformats.org/officeDocument/2006/relationships/slideLayout" Target="../slideLayouts/slideLayout36.xml"/><Relationship Id="rId17" Type="http://schemas.openxmlformats.org/officeDocument/2006/relationships/slideLayout" Target="../slideLayouts/slideLayout37.xml"/><Relationship Id="rId18" Type="http://schemas.openxmlformats.org/officeDocument/2006/relationships/slideLayout" Target="../slideLayouts/slideLayout38.xml"/><Relationship Id="rId19" Type="http://schemas.openxmlformats.org/officeDocument/2006/relationships/slideLayout" Target="../slideLayouts/slideLayout39.xml"/><Relationship Id="rId20" Type="http://schemas.openxmlformats.org/officeDocument/2006/relationships/slideLayout" Target="../slideLayouts/slideLayout40.xml"/><Relationship Id="rId2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2C2D92C-61B9-4561-AF19-21901E8F5445}" type="datetime4">
              <a:rPr lang="en-US" smtClean="0"/>
              <a:pPr/>
              <a:t>July 21, 2026</a:t>
            </a:fld>
            <a:endParaRPr lang="en-US" dirty="0"/>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XP Research</a:t>
            </a:r>
          </a:p>
        </p:txBody>
      </p:sp>
    </p:spTree>
    <p:extLst>
      <p:ext uri="{BB962C8B-B14F-4D97-AF65-F5344CB8AC3E}">
        <p14:creationId xmlns:p14="http://schemas.microsoft.com/office/powerpoint/2010/main" val="3552666448"/>
      </p:ext>
    </p:extLst>
  </p:cSld>
  <p:clrMap bg1="lt1" tx1="dk1" bg2="lt2" tx2="dk2" accent1="accent1" accent2="accent2" accent3="accent3" accent4="accent4" accent5="accent5" accent6="accent6" hlink="hlink" folHlink="folHlink"/>
  <p:sldLayoutIdLst>
    <p:sldLayoutId id="2147483716" r:id="rId1"/>
    <p:sldLayoutId id="2147483721" r:id="rId2"/>
    <p:sldLayoutId id="2147483709" r:id="rId3"/>
    <p:sldLayoutId id="2147483700" r:id="rId4"/>
    <p:sldLayoutId id="2147483707" r:id="rId5"/>
    <p:sldLayoutId id="2147483706" r:id="rId6"/>
    <p:sldLayoutId id="2147483718" r:id="rId7"/>
    <p:sldLayoutId id="2147483708" r:id="rId8"/>
    <p:sldLayoutId id="2147483719" r:id="rId9"/>
    <p:sldLayoutId id="2147483705" r:id="rId10"/>
    <p:sldLayoutId id="2147483699" r:id="rId11"/>
    <p:sldLayoutId id="2147483697" r:id="rId12"/>
    <p:sldLayoutId id="2147483695" r:id="rId13"/>
    <p:sldLayoutId id="2147483713" r:id="rId14"/>
    <p:sldLayoutId id="2147483696" r:id="rId15"/>
    <p:sldLayoutId id="2147483694" r:id="rId16"/>
    <p:sldLayoutId id="2147483698" r:id="rId17"/>
    <p:sldLayoutId id="2147483710" r:id="rId18"/>
    <p:sldLayoutId id="2147483702" r:id="rId19"/>
    <p:sldLayoutId id="2147483717" r:id="rId20"/>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32" userDrawn="1">
          <p15:clr>
            <a:srgbClr val="F26B43"/>
          </p15:clr>
        </p15:guide>
        <p15:guide id="3" pos="4088" userDrawn="1">
          <p15:clr>
            <a:srgbClr val="F26B43"/>
          </p15:clr>
        </p15:guide>
        <p15:guide id="4" orient="horz" pos="262" userDrawn="1">
          <p15:clr>
            <a:srgbClr val="F26B43"/>
          </p15:clr>
        </p15:guide>
        <p15:guide id="5" orient="horz" pos="5955" userDrawn="1">
          <p15:clr>
            <a:srgbClr val="F26B43"/>
          </p15:clr>
        </p15:guide>
        <p15:guide id="6" pos="2160" userDrawn="1">
          <p15:clr>
            <a:srgbClr val="F26B43"/>
          </p15:clr>
        </p15:guide>
        <p15:guide id="7" orient="horz" pos="466" userDrawn="1">
          <p15:clr>
            <a:srgbClr val="F26B43"/>
          </p15:clr>
        </p15:guide>
        <p15:guide id="8" orient="horz" pos="94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2C2D92C-61B9-4561-AF19-21901E8F5445}" type="datetime4">
              <a:rPr lang="en-US" smtClean="0"/>
              <a:pPr/>
              <a:t>July 21, 2026</a:t>
            </a:fld>
            <a:endParaRPr lang="en-US" dirty="0"/>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Equity Strategy</a:t>
            </a:r>
          </a:p>
        </p:txBody>
      </p:sp>
      <p:sp>
        <p:nvSpPr>
          <p:cNvPr id="5" name="TextBox 4">
            <a:extLst>
              <a:ext uri="{FF2B5EF4-FFF2-40B4-BE49-F238E27FC236}">
                <a16:creationId xmlns:a16="http://schemas.microsoft.com/office/drawing/2014/main" id="{7AA5DDC9-DF92-8C83-5EFD-9C51EB7CDBCB}"/>
              </a:ext>
            </a:extLst>
          </p:cNvPr>
          <p:cNvSpPr txBox="1"/>
          <p:nvPr userDrawn="1">
            <p:extLst>
              <p:ext uri="{1162E1C5-73C7-4A58-AE30-91384D911F3F}">
                <p184:classification xmlns:p184="http://schemas.microsoft.com/office/powerpoint/2018/4/main" val="ftr"/>
              </p:ext>
            </p:extLst>
          </p:nvPr>
        </p:nvSpPr>
        <p:spPr>
          <a:xfrm>
            <a:off x="5351463" y="9690100"/>
            <a:ext cx="1471612" cy="152400"/>
          </a:xfrm>
          <a:prstGeom prst="rect">
            <a:avLst/>
          </a:prstGeom>
        </p:spPr>
        <p:txBody>
          <a:bodyPr horzOverflow="overflow" lIns="0" tIns="0" rIns="0" bIns="0">
            <a:spAutoFit/>
          </a:bodyPr>
          <a:lstStyle/>
          <a:p>
            <a:pPr algn="l"/>
            <a:r>
              <a:rPr lang="en-US" sz="1000">
                <a:solidFill>
                  <a:srgbClr val="008000"/>
                </a:solidFill>
                <a:latin typeface="Calibri" panose="020F0502020204030204" pitchFamily="34" charset="0"/>
                <a:ea typeface="Calibri" panose="020F0502020204030204" pitchFamily="34" charset="0"/>
                <a:cs typeface="Calibri" panose="020F0502020204030204" pitchFamily="34" charset="0"/>
              </a:rPr>
              <a:t>[ CLASSIFICAÇÃO: PÚBLICA ]</a:t>
            </a:r>
          </a:p>
        </p:txBody>
      </p:sp>
    </p:spTree>
    <p:extLst>
      <p:ext uri="{BB962C8B-B14F-4D97-AF65-F5344CB8AC3E}">
        <p14:creationId xmlns:p14="http://schemas.microsoft.com/office/powerpoint/2010/main" val="3483530364"/>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p15:clr>
            <a:srgbClr val="F26B43"/>
          </p15:clr>
        </p15:guide>
        <p15:guide id="2" pos="232">
          <p15:clr>
            <a:srgbClr val="F26B43"/>
          </p15:clr>
        </p15:guide>
        <p15:guide id="3" pos="4088">
          <p15:clr>
            <a:srgbClr val="F26B43"/>
          </p15:clr>
        </p15:guide>
        <p15:guide id="4" orient="horz" pos="262">
          <p15:clr>
            <a:srgbClr val="F26B43"/>
          </p15:clr>
        </p15:guide>
        <p15:guide id="5" orient="horz" pos="5955">
          <p15:clr>
            <a:srgbClr val="F26B43"/>
          </p15:clr>
        </p15:guide>
        <p15:guide id="6" pos="2160">
          <p15:clr>
            <a:srgbClr val="F26B43"/>
          </p15:clr>
        </p15:guide>
        <p15:guide id="7" orient="horz" pos="466">
          <p15:clr>
            <a:srgbClr val="F26B43"/>
          </p15:clr>
        </p15:guide>
        <p15:guide id="8" orient="horz" pos="94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17.xml"/><Relationship Id="rId3" Type="http://schemas.openxmlformats.org/officeDocument/2006/relationships/chart" Target="../charts/chart18.xml"/><Relationship Id="rId4" Type="http://schemas.openxmlformats.org/officeDocument/2006/relationships/chart" Target="../charts/chart19.xml"/><Relationship Id="rId5" Type="http://schemas.openxmlformats.org/officeDocument/2006/relationships/chart" Target="../charts/chart20.xml"/><Relationship Id="rId6" Type="http://schemas.openxmlformats.org/officeDocument/2006/relationships/slide" Target="slide2.xml"/><Relationship Id="rId7" Type="http://schemas.openxmlformats.org/officeDocument/2006/relationships/slide" Target="slide2.xml"/><Relationship Id="rId8" Type="http://schemas.openxmlformats.org/officeDocument/2006/relationships/image" Target="../media/image27.png"/><Relationship Id="rId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chart" Target="../charts/chart21.xml"/><Relationship Id="rId3" Type="http://schemas.openxmlformats.org/officeDocument/2006/relationships/chart" Target="../charts/chart22.xml"/><Relationship Id="rId4" Type="http://schemas.openxmlformats.org/officeDocument/2006/relationships/chart" Target="../charts/chart23.xml"/><Relationship Id="rId5" Type="http://schemas.openxmlformats.org/officeDocument/2006/relationships/chart" Target="../charts/chart24.xml"/><Relationship Id="rId6" Type="http://schemas.openxmlformats.org/officeDocument/2006/relationships/slide" Target="slide2.xml"/><Relationship Id="rId7" Type="http://schemas.openxmlformats.org/officeDocument/2006/relationships/slide" Target="slide2.xml"/><Relationship Id="rId8" Type="http://schemas.openxmlformats.org/officeDocument/2006/relationships/image" Target="../media/image27.png"/><Relationship Id="rId9" Type="http://schemas.openxmlformats.org/officeDocument/2006/relationships/image" Target="../media/image2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89C7A-01A2-EE9C-C3A2-17FF9D88F893}"/>
            </a:ext>
          </a:extLst>
        </p:cNvPr>
        <p:cNvGrpSpPr/>
        <p:nvPr/>
      </p:nvGrpSpPr>
      <p:grpSpPr>
        <a:xfrm>
          <a:off x="0" y="0"/>
          <a:ext cx="0" cy="0"/>
          <a:chOff x="0" y="0"/>
          <a:chExt cx="0" cy="0"/>
        </a:xfrm>
      </p:grpSpPr>
      <p:sp>
        <p:nvSpPr>
          <p:cNvPr id="46" name="Text Placeholder 45">
            <a:extLst>
              <a:ext uri="{FF2B5EF4-FFF2-40B4-BE49-F238E27FC236}">
                <a16:creationId xmlns:a16="http://schemas.microsoft.com/office/drawing/2014/main" id="{2166C17B-07B8-8297-2D23-FFBF6C1797BF}"/>
              </a:ext>
            </a:extLst>
          </p:cNvPr>
          <p:cNvSpPr>
            <a:spLocks noGrp="1"/>
          </p:cNvSpPr>
          <p:nvPr>
            <p:ph type="body" sz="quarter" idx="26"/>
          </p:nvPr>
        </p:nvSpPr>
        <p:spPr/>
        <p:txBody>
          <a:bodyPr/>
          <a:lstStyle/>
          <a:p>
            <a:r>
              <a:rPr lang="pt-BR" dirty="0" err="1"/>
              <a:t>Fonte</a:t>
            </a:r>
            <a:r>
              <a:rPr lang="pt-BR" dirty="0"/>
              <a:t>: XP Research. </a:t>
            </a:r>
          </a:p>
        </p:txBody>
      </p:sp>
      <p:sp>
        <p:nvSpPr>
          <p:cNvPr id="45" name="Text Placeholder 44">
            <a:extLst>
              <a:ext uri="{FF2B5EF4-FFF2-40B4-BE49-F238E27FC236}">
                <a16:creationId xmlns:a16="http://schemas.microsoft.com/office/drawing/2014/main" id="{C4F1405C-EDBB-FD65-32B5-3F800B23D450}"/>
              </a:ext>
            </a:extLst>
          </p:cNvPr>
          <p:cNvSpPr>
            <a:spLocks noGrp="1"/>
          </p:cNvSpPr>
          <p:nvPr>
            <p:ph type="body" sz="quarter" idx="23"/>
          </p:nvPr>
        </p:nvSpPr>
        <p:spPr>
          <a:xfrm>
            <a:off x="390154" y="3692523"/>
            <a:ext cx="3734170" cy="5774713"/>
          </a:xfrm>
        </p:spPr>
        <p:txBody>
          <a:bodyPr/>
          <a:lstStyle/>
          <a:p>
            <a:pPr>
              <a:lnSpc>
                <a:spcPct val="125000"/>
              </a:lnSpc>
              <a:spcBef>
                <a:spcPts val="600"/>
              </a:spcBef>
            </a:pPr>
            <a:r>
              <a:rPr lang="en-US" sz="980" b="1" dirty="0"/>
              <a:t>Entrando em um dos El Niño mais fortes já registrados.</a:t>
            </a:r>
            <a:r>
              <a:rPr lang="en-US" sz="980" dirty="0"/>
              <a:t> As projeções atuais da NOAA indicam alta probabilidade de que o evento de 2026-27 atinja intensidade muito forte. Além de seus efeitos de primeira ordem sobre temperatura, precipitação e outras variáveis climáticas, o El Niño também traz implicações econômicas importantes, afetando setores e empresas por múltiplos canais de transmissão. Destacamos os potenciais impactos:</a:t>
            </a:r>
          </a:p>
          <a:p>
            <a:pPr marL="171450" indent="-171450">
              <a:lnSpc>
                <a:spcPct val="125000"/>
              </a:lnSpc>
              <a:spcBef>
                <a:spcPts val="600"/>
              </a:spcBef>
              <a:buFont typeface="Arial" panose="020B0604020202020204" pitchFamily="34" charset="0"/>
              <a:buChar char="•"/>
            </a:pPr>
            <a:r>
              <a:rPr lang="en-US" sz="980" b="1" dirty="0"/>
              <a:t>Macro: </a:t>
            </a:r>
            <a:r>
              <a:rPr lang="en-US" sz="980" dirty="0"/>
              <a:t>A inflação de alimentos deve acelerar a partir do 4T26, à medida que as disrupções climáticas afetam a produção agrícola. Do lado da atividade econômica, o impacto sobre o crescimento deve ser mais limitado. Preços mais altos de alimentos podem atrasar o processo de desinflação e manter as condições monetárias apertadas por mais tempo. </a:t>
            </a:r>
          </a:p>
          <a:p>
            <a:pPr marL="171450" indent="-171450">
              <a:lnSpc>
                <a:spcPct val="125000"/>
              </a:lnSpc>
              <a:spcBef>
                <a:spcPts val="600"/>
              </a:spcBef>
              <a:buFont typeface="Arial" panose="020B0604020202020204" pitchFamily="34" charset="0"/>
              <a:buChar char="•"/>
            </a:pPr>
            <a:r>
              <a:rPr lang="en-US" sz="980" b="1" dirty="0"/>
              <a:t>ESG:</a:t>
            </a:r>
            <a:r>
              <a:rPr lang="en-US" sz="980" dirty="0"/>
              <a:t> O El Niño atua como um multiplicador de risco climático. Há um consenso crescente de que eventos de El Niño que ocorrem sob um clima mais quente tendem a produzir impactos mais severos do que os eventos históricos. Isso reforça a relevância dos riscos climáticos físicos e torna a preparação corporativa, as estratégias de adaptação e a resiliência operacional cada vez mais importantes.</a:t>
            </a:r>
          </a:p>
          <a:p>
            <a:pPr marL="171450" indent="-171450">
              <a:lnSpc>
                <a:spcPct val="125000"/>
              </a:lnSpc>
              <a:spcBef>
                <a:spcPts val="600"/>
              </a:spcBef>
              <a:buFont typeface="Arial" panose="020B0604020202020204" pitchFamily="34" charset="0"/>
              <a:buChar char="•"/>
            </a:pPr>
            <a:r>
              <a:rPr lang="en-US" sz="980" b="1" dirty="0"/>
              <a:t>Setores:</a:t>
            </a:r>
            <a:r>
              <a:rPr lang="en-US" sz="980" dirty="0"/>
              <a:t> Os impactos devem variar significativamente entre setores e empresas. Agronegócio, Alimentos &amp; Bebidas, Utilidade Pública, Varejo e Transportes estão entre os segmentos mais expostos, criando tanto riscos quanto oportunidades de investimento, dependendo da exposição geográfica e do modelo de negócios. </a:t>
            </a:r>
          </a:p>
          <a:p>
            <a:pPr marL="171450" indent="-171450">
              <a:lnSpc>
                <a:spcPct val="125000"/>
              </a:lnSpc>
              <a:spcBef>
                <a:spcPts val="600"/>
              </a:spcBef>
              <a:buFont typeface="Arial" panose="020B0604020202020204" pitchFamily="34" charset="0"/>
              <a:buChar char="•"/>
            </a:pPr>
            <a:r>
              <a:rPr lang="en-US" sz="980" b="1" dirty="0"/>
              <a:t>Empresas:</a:t>
            </a:r>
            <a:r>
              <a:rPr lang="en-US" sz="980" dirty="0"/>
              <a:t> No nível das companhias, vemos nomes como TTEN, ASAI e AURE como relativamente melhor posicionados, enquanto SLCE, AGRO, BBAS, AXIA e outros carregam maior exposição negativa. Uma análise detalhada é apresentada nas páginas seguintes.</a:t>
            </a:r>
            <a:endParaRPr lang="pt-BR" sz="980" dirty="0"/>
          </a:p>
        </p:txBody>
      </p:sp>
      <p:sp>
        <p:nvSpPr>
          <p:cNvPr id="43" name="Text Placeholder 42">
            <a:extLst>
              <a:ext uri="{FF2B5EF4-FFF2-40B4-BE49-F238E27FC236}">
                <a16:creationId xmlns:a16="http://schemas.microsoft.com/office/drawing/2014/main" id="{38ACA1BA-BE2A-01E2-EA9E-5408B6B7019F}"/>
              </a:ext>
            </a:extLst>
          </p:cNvPr>
          <p:cNvSpPr>
            <a:spLocks noGrp="1"/>
          </p:cNvSpPr>
          <p:nvPr>
            <p:ph type="body" sz="quarter" idx="20"/>
          </p:nvPr>
        </p:nvSpPr>
        <p:spPr>
          <a:xfrm>
            <a:off x="390154" y="2150950"/>
            <a:ext cx="6099546" cy="1478898"/>
          </a:xfrm>
        </p:spPr>
        <p:txBody>
          <a:bodyPr/>
          <a:lstStyle/>
          <a:p>
            <a:r>
              <a:rPr lang="en-US" dirty="0"/>
              <a:t>Neste relatório temático, combinamos nossas visões de Estratégia, Macro, ESG e setoriais para avaliar os impactos do próximo El Niño, provavelmente um dos mais fortes já registrados. Principais conclusões: </a:t>
            </a:r>
            <a:r>
              <a:rPr lang="en-US" b="1" dirty="0"/>
              <a:t>(</a:t>
            </a:r>
            <a:r>
              <a:rPr lang="en-US" b="1" dirty="0" err="1"/>
              <a:t>i</a:t>
            </a:r>
            <a:r>
              <a:rPr lang="en-US" b="1" dirty="0"/>
              <a:t>) Macro:</a:t>
            </a:r>
            <a:r>
              <a:rPr lang="en-US" dirty="0"/>
              <a:t> a inflação de alimentos deve acelerar a partir do 4T26, à medida que as disrupções climáticas atingem a produção agrícola, atrasando a desinflação e potencialmente contribuindo para manter os juros mais altos por mais tempo; </a:t>
            </a:r>
            <a:r>
              <a:rPr lang="en-US" b="1" dirty="0"/>
              <a:t>(ii) ESG:</a:t>
            </a:r>
            <a:r>
              <a:rPr lang="en-US" dirty="0"/>
              <a:t> o El Niño atua como um multiplicador de risco climático, reforçando os riscos climáticos físicos e o valor da adaptação e da resiliência corporativa; </a:t>
            </a:r>
            <a:r>
              <a:rPr lang="en-US" b="1" dirty="0"/>
              <a:t>(iii) Setores:</a:t>
            </a:r>
            <a:r>
              <a:rPr lang="en-US" dirty="0"/>
              <a:t> os impactos variam amplamente: Agronegócio, Alimentos &amp; Bebidas, Utilidade Pública, Varejo e Financeiro são os mais expostos, criando tanto riscos quanto oportunidades de investimento, dependendo da exposição geográfica e do modelo de negócios. Discutimos as visões específicas por ação em mais detalhe ao longo desta nota temática.</a:t>
            </a:r>
          </a:p>
        </p:txBody>
      </p:sp>
      <p:sp>
        <p:nvSpPr>
          <p:cNvPr id="41" name="Text Placeholder 40">
            <a:extLst>
              <a:ext uri="{FF2B5EF4-FFF2-40B4-BE49-F238E27FC236}">
                <a16:creationId xmlns:a16="http://schemas.microsoft.com/office/drawing/2014/main" id="{366ABCAD-9E65-0650-EAE0-702410CE0F91}"/>
              </a:ext>
            </a:extLst>
          </p:cNvPr>
          <p:cNvSpPr>
            <a:spLocks noGrp="1"/>
          </p:cNvSpPr>
          <p:nvPr>
            <p:ph type="body" sz="quarter" idx="16"/>
          </p:nvPr>
        </p:nvSpPr>
        <p:spPr/>
        <p:txBody>
          <a:bodyPr/>
          <a:lstStyle/>
          <a:p>
            <a:r>
              <a:rPr lang="pt-BR" dirty="0" err="1"/>
              <a:t>Enfrentando o El Niño</a:t>
            </a:r>
            <a:endParaRPr lang="pt-BR" dirty="0"/>
          </a:p>
        </p:txBody>
      </p:sp>
      <p:sp>
        <p:nvSpPr>
          <p:cNvPr id="42" name="Text Placeholder 41">
            <a:extLst>
              <a:ext uri="{FF2B5EF4-FFF2-40B4-BE49-F238E27FC236}">
                <a16:creationId xmlns:a16="http://schemas.microsoft.com/office/drawing/2014/main" id="{A7D62C62-9BCD-D908-FA06-E2F3011A88DA}"/>
              </a:ext>
            </a:extLst>
          </p:cNvPr>
          <p:cNvSpPr>
            <a:spLocks noGrp="1"/>
          </p:cNvSpPr>
          <p:nvPr>
            <p:ph type="body" sz="quarter" idx="19"/>
          </p:nvPr>
        </p:nvSpPr>
        <p:spPr/>
        <p:txBody>
          <a:bodyPr/>
          <a:lstStyle/>
          <a:p>
            <a:endParaRPr lang="pt-BR"/>
          </a:p>
        </p:txBody>
      </p:sp>
      <p:sp>
        <p:nvSpPr>
          <p:cNvPr id="5" name="Date Placeholder 4">
            <a:extLst>
              <a:ext uri="{FF2B5EF4-FFF2-40B4-BE49-F238E27FC236}">
                <a16:creationId xmlns:a16="http://schemas.microsoft.com/office/drawing/2014/main" id="{3EFC0E7B-02FE-79E8-C7F7-E93455694894}"/>
              </a:ext>
            </a:extLst>
          </p:cNvPr>
          <p:cNvSpPr>
            <a:spLocks noGrp="1"/>
          </p:cNvSpPr>
          <p:nvPr>
            <p:ph type="dt" sz="half" idx="2"/>
          </p:nvPr>
        </p:nvSpPr>
        <p:spPr>
          <a:xfrm>
            <a:off x="3371691" y="438763"/>
            <a:ext cx="3132139" cy="184666"/>
          </a:xfrm>
        </p:spPr>
        <p:txBody>
          <a:bodyPr/>
          <a:lstStyle/>
          <a:p>
            <a:fld id="{7C15C50E-5CAF-4D73-A24B-0338FF2E9F05}" type="datetime4">
              <a:rPr lang="pt-BR" smtClean="0"/>
              <a:pPr/>
              <a:t>21 de julho de 2026</a:t>
            </a:fld>
            <a:endParaRPr lang="en-US" dirty="0"/>
          </a:p>
        </p:txBody>
      </p:sp>
      <p:sp>
        <p:nvSpPr>
          <p:cNvPr id="56" name="Text Placeholder 55">
            <a:extLst>
              <a:ext uri="{FF2B5EF4-FFF2-40B4-BE49-F238E27FC236}">
                <a16:creationId xmlns:a16="http://schemas.microsoft.com/office/drawing/2014/main" id="{A1599F00-A597-FA62-C376-2C68689FB5AC}"/>
              </a:ext>
            </a:extLst>
          </p:cNvPr>
          <p:cNvSpPr>
            <a:spLocks noGrp="1"/>
          </p:cNvSpPr>
          <p:nvPr>
            <p:ph type="body" sz="quarter" idx="36"/>
          </p:nvPr>
        </p:nvSpPr>
        <p:spPr/>
        <p:txBody>
          <a:bodyPr/>
          <a:lstStyle/>
          <a:p>
            <a:r>
              <a:rPr lang="pt-BR" dirty="0" err="1"/>
              <a:t>Impactos bastante desiguais entre setores e empresas</a:t>
            </a:r>
            <a:endParaRPr lang="pt-BR" dirty="0"/>
          </a:p>
        </p:txBody>
      </p:sp>
      <p:sp>
        <p:nvSpPr>
          <p:cNvPr id="58" name="Text Placeholder 57">
            <a:extLst>
              <a:ext uri="{FF2B5EF4-FFF2-40B4-BE49-F238E27FC236}">
                <a16:creationId xmlns:a16="http://schemas.microsoft.com/office/drawing/2014/main" id="{FBD46A4C-0562-6146-5CEF-BF7F7D8B7F6A}"/>
              </a:ext>
            </a:extLst>
          </p:cNvPr>
          <p:cNvSpPr>
            <a:spLocks noGrp="1"/>
          </p:cNvSpPr>
          <p:nvPr>
            <p:ph type="body" sz="quarter" idx="38"/>
          </p:nvPr>
        </p:nvSpPr>
        <p:spPr/>
        <p:txBody>
          <a:bodyPr/>
          <a:lstStyle/>
          <a:p>
            <a:r>
              <a:rPr lang="en-US" dirty="0"/>
              <a:t>Quais são os potenciais impactos no Brasil?</a:t>
            </a:r>
          </a:p>
        </p:txBody>
      </p:sp>
      <p:sp>
        <p:nvSpPr>
          <p:cNvPr id="4" name="Text Placeholder 7">
            <a:extLst>
              <a:ext uri="{FF2B5EF4-FFF2-40B4-BE49-F238E27FC236}">
                <a16:creationId xmlns:a16="http://schemas.microsoft.com/office/drawing/2014/main" id="{03222375-8B61-9911-8E5E-7EC13AD6CE00}"/>
              </a:ext>
            </a:extLst>
          </p:cNvPr>
          <p:cNvSpPr>
            <a:spLocks noGrp="1"/>
          </p:cNvSpPr>
          <p:nvPr>
            <p:ph type="body" sz="quarter" idx="27"/>
          </p:nvPr>
        </p:nvSpPr>
        <p:spPr>
          <a:xfrm>
            <a:off x="4330593" y="3692523"/>
            <a:ext cx="2159105" cy="133094"/>
          </a:xfrm>
        </p:spPr>
        <p:txBody>
          <a:bodyPr/>
          <a:lstStyle/>
          <a:p>
            <a:r>
              <a:rPr lang="pt-BR"/>
              <a:t>Fernando Ferreira, CFA</a:t>
            </a:r>
            <a:endParaRPr lang="en-US"/>
          </a:p>
        </p:txBody>
      </p:sp>
      <p:sp>
        <p:nvSpPr>
          <p:cNvPr id="6" name="Text Placeholder 8">
            <a:extLst>
              <a:ext uri="{FF2B5EF4-FFF2-40B4-BE49-F238E27FC236}">
                <a16:creationId xmlns:a16="http://schemas.microsoft.com/office/drawing/2014/main" id="{423AFE4E-6EFD-1C61-B924-56760FD425E2}"/>
              </a:ext>
            </a:extLst>
          </p:cNvPr>
          <p:cNvSpPr>
            <a:spLocks noGrp="1"/>
          </p:cNvSpPr>
          <p:nvPr>
            <p:ph type="body" sz="quarter" idx="28"/>
          </p:nvPr>
        </p:nvSpPr>
        <p:spPr>
          <a:xfrm>
            <a:off x="4330593" y="3854320"/>
            <a:ext cx="2159105" cy="96950"/>
          </a:xfrm>
        </p:spPr>
        <p:txBody>
          <a:bodyPr/>
          <a:lstStyle/>
          <a:p>
            <a:r>
              <a:rPr lang="pt-BR" err="1"/>
              <a:t>Estrategista chefe e Head do Research</a:t>
            </a:r>
            <a:endParaRPr lang="en-US"/>
          </a:p>
        </p:txBody>
      </p:sp>
      <p:sp>
        <p:nvSpPr>
          <p:cNvPr id="7" name="Text Placeholder 9">
            <a:extLst>
              <a:ext uri="{FF2B5EF4-FFF2-40B4-BE49-F238E27FC236}">
                <a16:creationId xmlns:a16="http://schemas.microsoft.com/office/drawing/2014/main" id="{FECFFBC7-81F8-6B06-91BE-7CDAF99D9668}"/>
              </a:ext>
            </a:extLst>
          </p:cNvPr>
          <p:cNvSpPr>
            <a:spLocks noGrp="1"/>
          </p:cNvSpPr>
          <p:nvPr>
            <p:ph type="body" sz="quarter" idx="29"/>
          </p:nvPr>
        </p:nvSpPr>
        <p:spPr>
          <a:xfrm>
            <a:off x="4330593" y="3981192"/>
            <a:ext cx="2159105" cy="110800"/>
          </a:xfrm>
        </p:spPr>
        <p:txBody>
          <a:bodyPr/>
          <a:lstStyle/>
          <a:p>
            <a:r>
              <a:rPr lang="pt-BR"/>
              <a:t>fernando.f.ferreira@xpi.com.br</a:t>
            </a:r>
            <a:endParaRPr lang="en-US"/>
          </a:p>
        </p:txBody>
      </p:sp>
      <p:sp>
        <p:nvSpPr>
          <p:cNvPr id="8" name="Text Placeholder 10">
            <a:extLst>
              <a:ext uri="{FF2B5EF4-FFF2-40B4-BE49-F238E27FC236}">
                <a16:creationId xmlns:a16="http://schemas.microsoft.com/office/drawing/2014/main" id="{0CA464E4-C1C7-4CF6-22F1-25EDFA38FFFA}"/>
              </a:ext>
            </a:extLst>
          </p:cNvPr>
          <p:cNvSpPr>
            <a:spLocks noGrp="1"/>
          </p:cNvSpPr>
          <p:nvPr>
            <p:ph type="body" sz="quarter" idx="30"/>
          </p:nvPr>
        </p:nvSpPr>
        <p:spPr>
          <a:xfrm>
            <a:off x="4330593" y="4178778"/>
            <a:ext cx="2159105" cy="133094"/>
          </a:xfrm>
        </p:spPr>
        <p:txBody>
          <a:bodyPr/>
          <a:lstStyle/>
          <a:p>
            <a:r>
              <a:rPr lang="pt-BR" dirty="0"/>
              <a:t>Raphael Figueredo</a:t>
            </a:r>
          </a:p>
        </p:txBody>
      </p:sp>
      <p:sp>
        <p:nvSpPr>
          <p:cNvPr id="9" name="Text Placeholder 11">
            <a:extLst>
              <a:ext uri="{FF2B5EF4-FFF2-40B4-BE49-F238E27FC236}">
                <a16:creationId xmlns:a16="http://schemas.microsoft.com/office/drawing/2014/main" id="{405624AF-C8F0-8829-C1A3-50BCB8B62596}"/>
              </a:ext>
            </a:extLst>
          </p:cNvPr>
          <p:cNvSpPr>
            <a:spLocks noGrp="1"/>
          </p:cNvSpPr>
          <p:nvPr>
            <p:ph type="body" sz="quarter" idx="31"/>
          </p:nvPr>
        </p:nvSpPr>
        <p:spPr>
          <a:xfrm>
            <a:off x="4330593" y="4340575"/>
            <a:ext cx="2159105" cy="96950"/>
          </a:xfrm>
        </p:spPr>
        <p:txBody>
          <a:bodyPr/>
          <a:lstStyle/>
          <a:p>
            <a:r>
              <a:rPr lang="pt-BR" err="1"/>
              <a:t>Estrategista de Ações</a:t>
            </a:r>
            <a:endParaRPr lang="en-US"/>
          </a:p>
        </p:txBody>
      </p:sp>
      <p:sp>
        <p:nvSpPr>
          <p:cNvPr id="10" name="Text Placeholder 12">
            <a:extLst>
              <a:ext uri="{FF2B5EF4-FFF2-40B4-BE49-F238E27FC236}">
                <a16:creationId xmlns:a16="http://schemas.microsoft.com/office/drawing/2014/main" id="{651C20FD-E4D2-E762-9E59-8DA9AFE65A53}"/>
              </a:ext>
            </a:extLst>
          </p:cNvPr>
          <p:cNvSpPr>
            <a:spLocks noGrp="1"/>
          </p:cNvSpPr>
          <p:nvPr>
            <p:ph type="body" sz="quarter" idx="32"/>
          </p:nvPr>
        </p:nvSpPr>
        <p:spPr>
          <a:xfrm>
            <a:off x="4330593" y="4467447"/>
            <a:ext cx="2159105" cy="110800"/>
          </a:xfrm>
        </p:spPr>
        <p:txBody>
          <a:bodyPr/>
          <a:lstStyle/>
          <a:p>
            <a:r>
              <a:rPr lang="pt-BR" dirty="0"/>
              <a:t>raphael.sfigueredo@xpi.com.br</a:t>
            </a:r>
          </a:p>
        </p:txBody>
      </p:sp>
      <p:sp>
        <p:nvSpPr>
          <p:cNvPr id="11" name="Text Placeholder 10">
            <a:extLst>
              <a:ext uri="{FF2B5EF4-FFF2-40B4-BE49-F238E27FC236}">
                <a16:creationId xmlns:a16="http://schemas.microsoft.com/office/drawing/2014/main" id="{D85889DB-D28C-C0C9-8E86-9595BE68797F}"/>
              </a:ext>
            </a:extLst>
          </p:cNvPr>
          <p:cNvSpPr txBox="1">
            <a:spLocks/>
          </p:cNvSpPr>
          <p:nvPr/>
        </p:nvSpPr>
        <p:spPr>
          <a:xfrm>
            <a:off x="4330593" y="5604376"/>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XP Research</a:t>
            </a:r>
          </a:p>
        </p:txBody>
      </p:sp>
      <p:sp>
        <p:nvSpPr>
          <p:cNvPr id="12" name="Text Placeholder 12">
            <a:extLst>
              <a:ext uri="{FF2B5EF4-FFF2-40B4-BE49-F238E27FC236}">
                <a16:creationId xmlns:a16="http://schemas.microsoft.com/office/drawing/2014/main" id="{DFAC4285-33D6-4CBA-1A7B-BA556DC469A3}"/>
              </a:ext>
            </a:extLst>
          </p:cNvPr>
          <p:cNvSpPr txBox="1">
            <a:spLocks/>
          </p:cNvSpPr>
          <p:nvPr/>
        </p:nvSpPr>
        <p:spPr>
          <a:xfrm>
            <a:off x="4330593" y="575232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research@xpi.com.br</a:t>
            </a:r>
          </a:p>
        </p:txBody>
      </p:sp>
      <p:sp>
        <p:nvSpPr>
          <p:cNvPr id="13" name="Text Placeholder 10">
            <a:extLst>
              <a:ext uri="{FF2B5EF4-FFF2-40B4-BE49-F238E27FC236}">
                <a16:creationId xmlns:a16="http://schemas.microsoft.com/office/drawing/2014/main" id="{052323F8-92B0-3EE1-B87D-7E8010242102}"/>
              </a:ext>
            </a:extLst>
          </p:cNvPr>
          <p:cNvSpPr txBox="1">
            <a:spLocks/>
          </p:cNvSpPr>
          <p:nvPr/>
        </p:nvSpPr>
        <p:spPr>
          <a:xfrm>
            <a:off x="4343401" y="4662876"/>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Caio Souza</a:t>
            </a:r>
          </a:p>
        </p:txBody>
      </p:sp>
      <p:sp>
        <p:nvSpPr>
          <p:cNvPr id="14" name="Text Placeholder 11">
            <a:extLst>
              <a:ext uri="{FF2B5EF4-FFF2-40B4-BE49-F238E27FC236}">
                <a16:creationId xmlns:a16="http://schemas.microsoft.com/office/drawing/2014/main" id="{26FF4B82-4F94-5703-519E-80124495D3CB}"/>
              </a:ext>
            </a:extLst>
          </p:cNvPr>
          <p:cNvSpPr txBox="1">
            <a:spLocks/>
          </p:cNvSpPr>
          <p:nvPr/>
        </p:nvSpPr>
        <p:spPr>
          <a:xfrm>
            <a:off x="4343401" y="4824673"/>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kern="12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a:t>Estrategista de Ações</a:t>
            </a:r>
          </a:p>
        </p:txBody>
      </p:sp>
      <p:sp>
        <p:nvSpPr>
          <p:cNvPr id="15" name="Text Placeholder 12">
            <a:extLst>
              <a:ext uri="{FF2B5EF4-FFF2-40B4-BE49-F238E27FC236}">
                <a16:creationId xmlns:a16="http://schemas.microsoft.com/office/drawing/2014/main" id="{5798FB6D-6944-FB69-76B1-0D8938F8F6E7}"/>
              </a:ext>
            </a:extLst>
          </p:cNvPr>
          <p:cNvSpPr txBox="1">
            <a:spLocks/>
          </p:cNvSpPr>
          <p:nvPr/>
        </p:nvSpPr>
        <p:spPr>
          <a:xfrm>
            <a:off x="4343401" y="495154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caio.lsouza@xpi.com.br</a:t>
            </a:r>
          </a:p>
        </p:txBody>
      </p:sp>
      <p:sp>
        <p:nvSpPr>
          <p:cNvPr id="16" name="Text Placeholder 10">
            <a:extLst>
              <a:ext uri="{FF2B5EF4-FFF2-40B4-BE49-F238E27FC236}">
                <a16:creationId xmlns:a16="http://schemas.microsoft.com/office/drawing/2014/main" id="{21975DD4-8145-3D0E-611C-976DA30398A1}"/>
              </a:ext>
            </a:extLst>
          </p:cNvPr>
          <p:cNvSpPr txBox="1">
            <a:spLocks/>
          </p:cNvSpPr>
          <p:nvPr/>
        </p:nvSpPr>
        <p:spPr>
          <a:xfrm>
            <a:off x="4343401" y="514223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Antonio Mello</a:t>
            </a:r>
          </a:p>
        </p:txBody>
      </p:sp>
      <p:sp>
        <p:nvSpPr>
          <p:cNvPr id="17" name="Text Placeholder 11">
            <a:extLst>
              <a:ext uri="{FF2B5EF4-FFF2-40B4-BE49-F238E27FC236}">
                <a16:creationId xmlns:a16="http://schemas.microsoft.com/office/drawing/2014/main" id="{DEA1D060-E9BE-FDDA-CD30-0C3A218191D5}"/>
              </a:ext>
            </a:extLst>
          </p:cNvPr>
          <p:cNvSpPr txBox="1">
            <a:spLocks/>
          </p:cNvSpPr>
          <p:nvPr/>
        </p:nvSpPr>
        <p:spPr>
          <a:xfrm>
            <a:off x="4343401" y="5304029"/>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kern="12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err="1"/>
              <a:t>Estrategista Quantitativo de Ações</a:t>
            </a:r>
            <a:endParaRPr lang="pt-BR" dirty="0"/>
          </a:p>
        </p:txBody>
      </p:sp>
      <p:sp>
        <p:nvSpPr>
          <p:cNvPr id="18" name="Text Placeholder 12">
            <a:extLst>
              <a:ext uri="{FF2B5EF4-FFF2-40B4-BE49-F238E27FC236}">
                <a16:creationId xmlns:a16="http://schemas.microsoft.com/office/drawing/2014/main" id="{58A5905A-FE31-606C-BA5D-AF30C685611D}"/>
              </a:ext>
            </a:extLst>
          </p:cNvPr>
          <p:cNvSpPr txBox="1">
            <a:spLocks/>
          </p:cNvSpPr>
          <p:nvPr/>
        </p:nvSpPr>
        <p:spPr>
          <a:xfrm>
            <a:off x="4343401" y="543090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antonio.mello@xpi.com.br</a:t>
            </a:r>
          </a:p>
        </p:txBody>
      </p:sp>
      <p:sp>
        <p:nvSpPr>
          <p:cNvPr id="3" name="Content Placeholder 16">
            <a:extLst>
              <a:ext uri="{FF2B5EF4-FFF2-40B4-BE49-F238E27FC236}">
                <a16:creationId xmlns:a16="http://schemas.microsoft.com/office/drawing/2014/main" id="{46F3154D-4930-94ED-AB14-67DD2C7D9B41}"/>
              </a:ext>
            </a:extLst>
          </p:cNvPr>
          <p:cNvSpPr txBox="1">
            <a:spLocks/>
          </p:cNvSpPr>
          <p:nvPr/>
        </p:nvSpPr>
        <p:spPr>
          <a:xfrm>
            <a:off x="4330593" y="6533876"/>
            <a:ext cx="2147604" cy="3693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a:solidFill>
                  <a:sysClr val="windowText" lastClr="000000"/>
                </a:solidFill>
              </a:rPr>
              <a:t>Preços de alimentos in natura devem acelerar a partir do 4T</a:t>
            </a:r>
            <a:endParaRPr lang="pt-BR" dirty="0"/>
          </a:p>
        </p:txBody>
      </p:sp>
      <p:graphicFrame>
        <p:nvGraphicFramePr>
          <p:cNvPr id="19" name="Content Placeholder 11">
            <a:extLst>
              <a:ext uri="{FF2B5EF4-FFF2-40B4-BE49-F238E27FC236}">
                <a16:creationId xmlns:a16="http://schemas.microsoft.com/office/drawing/2014/main" id="{DBCE9F3B-BE05-123D-79EB-D8A2AB427D7E}"/>
              </a:ext>
            </a:extLst>
          </p:cNvPr>
          <p:cNvGraphicFramePr>
            <a:graphicFrameLocks/>
          </p:cNvGraphicFramePr>
          <p:nvPr>
            <p:extLst>
              <p:ext uri="{D42A27DB-BD31-4B8C-83A1-F6EECF244321}">
                <p14:modId xmlns:p14="http://schemas.microsoft.com/office/powerpoint/2010/main" val="2045162931"/>
              </p:ext>
            </p:extLst>
          </p:nvPr>
        </p:nvGraphicFramePr>
        <p:xfrm>
          <a:off x="4330593" y="7100636"/>
          <a:ext cx="2147604" cy="2077773"/>
        </p:xfrm>
        <a:graphic>
          <a:graphicData uri="http://schemas.openxmlformats.org/drawingml/2006/chart">
            <c:chart xmlns:c="http://schemas.openxmlformats.org/drawingml/2006/chart" xmlns:r="http://schemas.openxmlformats.org/officeDocument/2006/relationships" r:id="rId2"/>
          </a:graphicData>
        </a:graphic>
      </p:graphicFrame>
      <p:sp>
        <p:nvSpPr>
          <p:cNvPr id="20" name="TextBox 19">
            <a:extLst>
              <a:ext uri="{FF2B5EF4-FFF2-40B4-BE49-F238E27FC236}">
                <a16:creationId xmlns:a16="http://schemas.microsoft.com/office/drawing/2014/main" id="{57969E54-AC36-0B72-94FF-967CF4ECD5DC}"/>
              </a:ext>
            </a:extLst>
          </p:cNvPr>
          <p:cNvSpPr txBox="1"/>
          <p:nvPr/>
        </p:nvSpPr>
        <p:spPr>
          <a:xfrm>
            <a:off x="4289463" y="6902795"/>
            <a:ext cx="3239181" cy="215444"/>
          </a:xfrm>
          <a:prstGeom prst="rect">
            <a:avLst/>
          </a:prstGeom>
          <a:noFill/>
        </p:spPr>
        <p:txBody>
          <a:bodyPr wrap="square" rtlCol="0">
            <a:spAutoFit/>
          </a:bodyPr>
          <a:lstStyle/>
          <a:p>
            <a:pPr algn="l"/>
            <a:r>
              <a:rPr lang="en-US" sz="800" dirty="0">
                <a:latin typeface="+mj-lt"/>
                <a:ea typeface="Roboto" panose="02000000000000000000" pitchFamily="2" charset="0"/>
                <a:cs typeface="Roboto" panose="02000000000000000000" pitchFamily="2" charset="0"/>
              </a:rPr>
              <a:t>Acumulado em 12 meses (%)</a:t>
            </a:r>
          </a:p>
        </p:txBody>
      </p:sp>
    </p:spTree>
    <p:extLst>
      <p:ext uri="{BB962C8B-B14F-4D97-AF65-F5344CB8AC3E}">
        <p14:creationId xmlns:p14="http://schemas.microsoft.com/office/powerpoint/2010/main" val="2678221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EBF9B5-D9BD-A8DB-EE58-7A63709902EF}"/>
              </a:ext>
            </a:extLst>
          </p:cNvPr>
          <p:cNvSpPr>
            <a:spLocks noGrp="1"/>
          </p:cNvSpPr>
          <p:nvPr>
            <p:ph type="body" sz="quarter" idx="20"/>
          </p:nvPr>
        </p:nvSpPr>
        <p:spPr>
          <a:xfrm>
            <a:off x="382829" y="1498178"/>
            <a:ext cx="6063034" cy="559222"/>
          </a:xfrm>
          <a:noFill/>
        </p:spPr>
        <p:txBody>
          <a:bodyPr/>
          <a:lstStyle/>
          <a:p>
            <a:r>
              <a:rPr lang="en-US" dirty="0"/>
              <a:t>Abaixo, resumimos as principais implicações setoriais do El Niño e identificamos as empresas mais expostas ao evento, distinguindo entre potenciais beneficiárias e nomes adversamente impactados. </a:t>
            </a:r>
            <a:endParaRPr lang="pt-BR" dirty="0"/>
          </a:p>
        </p:txBody>
      </p:sp>
      <p:sp>
        <p:nvSpPr>
          <p:cNvPr id="5" name="Content Placeholder 4">
            <a:extLst>
              <a:ext uri="{FF2B5EF4-FFF2-40B4-BE49-F238E27FC236}">
                <a16:creationId xmlns:a16="http://schemas.microsoft.com/office/drawing/2014/main" id="{3F0AB599-269D-EA84-D0AF-437CA3CD90EE}"/>
              </a:ext>
            </a:extLst>
          </p:cNvPr>
          <p:cNvSpPr>
            <a:spLocks noGrp="1"/>
          </p:cNvSpPr>
          <p:nvPr>
            <p:ph sz="quarter" idx="23"/>
          </p:nvPr>
        </p:nvSpPr>
        <p:spPr>
          <a:xfrm>
            <a:off x="391299" y="5285894"/>
            <a:ext cx="6098400" cy="230832"/>
          </a:xfrm>
        </p:spPr>
        <p:txBody>
          <a:bodyPr/>
          <a:lstStyle/>
          <a:p>
            <a:r>
              <a:rPr lang="pt-BR" dirty="0" err="1"/>
              <a:t>Tabela X: empresas mais expostas ao El Niño</a:t>
            </a:r>
            <a:endParaRPr lang="pt-BR" dirty="0"/>
          </a:p>
        </p:txBody>
      </p:sp>
      <p:sp>
        <p:nvSpPr>
          <p:cNvPr id="12" name="Content Placeholder 11">
            <a:extLst>
              <a:ext uri="{FF2B5EF4-FFF2-40B4-BE49-F238E27FC236}">
                <a16:creationId xmlns:a16="http://schemas.microsoft.com/office/drawing/2014/main" id="{F03E96BC-3B72-5F5D-BE9D-C9C7D7B8547B}"/>
              </a:ext>
            </a:extLst>
          </p:cNvPr>
          <p:cNvSpPr>
            <a:spLocks noGrp="1"/>
          </p:cNvSpPr>
          <p:nvPr>
            <p:ph sz="quarter" idx="30"/>
          </p:nvPr>
        </p:nvSpPr>
        <p:spPr>
          <a:xfrm>
            <a:off x="382829" y="2105443"/>
            <a:ext cx="6099547" cy="230832"/>
          </a:xfrm>
        </p:spPr>
        <p:txBody>
          <a:bodyPr/>
          <a:lstStyle/>
          <a:p>
            <a:r>
              <a:rPr lang="pt-BR" dirty="0" err="1"/>
              <a:t>Tabela X: resumo dos impactos setoriais</a:t>
            </a:r>
            <a:endParaRPr lang="pt-BR" dirty="0"/>
          </a:p>
        </p:txBody>
      </p:sp>
      <p:sp>
        <p:nvSpPr>
          <p:cNvPr id="13" name="Text Placeholder 12">
            <a:extLst>
              <a:ext uri="{FF2B5EF4-FFF2-40B4-BE49-F238E27FC236}">
                <a16:creationId xmlns:a16="http://schemas.microsoft.com/office/drawing/2014/main" id="{79CD2AF6-4A4A-394D-C111-0A70005FB58C}"/>
              </a:ext>
            </a:extLst>
          </p:cNvPr>
          <p:cNvSpPr>
            <a:spLocks noGrp="1"/>
          </p:cNvSpPr>
          <p:nvPr>
            <p:ph type="body" sz="quarter" idx="16"/>
          </p:nvPr>
        </p:nvSpPr>
        <p:spPr/>
        <p:txBody>
          <a:bodyPr/>
          <a:lstStyle/>
          <a:p>
            <a:r>
              <a:rPr lang="pt-BR" dirty="0" err="1"/>
              <a:t>Enfrentando o El Niño</a:t>
            </a:r>
            <a:endParaRPr lang="pt-BR" dirty="0"/>
          </a:p>
        </p:txBody>
      </p:sp>
      <p:sp>
        <p:nvSpPr>
          <p:cNvPr id="14" name="Text Placeholder 13">
            <a:extLst>
              <a:ext uri="{FF2B5EF4-FFF2-40B4-BE49-F238E27FC236}">
                <a16:creationId xmlns:a16="http://schemas.microsoft.com/office/drawing/2014/main" id="{1DEC0575-1584-E1AD-C7BD-0EC12E2A35A8}"/>
              </a:ext>
            </a:extLst>
          </p:cNvPr>
          <p:cNvSpPr>
            <a:spLocks noGrp="1"/>
          </p:cNvSpPr>
          <p:nvPr>
            <p:ph type="body" sz="quarter" idx="17"/>
          </p:nvPr>
        </p:nvSpPr>
        <p:spPr/>
        <p:txBody>
          <a:bodyPr/>
          <a:lstStyle/>
          <a:p>
            <a:r>
              <a:rPr lang="en-US" dirty="0"/>
              <a:t>Resumo dos potenciais impactos entre setores e empresas</a:t>
            </a:r>
            <a:endParaRPr lang="pt-BR" dirty="0"/>
          </a:p>
        </p:txBody>
      </p:sp>
      <p:sp>
        <p:nvSpPr>
          <p:cNvPr id="15" name="Text Placeholder 14">
            <a:extLst>
              <a:ext uri="{FF2B5EF4-FFF2-40B4-BE49-F238E27FC236}">
                <a16:creationId xmlns:a16="http://schemas.microsoft.com/office/drawing/2014/main" id="{03D8C35D-2A7D-2C1F-922F-8D93A5D50DA9}"/>
              </a:ext>
            </a:extLst>
          </p:cNvPr>
          <p:cNvSpPr>
            <a:spLocks noGrp="1"/>
          </p:cNvSpPr>
          <p:nvPr>
            <p:ph type="body" sz="quarter" idx="31"/>
          </p:nvPr>
        </p:nvSpPr>
        <p:spPr/>
        <p:txBody>
          <a:bodyPr/>
          <a:lstStyle/>
          <a:p>
            <a:r>
              <a:rPr lang="pt-BR" dirty="0" err="1"/>
              <a:t>Fonte</a:t>
            </a:r>
            <a:r>
              <a:rPr lang="pt-BR" dirty="0"/>
              <a:t>: XP Research.</a:t>
            </a:r>
          </a:p>
        </p:txBody>
      </p:sp>
      <p:sp>
        <p:nvSpPr>
          <p:cNvPr id="16" name="Date Placeholder 15">
            <a:extLst>
              <a:ext uri="{FF2B5EF4-FFF2-40B4-BE49-F238E27FC236}">
                <a16:creationId xmlns:a16="http://schemas.microsoft.com/office/drawing/2014/main" id="{2019757B-A841-685B-9F7D-C3E248F18465}"/>
              </a:ext>
            </a:extLst>
          </p:cNvPr>
          <p:cNvSpPr>
            <a:spLocks noGrp="1"/>
          </p:cNvSpPr>
          <p:nvPr>
            <p:ph type="dt" sz="half" idx="2"/>
          </p:nvPr>
        </p:nvSpPr>
        <p:spPr/>
        <p:txBody>
          <a:bodyPr/>
          <a:lstStyle/>
          <a:p>
            <a:fld id="{8BA8F4B9-B6C6-4F2E-BC07-C261BB51569F}" type="datetime4">
              <a:rPr lang="pt-BR" smtClean="0"/>
              <a:pPr/>
              <a:t>21 de julho de 2026</a:t>
            </a:fld>
            <a:endParaRPr lang="en-US"/>
          </a:p>
        </p:txBody>
      </p:sp>
      <p:graphicFrame>
        <p:nvGraphicFramePr>
          <p:cNvPr id="19" name="Table 18">
            <a:extLst>
              <a:ext uri="{FF2B5EF4-FFF2-40B4-BE49-F238E27FC236}">
                <a16:creationId xmlns:a16="http://schemas.microsoft.com/office/drawing/2014/main" id="{ED4959C7-627E-9928-C7CB-FBEA644C50A1}"/>
              </a:ext>
            </a:extLst>
          </p:cNvPr>
          <p:cNvGraphicFramePr>
            <a:graphicFrameLocks noGrp="1"/>
          </p:cNvGraphicFramePr>
          <p:nvPr>
            <p:extLst>
              <p:ext uri="{D42A27DB-BD31-4B8C-83A1-F6EECF244321}">
                <p14:modId xmlns:p14="http://schemas.microsoft.com/office/powerpoint/2010/main" val="1453882938"/>
              </p:ext>
            </p:extLst>
          </p:nvPr>
        </p:nvGraphicFramePr>
        <p:xfrm>
          <a:off x="382828" y="2424092"/>
          <a:ext cx="6106871" cy="2816136"/>
        </p:xfrm>
        <a:graphic>
          <a:graphicData uri="http://schemas.openxmlformats.org/drawingml/2006/table">
            <a:tbl>
              <a:tblPr/>
              <a:tblGrid>
                <a:gridCol w="1211681">
                  <a:extLst>
                    <a:ext uri="{9D8B030D-6E8A-4147-A177-3AD203B41FA5}">
                      <a16:colId xmlns:a16="http://schemas.microsoft.com/office/drawing/2014/main" val="25475593"/>
                    </a:ext>
                  </a:extLst>
                </a:gridCol>
                <a:gridCol w="1521871">
                  <a:extLst>
                    <a:ext uri="{9D8B030D-6E8A-4147-A177-3AD203B41FA5}">
                      <a16:colId xmlns:a16="http://schemas.microsoft.com/office/drawing/2014/main" val="3481647691"/>
                    </a:ext>
                  </a:extLst>
                </a:gridCol>
                <a:gridCol w="3373319">
                  <a:extLst>
                    <a:ext uri="{9D8B030D-6E8A-4147-A177-3AD203B41FA5}">
                      <a16:colId xmlns:a16="http://schemas.microsoft.com/office/drawing/2014/main" val="212650099"/>
                    </a:ext>
                  </a:extLst>
                </a:gridCol>
              </a:tblGrid>
              <a:tr h="218213">
                <a:tc>
                  <a:txBody>
                    <a:bodyPr/>
                    <a:lstStyle/>
                    <a:p>
                      <a:pPr algn="ctr" fontAlgn="b">
                        <a:buNone/>
                      </a:pPr>
                      <a:r>
                        <a:rPr lang="pt-BR" sz="900" b="1" i="0" u="none" strike="noStrike" dirty="0">
                          <a:solidFill>
                            <a:srgbClr val="FFFFFF"/>
                          </a:solidFill>
                          <a:effectLst/>
                          <a:latin typeface="Roboto  "/>
                        </a:rPr>
                        <a:t>Setor</a:t>
                      </a:r>
                    </a:p>
                  </a:txBody>
                  <a:tcPr marL="5633" marR="5633" marT="563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F2F44"/>
                    </a:solidFill>
                  </a:tcPr>
                </a:tc>
                <a:tc>
                  <a:txBody>
                    <a:bodyPr/>
                    <a:lstStyle/>
                    <a:p>
                      <a:pPr algn="ctr" fontAlgn="b">
                        <a:buNone/>
                      </a:pPr>
                      <a:r>
                        <a:rPr lang="pt-BR" sz="900" b="1" i="0" u="none" strike="noStrike" dirty="0" err="1">
                          <a:solidFill>
                            <a:srgbClr val="FFFFFF"/>
                          </a:solidFill>
                          <a:effectLst/>
                          <a:latin typeface="Roboto  "/>
                        </a:rPr>
                        <a:t>Impacto relativo</a:t>
                      </a:r>
                      <a:endParaRPr lang="pt-BR" sz="900" b="1" i="0" u="none" strike="noStrike" dirty="0">
                        <a:solidFill>
                          <a:srgbClr val="FFFFFF"/>
                        </a:solidFill>
                        <a:effectLst/>
                        <a:latin typeface="Roboto  "/>
                      </a:endParaRPr>
                    </a:p>
                  </a:txBody>
                  <a:tcPr marL="5633" marR="5633" marT="563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F2F44"/>
                    </a:solidFill>
                  </a:tcPr>
                </a:tc>
                <a:tc>
                  <a:txBody>
                    <a:bodyPr/>
                    <a:lstStyle/>
                    <a:p>
                      <a:pPr algn="ctr" fontAlgn="b">
                        <a:buNone/>
                      </a:pPr>
                      <a:r>
                        <a:rPr lang="pt-BR" sz="900" b="1" i="0" u="none" strike="noStrike" dirty="0" err="1">
                          <a:solidFill>
                            <a:srgbClr val="FFFFFF"/>
                          </a:solidFill>
                          <a:effectLst/>
                          <a:latin typeface="Roboto  "/>
                        </a:rPr>
                        <a:t>Visão</a:t>
                      </a:r>
                      <a:endParaRPr lang="pt-BR" sz="900" b="1" i="0" u="none" strike="noStrike" dirty="0">
                        <a:solidFill>
                          <a:srgbClr val="FFFFFF"/>
                        </a:solidFill>
                        <a:effectLst/>
                        <a:latin typeface="Roboto  "/>
                      </a:endParaRPr>
                    </a:p>
                  </a:txBody>
                  <a:tcPr marL="5633" marR="5633" marT="563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F2F44"/>
                    </a:solidFill>
                  </a:tcPr>
                </a:tc>
                <a:extLst>
                  <a:ext uri="{0D108BD9-81ED-4DB2-BD59-A6C34878D82A}">
                    <a16:rowId xmlns:a16="http://schemas.microsoft.com/office/drawing/2014/main" val="2401584706"/>
                  </a:ext>
                </a:extLst>
              </a:tr>
              <a:tr h="375198">
                <a:tc>
                  <a:txBody>
                    <a:bodyPr/>
                    <a:lstStyle/>
                    <a:p>
                      <a:pPr algn="ctr" fontAlgn="ctr">
                        <a:buNone/>
                      </a:pPr>
                      <a:r>
                        <a:rPr lang="pt-BR" sz="900" b="1" i="0" u="none" strike="noStrike" dirty="0" err="1">
                          <a:solidFill>
                            <a:srgbClr val="000000"/>
                          </a:solidFill>
                          <a:effectLst/>
                          <a:latin typeface="Roboto Light" panose="02000000000000000000" pitchFamily="2" charset="0"/>
                        </a:rPr>
                        <a:t>Agro, Alimentos &amp; Bebidas</a:t>
                      </a:r>
                    </a:p>
                  </a:txBody>
                  <a:tcPr marL="5633" marR="5633" marT="563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alpha val="20000"/>
                      </a:srgbClr>
                    </a:solidFill>
                  </a:tcPr>
                </a:tc>
                <a:tc>
                  <a:txBody>
                    <a:bodyPr/>
                    <a:lstStyle/>
                    <a:p>
                      <a:pPr algn="ctr" fontAlgn="ctr">
                        <a:buNone/>
                      </a:pPr>
                      <a:r>
                        <a:rPr lang="pt-BR" sz="900" b="0" i="0" u="none" strike="noStrike" dirty="0">
                          <a:solidFill>
                            <a:srgbClr val="000000"/>
                          </a:solidFill>
                          <a:effectLst/>
                          <a:latin typeface="Roboto Light" panose="02000000000000000000" pitchFamily="2" charset="0"/>
                        </a:rPr>
                        <a:t>Alto</a:t>
                      </a:r>
                    </a:p>
                  </a:txBody>
                  <a:tcPr marL="5633" marR="5633" marT="563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alpha val="20000"/>
                      </a:srgbClr>
                    </a:solidFill>
                  </a:tcPr>
                </a:tc>
                <a:tc>
                  <a:txBody>
                    <a:bodyPr/>
                    <a:lstStyle/>
                    <a:p>
                      <a:pPr algn="ctr" rtl="0" fontAlgn="b">
                        <a:buNone/>
                      </a:pPr>
                      <a:r>
                        <a:rPr lang="en-US" sz="900" b="0" i="0" u="none" strike="noStrike" dirty="0">
                          <a:solidFill>
                            <a:srgbClr val="1C1C1C"/>
                          </a:solidFill>
                          <a:effectLst/>
                          <a:latin typeface="Roboto Light" panose="02000000000000000000" pitchFamily="2" charset="0"/>
                        </a:rPr>
                        <a:t>Específico por cultura e região: o Centro-Oeste e o MATOPIBA mais secos afetam o milho </a:t>
                      </a:r>
                      <a:r>
                        <a:rPr lang="en-US" sz="900" b="0" i="0" u="none" strike="noStrike" dirty="0" err="1">
                          <a:solidFill>
                            <a:srgbClr val="1C1C1C"/>
                          </a:solidFill>
                          <a:effectLst/>
                          <a:latin typeface="Roboto Light" panose="02000000000000000000" pitchFamily="2" charset="0"/>
                        </a:rPr>
                        <a:t>safrinha</a:t>
                      </a:r>
                      <a:r>
                        <a:rPr lang="en-US" sz="900" b="0" i="0" u="none" strike="noStrike" dirty="0">
                          <a:solidFill>
                            <a:srgbClr val="1C1C1C"/>
                          </a:solidFill>
                          <a:effectLst/>
                          <a:latin typeface="Roboto Light" panose="02000000000000000000" pitchFamily="2" charset="0"/>
                        </a:rPr>
                        <a:t> e a soja do Norte, enquanto o Sul mais úmido (RS) eleva a produtividade. Dispersão quanto à direção.</a:t>
                      </a:r>
                    </a:p>
                  </a:txBody>
                  <a:tcPr marL="5633" marR="5633" marT="563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alpha val="20000"/>
                      </a:srgbClr>
                    </a:solidFill>
                  </a:tcPr>
                </a:tc>
                <a:extLst>
                  <a:ext uri="{0D108BD9-81ED-4DB2-BD59-A6C34878D82A}">
                    <a16:rowId xmlns:a16="http://schemas.microsoft.com/office/drawing/2014/main" val="2912326695"/>
                  </a:ext>
                </a:extLst>
              </a:tr>
              <a:tr h="375198">
                <a:tc>
                  <a:txBody>
                    <a:bodyPr/>
                    <a:lstStyle/>
                    <a:p>
                      <a:pPr algn="ctr" fontAlgn="ctr">
                        <a:buNone/>
                      </a:pPr>
                      <a:r>
                        <a:rPr lang="pt-BR" sz="900" b="1" i="0" u="none" strike="noStrike" dirty="0" err="1">
                          <a:solidFill>
                            <a:srgbClr val="000000"/>
                          </a:solidFill>
                          <a:effectLst/>
                          <a:latin typeface="Roboto Light" panose="02000000000000000000" pitchFamily="2" charset="0"/>
                        </a:rPr>
                        <a:t>Utilidade Pública</a:t>
                      </a:r>
                      <a:endParaRPr lang="pt-BR" sz="900" b="1" i="0" u="none" strike="noStrike" dirty="0">
                        <a:solidFill>
                          <a:srgbClr val="000000"/>
                        </a:solidFill>
                        <a:effectLst/>
                        <a:latin typeface="Roboto Light" panose="02000000000000000000" pitchFamily="2" charset="0"/>
                      </a:endParaRPr>
                    </a:p>
                  </a:txBody>
                  <a:tcPr marL="5633" marR="5633" marT="563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alpha val="20000"/>
                      </a:srgbClr>
                    </a:solidFill>
                  </a:tcPr>
                </a:tc>
                <a:tc>
                  <a:txBody>
                    <a:bodyPr/>
                    <a:lstStyle/>
                    <a:p>
                      <a:pPr algn="ctr" fontAlgn="ctr">
                        <a:buNone/>
                      </a:pPr>
                      <a:r>
                        <a:rPr lang="pt-BR" sz="900" b="0" i="0" u="none" strike="noStrike" dirty="0">
                          <a:solidFill>
                            <a:srgbClr val="000000"/>
                          </a:solidFill>
                          <a:effectLst/>
                          <a:latin typeface="Roboto Light" panose="02000000000000000000" pitchFamily="2" charset="0"/>
                        </a:rPr>
                        <a:t>Alto</a:t>
                      </a:r>
                    </a:p>
                  </a:txBody>
                  <a:tcPr marL="5633" marR="5633" marT="563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alpha val="20000"/>
                      </a:srgbClr>
                    </a:solidFill>
                  </a:tcPr>
                </a:tc>
                <a:tc>
                  <a:txBody>
                    <a:bodyPr/>
                    <a:lstStyle/>
                    <a:p>
                      <a:pPr algn="ctr" rtl="0" fontAlgn="b">
                        <a:buNone/>
                      </a:pPr>
                      <a:r>
                        <a:rPr lang="en-US" sz="900" b="0" i="0" u="none" strike="noStrike" dirty="0">
                          <a:solidFill>
                            <a:srgbClr val="1C1C1C"/>
                          </a:solidFill>
                          <a:effectLst/>
                          <a:latin typeface="Roboto Light" panose="02000000000000000000" pitchFamily="2" charset="0"/>
                        </a:rPr>
                        <a:t>Chuvas acima da média sobre a bacia do Sul/Paraná reabastecem Itaipu e os reservatórios do SE/CO (~70% do armazenamento), pressionando o PLD para baixo; o calor eleva a demanda, mas a hidrologia prevalece. </a:t>
                      </a:r>
                    </a:p>
                  </a:txBody>
                  <a:tcPr marL="5633" marR="5633" marT="563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alpha val="20000"/>
                      </a:srgbClr>
                    </a:solidFill>
                  </a:tcPr>
                </a:tc>
                <a:extLst>
                  <a:ext uri="{0D108BD9-81ED-4DB2-BD59-A6C34878D82A}">
                    <a16:rowId xmlns:a16="http://schemas.microsoft.com/office/drawing/2014/main" val="1708380049"/>
                  </a:ext>
                </a:extLst>
              </a:tr>
              <a:tr h="487050">
                <a:tc>
                  <a:txBody>
                    <a:bodyPr/>
                    <a:lstStyle/>
                    <a:p>
                      <a:pPr algn="ctr" fontAlgn="ctr">
                        <a:buNone/>
                      </a:pPr>
                      <a:r>
                        <a:rPr lang="pt-BR" sz="900" b="1" i="0" u="none" strike="noStrike" dirty="0" err="1">
                          <a:solidFill>
                            <a:srgbClr val="000000"/>
                          </a:solidFill>
                          <a:effectLst/>
                          <a:latin typeface="Roboto Light" panose="02000000000000000000" pitchFamily="2" charset="0"/>
                        </a:rPr>
                        <a:t>Varejo</a:t>
                      </a:r>
                      <a:endParaRPr lang="pt-BR" sz="900" b="1" i="0" u="none" strike="noStrike" dirty="0">
                        <a:solidFill>
                          <a:srgbClr val="000000"/>
                        </a:solidFill>
                        <a:effectLst/>
                        <a:latin typeface="Roboto Light" panose="02000000000000000000" pitchFamily="2" charset="0"/>
                      </a:endParaRPr>
                    </a:p>
                  </a:txBody>
                  <a:tcPr marL="5633" marR="5633" marT="563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F93">
                        <a:alpha val="54902"/>
                      </a:srgbClr>
                    </a:solidFill>
                  </a:tcPr>
                </a:tc>
                <a:tc>
                  <a:txBody>
                    <a:bodyPr/>
                    <a:lstStyle/>
                    <a:p>
                      <a:pPr algn="ctr" fontAlgn="ctr">
                        <a:buNone/>
                      </a:pPr>
                      <a:r>
                        <a:rPr lang="pt-BR" sz="900" b="0" i="0" u="none" strike="noStrike" dirty="0" err="1">
                          <a:solidFill>
                            <a:srgbClr val="000000"/>
                          </a:solidFill>
                          <a:effectLst/>
                          <a:latin typeface="Roboto Light" panose="02000000000000000000" pitchFamily="2" charset="0"/>
                        </a:rPr>
                        <a:t>Médio</a:t>
                      </a:r>
                      <a:endParaRPr lang="pt-BR" sz="900" b="0" i="0" u="none" strike="noStrike" dirty="0">
                        <a:solidFill>
                          <a:srgbClr val="000000"/>
                        </a:solidFill>
                        <a:effectLst/>
                        <a:latin typeface="Roboto Light" panose="02000000000000000000" pitchFamily="2" charset="0"/>
                      </a:endParaRPr>
                    </a:p>
                  </a:txBody>
                  <a:tcPr marL="5633" marR="5633" marT="563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F93">
                        <a:alpha val="54902"/>
                      </a:srgbClr>
                    </a:solidFill>
                  </a:tcPr>
                </a:tc>
                <a:tc>
                  <a:txBody>
                    <a:bodyPr/>
                    <a:lstStyle/>
                    <a:p>
                      <a:pPr algn="ctr" rtl="0" fontAlgn="b">
                        <a:buNone/>
                      </a:pPr>
                      <a:r>
                        <a:rPr lang="en-US" sz="900" b="0" i="0" u="none" strike="noStrike" dirty="0">
                          <a:solidFill>
                            <a:srgbClr val="1C1C1C"/>
                          </a:solidFill>
                          <a:effectLst/>
                          <a:latin typeface="Roboto Light" panose="02000000000000000000" pitchFamily="2" charset="0"/>
                        </a:rPr>
                        <a:t>A inflação de alimentos em todo o país reduz o consumo discricionário e é marginalmente positiva para os varejistas alimentares; um inverno mais ameno no Sul favorece o vestuário; o Sul/Sudeste mais úmido e quente eleva a demanda por farmácias impulsionada pela dengue. Específico por segmento, misto.</a:t>
                      </a:r>
                    </a:p>
                  </a:txBody>
                  <a:tcPr marL="5633" marR="5633" marT="563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F93">
                        <a:alpha val="54902"/>
                      </a:srgbClr>
                    </a:solidFill>
                  </a:tcPr>
                </a:tc>
                <a:extLst>
                  <a:ext uri="{0D108BD9-81ED-4DB2-BD59-A6C34878D82A}">
                    <a16:rowId xmlns:a16="http://schemas.microsoft.com/office/drawing/2014/main" val="106275311"/>
                  </a:ext>
                </a:extLst>
              </a:tr>
              <a:tr h="375198">
                <a:tc>
                  <a:txBody>
                    <a:bodyPr/>
                    <a:lstStyle/>
                    <a:p>
                      <a:pPr algn="ctr" fontAlgn="ctr">
                        <a:buNone/>
                      </a:pPr>
                      <a:r>
                        <a:rPr lang="pt-BR" sz="900" b="1" i="0" u="none" strike="noStrike" dirty="0" err="1">
                          <a:solidFill>
                            <a:srgbClr val="000000"/>
                          </a:solidFill>
                          <a:effectLst/>
                          <a:latin typeface="Roboto Light" panose="02000000000000000000" pitchFamily="2" charset="0"/>
                        </a:rPr>
                        <a:t>Financeiro</a:t>
                      </a:r>
                      <a:endParaRPr lang="pt-BR" sz="900" b="1" i="0" u="none" strike="noStrike" dirty="0">
                        <a:solidFill>
                          <a:srgbClr val="000000"/>
                        </a:solidFill>
                        <a:effectLst/>
                        <a:latin typeface="Roboto Light" panose="02000000000000000000" pitchFamily="2" charset="0"/>
                      </a:endParaRPr>
                    </a:p>
                  </a:txBody>
                  <a:tcPr marL="5633" marR="5633" marT="563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F93">
                        <a:alpha val="54902"/>
                      </a:srgbClr>
                    </a:solidFill>
                  </a:tcPr>
                </a:tc>
                <a:tc>
                  <a:txBody>
                    <a:bodyPr/>
                    <a:lstStyle/>
                    <a:p>
                      <a:pPr algn="ctr" fontAlgn="ctr">
                        <a:buNone/>
                      </a:pPr>
                      <a:r>
                        <a:rPr lang="pt-BR" sz="900" b="0" i="0" u="none" strike="noStrike" dirty="0" err="1">
                          <a:solidFill>
                            <a:srgbClr val="000000"/>
                          </a:solidFill>
                          <a:effectLst/>
                          <a:latin typeface="Roboto Light" panose="02000000000000000000" pitchFamily="2" charset="0"/>
                        </a:rPr>
                        <a:t>Médio</a:t>
                      </a:r>
                      <a:endParaRPr lang="pt-BR" sz="900" b="0" i="0" u="none" strike="noStrike" dirty="0">
                        <a:solidFill>
                          <a:srgbClr val="000000"/>
                        </a:solidFill>
                        <a:effectLst/>
                        <a:latin typeface="Roboto Light" panose="02000000000000000000" pitchFamily="2" charset="0"/>
                      </a:endParaRPr>
                    </a:p>
                  </a:txBody>
                  <a:tcPr marL="5633" marR="5633" marT="563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F93">
                        <a:alpha val="54902"/>
                      </a:srgbClr>
                    </a:solidFill>
                  </a:tcPr>
                </a:tc>
                <a:tc>
                  <a:txBody>
                    <a:bodyPr/>
                    <a:lstStyle/>
                    <a:p>
                      <a:pPr algn="ctr" rtl="0" fontAlgn="b">
                        <a:buNone/>
                      </a:pPr>
                      <a:r>
                        <a:rPr lang="en-US" sz="900" b="0" i="0" u="none" strike="noStrike" dirty="0">
                          <a:solidFill>
                            <a:srgbClr val="1C1C1C"/>
                          </a:solidFill>
                          <a:effectLst/>
                          <a:latin typeface="Roboto Light" panose="02000000000000000000" pitchFamily="2" charset="0"/>
                        </a:rPr>
                        <a:t>Concentrado no BBAS, cuja carteira </a:t>
                      </a:r>
                      <a:r>
                        <a:rPr lang="en-US" sz="900" b="0" i="0" u="none" strike="noStrike" dirty="0" err="1">
                          <a:solidFill>
                            <a:srgbClr val="1C1C1C"/>
                          </a:solidFill>
                          <a:effectLst/>
                          <a:latin typeface="Roboto Light" panose="02000000000000000000" pitchFamily="2" charset="0"/>
                        </a:rPr>
                        <a:t>agro</a:t>
                      </a:r>
                      <a:r>
                        <a:rPr lang="en-US" sz="900" b="0" i="0" u="none" strike="noStrike" dirty="0">
                          <a:solidFill>
                            <a:srgbClr val="1C1C1C"/>
                          </a:solidFill>
                          <a:effectLst/>
                          <a:latin typeface="Roboto Light" panose="02000000000000000000" pitchFamily="2" charset="0"/>
                        </a:rPr>
                        <a:t> está centrada no Centro-Oeste mais seco (MT); a volatilidade da produtividade pressiona o fluxo de caixa dos produtores e atrasa a recuperação da qualidade dos ativos. Demais bancos apenas indiretamente.</a:t>
                      </a:r>
                    </a:p>
                  </a:txBody>
                  <a:tcPr marL="5633" marR="5633" marT="563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F93">
                        <a:alpha val="54902"/>
                      </a:srgbClr>
                    </a:solidFill>
                  </a:tcPr>
                </a:tc>
                <a:extLst>
                  <a:ext uri="{0D108BD9-81ED-4DB2-BD59-A6C34878D82A}">
                    <a16:rowId xmlns:a16="http://schemas.microsoft.com/office/drawing/2014/main" val="2647974850"/>
                  </a:ext>
                </a:extLst>
              </a:tr>
              <a:tr h="363688">
                <a:tc>
                  <a:txBody>
                    <a:bodyPr/>
                    <a:lstStyle/>
                    <a:p>
                      <a:pPr algn="ctr" fontAlgn="ctr">
                        <a:buNone/>
                      </a:pPr>
                      <a:r>
                        <a:rPr lang="pt-BR" sz="900" b="1" i="0" u="none" strike="noStrike" dirty="0">
                          <a:solidFill>
                            <a:srgbClr val="000000"/>
                          </a:solidFill>
                          <a:effectLst/>
                          <a:latin typeface="Roboto Light" panose="02000000000000000000" pitchFamily="2" charset="0"/>
                        </a:rPr>
                        <a:t>Transportes</a:t>
                      </a:r>
                    </a:p>
                  </a:txBody>
                  <a:tcPr marL="5633" marR="5633" marT="563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F93">
                        <a:alpha val="54902"/>
                      </a:srgbClr>
                    </a:solidFill>
                  </a:tcPr>
                </a:tc>
                <a:tc>
                  <a:txBody>
                    <a:bodyPr/>
                    <a:lstStyle/>
                    <a:p>
                      <a:pPr algn="ctr" fontAlgn="ctr">
                        <a:buNone/>
                      </a:pPr>
                      <a:r>
                        <a:rPr lang="pt-BR" sz="900" b="0" i="0" u="none" strike="noStrike" dirty="0" err="1">
                          <a:solidFill>
                            <a:srgbClr val="000000"/>
                          </a:solidFill>
                          <a:effectLst/>
                          <a:latin typeface="Roboto Light" panose="02000000000000000000" pitchFamily="2" charset="0"/>
                        </a:rPr>
                        <a:t>Médio</a:t>
                      </a:r>
                      <a:endParaRPr lang="pt-BR" sz="900" b="0" i="0" u="none" strike="noStrike" dirty="0">
                        <a:solidFill>
                          <a:srgbClr val="000000"/>
                        </a:solidFill>
                        <a:effectLst/>
                        <a:latin typeface="Roboto Light" panose="02000000000000000000" pitchFamily="2" charset="0"/>
                      </a:endParaRPr>
                    </a:p>
                  </a:txBody>
                  <a:tcPr marL="5633" marR="5633" marT="563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F93">
                        <a:alpha val="54902"/>
                      </a:srgbClr>
                    </a:solidFill>
                  </a:tcPr>
                </a:tc>
                <a:tc>
                  <a:txBody>
                    <a:bodyPr/>
                    <a:lstStyle/>
                    <a:p>
                      <a:pPr algn="ctr" rtl="0" fontAlgn="b">
                        <a:buNone/>
                      </a:pPr>
                      <a:r>
                        <a:rPr lang="en-US" sz="900" b="0" i="0" u="none" strike="noStrike" dirty="0">
                          <a:solidFill>
                            <a:srgbClr val="1C1C1C"/>
                          </a:solidFill>
                          <a:effectLst/>
                          <a:latin typeface="Roboto Light" panose="02000000000000000000" pitchFamily="2" charset="0"/>
                        </a:rPr>
                        <a:t>Exposição à logística de grãos: o Norte mais seco ameaça a navegabilidade hidroviária da HBSA, enquanto uma queda nas exportações de milho no 2S27 pressiona os volumes de grãos. Líquido negativo para HBSA e </a:t>
                      </a:r>
                      <a:r>
                        <a:rPr lang="en-US" sz="900" b="0" i="0" u="none" strike="noStrike" dirty="0" err="1">
                          <a:solidFill>
                            <a:srgbClr val="1C1C1C"/>
                          </a:solidFill>
                          <a:effectLst/>
                          <a:latin typeface="Roboto Light" panose="02000000000000000000" pitchFamily="2" charset="0"/>
                        </a:rPr>
                        <a:t>Rumo</a:t>
                      </a:r>
                      <a:r>
                        <a:rPr lang="en-US" sz="900" b="0" i="0" u="none" strike="noStrike" dirty="0">
                          <a:solidFill>
                            <a:srgbClr val="1C1C1C"/>
                          </a:solidFill>
                          <a:effectLst/>
                          <a:latin typeface="Roboto Light" panose="02000000000000000000" pitchFamily="2" charset="0"/>
                        </a:rPr>
                        <a:t>.</a:t>
                      </a:r>
                    </a:p>
                  </a:txBody>
                  <a:tcPr marL="5633" marR="5633" marT="563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F93">
                        <a:alpha val="54902"/>
                      </a:srgbClr>
                    </a:solidFill>
                  </a:tcPr>
                </a:tc>
                <a:extLst>
                  <a:ext uri="{0D108BD9-81ED-4DB2-BD59-A6C34878D82A}">
                    <a16:rowId xmlns:a16="http://schemas.microsoft.com/office/drawing/2014/main" val="1823504592"/>
                  </a:ext>
                </a:extLst>
              </a:tr>
              <a:tr h="375198">
                <a:tc>
                  <a:txBody>
                    <a:bodyPr/>
                    <a:lstStyle/>
                    <a:p>
                      <a:pPr algn="ctr" fontAlgn="ctr">
                        <a:buNone/>
                      </a:pPr>
                      <a:r>
                        <a:rPr lang="pt-BR" sz="900" b="1" i="0" u="none" strike="noStrike" dirty="0">
                          <a:solidFill>
                            <a:srgbClr val="000000"/>
                          </a:solidFill>
                          <a:effectLst/>
                          <a:latin typeface="Roboto Light" panose="02000000000000000000" pitchFamily="2" charset="0"/>
                        </a:rPr>
                        <a:t>Saúde</a:t>
                      </a:r>
                    </a:p>
                  </a:txBody>
                  <a:tcPr marL="5633" marR="5633" marT="563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EF3D0">
                        <a:alpha val="60000"/>
                      </a:srgbClr>
                    </a:solidFill>
                  </a:tcPr>
                </a:tc>
                <a:tc>
                  <a:txBody>
                    <a:bodyPr/>
                    <a:lstStyle/>
                    <a:p>
                      <a:pPr algn="ctr" fontAlgn="ctr">
                        <a:buNone/>
                      </a:pPr>
                      <a:r>
                        <a:rPr lang="pt-BR" sz="900" b="0" i="0" u="none" strike="noStrike" dirty="0" err="1">
                          <a:solidFill>
                            <a:srgbClr val="000000"/>
                          </a:solidFill>
                          <a:effectLst/>
                          <a:latin typeface="Roboto Light" panose="02000000000000000000" pitchFamily="2" charset="0"/>
                        </a:rPr>
                        <a:t>Baixo</a:t>
                      </a:r>
                      <a:endParaRPr lang="pt-BR" sz="900" b="0" i="0" u="none" strike="noStrike" dirty="0">
                        <a:solidFill>
                          <a:srgbClr val="000000"/>
                        </a:solidFill>
                        <a:effectLst/>
                        <a:latin typeface="Roboto Light" panose="02000000000000000000" pitchFamily="2" charset="0"/>
                      </a:endParaRPr>
                    </a:p>
                  </a:txBody>
                  <a:tcPr marL="5633" marR="5633" marT="563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EF3D0">
                        <a:alpha val="60000"/>
                      </a:srgbClr>
                    </a:solidFill>
                  </a:tcPr>
                </a:tc>
                <a:tc>
                  <a:txBody>
                    <a:bodyPr/>
                    <a:lstStyle/>
                    <a:p>
                      <a:pPr algn="ctr" rtl="0" fontAlgn="b">
                        <a:buNone/>
                      </a:pPr>
                      <a:r>
                        <a:rPr lang="en-US" sz="900" b="0" i="0" u="none" strike="noStrike" dirty="0">
                          <a:solidFill>
                            <a:srgbClr val="1C1C1C"/>
                          </a:solidFill>
                          <a:effectLst/>
                          <a:latin typeface="Roboto Light" panose="02000000000000000000" pitchFamily="2" charset="0"/>
                        </a:rPr>
                        <a:t>O Sul/Sudeste mais úmido e quente pode elevar os casos de dengue, mas a baixa complexidade do atendimento e a maior cobertura vacinal mantêm o impacto imaterial.</a:t>
                      </a:r>
                    </a:p>
                  </a:txBody>
                  <a:tcPr marL="5633" marR="5633" marT="563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EF3D0">
                        <a:alpha val="60000"/>
                      </a:srgbClr>
                    </a:solidFill>
                  </a:tcPr>
                </a:tc>
                <a:extLst>
                  <a:ext uri="{0D108BD9-81ED-4DB2-BD59-A6C34878D82A}">
                    <a16:rowId xmlns:a16="http://schemas.microsoft.com/office/drawing/2014/main" val="1642861870"/>
                  </a:ext>
                </a:extLst>
              </a:tr>
            </a:tbl>
          </a:graphicData>
        </a:graphic>
      </p:graphicFrame>
      <p:graphicFrame>
        <p:nvGraphicFramePr>
          <p:cNvPr id="22" name="Table 21">
            <a:extLst>
              <a:ext uri="{FF2B5EF4-FFF2-40B4-BE49-F238E27FC236}">
                <a16:creationId xmlns:a16="http://schemas.microsoft.com/office/drawing/2014/main" id="{0B870F9E-85C4-F21C-B282-64B36BE66EA9}"/>
              </a:ext>
            </a:extLst>
          </p:cNvPr>
          <p:cNvGraphicFramePr>
            <a:graphicFrameLocks noGrp="1"/>
          </p:cNvGraphicFramePr>
          <p:nvPr>
            <p:extLst>
              <p:ext uri="{D42A27DB-BD31-4B8C-83A1-F6EECF244321}">
                <p14:modId xmlns:p14="http://schemas.microsoft.com/office/powerpoint/2010/main" val="755257184"/>
              </p:ext>
            </p:extLst>
          </p:nvPr>
        </p:nvGraphicFramePr>
        <p:xfrm>
          <a:off x="390153" y="5615817"/>
          <a:ext cx="6099545" cy="3754210"/>
        </p:xfrm>
        <a:graphic>
          <a:graphicData uri="http://schemas.openxmlformats.org/drawingml/2006/table">
            <a:tbl>
              <a:tblPr/>
              <a:tblGrid>
                <a:gridCol w="1034787">
                  <a:extLst>
                    <a:ext uri="{9D8B030D-6E8A-4147-A177-3AD203B41FA5}">
                      <a16:colId xmlns:a16="http://schemas.microsoft.com/office/drawing/2014/main" val="780804844"/>
                    </a:ext>
                  </a:extLst>
                </a:gridCol>
                <a:gridCol w="827301">
                  <a:extLst>
                    <a:ext uri="{9D8B030D-6E8A-4147-A177-3AD203B41FA5}">
                      <a16:colId xmlns:a16="http://schemas.microsoft.com/office/drawing/2014/main" val="4000214029"/>
                    </a:ext>
                  </a:extLst>
                </a:gridCol>
                <a:gridCol w="4237457">
                  <a:extLst>
                    <a:ext uri="{9D8B030D-6E8A-4147-A177-3AD203B41FA5}">
                      <a16:colId xmlns:a16="http://schemas.microsoft.com/office/drawing/2014/main" val="1922107790"/>
                    </a:ext>
                  </a:extLst>
                </a:gridCol>
              </a:tblGrid>
              <a:tr h="224142">
                <a:tc>
                  <a:txBody>
                    <a:bodyPr/>
                    <a:lstStyle/>
                    <a:p>
                      <a:pPr algn="ctr" rtl="0" fontAlgn="ctr">
                        <a:buNone/>
                      </a:pPr>
                      <a:r>
                        <a:rPr lang="pt-BR" sz="900" b="1" i="0" u="none" strike="noStrike" dirty="0" err="1">
                          <a:solidFill>
                            <a:srgbClr val="FFFFFF"/>
                          </a:solidFill>
                          <a:effectLst/>
                          <a:latin typeface="Roboto  "/>
                        </a:rPr>
                        <a:t>Ticker</a:t>
                      </a:r>
                      <a:endParaRPr lang="pt-BR" sz="900" b="1" i="0" u="none" strike="noStrike" dirty="0">
                        <a:solidFill>
                          <a:srgbClr val="FFFFFF"/>
                        </a:solidFill>
                        <a:effectLst/>
                        <a:latin typeface="Roboto  "/>
                      </a:endParaRPr>
                    </a:p>
                  </a:txBody>
                  <a:tcPr marL="6812" marR="6812" marT="6812" marB="0" anchor="ctr">
                    <a:lnL>
                      <a:noFill/>
                    </a:lnL>
                    <a:lnR>
                      <a:noFill/>
                    </a:lnR>
                    <a:lnT>
                      <a:noFill/>
                    </a:lnT>
                    <a:lnB>
                      <a:noFill/>
                    </a:lnB>
                    <a:solidFill>
                      <a:srgbClr val="1F2F44"/>
                    </a:solidFill>
                  </a:tcPr>
                </a:tc>
                <a:tc>
                  <a:txBody>
                    <a:bodyPr/>
                    <a:lstStyle/>
                    <a:p>
                      <a:pPr algn="ctr" rtl="0" fontAlgn="ctr">
                        <a:buNone/>
                      </a:pPr>
                      <a:r>
                        <a:rPr lang="pt-BR" sz="900" b="1" i="0" u="none" strike="noStrike" dirty="0">
                          <a:solidFill>
                            <a:srgbClr val="FFFFFF"/>
                          </a:solidFill>
                          <a:effectLst/>
                          <a:latin typeface="Roboto  "/>
                        </a:rPr>
                        <a:t>Setor</a:t>
                      </a:r>
                    </a:p>
                  </a:txBody>
                  <a:tcPr marL="6812" marR="6812" marT="6812" marB="0" anchor="ctr">
                    <a:lnL>
                      <a:noFill/>
                    </a:lnL>
                    <a:lnR>
                      <a:noFill/>
                    </a:lnR>
                    <a:lnT>
                      <a:noFill/>
                    </a:lnT>
                    <a:lnB>
                      <a:noFill/>
                    </a:lnB>
                    <a:solidFill>
                      <a:srgbClr val="1F2F44"/>
                    </a:solidFill>
                  </a:tcPr>
                </a:tc>
                <a:tc>
                  <a:txBody>
                    <a:bodyPr/>
                    <a:lstStyle/>
                    <a:p>
                      <a:pPr algn="ctr" rtl="0" fontAlgn="ctr">
                        <a:buNone/>
                      </a:pPr>
                      <a:r>
                        <a:rPr lang="pt-BR" sz="900" b="1" i="0" u="none" strike="noStrike" dirty="0" err="1">
                          <a:solidFill>
                            <a:srgbClr val="FFFFFF"/>
                          </a:solidFill>
                          <a:effectLst/>
                          <a:latin typeface="Roboto  "/>
                        </a:rPr>
                        <a:t>Racional</a:t>
                      </a:r>
                      <a:endParaRPr lang="pt-BR" sz="900" b="1" i="0" u="none" strike="noStrike" dirty="0">
                        <a:solidFill>
                          <a:srgbClr val="FFFFFF"/>
                        </a:solidFill>
                        <a:effectLst/>
                        <a:latin typeface="Roboto  "/>
                      </a:endParaRPr>
                    </a:p>
                  </a:txBody>
                  <a:tcPr marL="6812" marR="6812" marT="6812" marB="0" anchor="ctr">
                    <a:lnL>
                      <a:noFill/>
                    </a:lnL>
                    <a:lnR>
                      <a:noFill/>
                    </a:lnR>
                    <a:lnT>
                      <a:noFill/>
                    </a:lnT>
                    <a:lnB>
                      <a:noFill/>
                    </a:lnB>
                    <a:solidFill>
                      <a:srgbClr val="1F2F44"/>
                    </a:solidFill>
                  </a:tcPr>
                </a:tc>
                <a:extLst>
                  <a:ext uri="{0D108BD9-81ED-4DB2-BD59-A6C34878D82A}">
                    <a16:rowId xmlns:a16="http://schemas.microsoft.com/office/drawing/2014/main" val="1917559302"/>
                  </a:ext>
                </a:extLst>
              </a:tr>
              <a:tr h="251453">
                <a:tc gridSpan="2">
                  <a:txBody>
                    <a:bodyPr/>
                    <a:lstStyle/>
                    <a:p>
                      <a:pPr algn="l" rtl="0" fontAlgn="ctr">
                        <a:buNone/>
                      </a:pPr>
                      <a:r>
                        <a:rPr lang="pt-BR" sz="850" b="1" i="0" u="none" strike="noStrike" dirty="0" err="1">
                          <a:solidFill>
                            <a:schemeClr val="accent3"/>
                          </a:solidFill>
                          <a:effectLst/>
                          <a:latin typeface="Roboto  "/>
                        </a:rPr>
                        <a:t>Potenciais beneficiárias</a:t>
                      </a:r>
                      <a:endParaRPr lang="pt-BR" sz="850" b="1" i="0" u="none" strike="noStrike" dirty="0">
                        <a:solidFill>
                          <a:schemeClr val="accent3"/>
                        </a:solidFill>
                        <a:effectLst/>
                        <a:latin typeface="Roboto  "/>
                      </a:endParaRPr>
                    </a:p>
                  </a:txBody>
                  <a:tcPr marL="6812" marR="6812" marT="6812" marB="0" anchor="ctr">
                    <a:lnL>
                      <a:noFill/>
                    </a:lnL>
                    <a:lnR>
                      <a:noFill/>
                    </a:lnR>
                    <a:lnT>
                      <a:noFill/>
                    </a:lnT>
                    <a:lnB>
                      <a:noFill/>
                    </a:lnB>
                    <a:noFill/>
                  </a:tcPr>
                </a:tc>
                <a:tc hMerge="1">
                  <a:txBody>
                    <a:bodyPr/>
                    <a:lstStyle/>
                    <a:p>
                      <a:pPr algn="ctr" rtl="0" fontAlgn="ctr">
                        <a:buNone/>
                      </a:pPr>
                      <a:endParaRPr lang="pt-BR" sz="800" b="0" i="0" u="none" strike="noStrike" dirty="0">
                        <a:solidFill>
                          <a:srgbClr val="1C1C1C"/>
                        </a:solidFill>
                        <a:effectLst/>
                        <a:latin typeface="Roboto Light" panose="02000000000000000000" pitchFamily="2" charset="0"/>
                      </a:endParaRPr>
                    </a:p>
                  </a:txBody>
                  <a:tcPr marL="6812" marR="6812" marT="6812" marB="0" anchor="ctr">
                    <a:lnL>
                      <a:noFill/>
                    </a:lnL>
                    <a:lnR>
                      <a:noFill/>
                    </a:lnR>
                    <a:lnT>
                      <a:noFill/>
                    </a:lnT>
                    <a:lnB>
                      <a:noFill/>
                    </a:lnB>
                    <a:noFill/>
                  </a:tcPr>
                </a:tc>
                <a:tc>
                  <a:txBody>
                    <a:bodyPr/>
                    <a:lstStyle/>
                    <a:p>
                      <a:pPr algn="ctr" rtl="0" fontAlgn="ctr">
                        <a:buNone/>
                      </a:pPr>
                      <a:endParaRPr lang="en-US" sz="800" b="0" i="0" u="none" strike="noStrike" dirty="0">
                        <a:solidFill>
                          <a:srgbClr val="1C1C1C"/>
                        </a:solidFill>
                        <a:effectLst/>
                        <a:latin typeface="Roboto Light" panose="02000000000000000000" pitchFamily="2" charset="0"/>
                      </a:endParaRPr>
                    </a:p>
                  </a:txBody>
                  <a:tcPr marL="6812" marR="6812" marT="6812" marB="0" anchor="ctr">
                    <a:lnL>
                      <a:noFill/>
                    </a:lnL>
                    <a:lnR>
                      <a:noFill/>
                    </a:lnR>
                    <a:lnT>
                      <a:noFill/>
                    </a:lnT>
                    <a:lnB>
                      <a:noFill/>
                    </a:lnB>
                    <a:noFill/>
                  </a:tcPr>
                </a:tc>
                <a:extLst>
                  <a:ext uri="{0D108BD9-81ED-4DB2-BD59-A6C34878D82A}">
                    <a16:rowId xmlns:a16="http://schemas.microsoft.com/office/drawing/2014/main" val="3206788475"/>
                  </a:ext>
                </a:extLst>
              </a:tr>
              <a:tr h="251453">
                <a:tc>
                  <a:txBody>
                    <a:bodyPr/>
                    <a:lstStyle/>
                    <a:p>
                      <a:pPr algn="ctr" rtl="0" fontAlgn="ctr">
                        <a:buNone/>
                      </a:pPr>
                      <a:r>
                        <a:rPr lang="pt-BR" sz="800" b="1" i="0" u="none" strike="noStrike" dirty="0">
                          <a:solidFill>
                            <a:srgbClr val="141414"/>
                          </a:solidFill>
                          <a:effectLst/>
                          <a:latin typeface="Roboto Light" panose="02000000000000000000" pitchFamily="2" charset="0"/>
                        </a:rPr>
                        <a:t>TTEN3</a:t>
                      </a:r>
                    </a:p>
                  </a:txBody>
                  <a:tcPr marL="6812" marR="6812" marT="6812" marB="0" anchor="ctr">
                    <a:lnL>
                      <a:noFill/>
                    </a:lnL>
                    <a:lnR>
                      <a:noFill/>
                    </a:lnR>
                    <a:lnT>
                      <a:noFill/>
                    </a:lnT>
                    <a:lnB>
                      <a:noFill/>
                    </a:lnB>
                    <a:lnTlToBr w="12700" cmpd="sng">
                      <a:noFill/>
                      <a:prstDash val="solid"/>
                    </a:lnTlToBr>
                    <a:lnBlToTr w="12700" cmpd="sng">
                      <a:noFill/>
                      <a:prstDash val="solid"/>
                    </a:lnBlToTr>
                    <a:solidFill>
                      <a:srgbClr val="E8F0F9">
                        <a:alpha val="60000"/>
                      </a:srgbClr>
                    </a:solidFill>
                  </a:tcPr>
                </a:tc>
                <a:tc>
                  <a:txBody>
                    <a:bodyPr/>
                    <a:lstStyle/>
                    <a:p>
                      <a:pPr algn="ctr" rtl="0" fontAlgn="ctr">
                        <a:buNone/>
                      </a:pPr>
                      <a:r>
                        <a:rPr lang="pt-BR" sz="800" b="0" i="0" u="none" strike="noStrike" dirty="0">
                          <a:solidFill>
                            <a:srgbClr val="1C1C1C"/>
                          </a:solidFill>
                          <a:effectLst/>
                          <a:latin typeface="Roboto Light" panose="02000000000000000000" pitchFamily="2" charset="0"/>
                        </a:rPr>
                        <a:t>Agronegócio</a:t>
                      </a:r>
                    </a:p>
                  </a:txBody>
                  <a:tcPr marL="6812" marR="6812" marT="6812" marB="0" anchor="ctr">
                    <a:lnL>
                      <a:noFill/>
                    </a:lnL>
                    <a:lnR>
                      <a:noFill/>
                    </a:lnR>
                    <a:lnT>
                      <a:noFill/>
                    </a:lnT>
                    <a:lnB>
                      <a:noFill/>
                    </a:lnB>
                    <a:lnTlToBr w="12700" cmpd="sng">
                      <a:noFill/>
                      <a:prstDash val="solid"/>
                    </a:lnTlToBr>
                    <a:lnBlToTr w="12700" cmpd="sng">
                      <a:noFill/>
                      <a:prstDash val="solid"/>
                    </a:lnBlToTr>
                    <a:solidFill>
                      <a:srgbClr val="E8F0F9">
                        <a:alpha val="60000"/>
                      </a:srgbClr>
                    </a:solidFill>
                  </a:tcPr>
                </a:tc>
                <a:tc>
                  <a:txBody>
                    <a:bodyPr/>
                    <a:lstStyle/>
                    <a:p>
                      <a:pPr algn="ctr" rtl="0" fontAlgn="ctr">
                        <a:buNone/>
                      </a:pPr>
                      <a:r>
                        <a:rPr lang="en-US" sz="800" b="0" i="0" u="none" strike="noStrike" dirty="0">
                          <a:solidFill>
                            <a:srgbClr val="1C1C1C"/>
                          </a:solidFill>
                          <a:effectLst/>
                          <a:latin typeface="Roboto Light" panose="02000000000000000000" pitchFamily="2" charset="0"/>
                        </a:rPr>
                        <a:t>A exposição ao RS se beneficia de chuvas acima da média; sustenta margens e originação.</a:t>
                      </a:r>
                    </a:p>
                  </a:txBody>
                  <a:tcPr marL="6812" marR="6812" marT="6812" marB="0" anchor="ctr">
                    <a:lnL>
                      <a:noFill/>
                    </a:lnL>
                    <a:lnR>
                      <a:noFill/>
                    </a:lnR>
                    <a:lnT>
                      <a:noFill/>
                    </a:lnT>
                    <a:lnB>
                      <a:noFill/>
                    </a:lnB>
                    <a:lnTlToBr w="12700" cmpd="sng">
                      <a:noFill/>
                      <a:prstDash val="solid"/>
                    </a:lnTlToBr>
                    <a:lnBlToTr w="12700" cmpd="sng">
                      <a:noFill/>
                      <a:prstDash val="solid"/>
                    </a:lnBlToTr>
                    <a:solidFill>
                      <a:srgbClr val="E8F0F9">
                        <a:alpha val="60000"/>
                      </a:srgbClr>
                    </a:solidFill>
                  </a:tcPr>
                </a:tc>
                <a:extLst>
                  <a:ext uri="{0D108BD9-81ED-4DB2-BD59-A6C34878D82A}">
                    <a16:rowId xmlns:a16="http://schemas.microsoft.com/office/drawing/2014/main" val="4044434751"/>
                  </a:ext>
                </a:extLst>
              </a:tr>
              <a:tr h="256316">
                <a:tc>
                  <a:txBody>
                    <a:bodyPr/>
                    <a:lstStyle/>
                    <a:p>
                      <a:pPr algn="ctr" rtl="0" fontAlgn="ctr">
                        <a:buNone/>
                      </a:pPr>
                      <a:r>
                        <a:rPr lang="pt-BR" sz="800" b="1" i="0" u="none" strike="noStrike" dirty="0">
                          <a:solidFill>
                            <a:srgbClr val="141414"/>
                          </a:solidFill>
                          <a:effectLst/>
                          <a:latin typeface="Roboto Light" panose="02000000000000000000" pitchFamily="2" charset="0"/>
                        </a:rPr>
                        <a:t>SMTO3/JALL3</a:t>
                      </a:r>
                    </a:p>
                  </a:txBody>
                  <a:tcPr marL="6812" marR="6812" marT="6812" marB="0" anchor="ctr">
                    <a:lnL>
                      <a:noFill/>
                    </a:lnL>
                    <a:lnR>
                      <a:noFill/>
                    </a:lnR>
                    <a:lnT>
                      <a:noFill/>
                    </a:lnT>
                    <a:lnB>
                      <a:noFill/>
                    </a:lnB>
                    <a:lnTlToBr w="12700" cmpd="sng">
                      <a:noFill/>
                      <a:prstDash val="solid"/>
                    </a:lnTlToBr>
                    <a:lnBlToTr w="12700" cmpd="sng">
                      <a:noFill/>
                      <a:prstDash val="solid"/>
                    </a:lnBlToTr>
                    <a:solidFill>
                      <a:srgbClr val="E8F0F9">
                        <a:alpha val="60000"/>
                      </a:srgbClr>
                    </a:solidFill>
                  </a:tcPr>
                </a:tc>
                <a:tc>
                  <a:txBody>
                    <a:bodyPr/>
                    <a:lstStyle/>
                    <a:p>
                      <a:pPr algn="ctr" rtl="0" fontAlgn="ctr">
                        <a:buNone/>
                      </a:pPr>
                      <a:r>
                        <a:rPr lang="pt-BR" sz="800" b="0" i="0" u="none" strike="noStrike" dirty="0">
                          <a:solidFill>
                            <a:srgbClr val="1C1C1C"/>
                          </a:solidFill>
                          <a:effectLst/>
                          <a:latin typeface="Roboto Light" panose="02000000000000000000" pitchFamily="2" charset="0"/>
                        </a:rPr>
                        <a:t>Agronegócio</a:t>
                      </a:r>
                    </a:p>
                  </a:txBody>
                  <a:tcPr marL="6812" marR="6812" marT="6812" marB="0" anchor="ctr">
                    <a:lnL>
                      <a:noFill/>
                    </a:lnL>
                    <a:lnR>
                      <a:noFill/>
                    </a:lnR>
                    <a:lnT>
                      <a:noFill/>
                    </a:lnT>
                    <a:lnB>
                      <a:noFill/>
                    </a:lnB>
                    <a:lnTlToBr w="12700" cmpd="sng">
                      <a:noFill/>
                      <a:prstDash val="solid"/>
                    </a:lnTlToBr>
                    <a:lnBlToTr w="12700" cmpd="sng">
                      <a:noFill/>
                      <a:prstDash val="solid"/>
                    </a:lnBlToTr>
                    <a:solidFill>
                      <a:srgbClr val="E8F0F9">
                        <a:alpha val="60000"/>
                      </a:srgbClr>
                    </a:solidFill>
                  </a:tcPr>
                </a:tc>
                <a:tc>
                  <a:txBody>
                    <a:bodyPr/>
                    <a:lstStyle/>
                    <a:p>
                      <a:pPr algn="ctr" rtl="0" fontAlgn="ctr">
                        <a:buNone/>
                      </a:pPr>
                      <a:r>
                        <a:rPr lang="en-US" sz="800" b="0" i="0" u="none" strike="noStrike" dirty="0">
                          <a:solidFill>
                            <a:srgbClr val="1C1C1C"/>
                          </a:solidFill>
                          <a:effectLst/>
                          <a:latin typeface="Roboto Light" panose="02000000000000000000" pitchFamily="2" charset="0"/>
                        </a:rPr>
                        <a:t>Opcionalidade em açúcar caso a produção da Índia/Tailândia seja afetada. Cenário de alta, e não nosso caso-base, dada a perspectiva de oferta ainda construtiva e as posições atuais de hedge.</a:t>
                      </a:r>
                    </a:p>
                  </a:txBody>
                  <a:tcPr marL="6812" marR="6812" marT="6812" marB="0" anchor="ctr">
                    <a:lnL>
                      <a:noFill/>
                    </a:lnL>
                    <a:lnR>
                      <a:noFill/>
                    </a:lnR>
                    <a:lnT>
                      <a:noFill/>
                    </a:lnT>
                    <a:lnB>
                      <a:noFill/>
                    </a:lnB>
                    <a:lnTlToBr w="12700" cmpd="sng">
                      <a:noFill/>
                      <a:prstDash val="solid"/>
                    </a:lnTlToBr>
                    <a:lnBlToTr w="12700" cmpd="sng">
                      <a:noFill/>
                      <a:prstDash val="solid"/>
                    </a:lnBlToTr>
                    <a:solidFill>
                      <a:srgbClr val="E8F0F9">
                        <a:alpha val="60000"/>
                      </a:srgbClr>
                    </a:solidFill>
                  </a:tcPr>
                </a:tc>
                <a:extLst>
                  <a:ext uri="{0D108BD9-81ED-4DB2-BD59-A6C34878D82A}">
                    <a16:rowId xmlns:a16="http://schemas.microsoft.com/office/drawing/2014/main" val="4057595082"/>
                  </a:ext>
                </a:extLst>
              </a:tr>
              <a:tr h="251453">
                <a:tc>
                  <a:txBody>
                    <a:bodyPr/>
                    <a:lstStyle/>
                    <a:p>
                      <a:pPr algn="ctr" rtl="0" fontAlgn="ctr">
                        <a:buNone/>
                      </a:pPr>
                      <a:r>
                        <a:rPr lang="pt-BR" sz="800" b="1" i="0" u="none" strike="noStrike" dirty="0">
                          <a:solidFill>
                            <a:srgbClr val="141414"/>
                          </a:solidFill>
                          <a:effectLst/>
                          <a:latin typeface="Roboto Light" panose="02000000000000000000" pitchFamily="2" charset="0"/>
                        </a:rPr>
                        <a:t>AURE3</a:t>
                      </a:r>
                    </a:p>
                  </a:txBody>
                  <a:tcPr marL="6812" marR="6812" marT="6812" marB="0" anchor="ctr">
                    <a:lnL>
                      <a:noFill/>
                    </a:lnL>
                    <a:lnR>
                      <a:noFill/>
                    </a:lnR>
                    <a:lnT>
                      <a:noFill/>
                    </a:lnT>
                    <a:lnB>
                      <a:noFill/>
                    </a:lnB>
                    <a:lnTlToBr w="12700" cmpd="sng">
                      <a:noFill/>
                      <a:prstDash val="solid"/>
                    </a:lnTlToBr>
                    <a:lnBlToTr w="12700" cmpd="sng">
                      <a:noFill/>
                      <a:prstDash val="solid"/>
                    </a:lnBlToTr>
                    <a:solidFill>
                      <a:srgbClr val="E8F0F9">
                        <a:alpha val="60000"/>
                      </a:srgbClr>
                    </a:solidFill>
                  </a:tcPr>
                </a:tc>
                <a:tc>
                  <a:txBody>
                    <a:bodyPr/>
                    <a:lstStyle/>
                    <a:p>
                      <a:pPr algn="ctr" rtl="0" fontAlgn="ctr">
                        <a:buNone/>
                      </a:pPr>
                      <a:r>
                        <a:rPr lang="pt-BR" sz="800" b="0" i="0" u="none" strike="noStrike" dirty="0" err="1">
                          <a:solidFill>
                            <a:srgbClr val="1C1C1C"/>
                          </a:solidFill>
                          <a:effectLst/>
                          <a:latin typeface="Roboto Light" panose="02000000000000000000" pitchFamily="2" charset="0"/>
                        </a:rPr>
                        <a:t>Utilidade Pública</a:t>
                      </a:r>
                      <a:endParaRPr lang="pt-BR" sz="800" b="0" i="0" u="none" strike="noStrike" dirty="0">
                        <a:solidFill>
                          <a:srgbClr val="1C1C1C"/>
                        </a:solidFill>
                        <a:effectLst/>
                        <a:latin typeface="Roboto Light" panose="02000000000000000000" pitchFamily="2" charset="0"/>
                      </a:endParaRPr>
                    </a:p>
                  </a:txBody>
                  <a:tcPr marL="6812" marR="6812" marT="6812" marB="0" anchor="ctr">
                    <a:lnL>
                      <a:noFill/>
                    </a:lnL>
                    <a:lnR>
                      <a:noFill/>
                    </a:lnR>
                    <a:lnT>
                      <a:noFill/>
                    </a:lnT>
                    <a:lnB>
                      <a:noFill/>
                    </a:lnB>
                    <a:lnTlToBr w="12700" cmpd="sng">
                      <a:noFill/>
                      <a:prstDash val="solid"/>
                    </a:lnTlToBr>
                    <a:lnBlToTr w="12700" cmpd="sng">
                      <a:noFill/>
                      <a:prstDash val="solid"/>
                    </a:lnBlToTr>
                    <a:solidFill>
                      <a:srgbClr val="E8F0F9">
                        <a:alpha val="60000"/>
                      </a:srgbClr>
                    </a:solidFill>
                  </a:tcPr>
                </a:tc>
                <a:tc>
                  <a:txBody>
                    <a:bodyPr/>
                    <a:lstStyle/>
                    <a:p>
                      <a:pPr algn="ctr" rtl="0" fontAlgn="ctr">
                        <a:buNone/>
                      </a:pPr>
                      <a:r>
                        <a:rPr lang="en-US" sz="800" b="0" i="0" u="none" strike="noStrike" dirty="0">
                          <a:solidFill>
                            <a:srgbClr val="1C1C1C"/>
                          </a:solidFill>
                          <a:effectLst/>
                          <a:latin typeface="Roboto Light" panose="02000000000000000000" pitchFamily="2" charset="0"/>
                        </a:rPr>
                        <a:t>A posição vendida se beneficia de preços spot de energia mais baixos com a melhora da hidrologia.</a:t>
                      </a:r>
                    </a:p>
                  </a:txBody>
                  <a:tcPr marL="6812" marR="6812" marT="6812" marB="0" anchor="ctr">
                    <a:lnL>
                      <a:noFill/>
                    </a:lnL>
                    <a:lnR>
                      <a:noFill/>
                    </a:lnR>
                    <a:lnT>
                      <a:noFill/>
                    </a:lnT>
                    <a:lnB>
                      <a:noFill/>
                    </a:lnB>
                    <a:lnTlToBr w="12700" cmpd="sng">
                      <a:noFill/>
                      <a:prstDash val="solid"/>
                    </a:lnTlToBr>
                    <a:lnBlToTr w="12700" cmpd="sng">
                      <a:noFill/>
                      <a:prstDash val="solid"/>
                    </a:lnBlToTr>
                    <a:solidFill>
                      <a:srgbClr val="E8F0F9">
                        <a:alpha val="60000"/>
                      </a:srgbClr>
                    </a:solidFill>
                  </a:tcPr>
                </a:tc>
                <a:extLst>
                  <a:ext uri="{0D108BD9-81ED-4DB2-BD59-A6C34878D82A}">
                    <a16:rowId xmlns:a16="http://schemas.microsoft.com/office/drawing/2014/main" val="755765655"/>
                  </a:ext>
                </a:extLst>
              </a:tr>
              <a:tr h="256316">
                <a:tc>
                  <a:txBody>
                    <a:bodyPr/>
                    <a:lstStyle/>
                    <a:p>
                      <a:pPr algn="ctr" rtl="0" fontAlgn="ctr">
                        <a:buNone/>
                      </a:pPr>
                      <a:r>
                        <a:rPr lang="pt-BR" sz="800" b="1" i="0" u="none" strike="noStrike" dirty="0">
                          <a:solidFill>
                            <a:srgbClr val="141414"/>
                          </a:solidFill>
                          <a:effectLst/>
                          <a:latin typeface="Roboto Light" panose="02000000000000000000" pitchFamily="2" charset="0"/>
                        </a:rPr>
                        <a:t>LREN3/RIAA3/CEAB3</a:t>
                      </a:r>
                    </a:p>
                  </a:txBody>
                  <a:tcPr marL="6812" marR="6812" marT="6812" marB="0" anchor="ctr">
                    <a:lnL>
                      <a:noFill/>
                    </a:lnL>
                    <a:lnR>
                      <a:noFill/>
                    </a:lnR>
                    <a:lnT>
                      <a:noFill/>
                    </a:lnT>
                    <a:lnB>
                      <a:noFill/>
                    </a:lnB>
                    <a:lnTlToBr w="12700" cmpd="sng">
                      <a:noFill/>
                      <a:prstDash val="solid"/>
                    </a:lnTlToBr>
                    <a:lnBlToTr w="12700" cmpd="sng">
                      <a:noFill/>
                      <a:prstDash val="solid"/>
                    </a:lnBlToTr>
                    <a:solidFill>
                      <a:srgbClr val="E8F0F9">
                        <a:alpha val="60000"/>
                      </a:srgbClr>
                    </a:solidFill>
                  </a:tcPr>
                </a:tc>
                <a:tc>
                  <a:txBody>
                    <a:bodyPr/>
                    <a:lstStyle/>
                    <a:p>
                      <a:pPr algn="ctr" rtl="0" fontAlgn="ctr">
                        <a:buNone/>
                      </a:pPr>
                      <a:r>
                        <a:rPr lang="pt-BR" sz="800" b="0" i="0" u="none" strike="noStrike" dirty="0" err="1">
                          <a:solidFill>
                            <a:srgbClr val="1C1C1C"/>
                          </a:solidFill>
                          <a:effectLst/>
                          <a:latin typeface="Roboto Light" panose="02000000000000000000" pitchFamily="2" charset="0"/>
                        </a:rPr>
                        <a:t>Varejo</a:t>
                      </a:r>
                      <a:endParaRPr lang="pt-BR" sz="800" b="0" i="0" u="none" strike="noStrike" dirty="0">
                        <a:solidFill>
                          <a:srgbClr val="1C1C1C"/>
                        </a:solidFill>
                        <a:effectLst/>
                        <a:latin typeface="Roboto Light" panose="02000000000000000000" pitchFamily="2" charset="0"/>
                      </a:endParaRPr>
                    </a:p>
                  </a:txBody>
                  <a:tcPr marL="6812" marR="6812" marT="6812" marB="0" anchor="ctr">
                    <a:lnL>
                      <a:noFill/>
                    </a:lnL>
                    <a:lnR>
                      <a:noFill/>
                    </a:lnR>
                    <a:lnT>
                      <a:noFill/>
                    </a:lnT>
                    <a:lnB>
                      <a:noFill/>
                    </a:lnB>
                    <a:lnTlToBr w="12700" cmpd="sng">
                      <a:noFill/>
                      <a:prstDash val="solid"/>
                    </a:lnTlToBr>
                    <a:lnBlToTr w="12700" cmpd="sng">
                      <a:noFill/>
                      <a:prstDash val="solid"/>
                    </a:lnBlToTr>
                    <a:solidFill>
                      <a:srgbClr val="E8F0F9">
                        <a:alpha val="60000"/>
                      </a:srgbClr>
                    </a:solidFill>
                  </a:tcPr>
                </a:tc>
                <a:tc>
                  <a:txBody>
                    <a:bodyPr/>
                    <a:lstStyle/>
                    <a:p>
                      <a:pPr algn="ctr" rtl="0" fontAlgn="ctr">
                        <a:buNone/>
                      </a:pPr>
                      <a:r>
                        <a:rPr lang="en-US" sz="800" b="0" i="0" u="none" strike="noStrike" dirty="0">
                          <a:solidFill>
                            <a:srgbClr val="1C1C1C"/>
                          </a:solidFill>
                          <a:effectLst/>
                          <a:latin typeface="Roboto Light" panose="02000000000000000000" pitchFamily="2" charset="0"/>
                        </a:rPr>
                        <a:t>Inverno mais ameno favorece o giro de estoques e a transição para o verão; se o cenário favorável se materializar, acreditamos que os varejistas de vestuário podem apresentar SSS na casa de dois dígitos.</a:t>
                      </a:r>
                    </a:p>
                  </a:txBody>
                  <a:tcPr marL="6812" marR="6812" marT="6812" marB="0" anchor="ctr">
                    <a:lnL>
                      <a:noFill/>
                    </a:lnL>
                    <a:lnR>
                      <a:noFill/>
                    </a:lnR>
                    <a:lnT>
                      <a:noFill/>
                    </a:lnT>
                    <a:lnB>
                      <a:noFill/>
                    </a:lnB>
                    <a:lnTlToBr w="12700" cmpd="sng">
                      <a:noFill/>
                      <a:prstDash val="solid"/>
                    </a:lnTlToBr>
                    <a:lnBlToTr w="12700" cmpd="sng">
                      <a:noFill/>
                      <a:prstDash val="solid"/>
                    </a:lnBlToTr>
                    <a:solidFill>
                      <a:srgbClr val="E8F0F9">
                        <a:alpha val="60000"/>
                      </a:srgbClr>
                    </a:solidFill>
                  </a:tcPr>
                </a:tc>
                <a:extLst>
                  <a:ext uri="{0D108BD9-81ED-4DB2-BD59-A6C34878D82A}">
                    <a16:rowId xmlns:a16="http://schemas.microsoft.com/office/drawing/2014/main" val="710035968"/>
                  </a:ext>
                </a:extLst>
              </a:tr>
              <a:tr h="251453">
                <a:tc>
                  <a:txBody>
                    <a:bodyPr/>
                    <a:lstStyle/>
                    <a:p>
                      <a:pPr algn="ctr" rtl="0" fontAlgn="ctr">
                        <a:buNone/>
                      </a:pPr>
                      <a:r>
                        <a:rPr lang="pt-BR" sz="800" b="1" i="0" u="none" strike="noStrike" dirty="0">
                          <a:solidFill>
                            <a:srgbClr val="141414"/>
                          </a:solidFill>
                          <a:effectLst/>
                          <a:latin typeface="Roboto Light" panose="02000000000000000000" pitchFamily="2" charset="0"/>
                        </a:rPr>
                        <a:t>ASAI3</a:t>
                      </a:r>
                    </a:p>
                  </a:txBody>
                  <a:tcPr marL="6812" marR="6812" marT="6812" marB="0" anchor="ctr">
                    <a:lnL>
                      <a:noFill/>
                    </a:lnL>
                    <a:lnR>
                      <a:noFill/>
                    </a:lnR>
                    <a:lnT>
                      <a:noFill/>
                    </a:lnT>
                    <a:lnB>
                      <a:noFill/>
                    </a:lnB>
                    <a:lnTlToBr w="12700" cmpd="sng">
                      <a:noFill/>
                      <a:prstDash val="solid"/>
                    </a:lnTlToBr>
                    <a:lnBlToTr w="12700" cmpd="sng">
                      <a:noFill/>
                      <a:prstDash val="solid"/>
                    </a:lnBlToTr>
                    <a:solidFill>
                      <a:srgbClr val="E8F0F9">
                        <a:alpha val="60000"/>
                      </a:srgbClr>
                    </a:solidFill>
                  </a:tcPr>
                </a:tc>
                <a:tc>
                  <a:txBody>
                    <a:bodyPr/>
                    <a:lstStyle/>
                    <a:p>
                      <a:pPr algn="ctr" rtl="0" fontAlgn="ctr">
                        <a:buNone/>
                      </a:pPr>
                      <a:r>
                        <a:rPr lang="pt-BR" sz="800" b="0" i="0" u="none" strike="noStrike" dirty="0" err="1">
                          <a:solidFill>
                            <a:srgbClr val="1C1C1C"/>
                          </a:solidFill>
                          <a:effectLst/>
                          <a:latin typeface="Roboto Light" panose="02000000000000000000" pitchFamily="2" charset="0"/>
                        </a:rPr>
                        <a:t>Varejo</a:t>
                      </a:r>
                      <a:endParaRPr lang="pt-BR" sz="800" b="0" i="0" u="none" strike="noStrike" dirty="0">
                        <a:solidFill>
                          <a:srgbClr val="1C1C1C"/>
                        </a:solidFill>
                        <a:effectLst/>
                        <a:latin typeface="Roboto Light" panose="02000000000000000000" pitchFamily="2" charset="0"/>
                      </a:endParaRPr>
                    </a:p>
                  </a:txBody>
                  <a:tcPr marL="6812" marR="6812" marT="6812" marB="0" anchor="ctr">
                    <a:lnL>
                      <a:noFill/>
                    </a:lnL>
                    <a:lnR>
                      <a:noFill/>
                    </a:lnR>
                    <a:lnT>
                      <a:noFill/>
                    </a:lnT>
                    <a:lnB>
                      <a:noFill/>
                    </a:lnB>
                    <a:lnTlToBr w="12700" cmpd="sng">
                      <a:noFill/>
                      <a:prstDash val="solid"/>
                    </a:lnTlToBr>
                    <a:lnBlToTr w="12700" cmpd="sng">
                      <a:noFill/>
                      <a:prstDash val="solid"/>
                    </a:lnBlToTr>
                    <a:solidFill>
                      <a:srgbClr val="E8F0F9">
                        <a:alpha val="60000"/>
                      </a:srgbClr>
                    </a:solidFill>
                  </a:tcPr>
                </a:tc>
                <a:tc>
                  <a:txBody>
                    <a:bodyPr/>
                    <a:lstStyle/>
                    <a:p>
                      <a:pPr algn="ctr" rtl="0" fontAlgn="ctr">
                        <a:buNone/>
                      </a:pPr>
                      <a:r>
                        <a:rPr lang="en-US" sz="800" b="0" i="0" u="none" strike="noStrike" dirty="0">
                          <a:solidFill>
                            <a:srgbClr val="1C1C1C"/>
                          </a:solidFill>
                          <a:effectLst/>
                          <a:latin typeface="Roboto Light" panose="02000000000000000000" pitchFamily="2" charset="0"/>
                        </a:rPr>
                        <a:t>O atacarejo repassa a inflação de alimentos para a gôndola. No entanto, o suporte ao SSS é marginal.</a:t>
                      </a:r>
                    </a:p>
                  </a:txBody>
                  <a:tcPr marL="6812" marR="6812" marT="6812" marB="0" anchor="ctr">
                    <a:lnL>
                      <a:noFill/>
                    </a:lnL>
                    <a:lnR>
                      <a:noFill/>
                    </a:lnR>
                    <a:lnT>
                      <a:noFill/>
                    </a:lnT>
                    <a:lnB>
                      <a:noFill/>
                    </a:lnB>
                    <a:lnTlToBr w="12700" cmpd="sng">
                      <a:noFill/>
                      <a:prstDash val="solid"/>
                    </a:lnTlToBr>
                    <a:lnBlToTr w="12700" cmpd="sng">
                      <a:noFill/>
                      <a:prstDash val="solid"/>
                    </a:lnBlToTr>
                    <a:solidFill>
                      <a:srgbClr val="E8F0F9">
                        <a:alpha val="60000"/>
                      </a:srgbClr>
                    </a:solidFill>
                  </a:tcPr>
                </a:tc>
                <a:extLst>
                  <a:ext uri="{0D108BD9-81ED-4DB2-BD59-A6C34878D82A}">
                    <a16:rowId xmlns:a16="http://schemas.microsoft.com/office/drawing/2014/main" val="3224072464"/>
                  </a:ext>
                </a:extLst>
              </a:tr>
              <a:tr h="251453">
                <a:tc>
                  <a:txBody>
                    <a:bodyPr/>
                    <a:lstStyle/>
                    <a:p>
                      <a:pPr algn="ctr" rtl="0" fontAlgn="ctr">
                        <a:buNone/>
                      </a:pPr>
                      <a:r>
                        <a:rPr lang="pt-BR" sz="800" b="1" i="0" u="none" strike="noStrike" dirty="0">
                          <a:solidFill>
                            <a:srgbClr val="141414"/>
                          </a:solidFill>
                          <a:effectLst/>
                          <a:latin typeface="Roboto Light" panose="02000000000000000000" pitchFamily="2" charset="0"/>
                        </a:rPr>
                        <a:t>RADL3/PNVL3</a:t>
                      </a:r>
                    </a:p>
                  </a:txBody>
                  <a:tcPr marL="6812" marR="6812" marT="6812"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F0F9">
                        <a:alpha val="60000"/>
                      </a:srgbClr>
                    </a:solidFill>
                  </a:tcPr>
                </a:tc>
                <a:tc>
                  <a:txBody>
                    <a:bodyPr/>
                    <a:lstStyle/>
                    <a:p>
                      <a:pPr algn="ctr" rtl="0" fontAlgn="ctr">
                        <a:buNone/>
                      </a:pPr>
                      <a:r>
                        <a:rPr lang="pt-BR" sz="800" b="0" i="0" u="none" strike="noStrike" dirty="0" err="1">
                          <a:solidFill>
                            <a:srgbClr val="1C1C1C"/>
                          </a:solidFill>
                          <a:effectLst/>
                          <a:latin typeface="Roboto Light" panose="02000000000000000000" pitchFamily="2" charset="0"/>
                        </a:rPr>
                        <a:t>Varejo</a:t>
                      </a:r>
                      <a:endParaRPr lang="pt-BR" sz="800" b="0" i="0" u="none" strike="noStrike" dirty="0">
                        <a:solidFill>
                          <a:srgbClr val="1C1C1C"/>
                        </a:solidFill>
                        <a:effectLst/>
                        <a:latin typeface="Roboto Light" panose="02000000000000000000" pitchFamily="2" charset="0"/>
                      </a:endParaRPr>
                    </a:p>
                  </a:txBody>
                  <a:tcPr marL="6812" marR="6812" marT="6812"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F0F9">
                        <a:alpha val="60000"/>
                      </a:srgbClr>
                    </a:solidFill>
                  </a:tcPr>
                </a:tc>
                <a:tc>
                  <a:txBody>
                    <a:bodyPr/>
                    <a:lstStyle/>
                    <a:p>
                      <a:pPr algn="ctr" rtl="0" fontAlgn="ctr">
                        <a:buNone/>
                      </a:pPr>
                      <a:r>
                        <a:rPr lang="pt-BR" sz="800" b="0" i="0" u="none" strike="noStrike" dirty="0" err="1">
                          <a:solidFill>
                            <a:srgbClr val="1C1C1C"/>
                          </a:solidFill>
                          <a:effectLst/>
                          <a:latin typeface="Roboto Light" panose="02000000000000000000" pitchFamily="2" charset="0"/>
                        </a:rPr>
                        <a:t>Demanda potencialmente maior por repelentes, testes e vacinas; mix de margem favorável.</a:t>
                      </a:r>
                    </a:p>
                  </a:txBody>
                  <a:tcPr marL="6812" marR="6812" marT="6812"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F0F9">
                        <a:alpha val="60000"/>
                      </a:srgbClr>
                    </a:solidFill>
                  </a:tcPr>
                </a:tc>
                <a:extLst>
                  <a:ext uri="{0D108BD9-81ED-4DB2-BD59-A6C34878D82A}">
                    <a16:rowId xmlns:a16="http://schemas.microsoft.com/office/drawing/2014/main" val="1121906723"/>
                  </a:ext>
                </a:extLst>
              </a:tr>
              <a:tr h="251453">
                <a:tc gridSpan="3">
                  <a:txBody>
                    <a:bodyPr/>
                    <a:lstStyle/>
                    <a:p>
                      <a:pPr algn="l" rtl="0" fontAlgn="ctr">
                        <a:buNone/>
                      </a:pPr>
                      <a:r>
                        <a:rPr lang="pt-BR" sz="850" b="1" i="0" u="none" strike="noStrike" dirty="0" err="1">
                          <a:solidFill>
                            <a:srgbClr val="FF0000"/>
                          </a:solidFill>
                          <a:effectLst/>
                          <a:latin typeface="Roboto  "/>
                        </a:rPr>
                        <a:t>Potenciais empresas adversamente impactadas</a:t>
                      </a:r>
                      <a:endParaRPr lang="pt-BR" sz="850" b="1" i="0" u="none" strike="noStrike" dirty="0">
                        <a:solidFill>
                          <a:srgbClr val="FF0000"/>
                        </a:solidFill>
                        <a:effectLst/>
                        <a:latin typeface="Roboto  "/>
                      </a:endParaRPr>
                    </a:p>
                  </a:txBody>
                  <a:tcPr marL="6812" marR="6812" marT="6812"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buNone/>
                      </a:pPr>
                      <a:endParaRPr lang="pt-BR" sz="800" b="0" i="0" u="none" strike="noStrike" dirty="0">
                        <a:solidFill>
                          <a:srgbClr val="1C1C1C"/>
                        </a:solidFill>
                        <a:effectLst/>
                        <a:latin typeface="Roboto Light" panose="02000000000000000000" pitchFamily="2" charset="0"/>
                      </a:endParaRPr>
                    </a:p>
                  </a:txBody>
                  <a:tcPr marL="6812" marR="6812" marT="6812"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buNone/>
                      </a:pPr>
                      <a:endParaRPr lang="en-US" sz="800" b="0" i="0" u="none" strike="noStrike" dirty="0">
                        <a:solidFill>
                          <a:srgbClr val="1C1C1C"/>
                        </a:solidFill>
                        <a:effectLst/>
                        <a:latin typeface="Roboto Light" panose="02000000000000000000" pitchFamily="2" charset="0"/>
                      </a:endParaRPr>
                    </a:p>
                  </a:txBody>
                  <a:tcPr marL="6812" marR="6812" marT="6812"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2424866"/>
                  </a:ext>
                </a:extLst>
              </a:tr>
              <a:tr h="251453">
                <a:tc>
                  <a:txBody>
                    <a:bodyPr/>
                    <a:lstStyle/>
                    <a:p>
                      <a:pPr algn="ctr" rtl="0" fontAlgn="ctr">
                        <a:buNone/>
                      </a:pPr>
                      <a:r>
                        <a:rPr lang="pt-BR" sz="800" b="1" i="0" u="none" strike="noStrike" dirty="0">
                          <a:solidFill>
                            <a:srgbClr val="141414"/>
                          </a:solidFill>
                          <a:effectLst/>
                          <a:latin typeface="Roboto Light" panose="02000000000000000000" pitchFamily="2" charset="0"/>
                        </a:rPr>
                        <a:t>SLCE3</a:t>
                      </a:r>
                    </a:p>
                  </a:txBody>
                  <a:tcPr marL="6812" marR="6812" marT="6812" marB="0" anchor="ctr">
                    <a:lnL>
                      <a:noFill/>
                    </a:lnL>
                    <a:lnR>
                      <a:noFill/>
                    </a:lnR>
                    <a:lnT w="12700" cap="flat" cmpd="sng" algn="ctr">
                      <a:noFill/>
                      <a:prstDash val="solid"/>
                      <a:round/>
                      <a:headEnd type="none" w="med" len="med"/>
                      <a:tailEnd type="none" w="med" len="med"/>
                    </a:lnT>
                    <a:lnB>
                      <a:noFill/>
                    </a:lnB>
                    <a:solidFill>
                      <a:srgbClr val="FF0000">
                        <a:alpha val="20000"/>
                      </a:srgbClr>
                    </a:solidFill>
                  </a:tcPr>
                </a:tc>
                <a:tc>
                  <a:txBody>
                    <a:bodyPr/>
                    <a:lstStyle/>
                    <a:p>
                      <a:pPr algn="ctr" rtl="0" fontAlgn="ctr">
                        <a:buNone/>
                      </a:pPr>
                      <a:r>
                        <a:rPr lang="pt-BR" sz="800" b="0" i="0" u="none" strike="noStrike" dirty="0">
                          <a:solidFill>
                            <a:srgbClr val="1C1C1C"/>
                          </a:solidFill>
                          <a:effectLst/>
                          <a:latin typeface="Roboto Light" panose="02000000000000000000" pitchFamily="2" charset="0"/>
                        </a:rPr>
                        <a:t>Agronegócio</a:t>
                      </a:r>
                    </a:p>
                  </a:txBody>
                  <a:tcPr marL="6812" marR="6812" marT="6812" marB="0" anchor="ctr">
                    <a:lnL>
                      <a:noFill/>
                    </a:lnL>
                    <a:lnR>
                      <a:noFill/>
                    </a:lnR>
                    <a:lnT w="12700" cap="flat" cmpd="sng" algn="ctr">
                      <a:noFill/>
                      <a:prstDash val="solid"/>
                      <a:round/>
                      <a:headEnd type="none" w="med" len="med"/>
                      <a:tailEnd type="none" w="med" len="med"/>
                    </a:lnT>
                    <a:lnB>
                      <a:noFill/>
                    </a:lnB>
                    <a:solidFill>
                      <a:srgbClr val="FF0000">
                        <a:alpha val="20000"/>
                      </a:srgbClr>
                    </a:solidFill>
                  </a:tcPr>
                </a:tc>
                <a:tc>
                  <a:txBody>
                    <a:bodyPr/>
                    <a:lstStyle/>
                    <a:p>
                      <a:pPr algn="ctr" rtl="0" fontAlgn="ctr">
                        <a:buNone/>
                      </a:pPr>
                      <a:r>
                        <a:rPr lang="en-US" sz="800" b="0" i="0" u="none" strike="noStrike" dirty="0">
                          <a:solidFill>
                            <a:srgbClr val="1C1C1C"/>
                          </a:solidFill>
                          <a:effectLst/>
                          <a:latin typeface="Roboto Light" panose="02000000000000000000" pitchFamily="2" charset="0"/>
                        </a:rPr>
                        <a:t>Exposição ao Norte/MATOPIBA — mais vulnerável a perdas de produtividade.</a:t>
                      </a:r>
                    </a:p>
                  </a:txBody>
                  <a:tcPr marL="6812" marR="6812" marT="6812" marB="0" anchor="ctr">
                    <a:lnL>
                      <a:noFill/>
                    </a:lnL>
                    <a:lnR>
                      <a:noFill/>
                    </a:lnR>
                    <a:lnT w="12700" cap="flat" cmpd="sng" algn="ctr">
                      <a:noFill/>
                      <a:prstDash val="solid"/>
                      <a:round/>
                      <a:headEnd type="none" w="med" len="med"/>
                      <a:tailEnd type="none" w="med" len="med"/>
                    </a:lnT>
                    <a:lnB>
                      <a:noFill/>
                    </a:lnB>
                    <a:solidFill>
                      <a:srgbClr val="FF0000">
                        <a:alpha val="20000"/>
                      </a:srgbClr>
                    </a:solidFill>
                  </a:tcPr>
                </a:tc>
                <a:extLst>
                  <a:ext uri="{0D108BD9-81ED-4DB2-BD59-A6C34878D82A}">
                    <a16:rowId xmlns:a16="http://schemas.microsoft.com/office/drawing/2014/main" val="975024425"/>
                  </a:ext>
                </a:extLst>
              </a:tr>
              <a:tr h="251453">
                <a:tc>
                  <a:txBody>
                    <a:bodyPr/>
                    <a:lstStyle/>
                    <a:p>
                      <a:pPr algn="ctr" rtl="0" fontAlgn="ctr">
                        <a:buNone/>
                      </a:pPr>
                      <a:r>
                        <a:rPr lang="pt-BR" sz="800" b="1" i="0" u="none" strike="noStrike" dirty="0">
                          <a:solidFill>
                            <a:srgbClr val="141414"/>
                          </a:solidFill>
                          <a:effectLst/>
                          <a:latin typeface="Roboto Light" panose="02000000000000000000" pitchFamily="2" charset="0"/>
                        </a:rPr>
                        <a:t>AGRO3</a:t>
                      </a:r>
                    </a:p>
                  </a:txBody>
                  <a:tcPr marL="6812" marR="6812" marT="6812" marB="0" anchor="ctr">
                    <a:lnL>
                      <a:noFill/>
                    </a:lnL>
                    <a:lnR>
                      <a:noFill/>
                    </a:lnR>
                    <a:lnT>
                      <a:noFill/>
                    </a:lnT>
                    <a:lnB>
                      <a:noFill/>
                    </a:lnB>
                    <a:solidFill>
                      <a:srgbClr val="FF0000">
                        <a:alpha val="20000"/>
                      </a:srgbClr>
                    </a:solidFill>
                  </a:tcPr>
                </a:tc>
                <a:tc>
                  <a:txBody>
                    <a:bodyPr/>
                    <a:lstStyle/>
                    <a:p>
                      <a:pPr algn="ctr" rtl="0" fontAlgn="ctr">
                        <a:buNone/>
                      </a:pPr>
                      <a:r>
                        <a:rPr lang="pt-BR" sz="800" b="0" i="0" u="none" strike="noStrike" dirty="0">
                          <a:solidFill>
                            <a:srgbClr val="1C1C1C"/>
                          </a:solidFill>
                          <a:effectLst/>
                          <a:latin typeface="Roboto Light" panose="02000000000000000000" pitchFamily="2" charset="0"/>
                        </a:rPr>
                        <a:t>Agronegócio</a:t>
                      </a:r>
                    </a:p>
                  </a:txBody>
                  <a:tcPr marL="6812" marR="6812" marT="6812" marB="0" anchor="ctr">
                    <a:lnL>
                      <a:noFill/>
                    </a:lnL>
                    <a:lnR>
                      <a:noFill/>
                    </a:lnR>
                    <a:lnT>
                      <a:noFill/>
                    </a:lnT>
                    <a:lnB>
                      <a:noFill/>
                    </a:lnB>
                    <a:solidFill>
                      <a:srgbClr val="FF0000">
                        <a:alpha val="20000"/>
                      </a:srgbClr>
                    </a:solidFill>
                  </a:tcPr>
                </a:tc>
                <a:tc>
                  <a:txBody>
                    <a:bodyPr/>
                    <a:lstStyle/>
                    <a:p>
                      <a:pPr algn="ctr" rtl="0" fontAlgn="ctr">
                        <a:buNone/>
                      </a:pPr>
                      <a:r>
                        <a:rPr lang="en-US" sz="800" b="0" i="0" u="none" strike="noStrike" dirty="0">
                          <a:solidFill>
                            <a:srgbClr val="1C1C1C"/>
                          </a:solidFill>
                          <a:effectLst/>
                          <a:latin typeface="Roboto Light" panose="02000000000000000000" pitchFamily="2" charset="0"/>
                        </a:rPr>
                        <a:t>Mesma exposição ao Norte/MATOPIBA; risco de queda na produtividade.</a:t>
                      </a:r>
                    </a:p>
                  </a:txBody>
                  <a:tcPr marL="6812" marR="6812" marT="6812" marB="0" anchor="ctr">
                    <a:lnL>
                      <a:noFill/>
                    </a:lnL>
                    <a:lnR>
                      <a:noFill/>
                    </a:lnR>
                    <a:lnT>
                      <a:noFill/>
                    </a:lnT>
                    <a:lnB>
                      <a:noFill/>
                    </a:lnB>
                    <a:solidFill>
                      <a:srgbClr val="FF0000">
                        <a:alpha val="20000"/>
                      </a:srgbClr>
                    </a:solidFill>
                  </a:tcPr>
                </a:tc>
                <a:extLst>
                  <a:ext uri="{0D108BD9-81ED-4DB2-BD59-A6C34878D82A}">
                    <a16:rowId xmlns:a16="http://schemas.microsoft.com/office/drawing/2014/main" val="54600746"/>
                  </a:ext>
                </a:extLst>
              </a:tr>
              <a:tr h="251453">
                <a:tc>
                  <a:txBody>
                    <a:bodyPr/>
                    <a:lstStyle/>
                    <a:p>
                      <a:pPr algn="ctr" rtl="0" fontAlgn="ctr">
                        <a:buNone/>
                      </a:pPr>
                      <a:r>
                        <a:rPr lang="pt-BR" sz="800" b="1" i="0" u="none" strike="noStrike" dirty="0">
                          <a:solidFill>
                            <a:srgbClr val="141414"/>
                          </a:solidFill>
                          <a:effectLst/>
                          <a:latin typeface="Roboto Light" panose="02000000000000000000" pitchFamily="2" charset="0"/>
                        </a:rPr>
                        <a:t>AXIA3</a:t>
                      </a:r>
                    </a:p>
                  </a:txBody>
                  <a:tcPr marL="6812" marR="6812" marT="6812" marB="0" anchor="ctr">
                    <a:lnL>
                      <a:noFill/>
                    </a:lnL>
                    <a:lnR>
                      <a:noFill/>
                    </a:lnR>
                    <a:lnT>
                      <a:noFill/>
                    </a:lnT>
                    <a:lnB>
                      <a:noFill/>
                    </a:lnB>
                    <a:solidFill>
                      <a:srgbClr val="FF0000">
                        <a:alpha val="20000"/>
                      </a:srgbClr>
                    </a:solidFill>
                  </a:tcPr>
                </a:tc>
                <a:tc>
                  <a:txBody>
                    <a:bodyPr/>
                    <a:lstStyle/>
                    <a:p>
                      <a:pPr algn="ctr" rtl="0" fontAlgn="ctr">
                        <a:buNone/>
                      </a:pPr>
                      <a:r>
                        <a:rPr lang="pt-BR" sz="800" b="0" i="0" u="none" strike="noStrike" dirty="0" err="1">
                          <a:solidFill>
                            <a:srgbClr val="1C1C1C"/>
                          </a:solidFill>
                          <a:effectLst/>
                          <a:latin typeface="Roboto Light" panose="02000000000000000000" pitchFamily="2" charset="0"/>
                        </a:rPr>
                        <a:t>Utilidade Pública</a:t>
                      </a:r>
                      <a:endParaRPr lang="pt-BR" sz="800" b="0" i="0" u="none" strike="noStrike" dirty="0">
                        <a:solidFill>
                          <a:srgbClr val="1C1C1C"/>
                        </a:solidFill>
                        <a:effectLst/>
                        <a:latin typeface="Roboto Light" panose="02000000000000000000" pitchFamily="2" charset="0"/>
                      </a:endParaRPr>
                    </a:p>
                  </a:txBody>
                  <a:tcPr marL="6812" marR="6812" marT="6812" marB="0" anchor="ctr">
                    <a:lnL>
                      <a:noFill/>
                    </a:lnL>
                    <a:lnR>
                      <a:noFill/>
                    </a:lnR>
                    <a:lnT>
                      <a:noFill/>
                    </a:lnT>
                    <a:lnB>
                      <a:noFill/>
                    </a:lnB>
                    <a:solidFill>
                      <a:srgbClr val="FF0000">
                        <a:alpha val="20000"/>
                      </a:srgbClr>
                    </a:solidFill>
                  </a:tcPr>
                </a:tc>
                <a:tc>
                  <a:txBody>
                    <a:bodyPr/>
                    <a:lstStyle/>
                    <a:p>
                      <a:pPr algn="ctr" rtl="0" fontAlgn="ctr">
                        <a:buNone/>
                      </a:pPr>
                      <a:r>
                        <a:rPr lang="en-US" sz="800" b="0" i="0" u="none" strike="noStrike" dirty="0">
                          <a:solidFill>
                            <a:srgbClr val="1C1C1C"/>
                          </a:solidFill>
                          <a:effectLst/>
                          <a:latin typeface="Roboto Light" panose="02000000000000000000" pitchFamily="2" charset="0"/>
                        </a:rPr>
                        <a:t>Mais exposta em Utilidade Pública: 19% do balanço de 2026 descontratado.</a:t>
                      </a:r>
                    </a:p>
                  </a:txBody>
                  <a:tcPr marL="6812" marR="6812" marT="6812" marB="0" anchor="ctr">
                    <a:lnL>
                      <a:noFill/>
                    </a:lnL>
                    <a:lnR>
                      <a:noFill/>
                    </a:lnR>
                    <a:lnT>
                      <a:noFill/>
                    </a:lnT>
                    <a:lnB>
                      <a:noFill/>
                    </a:lnB>
                    <a:solidFill>
                      <a:srgbClr val="FF0000">
                        <a:alpha val="20000"/>
                      </a:srgbClr>
                    </a:solidFill>
                  </a:tcPr>
                </a:tc>
                <a:extLst>
                  <a:ext uri="{0D108BD9-81ED-4DB2-BD59-A6C34878D82A}">
                    <a16:rowId xmlns:a16="http://schemas.microsoft.com/office/drawing/2014/main" val="76314310"/>
                  </a:ext>
                </a:extLst>
              </a:tr>
              <a:tr h="251453">
                <a:tc>
                  <a:txBody>
                    <a:bodyPr/>
                    <a:lstStyle/>
                    <a:p>
                      <a:pPr algn="ctr" rtl="0" fontAlgn="ctr">
                        <a:buNone/>
                      </a:pPr>
                      <a:r>
                        <a:rPr lang="pt-BR" sz="800" b="1" i="0" u="none" strike="noStrike" dirty="0">
                          <a:solidFill>
                            <a:srgbClr val="141414"/>
                          </a:solidFill>
                          <a:effectLst/>
                          <a:latin typeface="Roboto Light" panose="02000000000000000000" pitchFamily="2" charset="0"/>
                        </a:rPr>
                        <a:t>BBAS3</a:t>
                      </a:r>
                    </a:p>
                  </a:txBody>
                  <a:tcPr marL="6812" marR="6812" marT="6812" marB="0" anchor="ctr">
                    <a:lnL>
                      <a:noFill/>
                    </a:lnL>
                    <a:lnR>
                      <a:noFill/>
                    </a:lnR>
                    <a:lnT>
                      <a:noFill/>
                    </a:lnT>
                    <a:lnB>
                      <a:noFill/>
                    </a:lnB>
                    <a:solidFill>
                      <a:srgbClr val="FF0000">
                        <a:alpha val="20000"/>
                      </a:srgbClr>
                    </a:solidFill>
                  </a:tcPr>
                </a:tc>
                <a:tc>
                  <a:txBody>
                    <a:bodyPr/>
                    <a:lstStyle/>
                    <a:p>
                      <a:pPr algn="ctr" rtl="0" fontAlgn="ctr">
                        <a:buNone/>
                      </a:pPr>
                      <a:r>
                        <a:rPr lang="pt-BR" sz="800" b="0" i="0" u="none" strike="noStrike" dirty="0" err="1">
                          <a:solidFill>
                            <a:srgbClr val="1C1C1C"/>
                          </a:solidFill>
                          <a:effectLst/>
                          <a:latin typeface="Roboto Light" panose="02000000000000000000" pitchFamily="2" charset="0"/>
                        </a:rPr>
                        <a:t>Financeiro</a:t>
                      </a:r>
                      <a:endParaRPr lang="pt-BR" sz="800" b="0" i="0" u="none" strike="noStrike" dirty="0">
                        <a:solidFill>
                          <a:srgbClr val="1C1C1C"/>
                        </a:solidFill>
                        <a:effectLst/>
                        <a:latin typeface="Roboto Light" panose="02000000000000000000" pitchFamily="2" charset="0"/>
                      </a:endParaRPr>
                    </a:p>
                  </a:txBody>
                  <a:tcPr marL="6812" marR="6812" marT="6812" marB="0" anchor="ctr">
                    <a:lnL>
                      <a:noFill/>
                    </a:lnL>
                    <a:lnR>
                      <a:noFill/>
                    </a:lnR>
                    <a:lnT>
                      <a:noFill/>
                    </a:lnT>
                    <a:lnB>
                      <a:noFill/>
                    </a:lnB>
                    <a:solidFill>
                      <a:srgbClr val="FF0000">
                        <a:alpha val="20000"/>
                      </a:srgbClr>
                    </a:solidFill>
                  </a:tcPr>
                </a:tc>
                <a:tc>
                  <a:txBody>
                    <a:bodyPr/>
                    <a:lstStyle/>
                    <a:p>
                      <a:pPr algn="ctr" rtl="0" fontAlgn="ctr">
                        <a:buNone/>
                      </a:pPr>
                      <a:r>
                        <a:rPr lang="en-US" sz="800" b="0" i="0" u="none" strike="noStrike" dirty="0">
                          <a:solidFill>
                            <a:srgbClr val="1C1C1C"/>
                          </a:solidFill>
                          <a:effectLst/>
                          <a:latin typeface="Roboto Light" panose="02000000000000000000" pitchFamily="2" charset="0"/>
                        </a:rPr>
                        <a:t>Carteira agro (MT, Sul, SE); a volatilidade da produtividade pode atrasar a recuperação da qualidade dos ativos.</a:t>
                      </a:r>
                    </a:p>
                  </a:txBody>
                  <a:tcPr marL="6812" marR="6812" marT="6812" marB="0" anchor="ctr">
                    <a:lnL>
                      <a:noFill/>
                    </a:lnL>
                    <a:lnR>
                      <a:noFill/>
                    </a:lnR>
                    <a:lnT>
                      <a:noFill/>
                    </a:lnT>
                    <a:lnB>
                      <a:noFill/>
                    </a:lnB>
                    <a:solidFill>
                      <a:srgbClr val="FF0000">
                        <a:alpha val="20000"/>
                      </a:srgbClr>
                    </a:solidFill>
                  </a:tcPr>
                </a:tc>
                <a:extLst>
                  <a:ext uri="{0D108BD9-81ED-4DB2-BD59-A6C34878D82A}">
                    <a16:rowId xmlns:a16="http://schemas.microsoft.com/office/drawing/2014/main" val="872103236"/>
                  </a:ext>
                </a:extLst>
              </a:tr>
              <a:tr h="251453">
                <a:tc>
                  <a:txBody>
                    <a:bodyPr/>
                    <a:lstStyle/>
                    <a:p>
                      <a:pPr algn="ctr" rtl="0" fontAlgn="ctr">
                        <a:buNone/>
                      </a:pPr>
                      <a:r>
                        <a:rPr lang="pt-BR" sz="800" b="1" i="0" u="none" strike="noStrike" dirty="0">
                          <a:solidFill>
                            <a:srgbClr val="141414"/>
                          </a:solidFill>
                          <a:effectLst/>
                          <a:latin typeface="Roboto Light" panose="02000000000000000000" pitchFamily="2" charset="0"/>
                        </a:rPr>
                        <a:t>RAIL3</a:t>
                      </a:r>
                    </a:p>
                  </a:txBody>
                  <a:tcPr marL="6812" marR="6812" marT="6812" marB="0" anchor="ctr">
                    <a:lnL>
                      <a:noFill/>
                    </a:lnL>
                    <a:lnR>
                      <a:noFill/>
                    </a:lnR>
                    <a:lnT>
                      <a:noFill/>
                    </a:lnT>
                    <a:lnB>
                      <a:noFill/>
                    </a:lnB>
                    <a:solidFill>
                      <a:srgbClr val="FF0000">
                        <a:alpha val="20000"/>
                      </a:srgbClr>
                    </a:solidFill>
                  </a:tcPr>
                </a:tc>
                <a:tc>
                  <a:txBody>
                    <a:bodyPr/>
                    <a:lstStyle/>
                    <a:p>
                      <a:pPr algn="ctr" rtl="0" fontAlgn="ctr">
                        <a:buNone/>
                      </a:pPr>
                      <a:r>
                        <a:rPr lang="pt-BR" sz="800" b="0" i="0" u="none" strike="noStrike" dirty="0" err="1">
                          <a:solidFill>
                            <a:srgbClr val="1C1C1C"/>
                          </a:solidFill>
                          <a:effectLst/>
                          <a:latin typeface="Roboto Light" panose="02000000000000000000" pitchFamily="2" charset="0"/>
                        </a:rPr>
                        <a:t>Transportes</a:t>
                      </a:r>
                      <a:endParaRPr lang="pt-BR" sz="800" b="0" i="0" u="none" strike="noStrike" dirty="0">
                        <a:solidFill>
                          <a:srgbClr val="1C1C1C"/>
                        </a:solidFill>
                        <a:effectLst/>
                        <a:latin typeface="Roboto Light" panose="02000000000000000000" pitchFamily="2" charset="0"/>
                      </a:endParaRPr>
                    </a:p>
                  </a:txBody>
                  <a:tcPr marL="6812" marR="6812" marT="6812" marB="0" anchor="ctr">
                    <a:lnL>
                      <a:noFill/>
                    </a:lnL>
                    <a:lnR>
                      <a:noFill/>
                    </a:lnR>
                    <a:lnT>
                      <a:noFill/>
                    </a:lnT>
                    <a:lnB>
                      <a:noFill/>
                    </a:lnB>
                    <a:solidFill>
                      <a:srgbClr val="FF0000">
                        <a:alpha val="20000"/>
                      </a:srgbClr>
                    </a:solidFill>
                  </a:tcPr>
                </a:tc>
                <a:tc>
                  <a:txBody>
                    <a:bodyPr/>
                    <a:lstStyle/>
                    <a:p>
                      <a:pPr algn="ctr" rtl="0" fontAlgn="ctr">
                        <a:buNone/>
                      </a:pPr>
                      <a:r>
                        <a:rPr lang="en-US" sz="800" b="0" i="0" u="none" strike="noStrike" dirty="0">
                          <a:solidFill>
                            <a:srgbClr val="1C1C1C"/>
                          </a:solidFill>
                          <a:effectLst/>
                          <a:latin typeface="Roboto Light" panose="02000000000000000000" pitchFamily="2" charset="0"/>
                        </a:rPr>
                        <a:t>O alívio no corredor no 2S26 é superado pela queda nas exportações de milho no 2S27; líquido negativo.</a:t>
                      </a:r>
                    </a:p>
                  </a:txBody>
                  <a:tcPr marL="6812" marR="6812" marT="6812" marB="0" anchor="ctr">
                    <a:lnL>
                      <a:noFill/>
                    </a:lnL>
                    <a:lnR>
                      <a:noFill/>
                    </a:lnR>
                    <a:lnT>
                      <a:noFill/>
                    </a:lnT>
                    <a:lnB>
                      <a:noFill/>
                    </a:lnB>
                    <a:solidFill>
                      <a:srgbClr val="FF0000">
                        <a:alpha val="20000"/>
                      </a:srgbClr>
                    </a:solidFill>
                  </a:tcPr>
                </a:tc>
                <a:extLst>
                  <a:ext uri="{0D108BD9-81ED-4DB2-BD59-A6C34878D82A}">
                    <a16:rowId xmlns:a16="http://schemas.microsoft.com/office/drawing/2014/main" val="2841325595"/>
                  </a:ext>
                </a:extLst>
              </a:tr>
              <a:tr h="251453">
                <a:tc>
                  <a:txBody>
                    <a:bodyPr/>
                    <a:lstStyle/>
                    <a:p>
                      <a:pPr algn="ctr" rtl="0" fontAlgn="ctr">
                        <a:buNone/>
                      </a:pPr>
                      <a:r>
                        <a:rPr lang="pt-BR" sz="800" b="1" i="0" u="none" strike="noStrike" dirty="0">
                          <a:solidFill>
                            <a:srgbClr val="141414"/>
                          </a:solidFill>
                          <a:effectLst/>
                          <a:latin typeface="Roboto Light" panose="02000000000000000000" pitchFamily="2" charset="0"/>
                        </a:rPr>
                        <a:t>HBSA3</a:t>
                      </a:r>
                    </a:p>
                  </a:txBody>
                  <a:tcPr marL="6812" marR="6812" marT="6812" marB="0" anchor="ctr">
                    <a:lnL>
                      <a:noFill/>
                    </a:lnL>
                    <a:lnR>
                      <a:noFill/>
                    </a:lnR>
                    <a:lnT>
                      <a:noFill/>
                    </a:lnT>
                    <a:lnB>
                      <a:noFill/>
                    </a:lnB>
                    <a:solidFill>
                      <a:srgbClr val="FF0000">
                        <a:alpha val="20000"/>
                      </a:srgbClr>
                    </a:solidFill>
                  </a:tcPr>
                </a:tc>
                <a:tc>
                  <a:txBody>
                    <a:bodyPr/>
                    <a:lstStyle/>
                    <a:p>
                      <a:pPr algn="ctr" rtl="0" fontAlgn="ctr">
                        <a:buNone/>
                      </a:pPr>
                      <a:r>
                        <a:rPr lang="pt-BR" sz="800" b="0" i="0" u="none" strike="noStrike" dirty="0" err="1">
                          <a:solidFill>
                            <a:srgbClr val="1C1C1C"/>
                          </a:solidFill>
                          <a:effectLst/>
                          <a:latin typeface="Roboto Light" panose="02000000000000000000" pitchFamily="2" charset="0"/>
                        </a:rPr>
                        <a:t>Transportes</a:t>
                      </a:r>
                      <a:endParaRPr lang="pt-BR" sz="800" b="0" i="0" u="none" strike="noStrike" dirty="0">
                        <a:solidFill>
                          <a:srgbClr val="1C1C1C"/>
                        </a:solidFill>
                        <a:effectLst/>
                        <a:latin typeface="Roboto Light" panose="02000000000000000000" pitchFamily="2" charset="0"/>
                      </a:endParaRPr>
                    </a:p>
                  </a:txBody>
                  <a:tcPr marL="6812" marR="6812" marT="6812" marB="0" anchor="ctr">
                    <a:lnL>
                      <a:noFill/>
                    </a:lnL>
                    <a:lnR>
                      <a:noFill/>
                    </a:lnR>
                    <a:lnT>
                      <a:noFill/>
                    </a:lnT>
                    <a:lnB>
                      <a:noFill/>
                    </a:lnB>
                    <a:solidFill>
                      <a:srgbClr val="FF0000">
                        <a:alpha val="20000"/>
                      </a:srgbClr>
                    </a:solidFill>
                  </a:tcPr>
                </a:tc>
                <a:tc>
                  <a:txBody>
                    <a:bodyPr/>
                    <a:lstStyle/>
                    <a:p>
                      <a:pPr algn="ctr" rtl="0" fontAlgn="ctr">
                        <a:buNone/>
                      </a:pPr>
                      <a:r>
                        <a:rPr lang="en-US" sz="800" b="0" i="0" u="none" strike="noStrike" dirty="0">
                          <a:solidFill>
                            <a:srgbClr val="1C1C1C"/>
                          </a:solidFill>
                          <a:effectLst/>
                          <a:latin typeface="Roboto Light" panose="02000000000000000000" pitchFamily="2" charset="0"/>
                        </a:rPr>
                        <a:t>Navegabilidade hidroviária em risco no Norte mais seco; queda nas exportações de milho no 2S27.</a:t>
                      </a:r>
                    </a:p>
                  </a:txBody>
                  <a:tcPr marL="6812" marR="6812" marT="6812" marB="0" anchor="ctr">
                    <a:lnL>
                      <a:noFill/>
                    </a:lnL>
                    <a:lnR>
                      <a:noFill/>
                    </a:lnR>
                    <a:lnT>
                      <a:noFill/>
                    </a:lnT>
                    <a:lnB>
                      <a:noFill/>
                    </a:lnB>
                    <a:solidFill>
                      <a:srgbClr val="FF0000">
                        <a:alpha val="20000"/>
                      </a:srgbClr>
                    </a:solidFill>
                  </a:tcPr>
                </a:tc>
                <a:extLst>
                  <a:ext uri="{0D108BD9-81ED-4DB2-BD59-A6C34878D82A}">
                    <a16:rowId xmlns:a16="http://schemas.microsoft.com/office/drawing/2014/main" val="2159414940"/>
                  </a:ext>
                </a:extLst>
              </a:tr>
            </a:tbl>
          </a:graphicData>
        </a:graphic>
      </p:graphicFrame>
    </p:spTree>
    <p:extLst>
      <p:ext uri="{BB962C8B-B14F-4D97-AF65-F5344CB8AC3E}">
        <p14:creationId xmlns:p14="http://schemas.microsoft.com/office/powerpoint/2010/main" val="1007300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865C6-C9B0-1F8F-F142-80665CFC38A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CE3CE99-89BF-D378-9736-FD8E7E833F64}"/>
              </a:ext>
            </a:extLst>
          </p:cNvPr>
          <p:cNvSpPr>
            <a:spLocks noGrp="1"/>
          </p:cNvSpPr>
          <p:nvPr>
            <p:ph type="body" sz="quarter" idx="11"/>
          </p:nvPr>
        </p:nvSpPr>
        <p:spPr/>
        <p:txBody>
          <a:bodyPr/>
          <a:lstStyle/>
          <a:p>
            <a:r>
              <a:rPr lang="pt-BR" dirty="0"/>
              <a:t>Transportes</a:t>
            </a:r>
          </a:p>
        </p:txBody>
      </p:sp>
      <p:sp>
        <p:nvSpPr>
          <p:cNvPr id="3" name="Text Placeholder 2">
            <a:extLst>
              <a:ext uri="{FF2B5EF4-FFF2-40B4-BE49-F238E27FC236}">
                <a16:creationId xmlns:a16="http://schemas.microsoft.com/office/drawing/2014/main" id="{8CEB48AA-9472-FD05-1153-DF1C528F9CAD}"/>
              </a:ext>
            </a:extLst>
          </p:cNvPr>
          <p:cNvSpPr>
            <a:spLocks noGrp="1"/>
          </p:cNvSpPr>
          <p:nvPr>
            <p:ph type="body" sz="quarter" idx="12"/>
          </p:nvPr>
        </p:nvSpPr>
        <p:spPr/>
        <p:txBody>
          <a:bodyPr/>
          <a:lstStyle/>
          <a:p>
            <a:r>
              <a:rPr lang="pt-BR" dirty="0" err="1"/>
              <a:t>Enfrentando o El Niño</a:t>
            </a:r>
            <a:endParaRPr lang="pt-BR" dirty="0"/>
          </a:p>
        </p:txBody>
      </p:sp>
      <p:sp>
        <p:nvSpPr>
          <p:cNvPr id="4" name="TextBox 3">
            <a:extLst>
              <a:ext uri="{FF2B5EF4-FFF2-40B4-BE49-F238E27FC236}">
                <a16:creationId xmlns:a16="http://schemas.microsoft.com/office/drawing/2014/main" id="{D57C2CE4-5710-D383-8A09-9766F46BAA6A}"/>
              </a:ext>
            </a:extLst>
          </p:cNvPr>
          <p:cNvSpPr txBox="1"/>
          <p:nvPr/>
        </p:nvSpPr>
        <p:spPr>
          <a:xfrm>
            <a:off x="390153" y="2560522"/>
            <a:ext cx="5337375" cy="338554"/>
          </a:xfrm>
          <a:prstGeom prst="rect">
            <a:avLst/>
          </a:prstGeom>
          <a:noFill/>
        </p:spPr>
        <p:txBody>
          <a:bodyPr wrap="square" lIns="36000" rtlCol="0">
            <a:spAutoFit/>
          </a:bodyPr>
          <a:lstStyle/>
          <a:p>
            <a:pPr algn="l"/>
            <a:r>
              <a:rPr lang="pt-BR" sz="1600" i="1" dirty="0" err="1">
                <a:solidFill>
                  <a:schemeClr val="bg1"/>
                </a:solidFill>
                <a:latin typeface="Roboto Thin" panose="02000000000000000000" pitchFamily="2" charset="0"/>
                <a:ea typeface="Roboto Thin" panose="02000000000000000000" pitchFamily="2" charset="0"/>
                <a:cs typeface="Roboto Thin" panose="02000000000000000000" pitchFamily="2" charset="0"/>
              </a:rPr>
              <a:t>Por</a:t>
            </a:r>
            <a:r>
              <a:rPr lang="pt-BR" sz="1600" i="1" dirty="0">
                <a:solidFill>
                  <a:schemeClr val="bg1"/>
                </a:solidFill>
                <a:latin typeface="Roboto Thin" panose="02000000000000000000" pitchFamily="2" charset="0"/>
                <a:ea typeface="Roboto Thin" panose="02000000000000000000" pitchFamily="2" charset="0"/>
                <a:cs typeface="Roboto Thin" panose="02000000000000000000" pitchFamily="2" charset="0"/>
              </a:rPr>
              <a:t> Pedro Bruno, Ruan Argenton, João Ramiro</a:t>
            </a:r>
            <a:endParaRPr lang="en-US" sz="1600" i="1" dirty="0">
              <a:solidFill>
                <a:schemeClr val="bg1"/>
              </a:solidFill>
              <a:latin typeface="Roboto Thin" panose="02000000000000000000" pitchFamily="2" charset="0"/>
              <a:ea typeface="Roboto Thin" panose="02000000000000000000" pitchFamily="2" charset="0"/>
              <a:cs typeface="Roboto Thin" panose="02000000000000000000" pitchFamily="2" charset="0"/>
            </a:endParaRPr>
          </a:p>
        </p:txBody>
      </p:sp>
    </p:spTree>
    <p:extLst>
      <p:ext uri="{BB962C8B-B14F-4D97-AF65-F5344CB8AC3E}">
        <p14:creationId xmlns:p14="http://schemas.microsoft.com/office/powerpoint/2010/main" val="697118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56A1F-F395-7CF0-3719-5C6C0ED0C306}"/>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0990D6F1-99CD-8C9B-3A0C-FA1CD52BDDFD}"/>
              </a:ext>
            </a:extLst>
          </p:cNvPr>
          <p:cNvSpPr>
            <a:spLocks noGrp="1"/>
          </p:cNvSpPr>
          <p:nvPr>
            <p:ph type="body" sz="quarter" idx="16"/>
          </p:nvPr>
        </p:nvSpPr>
        <p:spPr/>
        <p:txBody>
          <a:bodyPr/>
          <a:lstStyle/>
          <a:p>
            <a:r>
              <a:rPr lang="en-US" dirty="0"/>
              <a:t>Transportes: mapeando o El Niño pelos corredores</a:t>
            </a:r>
          </a:p>
        </p:txBody>
      </p:sp>
      <p:sp>
        <p:nvSpPr>
          <p:cNvPr id="14" name="Text Placeholder 13">
            <a:extLst>
              <a:ext uri="{FF2B5EF4-FFF2-40B4-BE49-F238E27FC236}">
                <a16:creationId xmlns:a16="http://schemas.microsoft.com/office/drawing/2014/main" id="{3E603E50-B7D5-0C0C-E5C7-4B3A49CD5BC8}"/>
              </a:ext>
            </a:extLst>
          </p:cNvPr>
          <p:cNvSpPr>
            <a:spLocks noGrp="1"/>
          </p:cNvSpPr>
          <p:nvPr>
            <p:ph type="body" sz="quarter" idx="17"/>
          </p:nvPr>
        </p:nvSpPr>
        <p:spPr/>
        <p:txBody>
          <a:bodyPr/>
          <a:lstStyle/>
          <a:p>
            <a:r>
              <a:rPr lang="en-US" dirty="0"/>
              <a:t>RAIL e HBSA são as mais expostas, com timings distintos (Pt. 1)</a:t>
            </a:r>
          </a:p>
        </p:txBody>
      </p:sp>
      <p:sp>
        <p:nvSpPr>
          <p:cNvPr id="15" name="Text Placeholder 14">
            <a:extLst>
              <a:ext uri="{FF2B5EF4-FFF2-40B4-BE49-F238E27FC236}">
                <a16:creationId xmlns:a16="http://schemas.microsoft.com/office/drawing/2014/main" id="{76525F43-70ED-5F65-9327-7B7AF347D41F}"/>
              </a:ext>
            </a:extLst>
          </p:cNvPr>
          <p:cNvSpPr>
            <a:spLocks noGrp="1"/>
          </p:cNvSpPr>
          <p:nvPr>
            <p:ph type="body" sz="quarter" idx="31"/>
          </p:nvPr>
        </p:nvSpPr>
        <p:spPr/>
        <p:txBody>
          <a:bodyPr/>
          <a:lstStyle/>
          <a:p>
            <a:r>
              <a:rPr lang="pt-BR" dirty="0" err="1"/>
              <a:t>Fonte</a:t>
            </a:r>
            <a:r>
              <a:rPr lang="pt-BR" dirty="0"/>
              <a:t>: ANA, IMEA, SGB, XP Research </a:t>
            </a:r>
            <a:endParaRPr lang="en-US" dirty="0"/>
          </a:p>
        </p:txBody>
      </p:sp>
      <p:sp>
        <p:nvSpPr>
          <p:cNvPr id="16" name="Date Placeholder 15">
            <a:extLst>
              <a:ext uri="{FF2B5EF4-FFF2-40B4-BE49-F238E27FC236}">
                <a16:creationId xmlns:a16="http://schemas.microsoft.com/office/drawing/2014/main" id="{2A7894D6-BD4C-F606-B28C-F831950A95B1}"/>
              </a:ext>
            </a:extLst>
          </p:cNvPr>
          <p:cNvSpPr>
            <a:spLocks noGrp="1"/>
          </p:cNvSpPr>
          <p:nvPr>
            <p:ph type="dt" sz="half" idx="2"/>
          </p:nvPr>
        </p:nvSpPr>
        <p:spPr/>
        <p:txBody>
          <a:bodyPr/>
          <a:lstStyle/>
          <a:p>
            <a:fld id="{1F7B9C1C-4185-4D38-8CB0-B9B481B22307}" type="datetime4">
              <a:rPr lang="pt-BR" smtClean="0"/>
              <a:t>21 de julho de 2026</a:t>
            </a:fld>
            <a:endParaRPr lang="en-US"/>
          </a:p>
        </p:txBody>
      </p:sp>
      <p:sp>
        <p:nvSpPr>
          <p:cNvPr id="18" name="Text Placeholder 1">
            <a:extLst>
              <a:ext uri="{FF2B5EF4-FFF2-40B4-BE49-F238E27FC236}">
                <a16:creationId xmlns:a16="http://schemas.microsoft.com/office/drawing/2014/main" id="{4C10D346-3217-64C7-2FFE-E4488249AFDD}"/>
              </a:ext>
            </a:extLst>
          </p:cNvPr>
          <p:cNvSpPr>
            <a:spLocks noGrp="1"/>
          </p:cNvSpPr>
          <p:nvPr>
            <p:ph type="body" sz="quarter" idx="20"/>
          </p:nvPr>
        </p:nvSpPr>
        <p:spPr>
          <a:xfrm>
            <a:off x="382828" y="1497014"/>
            <a:ext cx="6106871" cy="3455986"/>
          </a:xfrm>
          <a:solidFill>
            <a:schemeClr val="bg1"/>
          </a:solidFill>
        </p:spPr>
        <p:txBody>
          <a:bodyPr/>
          <a:lstStyle/>
          <a:p>
            <a:r>
              <a:rPr lang="en-US" b="1" dirty="0"/>
              <a:t>Dentro da nossa cobertura de Transportes, vemos Rumo e </a:t>
            </a:r>
            <a:r>
              <a:rPr lang="en-US" b="1" dirty="0" err="1"/>
              <a:t>Hidrovias</a:t>
            </a:r>
            <a:r>
              <a:rPr lang="en-US" b="1" dirty="0"/>
              <a:t> do Brasil como as companhias mais expostas aos efeitos relacionados ao El Niño</a:t>
            </a:r>
            <a:r>
              <a:rPr lang="en-US" dirty="0"/>
              <a:t>, dada a sua exposição relevante ao transporte de grãos e as potenciais implicações para as safras de soja e milho 2026/27, conforme discutido pelo nosso time de </a:t>
            </a:r>
            <a:r>
              <a:rPr lang="en-US" dirty="0" err="1"/>
              <a:t>Agro</a:t>
            </a:r>
            <a:r>
              <a:rPr lang="en-US" dirty="0"/>
              <a:t> nas páginas 17-19. </a:t>
            </a:r>
          </a:p>
          <a:p>
            <a:r>
              <a:rPr lang="en-US" b="1" dirty="0"/>
              <a:t>Destacamos três potenciais impactos até o fim de 2027:</a:t>
            </a:r>
          </a:p>
          <a:p>
            <a:r>
              <a:rPr lang="en-US" b="1" dirty="0"/>
              <a:t>(1) 2S26: condições mais secas podem pressionar a HBSA; RAIL provável beneficiária</a:t>
            </a:r>
          </a:p>
          <a:p>
            <a:r>
              <a:rPr lang="en-US" dirty="0"/>
              <a:t>O risco de demanda no curto prazo parece limitado, já que as estimativas para a safra 2025/26 estão em grande parte definidas, com uma forte safra de soja e a safra de milho avançando bem até o momento. No nível das companhias, no entanto, os impactos podem divergir. </a:t>
            </a:r>
            <a:r>
              <a:rPr lang="en-US" u="sng" dirty="0"/>
              <a:t>Para a HBSA, o El Niño pode ter implicações negativas</a:t>
            </a:r>
            <a:r>
              <a:rPr lang="en-US" dirty="0"/>
              <a:t>, a saber: (</a:t>
            </a:r>
            <a:r>
              <a:rPr lang="en-US" dirty="0" err="1"/>
              <a:t>i</a:t>
            </a:r>
            <a:r>
              <a:rPr lang="en-US" dirty="0"/>
              <a:t>) nas Operações Norte, o menor volume de chuvas pode afetar as condições de navegação no rio </a:t>
            </a:r>
            <a:r>
              <a:rPr lang="en-US" dirty="0" err="1"/>
              <a:t>Tapajós</a:t>
            </a:r>
            <a:r>
              <a:rPr lang="en-US" dirty="0"/>
              <a:t> no 4T, como visto em 2024 (Gráfico </a:t>
            </a:r>
            <a:r>
              <a:rPr lang="en-US" dirty="0">
                <a:highlight>
                  <a:srgbClr val="FFFF00"/>
                </a:highlight>
              </a:rPr>
              <a:t>XX</a:t>
            </a:r>
            <a:r>
              <a:rPr lang="en-US" dirty="0"/>
              <a:t>), pressionando potencialmente volumes e margens; e (ii) nas Operações Sul, os anos recentes de El Niño mostraram calados mais baixos na hidrovia Paraguai-Paraná, uma vez que a Bacia do Alto Paraguai não está totalmente exposta à anomalia positiva de chuvas típica do Sul do Brasil. Isso cria riscos potenciais de navegabilidade para as operações de minério de ferro da HBSA, que são a principal exposição na região. Ainda assim, as obras recentes de dragagem e derrocamento devem ajudar a preservar as condições mínimas de navegação, como visto no 1T26. </a:t>
            </a:r>
            <a:r>
              <a:rPr lang="en-US" u="sng" dirty="0"/>
              <a:t>Para a Rumo, vemos a companhia como provável beneficiária</a:t>
            </a:r>
            <a:r>
              <a:rPr lang="en-US" dirty="0"/>
              <a:t>, já que condições mais secas no Norte podem restringir um dos seus principais corredores concorrentes de exportação de grãos. Isso pode sustentar um melhor ambiente de preços, em função da menor capacidade logística, e maiores volumes, especialmente com o ramp-up do seu primeiro terminal em Lucas do Rio Verde.</a:t>
            </a:r>
            <a:endParaRPr lang="en-US" b="1" dirty="0"/>
          </a:p>
          <a:p>
            <a:endParaRPr lang="en-US" dirty="0"/>
          </a:p>
        </p:txBody>
      </p:sp>
      <p:sp>
        <p:nvSpPr>
          <p:cNvPr id="3" name="Content Placeholder 42">
            <a:extLst>
              <a:ext uri="{FF2B5EF4-FFF2-40B4-BE49-F238E27FC236}">
                <a16:creationId xmlns:a16="http://schemas.microsoft.com/office/drawing/2014/main" id="{C2D8E362-6D18-76F9-5890-7C3D6C157160}"/>
              </a:ext>
            </a:extLst>
          </p:cNvPr>
          <p:cNvSpPr txBox="1">
            <a:spLocks/>
          </p:cNvSpPr>
          <p:nvPr/>
        </p:nvSpPr>
        <p:spPr>
          <a:xfrm>
            <a:off x="390151" y="5110387"/>
            <a:ext cx="2949758" cy="2169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gn="just"/>
            <a:r>
              <a:rPr lang="en-US" sz="900" dirty="0"/>
              <a:t>Gráfico </a:t>
            </a:r>
            <a:r>
              <a:rPr lang="en-US" sz="900" dirty="0">
                <a:highlight>
                  <a:srgbClr val="FFFF00"/>
                </a:highlight>
              </a:rPr>
              <a:t>XX</a:t>
            </a:r>
            <a:r>
              <a:rPr lang="en-US" sz="900" dirty="0"/>
              <a:t>: </a:t>
            </a:r>
            <a:r>
              <a:rPr lang="en-US" sz="900" dirty="0" err="1"/>
              <a:t>Miritituba</a:t>
            </a:r>
            <a:r>
              <a:rPr lang="en-US" sz="900" dirty="0"/>
              <a:t> – níveis de calado</a:t>
            </a:r>
          </a:p>
        </p:txBody>
      </p:sp>
      <p:sp>
        <p:nvSpPr>
          <p:cNvPr id="6" name="Content Placeholder 42">
            <a:extLst>
              <a:ext uri="{FF2B5EF4-FFF2-40B4-BE49-F238E27FC236}">
                <a16:creationId xmlns:a16="http://schemas.microsoft.com/office/drawing/2014/main" id="{E2866BCA-F2FB-CF69-17EE-17360F51B514}"/>
              </a:ext>
            </a:extLst>
          </p:cNvPr>
          <p:cNvSpPr txBox="1">
            <a:spLocks/>
          </p:cNvSpPr>
          <p:nvPr/>
        </p:nvSpPr>
        <p:spPr>
          <a:xfrm>
            <a:off x="3539942" y="5110387"/>
            <a:ext cx="2949758" cy="2169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gn="just"/>
            <a:r>
              <a:rPr lang="en-US" sz="900" dirty="0"/>
              <a:t>Gráfico </a:t>
            </a:r>
            <a:r>
              <a:rPr lang="en-US" sz="900" dirty="0">
                <a:highlight>
                  <a:srgbClr val="FFFF00"/>
                </a:highlight>
              </a:rPr>
              <a:t>XX</a:t>
            </a:r>
            <a:r>
              <a:rPr lang="en-US" sz="900" dirty="0"/>
              <a:t>: </a:t>
            </a:r>
            <a:r>
              <a:rPr lang="en-US" sz="900" dirty="0" err="1"/>
              <a:t>Ladário</a:t>
            </a:r>
            <a:r>
              <a:rPr lang="en-US" sz="900" dirty="0"/>
              <a:t> – níveis de calado</a:t>
            </a:r>
          </a:p>
        </p:txBody>
      </p:sp>
      <p:sp>
        <p:nvSpPr>
          <p:cNvPr id="8" name="Text Placeholder 1">
            <a:extLst>
              <a:ext uri="{FF2B5EF4-FFF2-40B4-BE49-F238E27FC236}">
                <a16:creationId xmlns:a16="http://schemas.microsoft.com/office/drawing/2014/main" id="{F44B1606-0963-D150-6E6E-AB3B8ABC122B}"/>
              </a:ext>
            </a:extLst>
          </p:cNvPr>
          <p:cNvSpPr txBox="1">
            <a:spLocks/>
          </p:cNvSpPr>
          <p:nvPr/>
        </p:nvSpPr>
        <p:spPr>
          <a:xfrm>
            <a:off x="382828" y="2489193"/>
            <a:ext cx="6360872" cy="270112"/>
          </a:xfrm>
          <a:prstGeom prst="rect">
            <a:avLst/>
          </a:prstGeom>
        </p:spPr>
        <p:txBody>
          <a:bodyPr vert="horz" lIns="0" tIns="0" rIns="0" bIns="0" rtlCol="0" anchor="t">
            <a:noAutofit/>
          </a:bodyPr>
          <a:lstStyle>
            <a:lvl1pPr indent="0" defTabSz="385767">
              <a:lnSpc>
                <a:spcPct val="90000"/>
              </a:lnSpc>
              <a:spcBef>
                <a:spcPts val="422"/>
              </a:spcBef>
              <a:buFont typeface="Arial" panose="020B0604020202020204" pitchFamily="34" charset="0"/>
              <a:buNone/>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endParaRPr lang="en-US" sz="1500" dirty="0"/>
          </a:p>
        </p:txBody>
      </p:sp>
      <p:sp>
        <p:nvSpPr>
          <p:cNvPr id="10" name="Content Placeholder 42">
            <a:extLst>
              <a:ext uri="{FF2B5EF4-FFF2-40B4-BE49-F238E27FC236}">
                <a16:creationId xmlns:a16="http://schemas.microsoft.com/office/drawing/2014/main" id="{E293B6C4-07AA-2F3B-611C-F79A51F3B831}"/>
              </a:ext>
            </a:extLst>
          </p:cNvPr>
          <p:cNvSpPr txBox="1">
            <a:spLocks/>
          </p:cNvSpPr>
          <p:nvPr/>
        </p:nvSpPr>
        <p:spPr>
          <a:xfrm>
            <a:off x="390151" y="7466249"/>
            <a:ext cx="2949758" cy="2169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gn="just"/>
            <a:r>
              <a:rPr lang="en-US" sz="900" dirty="0"/>
              <a:t>Gráfico </a:t>
            </a:r>
            <a:r>
              <a:rPr lang="en-US" sz="900" dirty="0">
                <a:highlight>
                  <a:srgbClr val="FFFF00"/>
                </a:highlight>
              </a:rPr>
              <a:t>XX</a:t>
            </a:r>
            <a:r>
              <a:rPr lang="en-US" sz="900" dirty="0"/>
              <a:t>: desvio do calado em El Niño vs. mediana histórica</a:t>
            </a:r>
            <a:endParaRPr lang="en-US" sz="900" dirty="0"/>
          </a:p>
        </p:txBody>
      </p:sp>
      <p:sp>
        <p:nvSpPr>
          <p:cNvPr id="12" name="Content Placeholder 42">
            <a:extLst>
              <a:ext uri="{FF2B5EF4-FFF2-40B4-BE49-F238E27FC236}">
                <a16:creationId xmlns:a16="http://schemas.microsoft.com/office/drawing/2014/main" id="{4654B390-61A2-B4EF-1A05-5C1746E110B6}"/>
              </a:ext>
            </a:extLst>
          </p:cNvPr>
          <p:cNvSpPr txBox="1">
            <a:spLocks/>
          </p:cNvSpPr>
          <p:nvPr/>
        </p:nvSpPr>
        <p:spPr>
          <a:xfrm>
            <a:off x="3539942" y="7466249"/>
            <a:ext cx="2949758" cy="2169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gn="just"/>
            <a:r>
              <a:rPr lang="en-US" sz="900" dirty="0"/>
              <a:t>Gráfico </a:t>
            </a:r>
            <a:r>
              <a:rPr lang="en-US" sz="900" dirty="0">
                <a:highlight>
                  <a:srgbClr val="FFFF00"/>
                </a:highlight>
              </a:rPr>
              <a:t>XX</a:t>
            </a:r>
            <a:r>
              <a:rPr lang="en-US" sz="900" dirty="0"/>
              <a:t>: </a:t>
            </a:r>
            <a:r>
              <a:rPr lang="en-US" sz="900" dirty="0" err="1"/>
              <a:t>XPe</a:t>
            </a:r>
            <a:r>
              <a:rPr lang="en-US" sz="900" dirty="0"/>
              <a:t> composição dos custos logísticos (R$/ton)</a:t>
            </a:r>
            <a:endParaRPr lang="en-US" sz="900" b="0" dirty="0"/>
          </a:p>
        </p:txBody>
      </p:sp>
      <p:graphicFrame>
        <p:nvGraphicFramePr>
          <p:cNvPr id="21" name="Gráfico 14">
            <a:extLst>
              <a:ext uri="{FF2B5EF4-FFF2-40B4-BE49-F238E27FC236}">
                <a16:creationId xmlns:a16="http://schemas.microsoft.com/office/drawing/2014/main" id="{55BE0DE0-A24A-C13F-7949-15C290BB47B4}"/>
              </a:ext>
            </a:extLst>
          </p:cNvPr>
          <p:cNvGraphicFramePr>
            <a:graphicFrameLocks/>
          </p:cNvGraphicFramePr>
          <p:nvPr/>
        </p:nvGraphicFramePr>
        <p:xfrm>
          <a:off x="390151" y="5445567"/>
          <a:ext cx="2952750" cy="174738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 name="Gráfico 9">
            <a:extLst>
              <a:ext uri="{FF2B5EF4-FFF2-40B4-BE49-F238E27FC236}">
                <a16:creationId xmlns:a16="http://schemas.microsoft.com/office/drawing/2014/main" id="{8EE517DD-8EAB-D98C-0C93-AF495C7F940F}"/>
              </a:ext>
            </a:extLst>
          </p:cNvPr>
          <p:cNvGraphicFramePr>
            <a:graphicFrameLocks/>
          </p:cNvGraphicFramePr>
          <p:nvPr/>
        </p:nvGraphicFramePr>
        <p:xfrm>
          <a:off x="3536950" y="5445567"/>
          <a:ext cx="2952750" cy="17473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5A912405-30ED-B6CB-37D1-8E1BEE6EDB17}"/>
              </a:ext>
            </a:extLst>
          </p:cNvPr>
          <p:cNvGraphicFramePr>
            <a:graphicFrameLocks/>
          </p:cNvGraphicFramePr>
          <p:nvPr/>
        </p:nvGraphicFramePr>
        <p:xfrm>
          <a:off x="390151" y="7801429"/>
          <a:ext cx="2952750" cy="1747384"/>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a:extLst>
              <a:ext uri="{FF2B5EF4-FFF2-40B4-BE49-F238E27FC236}">
                <a16:creationId xmlns:a16="http://schemas.microsoft.com/office/drawing/2014/main" id="{A968ACDB-FF1B-4F9C-79D0-B899FFD5D5F1}"/>
              </a:ext>
            </a:extLst>
          </p:cNvPr>
          <p:cNvSpPr txBox="1"/>
          <p:nvPr/>
        </p:nvSpPr>
        <p:spPr>
          <a:xfrm>
            <a:off x="3536950" y="7675887"/>
            <a:ext cx="3486149" cy="200055"/>
          </a:xfrm>
          <a:prstGeom prst="rect">
            <a:avLst/>
          </a:prstGeom>
          <a:noFill/>
        </p:spPr>
        <p:txBody>
          <a:bodyPr wrap="square" rtlCol="0">
            <a:spAutoFit/>
          </a:bodyPr>
          <a:lstStyle/>
          <a:p>
            <a:pPr algn="l"/>
            <a:r>
              <a:rPr lang="en-US" sz="700" dirty="0">
                <a:latin typeface="Roboto" panose="02000000000000000000" pitchFamily="2" charset="0"/>
                <a:ea typeface="Roboto" panose="02000000000000000000" pitchFamily="2" charset="0"/>
                <a:cs typeface="Roboto" panose="02000000000000000000" pitchFamily="2" charset="0"/>
              </a:rPr>
              <a:t>Origem </a:t>
            </a:r>
            <a:r>
              <a:rPr lang="en-US" sz="700" dirty="0" err="1">
                <a:latin typeface="Roboto" panose="02000000000000000000" pitchFamily="2" charset="0"/>
                <a:ea typeface="Roboto" panose="02000000000000000000" pitchFamily="2" charset="0"/>
                <a:cs typeface="Roboto" panose="02000000000000000000" pitchFamily="2" charset="0"/>
              </a:rPr>
              <a:t>Sorriso</a:t>
            </a:r>
            <a:r>
              <a:rPr lang="en-US" sz="700" dirty="0">
                <a:latin typeface="Roboto" panose="02000000000000000000" pitchFamily="2" charset="0"/>
                <a:ea typeface="Roboto" panose="02000000000000000000" pitchFamily="2" charset="0"/>
                <a:cs typeface="Roboto" panose="02000000000000000000" pitchFamily="2" charset="0"/>
              </a:rPr>
              <a:t>; posição de jun/26</a:t>
            </a:r>
          </a:p>
        </p:txBody>
      </p:sp>
      <p:graphicFrame>
        <p:nvGraphicFramePr>
          <p:cNvPr id="11" name="Chart 10">
            <a:extLst>
              <a:ext uri="{FF2B5EF4-FFF2-40B4-BE49-F238E27FC236}">
                <a16:creationId xmlns:a16="http://schemas.microsoft.com/office/drawing/2014/main" id="{64CE1573-76C0-C458-BBB2-2BA674F915BF}"/>
              </a:ext>
            </a:extLst>
          </p:cNvPr>
          <p:cNvGraphicFramePr>
            <a:graphicFrameLocks/>
          </p:cNvGraphicFramePr>
          <p:nvPr>
            <p:extLst>
              <p:ext uri="{D42A27DB-BD31-4B8C-83A1-F6EECF244321}">
                <p14:modId xmlns:p14="http://schemas.microsoft.com/office/powerpoint/2010/main" val="1209476825"/>
              </p:ext>
            </p:extLst>
          </p:nvPr>
        </p:nvGraphicFramePr>
        <p:xfrm>
          <a:off x="3536950" y="7848599"/>
          <a:ext cx="2952750" cy="1700213"/>
        </p:xfrm>
        <a:graphic>
          <a:graphicData uri="http://schemas.openxmlformats.org/drawingml/2006/chart">
            <c:chart xmlns:c="http://schemas.openxmlformats.org/drawingml/2006/chart" xmlns:r="http://schemas.openxmlformats.org/officeDocument/2006/relationships" r:id="rId5"/>
          </a:graphicData>
        </a:graphic>
      </p:graphicFrame>
      <p:cxnSp>
        <p:nvCxnSpPr>
          <p:cNvPr id="17" name="Straight Connector 16">
            <a:extLst>
              <a:ext uri="{FF2B5EF4-FFF2-40B4-BE49-F238E27FC236}">
                <a16:creationId xmlns:a16="http://schemas.microsoft.com/office/drawing/2014/main" id="{2A2CFCFB-11A1-2174-2D2B-DB955E80FAA0}"/>
              </a:ext>
            </a:extLst>
          </p:cNvPr>
          <p:cNvCxnSpPr>
            <a:cxnSpLocks/>
          </p:cNvCxnSpPr>
          <p:nvPr/>
        </p:nvCxnSpPr>
        <p:spPr>
          <a:xfrm flipH="1">
            <a:off x="5230813" y="8294468"/>
            <a:ext cx="489743" cy="64869"/>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D6FEEEA-073D-FDB4-0501-1E4828BB46CE}"/>
              </a:ext>
            </a:extLst>
          </p:cNvPr>
          <p:cNvCxnSpPr>
            <a:cxnSpLocks/>
          </p:cNvCxnSpPr>
          <p:nvPr/>
        </p:nvCxnSpPr>
        <p:spPr>
          <a:xfrm>
            <a:off x="4273550" y="8313788"/>
            <a:ext cx="565150" cy="64140"/>
          </a:xfrm>
          <a:prstGeom prst="line">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FEA8C52D-03A7-286F-0EF9-ADA756448CBD}"/>
              </a:ext>
            </a:extLst>
          </p:cNvPr>
          <p:cNvSpPr txBox="1"/>
          <p:nvPr/>
        </p:nvSpPr>
        <p:spPr>
          <a:xfrm>
            <a:off x="4341019" y="8161832"/>
            <a:ext cx="489743" cy="200055"/>
          </a:xfrm>
          <a:prstGeom prst="rect">
            <a:avLst/>
          </a:prstGeom>
          <a:noFill/>
        </p:spPr>
        <p:txBody>
          <a:bodyPr wrap="square" rtlCol="0">
            <a:spAutoFit/>
          </a:bodyPr>
          <a:lstStyle/>
          <a:p>
            <a:pPr algn="l"/>
            <a:r>
              <a:rPr lang="pt-BR" sz="700" dirty="0">
                <a:latin typeface="+mj-lt"/>
                <a:ea typeface="Roboto" panose="02000000000000000000" pitchFamily="2" charset="0"/>
                <a:cs typeface="Roboto" panose="02000000000000000000" pitchFamily="2" charset="0"/>
              </a:rPr>
              <a:t>-13%</a:t>
            </a:r>
            <a:endParaRPr lang="en-US" sz="700" dirty="0" err="1">
              <a:latin typeface="+mj-lt"/>
              <a:ea typeface="Roboto" panose="02000000000000000000" pitchFamily="2" charset="0"/>
              <a:cs typeface="Roboto" panose="02000000000000000000" pitchFamily="2" charset="0"/>
            </a:endParaRPr>
          </a:p>
        </p:txBody>
      </p:sp>
      <p:sp>
        <p:nvSpPr>
          <p:cNvPr id="40" name="TextBox 39">
            <a:extLst>
              <a:ext uri="{FF2B5EF4-FFF2-40B4-BE49-F238E27FC236}">
                <a16:creationId xmlns:a16="http://schemas.microsoft.com/office/drawing/2014/main" id="{E9C7505E-55CD-35D1-9CDE-6005405272FE}"/>
              </a:ext>
            </a:extLst>
          </p:cNvPr>
          <p:cNvSpPr txBox="1"/>
          <p:nvPr/>
        </p:nvSpPr>
        <p:spPr>
          <a:xfrm>
            <a:off x="5292724" y="8142782"/>
            <a:ext cx="489743" cy="200055"/>
          </a:xfrm>
          <a:prstGeom prst="rect">
            <a:avLst/>
          </a:prstGeom>
          <a:noFill/>
        </p:spPr>
        <p:txBody>
          <a:bodyPr wrap="square" rtlCol="0">
            <a:spAutoFit/>
          </a:bodyPr>
          <a:lstStyle/>
          <a:p>
            <a:pPr algn="l"/>
            <a:r>
              <a:rPr lang="pt-BR" sz="700" dirty="0">
                <a:latin typeface="+mj-lt"/>
                <a:ea typeface="Roboto" panose="02000000000000000000" pitchFamily="2" charset="0"/>
                <a:cs typeface="Roboto" panose="02000000000000000000" pitchFamily="2" charset="0"/>
              </a:rPr>
              <a:t>-16%</a:t>
            </a:r>
            <a:endParaRPr lang="en-US" sz="700" dirty="0" err="1">
              <a:latin typeface="+mj-lt"/>
              <a:ea typeface="Roboto" panose="02000000000000000000" pitchFamily="2" charset="0"/>
              <a:cs typeface="Roboto" panose="02000000000000000000" pitchFamily="2" charset="0"/>
            </a:endParaRPr>
          </a:p>
        </p:txBody>
      </p:sp>
      <p:grpSp>
        <p:nvGrpSpPr>
          <p:cNvPr id="2" name="Group 1">
            <a:extLst>
              <a:ext uri="{FF2B5EF4-FFF2-40B4-BE49-F238E27FC236}">
                <a16:creationId xmlns:a16="http://schemas.microsoft.com/office/drawing/2014/main" id="{C99D12C5-6F04-AE95-A92B-DC2FA4D60E95}"/>
              </a:ext>
            </a:extLst>
          </p:cNvPr>
          <p:cNvGrpSpPr/>
          <p:nvPr/>
        </p:nvGrpSpPr>
        <p:grpSpPr>
          <a:xfrm>
            <a:off x="5770617" y="247095"/>
            <a:ext cx="717949" cy="162517"/>
            <a:chOff x="5770617" y="247095"/>
            <a:chExt cx="717949" cy="162517"/>
          </a:xfrm>
        </p:grpSpPr>
        <p:sp>
          <p:nvSpPr>
            <p:cNvPr id="4" name="Rectangle 3">
              <a:hlinkClick r:id="rId6" action="ppaction://hlinksldjump"/>
              <a:extLst>
                <a:ext uri="{FF2B5EF4-FFF2-40B4-BE49-F238E27FC236}">
                  <a16:creationId xmlns:a16="http://schemas.microsoft.com/office/drawing/2014/main" id="{C2D03353-BB30-9445-5027-50BCB145F5B1}"/>
                </a:ext>
              </a:extLst>
            </p:cNvPr>
            <p:cNvSpPr/>
            <p:nvPr/>
          </p:nvSpPr>
          <p:spPr>
            <a:xfrm>
              <a:off x="5772348" y="247095"/>
              <a:ext cx="682982" cy="1571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 name="Text Placeholder 7">
              <a:hlinkClick r:id="rId7" action="ppaction://hlinksldjump"/>
              <a:extLst>
                <a:ext uri="{FF2B5EF4-FFF2-40B4-BE49-F238E27FC236}">
                  <a16:creationId xmlns:a16="http://schemas.microsoft.com/office/drawing/2014/main" id="{085CCFBC-769B-B8F0-6658-B44775A93F5C}"/>
                </a:ext>
              </a:extLst>
            </p:cNvPr>
            <p:cNvSpPr txBox="1">
              <a:spLocks/>
            </p:cNvSpPr>
            <p:nvPr/>
          </p:nvSpPr>
          <p:spPr>
            <a:xfrm>
              <a:off x="5883642" y="254356"/>
              <a:ext cx="604924" cy="155256"/>
            </a:xfrm>
            <a:prstGeom prst="rect">
              <a:avLst/>
            </a:prstGeom>
          </p:spPr>
          <p:txBody>
            <a:bodyPr vert="horz" lIns="0" tIns="0" rIns="0" bIns="0" rtlCol="0" anchor="ctr">
              <a:no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gn="ctr"/>
              <a:r>
                <a:rPr lang="en-US" sz="800" spc="50" dirty="0">
                  <a:solidFill>
                    <a:schemeClr val="tx1"/>
                  </a:solidFill>
                  <a:latin typeface="Roboto Medium" panose="02000000000000000000" pitchFamily="2" charset="0"/>
                  <a:ea typeface="Roboto Medium" panose="02000000000000000000" pitchFamily="2" charset="0"/>
                  <a:cs typeface="Roboto Medium" panose="02000000000000000000" pitchFamily="2" charset="0"/>
                  <a:hlinkClick r:id="rId7" action="ppaction://hlinksldjump">
                    <a:extLst>
                      <a:ext uri="{A12FA001-AC4F-418D-AE19-62706E023703}">
                        <ahyp:hlinkClr xmlns:ahyp="http://schemas.microsoft.com/office/drawing/2018/hyperlinkcolor" val="tx"/>
                      </a:ext>
                    </a:extLst>
                  </a:hlinkClick>
                </a:rPr>
                <a:t>RESUMO</a:t>
              </a:r>
              <a:endParaRPr lang="en-US" sz="800" spc="50" dirty="0">
                <a:solidFill>
                  <a:schemeClr val="tx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19" name="Graphic 18" descr="Home with solid fill">
              <a:hlinkClick r:id="rId7" action="ppaction://hlinksldjump"/>
              <a:extLst>
                <a:ext uri="{FF2B5EF4-FFF2-40B4-BE49-F238E27FC236}">
                  <a16:creationId xmlns:a16="http://schemas.microsoft.com/office/drawing/2014/main" id="{E0D5CA38-A6FE-5105-FA89-3A45B7334414}"/>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770617" y="249040"/>
              <a:ext cx="126105" cy="126105"/>
            </a:xfrm>
            <a:prstGeom prst="rect">
              <a:avLst/>
            </a:prstGeom>
          </p:spPr>
        </p:pic>
      </p:grpSp>
    </p:spTree>
    <p:extLst>
      <p:ext uri="{BB962C8B-B14F-4D97-AF65-F5344CB8AC3E}">
        <p14:creationId xmlns:p14="http://schemas.microsoft.com/office/powerpoint/2010/main" val="697125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000A6-3FAE-770D-CD9F-CC5C85D3E43F}"/>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8BB8B425-E9DC-4570-A99F-8F8E9350FFBF}"/>
              </a:ext>
            </a:extLst>
          </p:cNvPr>
          <p:cNvSpPr>
            <a:spLocks noGrp="1"/>
          </p:cNvSpPr>
          <p:nvPr>
            <p:ph type="body" sz="quarter" idx="16"/>
          </p:nvPr>
        </p:nvSpPr>
        <p:spPr/>
        <p:txBody>
          <a:bodyPr/>
          <a:lstStyle/>
          <a:p>
            <a:r>
              <a:rPr lang="en-US" dirty="0"/>
              <a:t>Transportes: mapeando o El Niño pelos corredores</a:t>
            </a:r>
          </a:p>
        </p:txBody>
      </p:sp>
      <p:sp>
        <p:nvSpPr>
          <p:cNvPr id="14" name="Text Placeholder 13">
            <a:extLst>
              <a:ext uri="{FF2B5EF4-FFF2-40B4-BE49-F238E27FC236}">
                <a16:creationId xmlns:a16="http://schemas.microsoft.com/office/drawing/2014/main" id="{B309F860-55FC-4F82-5CDD-51F12C6821C6}"/>
              </a:ext>
            </a:extLst>
          </p:cNvPr>
          <p:cNvSpPr>
            <a:spLocks noGrp="1"/>
          </p:cNvSpPr>
          <p:nvPr>
            <p:ph type="body" sz="quarter" idx="17"/>
          </p:nvPr>
        </p:nvSpPr>
        <p:spPr/>
        <p:txBody>
          <a:bodyPr/>
          <a:lstStyle/>
          <a:p>
            <a:r>
              <a:rPr lang="en-US" dirty="0"/>
              <a:t>RAIL e HBSA são as mais expostas, com timings distintos (Pt. 2)</a:t>
            </a:r>
          </a:p>
        </p:txBody>
      </p:sp>
      <p:sp>
        <p:nvSpPr>
          <p:cNvPr id="15" name="Text Placeholder 14">
            <a:extLst>
              <a:ext uri="{FF2B5EF4-FFF2-40B4-BE49-F238E27FC236}">
                <a16:creationId xmlns:a16="http://schemas.microsoft.com/office/drawing/2014/main" id="{2335A06E-20E2-2D25-2844-4CBC4FF3645B}"/>
              </a:ext>
            </a:extLst>
          </p:cNvPr>
          <p:cNvSpPr>
            <a:spLocks noGrp="1"/>
          </p:cNvSpPr>
          <p:nvPr>
            <p:ph type="body" sz="quarter" idx="31"/>
          </p:nvPr>
        </p:nvSpPr>
        <p:spPr/>
        <p:txBody>
          <a:bodyPr/>
          <a:lstStyle/>
          <a:p>
            <a:r>
              <a:rPr lang="en-US" dirty="0"/>
              <a:t>Fonte: IMEA, XP Research </a:t>
            </a:r>
          </a:p>
        </p:txBody>
      </p:sp>
      <p:sp>
        <p:nvSpPr>
          <p:cNvPr id="16" name="Date Placeholder 15">
            <a:extLst>
              <a:ext uri="{FF2B5EF4-FFF2-40B4-BE49-F238E27FC236}">
                <a16:creationId xmlns:a16="http://schemas.microsoft.com/office/drawing/2014/main" id="{0E1A7DBE-AC8A-D2F2-2892-A458280A2D54}"/>
              </a:ext>
            </a:extLst>
          </p:cNvPr>
          <p:cNvSpPr>
            <a:spLocks noGrp="1"/>
          </p:cNvSpPr>
          <p:nvPr>
            <p:ph type="dt" sz="half" idx="2"/>
          </p:nvPr>
        </p:nvSpPr>
        <p:spPr/>
        <p:txBody>
          <a:bodyPr/>
          <a:lstStyle/>
          <a:p>
            <a:fld id="{1F7B9C1C-4185-4D38-8CB0-B9B481B22307}" type="datetime4">
              <a:rPr lang="pt-BR" smtClean="0"/>
              <a:t>21 de julho de 2026</a:t>
            </a:fld>
            <a:endParaRPr lang="en-US"/>
          </a:p>
        </p:txBody>
      </p:sp>
      <p:sp>
        <p:nvSpPr>
          <p:cNvPr id="18" name="Text Placeholder 1">
            <a:extLst>
              <a:ext uri="{FF2B5EF4-FFF2-40B4-BE49-F238E27FC236}">
                <a16:creationId xmlns:a16="http://schemas.microsoft.com/office/drawing/2014/main" id="{B5119BC3-6B8F-B2B4-E012-FA4E0BE8AEEC}"/>
              </a:ext>
            </a:extLst>
          </p:cNvPr>
          <p:cNvSpPr>
            <a:spLocks noGrp="1"/>
          </p:cNvSpPr>
          <p:nvPr>
            <p:ph type="body" sz="quarter" idx="20"/>
          </p:nvPr>
        </p:nvSpPr>
        <p:spPr>
          <a:xfrm>
            <a:off x="382828" y="1497013"/>
            <a:ext cx="6106871" cy="2101604"/>
          </a:xfrm>
          <a:solidFill>
            <a:schemeClr val="bg1"/>
          </a:solidFill>
        </p:spPr>
        <p:txBody>
          <a:bodyPr/>
          <a:lstStyle/>
          <a:p>
            <a:r>
              <a:rPr lang="en-US" b="1" dirty="0"/>
              <a:t>(2) 1S27: algum risco para a produtividade da soja, mas impacto líquido parece limitado</a:t>
            </a:r>
          </a:p>
          <a:p>
            <a:r>
              <a:rPr lang="en-US" dirty="0"/>
              <a:t>O El Niño normalmente aumenta a irregularidade das chuvas em Mato Grosso, elevando o risco de atrasos no plantio e de um desenvolvimento inicial mais fraco da lavoura. Isso tende a pressionar a produtividade da soja, com a produtividade em Mato Grosso variando de 3% a 16% abaixo do potencial da safra nos últimos quatro eventos de El Niño (ver Gráfico </a:t>
            </a:r>
            <a:r>
              <a:rPr lang="en-US" dirty="0">
                <a:highlight>
                  <a:srgbClr val="FFFF00"/>
                </a:highlight>
              </a:rPr>
              <a:t>XX</a:t>
            </a:r>
            <a:r>
              <a:rPr lang="en-US" dirty="0"/>
              <a:t>), enquanto as perdas no MATOPIBA foram materialmente mais profundas. Em um cenário mais adverso, a menor produção provavelmente exigiria que o ajuste viesse por meio de menores exportações e da redução de estoques, em linha com ciclos passados. Ainda assim, vemos o risco de baixa para a demanda logística como relativamente contido, já que o amplo excedente exportável de soja do Brasil, com as exportações representando </a:t>
            </a:r>
            <a:r>
              <a:rPr lang="en-US" dirty="0">
                <a:highlight>
                  <a:srgbClr val="FFFF00"/>
                </a:highlight>
              </a:rPr>
              <a:t>~60% da produção (Gráfico XX), </a:t>
            </a:r>
            <a:r>
              <a:rPr lang="en-US" dirty="0"/>
              <a:t>deve absorver parcialmente uma eventual quebra de produção. No geral, vemos isso como um risco, ainda que limitado, para ambas as companhias no 1S27.</a:t>
            </a:r>
          </a:p>
        </p:txBody>
      </p:sp>
      <p:sp>
        <p:nvSpPr>
          <p:cNvPr id="2" name="Text Placeholder 1">
            <a:extLst>
              <a:ext uri="{FF2B5EF4-FFF2-40B4-BE49-F238E27FC236}">
                <a16:creationId xmlns:a16="http://schemas.microsoft.com/office/drawing/2014/main" id="{A987A23E-ECBE-5256-7AA1-663369A4A992}"/>
              </a:ext>
            </a:extLst>
          </p:cNvPr>
          <p:cNvSpPr txBox="1">
            <a:spLocks/>
          </p:cNvSpPr>
          <p:nvPr/>
        </p:nvSpPr>
        <p:spPr>
          <a:xfrm>
            <a:off x="382828" y="5405451"/>
            <a:ext cx="6106871" cy="2058202"/>
          </a:xfrm>
          <a:prstGeom prst="rect">
            <a:avLst/>
          </a:prstGeom>
          <a:solidFill>
            <a:schemeClr val="bg1"/>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b="1" dirty="0"/>
              <a:t>(3) 2S27: o milho parece mais exposto, com o risco de baixa concentrado nas exportações</a:t>
            </a:r>
          </a:p>
          <a:p>
            <a:r>
              <a:rPr lang="en-US" dirty="0"/>
              <a:t>A safra de milho apresenta o perfil de risco mais assimétrico, já que o atraso no plantio da soja pode empurrar o ciclo do milho segunda safra para uma janela de chuvas menos favorável. Isso é particularmente relevante dado que o milho segunda safra é mais dependente de precipitação no momento certo. O histórico sustenta essa assimetria, com a produtividade do milho em MT variando de 34% abaixo do potencial até em linha com o potencial nos eventos recentes de El Niño (Gráfico </a:t>
            </a:r>
            <a:r>
              <a:rPr lang="en-US" dirty="0">
                <a:highlight>
                  <a:srgbClr val="FFFF00"/>
                </a:highlight>
              </a:rPr>
              <a:t>XX</a:t>
            </a:r>
            <a:r>
              <a:rPr lang="en-US" dirty="0"/>
              <a:t>). Em nossa visão, uma quebra relevante de safra seria mais negativa para a demanda logística do que na soja, dado (</a:t>
            </a:r>
            <a:r>
              <a:rPr lang="en-US" dirty="0" err="1"/>
              <a:t>i</a:t>
            </a:r>
            <a:r>
              <a:rPr lang="en-US" dirty="0"/>
              <a:t>) o menor excedente exportável do milho, com as exportações representando apenas </a:t>
            </a:r>
            <a:r>
              <a:rPr lang="en-US" dirty="0">
                <a:highlight>
                  <a:srgbClr val="FFFF00"/>
                </a:highlight>
              </a:rPr>
              <a:t>~40% </a:t>
            </a:r>
            <a:r>
              <a:rPr lang="en-US" dirty="0"/>
              <a:t>da produção (Gráfico </a:t>
            </a:r>
            <a:r>
              <a:rPr lang="en-US" dirty="0">
                <a:highlight>
                  <a:srgbClr val="FFFF00"/>
                </a:highlight>
              </a:rPr>
              <a:t>XX</a:t>
            </a:r>
            <a:r>
              <a:rPr lang="en-US" dirty="0"/>
              <a:t>), e (ii) a crescente absorção doméstica da produção, vinda da demanda por ração animal e etanol. Assim, em um cenário de baixa, esperaríamos que o ajuste viesse principalmente por meio de menores exportações, criando um impacto negativo mais direto sobre os volumes de Rumo e HBSA. </a:t>
            </a:r>
          </a:p>
        </p:txBody>
      </p:sp>
      <p:sp>
        <p:nvSpPr>
          <p:cNvPr id="4" name="Content Placeholder 42">
            <a:extLst>
              <a:ext uri="{FF2B5EF4-FFF2-40B4-BE49-F238E27FC236}">
                <a16:creationId xmlns:a16="http://schemas.microsoft.com/office/drawing/2014/main" id="{FAF5CC10-CFB7-2229-1BE2-5D85C41D2103}"/>
              </a:ext>
            </a:extLst>
          </p:cNvPr>
          <p:cNvSpPr txBox="1">
            <a:spLocks/>
          </p:cNvSpPr>
          <p:nvPr/>
        </p:nvSpPr>
        <p:spPr>
          <a:xfrm>
            <a:off x="390151" y="3469592"/>
            <a:ext cx="2949758" cy="2169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gn="just"/>
            <a:r>
              <a:rPr lang="en-US" sz="900" dirty="0"/>
              <a:t>Gráfico </a:t>
            </a:r>
            <a:r>
              <a:rPr lang="en-US" sz="900" dirty="0">
                <a:highlight>
                  <a:srgbClr val="FFFF00"/>
                </a:highlight>
              </a:rPr>
              <a:t>XX</a:t>
            </a:r>
            <a:r>
              <a:rPr lang="en-US" sz="900" dirty="0"/>
              <a:t>: produtividade da soja relativa ao potencial em anos de El Niño</a:t>
            </a:r>
            <a:endParaRPr lang="en-US" sz="900" b="0" dirty="0"/>
          </a:p>
        </p:txBody>
      </p:sp>
      <p:sp>
        <p:nvSpPr>
          <p:cNvPr id="8" name="Content Placeholder 42">
            <a:extLst>
              <a:ext uri="{FF2B5EF4-FFF2-40B4-BE49-F238E27FC236}">
                <a16:creationId xmlns:a16="http://schemas.microsoft.com/office/drawing/2014/main" id="{B60EA210-D127-D3B5-C6A5-9F47DA39BD67}"/>
              </a:ext>
            </a:extLst>
          </p:cNvPr>
          <p:cNvSpPr txBox="1">
            <a:spLocks/>
          </p:cNvSpPr>
          <p:nvPr/>
        </p:nvSpPr>
        <p:spPr>
          <a:xfrm>
            <a:off x="3539942" y="3469592"/>
            <a:ext cx="2949758" cy="2169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gn="just"/>
            <a:r>
              <a:rPr lang="en-US" sz="900" dirty="0"/>
              <a:t>Gráfico </a:t>
            </a:r>
            <a:r>
              <a:rPr lang="en-US" sz="900" dirty="0">
                <a:highlight>
                  <a:srgbClr val="FFFF00"/>
                </a:highlight>
              </a:rPr>
              <a:t>XX</a:t>
            </a:r>
            <a:r>
              <a:rPr lang="en-US" sz="900" dirty="0"/>
              <a:t>: produção e exportações de soja em MT </a:t>
            </a:r>
            <a:r>
              <a:rPr lang="en-US" sz="900" b="0" dirty="0"/>
              <a:t>- IMEA</a:t>
            </a:r>
          </a:p>
        </p:txBody>
      </p:sp>
      <p:sp>
        <p:nvSpPr>
          <p:cNvPr id="11" name="Content Placeholder 42">
            <a:extLst>
              <a:ext uri="{FF2B5EF4-FFF2-40B4-BE49-F238E27FC236}">
                <a16:creationId xmlns:a16="http://schemas.microsoft.com/office/drawing/2014/main" id="{C2B00478-D67E-608E-0BF9-6ACF08C219BA}"/>
              </a:ext>
            </a:extLst>
          </p:cNvPr>
          <p:cNvSpPr txBox="1">
            <a:spLocks/>
          </p:cNvSpPr>
          <p:nvPr/>
        </p:nvSpPr>
        <p:spPr>
          <a:xfrm>
            <a:off x="390151" y="7565002"/>
            <a:ext cx="2949758" cy="2169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gn="just"/>
            <a:r>
              <a:rPr lang="en-US" sz="900" dirty="0"/>
              <a:t>Gráfico </a:t>
            </a:r>
            <a:r>
              <a:rPr lang="en-US" sz="900" dirty="0">
                <a:highlight>
                  <a:srgbClr val="FFFF00"/>
                </a:highlight>
              </a:rPr>
              <a:t>XX</a:t>
            </a:r>
            <a:r>
              <a:rPr lang="en-US" sz="900" dirty="0"/>
              <a:t>: produtividade do milho relativa ao potencial em anos de El Niño</a:t>
            </a:r>
            <a:endParaRPr lang="en-US" sz="900" b="0" dirty="0"/>
          </a:p>
        </p:txBody>
      </p:sp>
      <p:sp>
        <p:nvSpPr>
          <p:cNvPr id="17" name="Content Placeholder 42">
            <a:extLst>
              <a:ext uri="{FF2B5EF4-FFF2-40B4-BE49-F238E27FC236}">
                <a16:creationId xmlns:a16="http://schemas.microsoft.com/office/drawing/2014/main" id="{E982B05A-A6F1-1FA2-AE45-263F60CF1374}"/>
              </a:ext>
            </a:extLst>
          </p:cNvPr>
          <p:cNvSpPr txBox="1">
            <a:spLocks/>
          </p:cNvSpPr>
          <p:nvPr/>
        </p:nvSpPr>
        <p:spPr>
          <a:xfrm>
            <a:off x="3539942" y="7565002"/>
            <a:ext cx="2949758" cy="2169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gn="just"/>
            <a:r>
              <a:rPr lang="en-US" sz="900" dirty="0"/>
              <a:t>Gráfico </a:t>
            </a:r>
            <a:r>
              <a:rPr lang="en-US" sz="900" dirty="0">
                <a:highlight>
                  <a:srgbClr val="FFFF00"/>
                </a:highlight>
              </a:rPr>
              <a:t>XX</a:t>
            </a:r>
            <a:r>
              <a:rPr lang="en-US" sz="900" dirty="0"/>
              <a:t>: produção e exportações de milho em MT </a:t>
            </a:r>
            <a:r>
              <a:rPr lang="en-US" sz="900" b="0" dirty="0"/>
              <a:t>- IMEA</a:t>
            </a:r>
          </a:p>
        </p:txBody>
      </p:sp>
      <p:graphicFrame>
        <p:nvGraphicFramePr>
          <p:cNvPr id="20" name="Content Placeholder 20">
            <a:extLst>
              <a:ext uri="{FF2B5EF4-FFF2-40B4-BE49-F238E27FC236}">
                <a16:creationId xmlns:a16="http://schemas.microsoft.com/office/drawing/2014/main" id="{F5D270BF-08BD-E184-0114-ADAC68BC2BC0}"/>
              </a:ext>
            </a:extLst>
          </p:cNvPr>
          <p:cNvGraphicFramePr>
            <a:graphicFrameLocks/>
          </p:cNvGraphicFramePr>
          <p:nvPr/>
        </p:nvGraphicFramePr>
        <p:xfrm>
          <a:off x="3536950" y="3765946"/>
          <a:ext cx="2952750" cy="162909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 name="Chart 21">
            <a:extLst>
              <a:ext uri="{FF2B5EF4-FFF2-40B4-BE49-F238E27FC236}">
                <a16:creationId xmlns:a16="http://schemas.microsoft.com/office/drawing/2014/main" id="{69D8045D-40EC-0EF7-DE0D-796388BBADB8}"/>
              </a:ext>
            </a:extLst>
          </p:cNvPr>
          <p:cNvGraphicFramePr>
            <a:graphicFrameLocks/>
          </p:cNvGraphicFramePr>
          <p:nvPr/>
        </p:nvGraphicFramePr>
        <p:xfrm>
          <a:off x="3536950" y="7818371"/>
          <a:ext cx="2952750" cy="162909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4" name="Chart 33">
            <a:extLst>
              <a:ext uri="{FF2B5EF4-FFF2-40B4-BE49-F238E27FC236}">
                <a16:creationId xmlns:a16="http://schemas.microsoft.com/office/drawing/2014/main" id="{5F544283-0EE0-1BE0-AE31-FC8E61CE39A6}"/>
              </a:ext>
            </a:extLst>
          </p:cNvPr>
          <p:cNvGraphicFramePr>
            <a:graphicFrameLocks/>
          </p:cNvGraphicFramePr>
          <p:nvPr/>
        </p:nvGraphicFramePr>
        <p:xfrm>
          <a:off x="390151" y="3765946"/>
          <a:ext cx="2952750" cy="162909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5" name="Chart 34">
            <a:extLst>
              <a:ext uri="{FF2B5EF4-FFF2-40B4-BE49-F238E27FC236}">
                <a16:creationId xmlns:a16="http://schemas.microsoft.com/office/drawing/2014/main" id="{E3B2DC71-BCA4-E719-61E8-6DE113C8016B}"/>
              </a:ext>
            </a:extLst>
          </p:cNvPr>
          <p:cNvGraphicFramePr>
            <a:graphicFrameLocks/>
          </p:cNvGraphicFramePr>
          <p:nvPr/>
        </p:nvGraphicFramePr>
        <p:xfrm>
          <a:off x="390151" y="7818371"/>
          <a:ext cx="2952750" cy="1629093"/>
        </p:xfrm>
        <a:graphic>
          <a:graphicData uri="http://schemas.openxmlformats.org/drawingml/2006/chart">
            <c:chart xmlns:c="http://schemas.openxmlformats.org/drawingml/2006/chart" xmlns:r="http://schemas.openxmlformats.org/officeDocument/2006/relationships" r:id="rId5"/>
          </a:graphicData>
        </a:graphic>
      </p:graphicFrame>
      <p:grpSp>
        <p:nvGrpSpPr>
          <p:cNvPr id="3" name="Group 2">
            <a:extLst>
              <a:ext uri="{FF2B5EF4-FFF2-40B4-BE49-F238E27FC236}">
                <a16:creationId xmlns:a16="http://schemas.microsoft.com/office/drawing/2014/main" id="{667E8760-EDC8-3CA7-92A5-4D11CD5F76DB}"/>
              </a:ext>
            </a:extLst>
          </p:cNvPr>
          <p:cNvGrpSpPr/>
          <p:nvPr/>
        </p:nvGrpSpPr>
        <p:grpSpPr>
          <a:xfrm>
            <a:off x="5770617" y="247095"/>
            <a:ext cx="717949" cy="162517"/>
            <a:chOff x="5770617" y="247095"/>
            <a:chExt cx="717949" cy="162517"/>
          </a:xfrm>
        </p:grpSpPr>
        <p:sp>
          <p:nvSpPr>
            <p:cNvPr id="5" name="Rectangle 4">
              <a:hlinkClick r:id="rId6" action="ppaction://hlinksldjump"/>
              <a:extLst>
                <a:ext uri="{FF2B5EF4-FFF2-40B4-BE49-F238E27FC236}">
                  <a16:creationId xmlns:a16="http://schemas.microsoft.com/office/drawing/2014/main" id="{208B07C8-C91B-ECEF-1C55-B9562A3E5E73}"/>
                </a:ext>
              </a:extLst>
            </p:cNvPr>
            <p:cNvSpPr/>
            <p:nvPr/>
          </p:nvSpPr>
          <p:spPr>
            <a:xfrm>
              <a:off x="5772348" y="247095"/>
              <a:ext cx="682982" cy="1571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 name="Text Placeholder 7">
              <a:hlinkClick r:id="rId7" action="ppaction://hlinksldjump"/>
              <a:extLst>
                <a:ext uri="{FF2B5EF4-FFF2-40B4-BE49-F238E27FC236}">
                  <a16:creationId xmlns:a16="http://schemas.microsoft.com/office/drawing/2014/main" id="{007A3362-6DDC-7513-FC65-EC239FCFB240}"/>
                </a:ext>
              </a:extLst>
            </p:cNvPr>
            <p:cNvSpPr txBox="1">
              <a:spLocks/>
            </p:cNvSpPr>
            <p:nvPr/>
          </p:nvSpPr>
          <p:spPr>
            <a:xfrm>
              <a:off x="5883642" y="254356"/>
              <a:ext cx="604924" cy="155256"/>
            </a:xfrm>
            <a:prstGeom prst="rect">
              <a:avLst/>
            </a:prstGeom>
          </p:spPr>
          <p:txBody>
            <a:bodyPr vert="horz" lIns="0" tIns="0" rIns="0" bIns="0" rtlCol="0" anchor="ctr">
              <a:no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gn="ctr"/>
              <a:r>
                <a:rPr lang="en-US" sz="800" spc="50" dirty="0">
                  <a:solidFill>
                    <a:schemeClr val="tx1"/>
                  </a:solidFill>
                  <a:latin typeface="Roboto Medium" panose="02000000000000000000" pitchFamily="2" charset="0"/>
                  <a:ea typeface="Roboto Medium" panose="02000000000000000000" pitchFamily="2" charset="0"/>
                  <a:cs typeface="Roboto Medium" panose="02000000000000000000" pitchFamily="2" charset="0"/>
                  <a:hlinkClick r:id="rId7" action="ppaction://hlinksldjump">
                    <a:extLst>
                      <a:ext uri="{A12FA001-AC4F-418D-AE19-62706E023703}">
                        <ahyp:hlinkClr xmlns:ahyp="http://schemas.microsoft.com/office/drawing/2018/hyperlinkcolor" val="tx"/>
                      </a:ext>
                    </a:extLst>
                  </a:hlinkClick>
                </a:rPr>
                <a:t>RESUMO</a:t>
              </a:r>
              <a:endParaRPr lang="en-US" sz="800" spc="50" dirty="0">
                <a:solidFill>
                  <a:schemeClr val="tx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7" name="Graphic 6" descr="Home with solid fill">
              <a:hlinkClick r:id="rId7" action="ppaction://hlinksldjump"/>
              <a:extLst>
                <a:ext uri="{FF2B5EF4-FFF2-40B4-BE49-F238E27FC236}">
                  <a16:creationId xmlns:a16="http://schemas.microsoft.com/office/drawing/2014/main" id="{3388EB50-8F00-CA08-900D-3BBBA550F537}"/>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770617" y="249040"/>
              <a:ext cx="126105" cy="126105"/>
            </a:xfrm>
            <a:prstGeom prst="rect">
              <a:avLst/>
            </a:prstGeom>
          </p:spPr>
        </p:pic>
      </p:grpSp>
    </p:spTree>
    <p:extLst>
      <p:ext uri="{BB962C8B-B14F-4D97-AF65-F5344CB8AC3E}">
        <p14:creationId xmlns:p14="http://schemas.microsoft.com/office/powerpoint/2010/main" val="30181686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ags/tag26.xml><?xml version="1.0" encoding="utf-8"?>
<p:tagLst xmlns:a="http://schemas.openxmlformats.org/drawingml/2006/main" xmlns:r="http://schemas.openxmlformats.org/officeDocument/2006/relationships" xmlns:p="http://schemas.openxmlformats.org/presentationml/2006/main">
  <p:tag name="MM_SLIDE_TYPE" val="6"/>
</p:tagLst>
</file>

<file path=ppt/tags/tag27.xml><?xml version="1.0" encoding="utf-8"?>
<p:tagLst xmlns:a="http://schemas.openxmlformats.org/drawingml/2006/main" xmlns:r="http://schemas.openxmlformats.org/officeDocument/2006/relationships" xmlns:p="http://schemas.openxmlformats.org/presentationml/2006/main">
  <p:tag name="MM_SLIDE_TYPE" val="6"/>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ags/tag29.xml><?xml version="1.0" encoding="utf-8"?>
<p:tagLst xmlns:a="http://schemas.openxmlformats.org/drawingml/2006/main" xmlns:r="http://schemas.openxmlformats.org/officeDocument/2006/relationships" xmlns:p="http://schemas.openxmlformats.org/presentationml/2006/main">
  <p:tag name="MM_SLIDE_TYPE" val="6"/>
</p:tagLst>
</file>

<file path=ppt/tags/tag30.xml><?xml version="1.0" encoding="utf-8"?>
<p:tagLst xmlns:a="http://schemas.openxmlformats.org/drawingml/2006/main" xmlns:r="http://schemas.openxmlformats.org/officeDocument/2006/relationships" xmlns:p="http://schemas.openxmlformats.org/presentationml/2006/main">
  <p:tag name="MM_SLIDE_TYPE" val="6"/>
</p:tagLst>
</file>

<file path=ppt/tags/tag31.xml><?xml version="1.0" encoding="utf-8"?>
<p:tagLst xmlns:a="http://schemas.openxmlformats.org/drawingml/2006/main" xmlns:r="http://schemas.openxmlformats.org/officeDocument/2006/relationships" xmlns:p="http://schemas.openxmlformats.org/presentationml/2006/main">
  <p:tag name="MM_SLIDE_TYPE" val="6"/>
</p:tagLst>
</file>

<file path=ppt/tags/tag32.xml><?xml version="1.0" encoding="utf-8"?>
<p:tagLst xmlns:a="http://schemas.openxmlformats.org/drawingml/2006/main" xmlns:r="http://schemas.openxmlformats.org/officeDocument/2006/relationships" xmlns:p="http://schemas.openxmlformats.org/presentationml/2006/main">
  <p:tag name="MM_SLIDE_TYPE" val="6"/>
</p:tagLst>
</file>

<file path=ppt/tags/tag33.xml><?xml version="1.0" encoding="utf-8"?>
<p:tagLst xmlns:a="http://schemas.openxmlformats.org/drawingml/2006/main" xmlns:r="http://schemas.openxmlformats.org/officeDocument/2006/relationships" xmlns:p="http://schemas.openxmlformats.org/presentationml/2006/main">
  <p:tag name="MM_SLIDE_TYPE" val="6"/>
</p:tagLst>
</file>

<file path=ppt/tags/tag34.xml><?xml version="1.0" encoding="utf-8"?>
<p:tagLst xmlns:a="http://schemas.openxmlformats.org/drawingml/2006/main" xmlns:r="http://schemas.openxmlformats.org/officeDocument/2006/relationships" xmlns:p="http://schemas.openxmlformats.org/presentationml/2006/main">
  <p:tag name="MM_SLIDE_TYPE" val="6"/>
</p:tagLst>
</file>

<file path=ppt/tags/tag35.xml><?xml version="1.0" encoding="utf-8"?>
<p:tagLst xmlns:a="http://schemas.openxmlformats.org/drawingml/2006/main" xmlns:r="http://schemas.openxmlformats.org/officeDocument/2006/relationships" xmlns:p="http://schemas.openxmlformats.org/presentationml/2006/main">
  <p:tag name="MM_SLIDE_TYPE" val="6"/>
</p:tagLst>
</file>

<file path=ppt/tags/tag36.xml><?xml version="1.0" encoding="utf-8"?>
<p:tagLst xmlns:a="http://schemas.openxmlformats.org/drawingml/2006/main" xmlns:r="http://schemas.openxmlformats.org/officeDocument/2006/relationships" xmlns:p="http://schemas.openxmlformats.org/presentationml/2006/main">
  <p:tag name="MM_SLIDE_TYPE" val="6"/>
</p:tagLst>
</file>

<file path=ppt/tags/tag37.xml><?xml version="1.0" encoding="utf-8"?>
<p:tagLst xmlns:a="http://schemas.openxmlformats.org/drawingml/2006/main" xmlns:r="http://schemas.openxmlformats.org/officeDocument/2006/relationships" xmlns:p="http://schemas.openxmlformats.org/presentationml/2006/main">
  <p:tag name="MM_SLIDE_TYPE" val="6"/>
</p:tagLst>
</file>

<file path=ppt/tags/tag38.xml><?xml version="1.0" encoding="utf-8"?>
<p:tagLst xmlns:a="http://schemas.openxmlformats.org/drawingml/2006/main" xmlns:r="http://schemas.openxmlformats.org/officeDocument/2006/relationships" xmlns:p="http://schemas.openxmlformats.org/presentationml/2006/main">
  <p:tag name="MM_SLIDE_TYPE" val="6"/>
</p:tagLst>
</file>

<file path=ppt/tags/tag39.xml><?xml version="1.0" encoding="utf-8"?>
<p:tagLst xmlns:a="http://schemas.openxmlformats.org/drawingml/2006/main" xmlns:r="http://schemas.openxmlformats.org/officeDocument/2006/relationships" xmlns:p="http://schemas.openxmlformats.org/presentationml/2006/main">
  <p:tag name="MM_SLIDE_TYPE" val="6"/>
</p:tagLst>
</file>

<file path=ppt/tags/tag40.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2.xml><?xml version="1.0" encoding="utf-8"?>
<a:theme xmlns:a="http://schemas.openxmlformats.org/drawingml/2006/main" name="1_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2.xml><?xml version="1.0" encoding="utf-8"?>
<a:themeOverride xmlns:a="http://schemas.openxmlformats.org/drawingml/2006/main">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8223</TotalTime>
  <Words>10108</Words>
  <Application>Microsoft Office PowerPoint</Application>
  <PresentationFormat>A4 Paper (210x297 mm)</PresentationFormat>
  <Paragraphs>890</Paragraphs>
  <Slides>35</Slides>
  <Notes>4</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35</vt:i4>
      </vt:variant>
    </vt:vector>
  </HeadingPairs>
  <TitlesOfParts>
    <vt:vector size="49" baseType="lpstr">
      <vt:lpstr>Arial</vt:lpstr>
      <vt:lpstr>Calibri</vt:lpstr>
      <vt:lpstr>Roboto</vt:lpstr>
      <vt:lpstr>Roboto  </vt:lpstr>
      <vt:lpstr>Roboto Black</vt:lpstr>
      <vt:lpstr>Roboto Light</vt:lpstr>
      <vt:lpstr>Roboto Medium</vt:lpstr>
      <vt:lpstr>Roboto Thin</vt:lpstr>
      <vt:lpstr>XP</vt:lpstr>
      <vt:lpstr>XP Light Lighthouse</vt:lpstr>
      <vt:lpstr>XP Lighthouse</vt:lpstr>
      <vt:lpstr>XP Medium Lighthouse</vt:lpstr>
      <vt:lpstr>Tema IB 2021</vt:lpstr>
      <vt:lpstr>1_Tema IB 2021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Weathering El Niño</dc:title>
  <dc:creator>Amanda Augusti</dc:creator>
  <cp:lastModifiedBy>Caio Souza</cp:lastModifiedBy>
  <cp:revision>450</cp:revision>
  <dcterms:created xsi:type="dcterms:W3CDTF">2022-03-20T14:16:37Z</dcterms:created>
  <dcterms:modified xsi:type="dcterms:W3CDTF">2026-07-21T21:18:13Z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a9157b-bcf3-4eac-b03e-7cf007ba9fdf_Enabled">
    <vt:lpwstr>true</vt:lpwstr>
  </property>
  <property fmtid="{D5CDD505-2E9C-101B-9397-08002B2CF9AE}" pid="3" name="MSIP_Label_e6a9157b-bcf3-4eac-b03e-7cf007ba9fdf_SetDate">
    <vt:lpwstr>2025-03-07T20:02:49Z</vt:lpwstr>
  </property>
  <property fmtid="{D5CDD505-2E9C-101B-9397-08002B2CF9AE}" pid="4" name="MSIP_Label_e6a9157b-bcf3-4eac-b03e-7cf007ba9fdf_Method">
    <vt:lpwstr>Standard</vt:lpwstr>
  </property>
  <property fmtid="{D5CDD505-2E9C-101B-9397-08002B2CF9AE}" pid="5" name="MSIP_Label_e6a9157b-bcf3-4eac-b03e-7cf007ba9fdf_Name">
    <vt:lpwstr>Publica</vt:lpwstr>
  </property>
  <property fmtid="{D5CDD505-2E9C-101B-9397-08002B2CF9AE}" pid="6" name="MSIP_Label_e6a9157b-bcf3-4eac-b03e-7cf007ba9fdf_SiteId">
    <vt:lpwstr>cf56e405-d2b0-4266-b210-aa04636b6161</vt:lpwstr>
  </property>
  <property fmtid="{D5CDD505-2E9C-101B-9397-08002B2CF9AE}" pid="7" name="MSIP_Label_e6a9157b-bcf3-4eac-b03e-7cf007ba9fdf_ActionId">
    <vt:lpwstr>baa5625b-963e-4a95-9d6d-d9fd1ed2ce52</vt:lpwstr>
  </property>
  <property fmtid="{D5CDD505-2E9C-101B-9397-08002B2CF9AE}" pid="8" name="MSIP_Label_e6a9157b-bcf3-4eac-b03e-7cf007ba9fdf_ContentBits">
    <vt:lpwstr>2</vt:lpwstr>
  </property>
  <property fmtid="{D5CDD505-2E9C-101B-9397-08002B2CF9AE}" pid="9" name="MSIP_Label_e6a9157b-bcf3-4eac-b03e-7cf007ba9fdf_Tag">
    <vt:lpwstr>10, 3, 0, 1</vt:lpwstr>
  </property>
  <property fmtid="{D5CDD505-2E9C-101B-9397-08002B2CF9AE}" pid="10" name="ClassificationContentMarkingFooterLocations">
    <vt:lpwstr>Tema IB 2021:5</vt:lpwstr>
  </property>
  <property fmtid="{D5CDD505-2E9C-101B-9397-08002B2CF9AE}" pid="11" name="ClassificationContentMarkingFooterText">
    <vt:lpwstr>[ CLASSIFICAÇÃO: PÚBLICA ]</vt:lpwstr>
  </property>
</Properties>
</file>